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7" r:id="rId2"/>
    <p:sldId id="260" r:id="rId3"/>
    <p:sldId id="261" r:id="rId4"/>
    <p:sldId id="262" r:id="rId5"/>
    <p:sldId id="263" r:id="rId6"/>
    <p:sldId id="264" r:id="rId7"/>
    <p:sldId id="269" r:id="rId8"/>
    <p:sldId id="265" r:id="rId9"/>
    <p:sldId id="272" r:id="rId10"/>
    <p:sldId id="266" r:id="rId11"/>
    <p:sldId id="284" r:id="rId12"/>
    <p:sldId id="285" r:id="rId13"/>
    <p:sldId id="286" r:id="rId14"/>
    <p:sldId id="287" r:id="rId15"/>
    <p:sldId id="288" r:id="rId16"/>
    <p:sldId id="274" r:id="rId17"/>
    <p:sldId id="275" r:id="rId18"/>
    <p:sldId id="276" r:id="rId19"/>
    <p:sldId id="277" r:id="rId20"/>
    <p:sldId id="292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63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588C11-5393-8324-3146-69ABA00A72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EF0FA9-AAB9-A60A-C494-F11F984E9D6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2993FE-E9D3-4B10-B499-4235062A8B3B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C61970-10B0-1539-9780-E6FE15D019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C7C85-C158-9B78-E8BD-CD7FBC762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89A78-DF21-4F81-96A1-9852810E26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494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2E5E3A-6FB5-47BF-ABCF-397F6C94D529}" type="datetimeFigureOut">
              <a:rPr lang="en-US" smtClean="0"/>
              <a:t>8/14/2026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1061FC-C60C-444C-8470-5860212819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68643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9E3A-EA0E-2720-599A-7C95C5304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5D51E-BB1C-A8DA-AE1B-23E7AFA3E9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30252E-9A31-13D4-70FF-4B6E5E5EBE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31267-7A72-C3EA-EE03-E29FD26421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04462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9534B-5356-2980-B3D4-BF6B37F13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9C617C-0C9E-0A18-66BA-C528D28B99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AFF11C-0A97-8B78-E67F-7F1CFC9FE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8FF85-48BF-5D25-C010-2E161BA74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480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9867-31E5-7933-FB68-40102627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A53629-3CEB-89EC-5551-C840B336ED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342C5-5FF6-2F5D-C880-3DAECFA0C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358BC-28E2-E393-F785-9CCE5ACFCC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13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30653-0757-AA88-09C1-BF1981041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B5D99B-BB38-D9E8-7F27-5EF0AFF13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6FAC42-6E33-65FD-F6C7-042A259E8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9F1004-E055-5783-058E-F0CED9880C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23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D380C-12AF-A19E-DEF1-949FB20AF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24A28-359C-03C8-8BD5-FCAB855E3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0CCFD-182F-EC68-89FA-D959B360EC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3C50D-522C-B7FD-9C06-1649E7B5D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54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4320B-3CE4-B816-8CE7-5AFCE65B3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B249D-17D7-AAAE-6B81-EE1B95199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78595-B227-F219-21B6-0F4D6D0EC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C35ED-F90A-7728-106F-EE30C5CBD5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2514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051D2-DE4C-4E06-6C72-948269BC9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E719E0-C59F-37B7-7585-08F948C96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4CC0A-ADCB-C533-B89A-260C3C470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99CF3-7BA5-9081-9173-44D02ECB7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5820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5A0DF-05BE-306B-7088-880EB6AD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1A6DB-E2D0-BCBA-8293-30F806D35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84362-B7FF-AAE1-D354-63B90EFDDC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80829-D4DB-7A72-BC47-707B7D6FC3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2108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6037E-3774-65B8-D9D8-9F550AC84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3A451B-C777-D7D3-C282-233200594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35BDA-AB04-43DF-1163-809073916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A60FA-9592-1534-3AF6-58E3C7A7A8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5779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4DE88-92A0-6CFA-842A-009E9BEA8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4B027B-0355-9456-703E-B049A5614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2D116-BCF3-19DE-9A76-BAAB1004E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22AE9-4109-3936-6498-1C1AFE22CA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87502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9FEB-5B0C-AB08-AABF-907D934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C9C66A-2081-09DB-DB72-492FD1751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A95FA3-FD3B-26E5-C61C-371D5FF88A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E0AD6-71EB-6D07-0980-32236D94D4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582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63407-9F67-A20E-1CB6-70A8322D0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DCE68C-6A9F-6888-D17D-D7A30AAAB2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C37D0-89CC-BA1D-3A75-3E1AF0ED2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1587D7-7F59-4B70-6A77-DDD4924553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135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08ED0-1637-4D04-0103-A45FE915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619A9-4DF4-0B98-8850-C365E4F61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EB6311-BAE9-8E50-DA2F-8B15C6C22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471B5-BE31-9462-60BD-A45F1994CE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0226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F34CB-558B-05F6-EF58-E77DEB0B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E1364D-FB69-BFFE-910C-7DDB19421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61E907-AE52-1B9B-E1F4-B2D118C83E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3AC658-8082-4787-9EE7-6C4E2092D4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7964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13B13-2BEC-5273-7AC1-D21031223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3ED767-491E-D450-FB17-0D8EFA41B2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936B0-44F9-1EBA-CC88-92C0D9566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AA3C4-53B9-9517-9DE9-5DCD5D2A28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526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B679C-CEDC-E78F-799D-D6FCB4D58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B46391-50BD-7869-F2A4-C78E05B9A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A9C50-14D7-54B2-0D8D-8539274DD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1391F-147B-1B23-65B9-80AA00B1D4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250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E193B-2393-0634-8903-6925613EB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C5EA6-8EDA-199D-9D8F-40401A9A5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A2AF05-7EF8-33B6-328F-E91EF0C57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16B5E-4BDD-66C4-D410-CA43E3602C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02762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E42E8-CEB7-931F-9B39-7C35C50D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47D989-E9B1-B453-2EAD-E46546192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383F4-1C66-E579-E5EE-BEB9F3C7CC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71FE1-5951-A3C2-1BB0-731D2C1F25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3363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FF42D-E9A7-F1ED-6944-5F46997B9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D73ED6-9933-7EA2-AEB7-80AA2FBA68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0ECE4-4FC0-4DA5-8C10-761D99C83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F6136-E1D5-65F7-8F7E-653ECC321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646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6CAB-2392-F0C5-A62A-8006C50150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14CD1-85A9-4CC9-81FA-75357A1C3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149624-FC93-68C1-D30A-68565D00B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DF2F8-93FC-8954-24EA-06EDC688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58C16-E36F-7150-C2E2-6551DEFC9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621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A9C76-6BF0-6286-63A0-C273A184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7FA68-39DF-6C75-E7DB-CEF82A71B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A0C8F-754D-56EB-4260-4F282E0BB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AA536-67D7-7638-A235-6C18CA192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54B1B-76E5-1C15-50A7-9A9934FED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567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292A-B3D4-39FE-31AB-98418E53C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4077-FF6B-4644-8551-A2B2BF006B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91C31-96F0-5492-A76E-96AADBB76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00C738-25D8-DBD9-7FF3-74FA72EF2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08E07-6387-FD4F-9E95-75239919B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814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FF9B-DF47-D6D7-8C3A-E9A79D537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B4C5-A1EC-C9A2-2509-673340B1C6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AE832-06F3-26AC-2F34-F58499E883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45A087-AF87-FF82-6D93-2995F234A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E15029-94DB-EF9F-9822-0B4A6DBDD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32DD5-FA4C-7EDC-468D-DF23D7EA7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21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8E4CE-FDA7-A3A8-A8CD-0DF6C6464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F8735-D338-71D5-BDF9-5C504B01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531A3-EC28-EB15-E24F-DDFE61DF0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ABBE3F-C5CF-FB5B-16B9-CC2FB8FD81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439D4F-A719-98BE-F9AA-E13F8C1C6A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CAECF-2FCD-357A-716F-B58521144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BDACAB-21A9-7673-D876-B1A169191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916458-B3BB-CE4E-8CEB-5C2B2CE0C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07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A1DC-9ADA-8155-1036-0106284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69AB49-D12A-DF62-8E18-7102D0D67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992904-C4AD-79A8-DD86-BE62ED9D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F1DEFC-37C4-16B4-3578-993EB529F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919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B4747-E094-6BE0-C5A8-91E40A6D2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6AE805-4E06-B52E-4AA7-E12292F43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D9565-5B28-4A72-D85B-76191BE9A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6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A0FF-76A4-7D71-13CB-D2A5047B1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E8495-1D2B-E698-531D-40098B0E0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A4E649-00B5-E760-3874-FDF56D80B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FD2E13-119E-10FA-BD70-D479F7E1A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BB2C9B-502E-3347-3E01-4B09CA1A7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D18E4-48B6-569A-5106-75EC9A21C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373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B7782-6BB6-7E73-2AC3-E0AC996DA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E8499A-5705-A33C-D370-B13294FF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6C9875-4EA1-87CC-1C39-1A42AEF401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61F31-D882-2E42-AF6C-EE34464E3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4A4BB-D683-CE15-099B-6351A3591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F4DB9-E8D3-6244-F113-2FC6E6FD7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42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5760F-D9E7-D125-ADBC-57A80C04D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DD216B-086D-D6C6-E7C5-19E59306E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5F6C-F8BF-42D2-92C7-88E56B81B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135CA-A0FE-4B27-A6D2-D39CC6CF8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AD5D7-3E6D-7239-34CF-CA1888435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370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07D3AD-9453-123B-3BEF-00D0D90E6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D6F44-6F37-6536-CEC0-632928AD3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F43A7-5EAE-35E8-7320-C7861400E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13473-5614-B1FB-DE63-2D3A5342C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EC424-CBBC-043D-61C1-2F504D50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8043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9792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8B4C3E-779A-572F-969C-1D280A8F8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FECA7-7EB7-6E0A-70BB-FA505CDF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C1EBD-FC5B-F664-4DC7-78F698AEA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74F06-308A-2564-1416-F1F9BDEDFF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8D486-FDCB-1905-8B3B-37F2210A0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426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Text 3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548640" y="26517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 Auto-Draw Rules</a:t>
            </a:r>
            <a:endParaRPr lang="en-US" sz="4400" dirty="0">
              <a:solidFill>
                <a:srgbClr val="FF00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Wire (SW) Wedge Series – AB16 Series – Rules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580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AB16_REL_Rev1_08112026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2044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2044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2026-11-08</a:t>
            </a:r>
          </a:p>
        </p:txBody>
      </p:sp>
      <p:sp>
        <p:nvSpPr>
          <p:cNvPr id="13" name="Shape 11"/>
          <p:cNvSpPr/>
          <p:nvPr/>
        </p:nvSpPr>
        <p:spPr>
          <a:xfrm>
            <a:off x="621792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5508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8972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8972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4097-8B9A-7511-E12E-8B255D7FA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CBBC017-DF26-1ACC-82B3-3BE21E451F88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9FAFA-5182-9D6B-3E40-F5E3BF003F00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0D1788D-29DB-3089-CE57-C5DE5684F5DD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185381B-10D5-EC72-5E58-97941602ACA9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86FFB5-791C-9078-1C4B-BC50848B26AA}"/>
              </a:ext>
            </a:extLst>
          </p:cNvPr>
          <p:cNvSpPr txBox="1"/>
          <p:nvPr/>
        </p:nvSpPr>
        <p:spPr>
          <a:xfrm>
            <a:off x="760307" y="759882"/>
            <a:ext cx="10794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- V-Groove with integrated feed hole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D5699266-FB61-438E-F3BA-CC32597DE3C4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6CB1CF-9752-EA32-5A71-A8C9655209D8}"/>
              </a:ext>
            </a:extLst>
          </p:cNvPr>
          <p:cNvSpPr txBox="1"/>
          <p:nvPr/>
        </p:nvSpPr>
        <p:spPr>
          <a:xfrm>
            <a:off x="698808" y="1562553"/>
            <a:ext cx="107943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Construction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has one shank style : 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STYLE_STD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with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SLB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feature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the 3D models is based on the bellow sketches; these sketch has all the required dimension to construction the 3D models and drawings</a:t>
            </a:r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927E8C01-A1A9-CF2D-F16B-7D37C77682BF}"/>
              </a:ext>
            </a:extLst>
          </p:cNvPr>
          <p:cNvSpPr/>
          <p:nvPr/>
        </p:nvSpPr>
        <p:spPr>
          <a:xfrm>
            <a:off x="563880" y="1686581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09CAC6DB-B60D-931B-447B-74A00379A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79262"/>
              </p:ext>
            </p:extLst>
          </p:nvPr>
        </p:nvGraphicFramePr>
        <p:xfrm>
          <a:off x="4024332" y="2858584"/>
          <a:ext cx="734445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1802">
                  <a:extLst>
                    <a:ext uri="{9D8B030D-6E8A-4147-A177-3AD203B41FA5}">
                      <a16:colId xmlns:a16="http://schemas.microsoft.com/office/drawing/2014/main" val="3600172029"/>
                    </a:ext>
                  </a:extLst>
                </a:gridCol>
                <a:gridCol w="5372653">
                  <a:extLst>
                    <a:ext uri="{9D8B030D-6E8A-4147-A177-3AD203B41FA5}">
                      <a16:colId xmlns:a16="http://schemas.microsoft.com/office/drawing/2014/main" val="3162871182"/>
                    </a:ext>
                  </a:extLst>
                </a:gridCol>
              </a:tblGrid>
              <a:tr h="278788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annotation_top_plan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TD - TDF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881547"/>
                  </a:ext>
                </a:extLst>
              </a:tr>
              <a:tr h="2730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annotation_right_plan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W–ISA–VW–VR–VRR–VRA–TL–B-GA-GD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9810360"/>
                  </a:ext>
                </a:extLst>
              </a:tr>
              <a:tr h="402309">
                <a:tc>
                  <a:txBody>
                    <a:bodyPr/>
                    <a:lstStyle/>
                    <a:p>
                      <a:r>
                        <a:rPr lang="en-US" sz="1400" b="0" dirty="0" err="1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annotation_front_plan</a:t>
                      </a:r>
                      <a:endParaRPr lang="en-US" sz="1400" b="0" dirty="0">
                        <a:solidFill>
                          <a:sysClr val="windowText" lastClr="000000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BA-T-FD-RA-RA2-RA2H-CA-ERL-ERD-FL-C-BR-FR-H-HA-FNA-F-BF-Y-G-CGR-CGD-VBL-VBLR-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funnel_gap – </a:t>
                      </a:r>
                      <a:r>
                        <a:rPr lang="en-US" sz="1400" b="0" dirty="0" err="1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foot_depth</a:t>
                      </a:r>
                      <a:endParaRPr lang="en-US" sz="1400" b="0" dirty="0">
                        <a:solidFill>
                          <a:srgbClr val="FF0000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9035208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B2230C8C-1D6F-2407-FA54-C2EACFEC147B}"/>
              </a:ext>
            </a:extLst>
          </p:cNvPr>
          <p:cNvSpPr txBox="1"/>
          <p:nvPr/>
        </p:nvSpPr>
        <p:spPr>
          <a:xfrm>
            <a:off x="726566" y="4083753"/>
            <a:ext cx="2492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Never delete those sketches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F8FB25-79B4-CFFD-4957-8A5522AB10F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8640" y="2822086"/>
            <a:ext cx="2848779" cy="12138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2FCB21-624A-D74C-8DEE-45BA4FAF3491}"/>
              </a:ext>
            </a:extLst>
          </p:cNvPr>
          <p:cNvSpPr txBox="1"/>
          <p:nvPr/>
        </p:nvSpPr>
        <p:spPr>
          <a:xfrm>
            <a:off x="574178" y="5511854"/>
            <a:ext cx="107943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foot_depth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need to calculate it based on with foot type we have  :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VG groove ,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foot_depth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= GD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funnel_gap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have the equation , just in case of SLB feature make in the equation that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 = 0deg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2F4CD-C0CB-4F87-2710-23F50F1E1435}"/>
              </a:ext>
            </a:extLst>
          </p:cNvPr>
          <p:cNvSpPr txBox="1"/>
          <p:nvPr/>
        </p:nvSpPr>
        <p:spPr>
          <a:xfrm>
            <a:off x="3048000" y="327511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63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575DE-9F19-528B-2C80-ABECE1166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4C7D087-87FC-9BB7-F45B-2C469CEAD051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FC69386-4328-D96E-6A33-AFB6C3D0FF9F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A6CE21-EE56-4479-16C7-2CE3C2D509E5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557A4E5-0B05-E9A3-68B7-398154948ECC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BF64C6-CA5D-338D-A225-AFE95A673B25}"/>
              </a:ext>
            </a:extLst>
          </p:cNvPr>
          <p:cNvSpPr txBox="1"/>
          <p:nvPr/>
        </p:nvSpPr>
        <p:spPr>
          <a:xfrm>
            <a:off x="760306" y="759882"/>
            <a:ext cx="7012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3D for Customer / Production Drawings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PGB 3D has the following feature :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2A68F018-24F1-4006-A8C6-38A3D762E88A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8EA9345-5308-8967-5FBD-6F412F591CC7}"/>
              </a:ext>
            </a:extLst>
          </p:cNvPr>
          <p:cNvGrpSpPr/>
          <p:nvPr/>
        </p:nvGrpSpPr>
        <p:grpSpPr>
          <a:xfrm>
            <a:off x="3465792" y="2219740"/>
            <a:ext cx="4925807" cy="307777"/>
            <a:chOff x="4092326" y="1688590"/>
            <a:chExt cx="4925807" cy="30777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2C8642-4956-DAD3-7027-E25090E217A9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03A33F8-A12D-D217-A1E4-EF13788350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9C06194-EC82-D5C0-45D2-745B1339F7F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rcRect t="2108"/>
          <a:stretch>
            <a:fillRect/>
          </a:stretch>
        </p:blipFill>
        <p:spPr>
          <a:xfrm>
            <a:off x="548640" y="1553850"/>
            <a:ext cx="3900442" cy="400100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2D546B2-4EC3-5E8A-7A87-AAC123345E17}"/>
              </a:ext>
            </a:extLst>
          </p:cNvPr>
          <p:cNvGrpSpPr/>
          <p:nvPr/>
        </p:nvGrpSpPr>
        <p:grpSpPr>
          <a:xfrm>
            <a:off x="3736726" y="2719827"/>
            <a:ext cx="4925807" cy="307777"/>
            <a:chOff x="4092326" y="1688590"/>
            <a:chExt cx="4925807" cy="30777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E71570E-7C4C-5D72-3D0C-57A4E38B3B9F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AD66C1-51F6-6D4A-12C2-E2D6C10F38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0DE4F2-2874-C465-9C4C-AD9592B81148}"/>
              </a:ext>
            </a:extLst>
          </p:cNvPr>
          <p:cNvGrpSpPr/>
          <p:nvPr/>
        </p:nvGrpSpPr>
        <p:grpSpPr>
          <a:xfrm>
            <a:off x="3465792" y="3193409"/>
            <a:ext cx="4925807" cy="307777"/>
            <a:chOff x="4092326" y="1688590"/>
            <a:chExt cx="4925807" cy="30777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7FB41FF-DEA5-E743-E426-0E0B6FEA0C46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if we have VR, VRA, VRR, VW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8E1D4B6-6856-0321-1EE5-A3A92FB9F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F1E3E25-70F4-D410-B7AF-95D0BFED2085}"/>
              </a:ext>
            </a:extLst>
          </p:cNvPr>
          <p:cNvGrpSpPr/>
          <p:nvPr/>
        </p:nvGrpSpPr>
        <p:grpSpPr>
          <a:xfrm>
            <a:off x="3617856" y="3755634"/>
            <a:ext cx="4925807" cy="307777"/>
            <a:chOff x="4092326" y="1688590"/>
            <a:chExt cx="4925807" cy="307777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01C0D42-C694-3BEA-3F3C-5137BD9C600E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if we have W2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3013E3B-9473-4B7F-F1A5-CC1000A782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D7552AC-765C-9FD2-AFE6-8B40988B6527}"/>
              </a:ext>
            </a:extLst>
          </p:cNvPr>
          <p:cNvGrpSpPr/>
          <p:nvPr/>
        </p:nvGrpSpPr>
        <p:grpSpPr>
          <a:xfrm>
            <a:off x="3590426" y="4201004"/>
            <a:ext cx="4925807" cy="307777"/>
            <a:chOff x="4092326" y="1688590"/>
            <a:chExt cx="4925807" cy="30777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5178F69-4BFE-4D07-EE3A-025665E9731E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C1E2A21-7DA7-3308-061C-C8AE9D545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BF79646-2034-5447-455D-33AF4F92F36A}"/>
              </a:ext>
            </a:extLst>
          </p:cNvPr>
          <p:cNvGrpSpPr/>
          <p:nvPr/>
        </p:nvGrpSpPr>
        <p:grpSpPr>
          <a:xfrm>
            <a:off x="3613796" y="4755443"/>
            <a:ext cx="4925807" cy="307777"/>
            <a:chOff x="4092326" y="1688590"/>
            <a:chExt cx="4925807" cy="30777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1896AC3-AA31-3568-EAB4-46658CF7DCAB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if we have VBLR, VBL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55D9D3F-9B9A-A8B8-DEEA-E0AFE05E28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325EC98-5011-4CAE-A406-FEC925458A18}"/>
              </a:ext>
            </a:extLst>
          </p:cNvPr>
          <p:cNvGrpSpPr/>
          <p:nvPr/>
        </p:nvGrpSpPr>
        <p:grpSpPr>
          <a:xfrm>
            <a:off x="3590426" y="5265392"/>
            <a:ext cx="4925807" cy="307777"/>
            <a:chOff x="4092326" y="1688590"/>
            <a:chExt cx="4925807" cy="30777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FBCD669-BDA5-7895-226E-5D5BE904B70C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if we have RA2, RA2H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21375DC-BA2E-5D3D-F3C5-CEAD6A63B6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1245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357E4-1B73-52D4-9ACF-52B58AFE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571DE2-B580-C116-8ED8-466EB2B2A4E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rcRect t="1350" b="1776"/>
          <a:stretch>
            <a:fillRect/>
          </a:stretch>
        </p:blipFill>
        <p:spPr>
          <a:xfrm>
            <a:off x="484736" y="1254815"/>
            <a:ext cx="4398394" cy="4641053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AF2647C7-9B9F-3B8E-2056-F741A65ED241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22A6522-4086-41FE-30AF-C398A9A7F03C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8A9FDE-DC58-F77C-4834-B69259327AB3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3CE063E-485C-3543-C2E3-330644AAB519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5C349-8834-781B-A271-9C893A398A84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FG 3D for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FG 3D has the following feature,  We respect the rule of PGB but adding the bellow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E093B4A-ACB1-8139-6FC2-7EDDDEFCDA10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0048DF-E43E-F2BA-BEF7-8A185F6BB81B}"/>
              </a:ext>
            </a:extLst>
          </p:cNvPr>
          <p:cNvGrpSpPr/>
          <p:nvPr/>
        </p:nvGrpSpPr>
        <p:grpSpPr>
          <a:xfrm>
            <a:off x="2752471" y="1283102"/>
            <a:ext cx="4925807" cy="261610"/>
            <a:chOff x="4092326" y="1688590"/>
            <a:chExt cx="4925807" cy="26161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F1FCD8-5CB0-7F15-EC01-879CD6A9B554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Respect the PGB rules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02FA1E4-E93E-A347-823F-BF6F88F737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B4630B-FF28-6AC5-60BF-FEDA426046DB}"/>
              </a:ext>
            </a:extLst>
          </p:cNvPr>
          <p:cNvGrpSpPr/>
          <p:nvPr/>
        </p:nvGrpSpPr>
        <p:grpSpPr>
          <a:xfrm>
            <a:off x="2642405" y="1704955"/>
            <a:ext cx="4925807" cy="261610"/>
            <a:chOff x="4092326" y="1688590"/>
            <a:chExt cx="4925807" cy="26161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443125F-AC75-7AF9-80D5-7862DFD4E08B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ED0CB9E-B582-9067-3467-C5A8172F86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F663873-5BC5-7989-C8EE-BF32EF64C28A}"/>
              </a:ext>
            </a:extLst>
          </p:cNvPr>
          <p:cNvGrpSpPr/>
          <p:nvPr/>
        </p:nvGrpSpPr>
        <p:grpSpPr>
          <a:xfrm>
            <a:off x="3300758" y="2103723"/>
            <a:ext cx="4925807" cy="261610"/>
            <a:chOff x="4092326" y="1688590"/>
            <a:chExt cx="4925807" cy="26161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1C54D63-E282-71A6-84A5-FF93906F1126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B5E30AF-159C-74A2-8694-1FD39057D8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7175AFA-9DDC-9855-0484-101898722BA5}"/>
              </a:ext>
            </a:extLst>
          </p:cNvPr>
          <p:cNvGrpSpPr/>
          <p:nvPr/>
        </p:nvGrpSpPr>
        <p:grpSpPr>
          <a:xfrm>
            <a:off x="2642405" y="2531930"/>
            <a:ext cx="4925807" cy="261610"/>
            <a:chOff x="4092326" y="1688590"/>
            <a:chExt cx="4925807" cy="26161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F64958-6086-4915-57FD-0291338AF60F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1BD50BE-B9E4-38B1-BC62-3518A4543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5B340F6-EC07-ACDB-3EED-B29317564E66}"/>
              </a:ext>
            </a:extLst>
          </p:cNvPr>
          <p:cNvGrpSpPr/>
          <p:nvPr/>
        </p:nvGrpSpPr>
        <p:grpSpPr>
          <a:xfrm>
            <a:off x="3195305" y="2919143"/>
            <a:ext cx="4925807" cy="261610"/>
            <a:chOff x="4092326" y="1688590"/>
            <a:chExt cx="4925807" cy="26161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F1FAEB9-D17A-3B16-7F4A-F9B8CCB2E7CD}"/>
                </a:ext>
              </a:extLst>
            </p:cNvPr>
            <p:cNvSpPr txBox="1"/>
            <p:nvPr/>
          </p:nvSpPr>
          <p:spPr>
            <a:xfrm>
              <a:off x="5198127" y="1688590"/>
              <a:ext cx="382000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FC7F899-40A1-1B6F-B67B-702B33985A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56271A-B4F1-3B50-3F4C-460E6492E9AC}"/>
              </a:ext>
            </a:extLst>
          </p:cNvPr>
          <p:cNvGrpSpPr/>
          <p:nvPr/>
        </p:nvGrpSpPr>
        <p:grpSpPr>
          <a:xfrm>
            <a:off x="2248350" y="3664540"/>
            <a:ext cx="5647219" cy="261610"/>
            <a:chOff x="4092326" y="1688590"/>
            <a:chExt cx="5647219" cy="261610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B016DBF-9ADC-0251-75D4-A865971541E3}"/>
                </a:ext>
              </a:extLst>
            </p:cNvPr>
            <p:cNvSpPr txBox="1"/>
            <p:nvPr/>
          </p:nvSpPr>
          <p:spPr>
            <a:xfrm>
              <a:off x="5198127" y="1688590"/>
              <a:ext cx="45414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, based on hole type , we need to have H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16C825F-3642-B36E-38E5-E4817326ED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E1B1FF9-EEAD-C222-2EE5-0CB88CC4CC64}"/>
              </a:ext>
            </a:extLst>
          </p:cNvPr>
          <p:cNvGrpSpPr/>
          <p:nvPr/>
        </p:nvGrpSpPr>
        <p:grpSpPr>
          <a:xfrm>
            <a:off x="2248350" y="4070975"/>
            <a:ext cx="6942619" cy="261610"/>
            <a:chOff x="4092326" y="1688590"/>
            <a:chExt cx="6942619" cy="26161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1831EC0-19F0-FC6C-1020-424BBF95CB95}"/>
                </a:ext>
              </a:extLst>
            </p:cNvPr>
            <p:cNvSpPr txBox="1"/>
            <p:nvPr/>
          </p:nvSpPr>
          <p:spPr>
            <a:xfrm>
              <a:off x="5198127" y="1688590"/>
              <a:ext cx="5836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, based on hole type , we need to have HH, HW ,  </a:t>
              </a:r>
              <a:r>
                <a:rPr lang="en-US" sz="1100" dirty="0">
                  <a:solidFill>
                    <a:srgbClr val="FF000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you need to change H = HH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623CCA5-A536-75D9-E9ED-435EB263CC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F1B1A00-F4A8-61F1-B788-CD9A3419D53F}"/>
              </a:ext>
            </a:extLst>
          </p:cNvPr>
          <p:cNvGrpSpPr/>
          <p:nvPr/>
        </p:nvGrpSpPr>
        <p:grpSpPr>
          <a:xfrm>
            <a:off x="2248350" y="4477410"/>
            <a:ext cx="7323619" cy="261610"/>
            <a:chOff x="4092326" y="1688590"/>
            <a:chExt cx="7323619" cy="261610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776B384-A40B-8A64-118D-72B158F9B08C}"/>
                </a:ext>
              </a:extLst>
            </p:cNvPr>
            <p:cNvSpPr txBox="1"/>
            <p:nvPr/>
          </p:nvSpPr>
          <p:spPr>
            <a:xfrm>
              <a:off x="5198127" y="1688590"/>
              <a:ext cx="6217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, based on hole type , we need to have ST, SW</a:t>
              </a:r>
              <a:r>
                <a:rPr lang="en-US" sz="1100" dirty="0">
                  <a:solidFill>
                    <a:srgbClr val="FF000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you need to change H=ST</a:t>
              </a: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2AFD5084-AA51-605E-E376-478CB3B6CD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F641574-291E-AA6F-5306-FCB0EE093BE7}"/>
              </a:ext>
            </a:extLst>
          </p:cNvPr>
          <p:cNvGrpSpPr/>
          <p:nvPr/>
        </p:nvGrpSpPr>
        <p:grpSpPr>
          <a:xfrm>
            <a:off x="2106465" y="5240499"/>
            <a:ext cx="7323619" cy="261610"/>
            <a:chOff x="4092326" y="1688590"/>
            <a:chExt cx="7323619" cy="261610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54D822F-4217-2D4B-3306-D83D282BBE51}"/>
                </a:ext>
              </a:extLst>
            </p:cNvPr>
            <p:cNvSpPr txBox="1"/>
            <p:nvPr/>
          </p:nvSpPr>
          <p:spPr>
            <a:xfrm>
              <a:off x="5198127" y="1688590"/>
              <a:ext cx="6217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Always ON , we need B, GA, GD 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AC6D92A-6E09-34AE-DB0D-C223DFCEC6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A84B5C6-4814-52DF-7EBB-95E8D2BA8191}"/>
              </a:ext>
            </a:extLst>
          </p:cNvPr>
          <p:cNvGrpSpPr/>
          <p:nvPr/>
        </p:nvGrpSpPr>
        <p:grpSpPr>
          <a:xfrm>
            <a:off x="2106465" y="5646934"/>
            <a:ext cx="7323619" cy="261610"/>
            <a:chOff x="4092326" y="1688590"/>
            <a:chExt cx="7323619" cy="261610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39004DD-D6A3-5A29-5226-5D80DA271CD4}"/>
                </a:ext>
              </a:extLst>
            </p:cNvPr>
            <p:cNvSpPr txBox="1"/>
            <p:nvPr/>
          </p:nvSpPr>
          <p:spPr>
            <a:xfrm>
              <a:off x="5198127" y="1688590"/>
              <a:ext cx="6217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Optional , if we have CGO, CGR, G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E7817E41-293D-16C1-9126-841300F90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92326" y="1842479"/>
              <a:ext cx="102831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7E0E86A-C904-87C2-027D-E8A613E67E8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rcRect t="2860"/>
          <a:stretch>
            <a:fillRect/>
          </a:stretch>
        </p:blipFill>
        <p:spPr>
          <a:xfrm>
            <a:off x="9508065" y="685799"/>
            <a:ext cx="2429417" cy="3385175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D07D4824-22DE-616C-CB70-B78E0A0E1268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63246" y="4448256"/>
            <a:ext cx="2105319" cy="160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805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E8EB8-F7D4-6227-4262-2CA84B7D1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F55641-9BE6-8749-9156-732E89978D39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83B6D9B-BE56-507A-CD31-4F4DD36FF053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F19C887-C1C7-0998-75A6-949782BA6CBE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02ED3D0-81D2-8D95-1BD1-5D02194BA96F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C804B2-6720-7CAC-EB3E-2AA1F7EB862F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select the type of drawing from drawings properties manager, PGB no need to fill these properties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3C662E84-5CAB-1395-6B6A-9D9DEBC9698E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46C58D-5A46-2C2A-EC3C-C273A9A7FEA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53892" y="1283102"/>
            <a:ext cx="3205479" cy="8067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B67CDB-CC10-C895-DF70-FA6DFD2A4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29" y="1373892"/>
            <a:ext cx="6292427" cy="73780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48E2560-C7CC-D68B-ACAC-6DC0129CE5C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2629" y="2734174"/>
            <a:ext cx="3909591" cy="2864786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6F48ABA-AD16-5C35-F9CE-3591F77A21CB}"/>
              </a:ext>
            </a:extLst>
          </p:cNvPr>
          <p:cNvCxnSpPr/>
          <p:nvPr/>
        </p:nvCxnSpPr>
        <p:spPr>
          <a:xfrm flipH="1">
            <a:off x="3578629" y="372918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2BE992F-507D-04FD-DBA9-2BF209B98ADE}"/>
              </a:ext>
            </a:extLst>
          </p:cNvPr>
          <p:cNvCxnSpPr/>
          <p:nvPr/>
        </p:nvCxnSpPr>
        <p:spPr>
          <a:xfrm flipH="1">
            <a:off x="3663296" y="4127116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8251517-D9F7-47A6-5DEB-A6ED95D0B940}"/>
              </a:ext>
            </a:extLst>
          </p:cNvPr>
          <p:cNvCxnSpPr/>
          <p:nvPr/>
        </p:nvCxnSpPr>
        <p:spPr>
          <a:xfrm flipH="1">
            <a:off x="3663296" y="4499650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E565820-1759-84BD-E452-93F74E4C09D4}"/>
              </a:ext>
            </a:extLst>
          </p:cNvPr>
          <p:cNvCxnSpPr/>
          <p:nvPr/>
        </p:nvCxnSpPr>
        <p:spPr>
          <a:xfrm flipH="1">
            <a:off x="3663296" y="4872184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2C9A2F9-49F6-5398-A1B6-4E1335DD792B}"/>
              </a:ext>
            </a:extLst>
          </p:cNvPr>
          <p:cNvCxnSpPr/>
          <p:nvPr/>
        </p:nvCxnSpPr>
        <p:spPr>
          <a:xfrm flipH="1">
            <a:off x="4143894" y="5312451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400264D-9FF9-329D-2D30-EC8268EB42BB}"/>
              </a:ext>
            </a:extLst>
          </p:cNvPr>
          <p:cNvSpPr txBox="1"/>
          <p:nvPr/>
        </p:nvSpPr>
        <p:spPr>
          <a:xfrm>
            <a:off x="4793827" y="3555362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DC1CF5-C23F-1076-39E6-8AE09AECF5CC}"/>
              </a:ext>
            </a:extLst>
          </p:cNvPr>
          <p:cNvSpPr txBox="1"/>
          <p:nvPr/>
        </p:nvSpPr>
        <p:spPr>
          <a:xfrm>
            <a:off x="4793827" y="3984666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703EDA-FB36-8F77-DBDF-B80C15B424A8}"/>
              </a:ext>
            </a:extLst>
          </p:cNvPr>
          <p:cNvSpPr txBox="1"/>
          <p:nvPr/>
        </p:nvSpPr>
        <p:spPr>
          <a:xfrm>
            <a:off x="4878494" y="4340781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FD8218-B1DA-7B9E-1E12-FB7F2E4E7743}"/>
              </a:ext>
            </a:extLst>
          </p:cNvPr>
          <p:cNvSpPr txBox="1"/>
          <p:nvPr/>
        </p:nvSpPr>
        <p:spPr>
          <a:xfrm>
            <a:off x="4793827" y="4713314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C54A75-1906-7456-9E48-8F226686B8FD}"/>
              </a:ext>
            </a:extLst>
          </p:cNvPr>
          <p:cNvSpPr txBox="1"/>
          <p:nvPr/>
        </p:nvSpPr>
        <p:spPr>
          <a:xfrm>
            <a:off x="5361093" y="5134185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 view</a:t>
            </a:r>
          </a:p>
        </p:txBody>
      </p:sp>
    </p:spTree>
    <p:extLst>
      <p:ext uri="{BB962C8B-B14F-4D97-AF65-F5344CB8AC3E}">
        <p14:creationId xmlns:p14="http://schemas.microsoft.com/office/powerpoint/2010/main" val="3678626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A1BF-31C1-7B25-6FF2-6F606D259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F8A08D-E5A6-C228-C3AD-F320F18C14A3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675C3B-F1F2-C296-5E88-F1EE2FDBDEAF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5B277A0-AA3B-B3BE-C49C-002D7B264A20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B49AAA6-072F-6C2E-5008-1B82E815B120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B6541-6274-159A-3CAB-82F09A4BA857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BBBDCF79-76FA-6CBE-AB8F-5183D4E43A37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EEE67C-7218-F389-D3AF-3812F519A5E3}"/>
              </a:ext>
            </a:extLst>
          </p:cNvPr>
          <p:cNvSpPr txBox="1"/>
          <p:nvPr/>
        </p:nvSpPr>
        <p:spPr>
          <a:xfrm>
            <a:off x="3076787" y="1434729"/>
            <a:ext cx="85360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BA_SLB@annotation_front_plan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we have SLB feature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870FE7-B76C-DB3C-3DA2-EE6D6C3702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35143" y="1311101"/>
            <a:ext cx="1342297" cy="510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1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8996A-A23C-C0CC-B99D-8F0E1A27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EF634B-A3B5-955D-DC97-22F9C27F6C47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2607851-E2BC-87E1-17DF-6CE383ACB689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2D3EA2E-992A-66C3-7B82-00188E43FE3B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A8C881D-F063-4595-4C17-312E93D9AD4C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AAB318-9BFE-EC28-96F0-3A70C6CEC338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4203DA58-8CAF-7155-3C61-0B38E0710922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6CE23-5ED8-82E5-0D44-48B6FB2B22DB}"/>
              </a:ext>
            </a:extLst>
          </p:cNvPr>
          <p:cNvSpPr txBox="1"/>
          <p:nvPr/>
        </p:nvSpPr>
        <p:spPr>
          <a:xfrm>
            <a:off x="3076787" y="1434729"/>
            <a:ext cx="853609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</a:p>
          <a:p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TL@annotation_right_plan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9709E0-4562-E425-BB4A-4B3D3DC8F8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0306" y="1347518"/>
            <a:ext cx="1841165" cy="5007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64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98B38-17B1-5284-916B-7E9AD3EC9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4BC1789-4D6E-046C-A6BA-AF9376169940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80465AB-FBE1-1C9B-28DE-557E6E99ADC4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7EA5D5C-4840-47B1-8ACF-09C2240126DC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9F09029-98F2-79D7-1065-B313FFD24F70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861FEA-84E8-C5D3-E431-6624FE5A11BB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B9A6701E-F6B4-0873-B47D-5FB1A9E96763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82505D-D05D-44AA-DE27-812BF114644A}"/>
              </a:ext>
            </a:extLst>
          </p:cNvPr>
          <p:cNvSpPr txBox="1"/>
          <p:nvPr/>
        </p:nvSpPr>
        <p:spPr>
          <a:xfrm>
            <a:off x="3076787" y="1434729"/>
            <a:ext cx="853609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TDF@annotation_top_plan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D4EBD2-188A-B111-D93F-D7429D1BE2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t="7983" r="8371" b="14488"/>
          <a:stretch>
            <a:fillRect/>
          </a:stretch>
        </p:blipFill>
        <p:spPr>
          <a:xfrm>
            <a:off x="228601" y="2523809"/>
            <a:ext cx="2760133" cy="213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2002-2E58-C585-8688-90E2054FF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FC32FE1-6868-89DF-25C1-3F8DC0323435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253B30C-4714-2134-20FD-30462CD9D272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70ED5EA-0E1C-CEB4-6F34-BE12564AA41C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0AB46B0-0639-A9A7-35D6-A0ADE9B2E2ED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D8AF6-1B7B-5DE1-8C47-E3A01FBD01C3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D99A5E2E-1BFC-7074-614D-AC6E8EC7CF60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87F4D4-34A1-70EE-DE4C-498CD24C2DA0}"/>
              </a:ext>
            </a:extLst>
          </p:cNvPr>
          <p:cNvSpPr txBox="1"/>
          <p:nvPr/>
        </p:nvSpPr>
        <p:spPr>
          <a:xfrm>
            <a:off x="3076787" y="1434729"/>
            <a:ext cx="853609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W2@annotation_righ_plan Optional 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827E7E-CE44-25C5-B4DD-0CB6628F015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8314" y="1283102"/>
            <a:ext cx="2300126" cy="490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16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C701-A8E9-9248-DE75-CAAD20E53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051164-A092-A691-A55B-E13EA2215F74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F6A13CD-6DB3-A2C0-AB27-1935DE34FFE8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4AF092E-3203-FC5C-F927-855ECEF0BA7F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4B0EE9B-42E4-2F90-DB5C-7BDB7B2AF356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3A856D-CE2E-8F25-486A-442C16EA5A2B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</a:t>
            </a:r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D5D9B35-A524-50A1-5985-FA827409932F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9D794A-7617-1F5F-EE50-E3440B78B657}"/>
              </a:ext>
            </a:extLst>
          </p:cNvPr>
          <p:cNvSpPr txBox="1"/>
          <p:nvPr/>
        </p:nvSpPr>
        <p:spPr>
          <a:xfrm>
            <a:off x="3655907" y="1399962"/>
            <a:ext cx="853609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SYLE_A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FL@annotation_front_plan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T@annotation_front_plan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2A72F-EF27-3691-646F-D23AB4E048D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r="5284"/>
          <a:stretch>
            <a:fillRect/>
          </a:stretch>
        </p:blipFill>
        <p:spPr>
          <a:xfrm>
            <a:off x="228388" y="1274635"/>
            <a:ext cx="2887345" cy="494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332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0C650-6AF3-56A0-9FC6-0E9234840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5F943C-D517-DC64-4A24-1FA144B2FDC6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30C8699-0E73-9D6D-70A5-0A86F11131C9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A9020F1-D766-F280-0D9A-28CCE2EE6E1A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3C7FCB0-8B4E-77DE-0530-960E748758CA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9A5A2E-8F87-590A-755C-2C4B2BC8A404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in case of FG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50BF857D-AA88-2E51-66F1-D5EF3D01DDC9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A378D2-0E38-FFF5-C397-3D92200D860F}"/>
              </a:ext>
            </a:extLst>
          </p:cNvPr>
          <p:cNvSpPr txBox="1"/>
          <p:nvPr/>
        </p:nvSpPr>
        <p:spPr>
          <a:xfrm>
            <a:off x="3076787" y="1434729"/>
            <a:ext cx="853609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BA_VBL@annotation_front_plan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we have SLB feature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725AB9-FD11-F098-8D43-94C9B090B0E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0306" y="1195297"/>
            <a:ext cx="1457961" cy="497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3FEF7-DF86-F9B3-54A8-6825C1F79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3A9888-98BD-2FBE-BBDB-5D105438EB08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C9CB857-CA68-4AE0-7BE2-CB4904EB25B7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D8259-DF83-989B-6214-E9457594435E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155FEA9-5118-C85F-3BC3-BAD928326880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3E26-CE3C-EC5E-ED97-F28AA46FD5F0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in case of FG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5732D0AF-CD62-A074-658C-B2901198EA53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ECAC0F-E18A-0547-1908-385B1B3BCB4B}"/>
              </a:ext>
            </a:extLst>
          </p:cNvPr>
          <p:cNvSpPr txBox="1"/>
          <p:nvPr/>
        </p:nvSpPr>
        <p:spPr>
          <a:xfrm>
            <a:off x="3076787" y="1434729"/>
            <a:ext cx="853609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</a:p>
          <a:p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TL@annotation_right_plan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7456F8-F1C4-CE86-2664-5DDE4A2CB0D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0306" y="1205673"/>
            <a:ext cx="1841165" cy="5007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3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ECF35-EABE-29E3-B253-5C12DAD9A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DDA985-ECD0-4093-50D6-64AF0FDEE652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0189745-9A60-5BAD-FDC8-1BD3915CD9D0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9E853FC-CF59-EE3D-1507-7AD1B938D5E0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1A6B69D-8CD5-54C3-953F-FBFAB04114CD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37965-A36F-06F6-DB18-850B35FC6250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in case of FG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29A32888-CEC5-77E0-FE63-EB84242F7C44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C592A6-6EE4-B452-CBA5-B1EC7AA32A74}"/>
              </a:ext>
            </a:extLst>
          </p:cNvPr>
          <p:cNvSpPr txBox="1"/>
          <p:nvPr/>
        </p:nvSpPr>
        <p:spPr>
          <a:xfrm>
            <a:off x="3076787" y="1434729"/>
            <a:ext cx="853609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TDF@annotation_top_plan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68343E-0309-E5C7-DEA0-4339512CCAE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t="7983" r="8371" b="14488"/>
          <a:stretch>
            <a:fillRect/>
          </a:stretch>
        </p:blipFill>
        <p:spPr>
          <a:xfrm>
            <a:off x="228601" y="2523809"/>
            <a:ext cx="2760133" cy="213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647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DA3AC-F8A1-7801-6F46-8A67710B5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B6D0AE2-23EC-D749-4062-CF3CCA94AA3F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7D8DAC-5036-60C1-5040-75C920427269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A0992FE-DC9D-8497-E8FE-EE22804B38F2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0A6B295-7042-BDCF-787D-442DDDE61034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E52116-2A31-603E-5298-BEC6CF864E0B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85FA02D-7C3A-A980-E04B-E5F4FFB55142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D053FF-D1BC-98C1-D9DF-5AD79520EF35}"/>
              </a:ext>
            </a:extLst>
          </p:cNvPr>
          <p:cNvSpPr txBox="1"/>
          <p:nvPr/>
        </p:nvSpPr>
        <p:spPr>
          <a:xfrm>
            <a:off x="3076787" y="1434729"/>
            <a:ext cx="853609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W2@annotation_right_plan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B@annotation_right_plan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GA@annotation_right_plan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GD@annotation_right_plan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B9C4B2-7EBF-CE35-9B7F-B6A149A2EFB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8314" y="1283102"/>
            <a:ext cx="2300126" cy="490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49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B259C-47B4-7527-8A5A-552B162D3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10206A-A8F3-F5D7-C62F-E79A8F05717E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20DA6DD-3991-51C7-1C11-659F2B760AAD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E3A2D9A-D2CB-1716-A674-BD5D8A2F8B17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522EF6E-26EC-624A-838C-F8A281EE455C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A1ABC-4612-39CF-AA6C-A0505671FB59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</a:t>
            </a:r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1C289352-66B9-38B6-E704-F51C5A37B13B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AEBBD-E07B-3BD5-F4EB-CAB4046234A3}"/>
              </a:ext>
            </a:extLst>
          </p:cNvPr>
          <p:cNvSpPr txBox="1"/>
          <p:nvPr/>
        </p:nvSpPr>
        <p:spPr>
          <a:xfrm>
            <a:off x="3655907" y="1399962"/>
            <a:ext cx="8536093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T@annotation_front_plan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FNA@annotation_front_plan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HA@annotation_front_plan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H@annotation_front_plan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HH@annotation_front_plan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 if oval hole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 if slot hole </a:t>
            </a: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FR@annotation_front_plan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BR@annotation_front_plan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BF@annotation_front_plan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only in production drawing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only in production drawing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only in production drawing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CGD@annotation_front_plan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CGR@annotation_front_plan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only in production drawing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G@annotation_front_plan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87E65B-4F8F-F1AC-CD62-60576404C3C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r="5284"/>
          <a:stretch>
            <a:fillRect/>
          </a:stretch>
        </p:blipFill>
        <p:spPr>
          <a:xfrm>
            <a:off x="228388" y="1274635"/>
            <a:ext cx="2887345" cy="494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25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DABD-3818-C01C-66E8-78E3FBA6C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64EC2B-358D-B648-D302-C71CC8E840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l="1444" t="1294" r="2449" b="2275"/>
          <a:stretch>
            <a:fillRect/>
          </a:stretch>
        </p:blipFill>
        <p:spPr>
          <a:xfrm>
            <a:off x="6187440" y="1125067"/>
            <a:ext cx="5776986" cy="4405616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19D41389-B6A7-185F-2F2F-4B0DB107D4F0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5AB65D4-D76F-00F6-C22F-4ADBC2FCD362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0C01F48-D73A-9D0D-AA5E-7C7D7F83922B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A0FE2CC-0C22-2515-C409-D78F7293B10E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004B6D-68EB-9BFF-0C8D-518ECED76FA7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08E831DA-143B-A236-D60E-58296072AE6A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FE1D01-57ED-17CF-D53D-F9DB1BBC607D}"/>
              </a:ext>
            </a:extLst>
          </p:cNvPr>
          <p:cNvSpPr txBox="1"/>
          <p:nvPr/>
        </p:nvSpPr>
        <p:spPr>
          <a:xfrm>
            <a:off x="563880" y="1340510"/>
            <a:ext cx="5532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general, overlays respect the following shape :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and Left view.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Axillary view 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Overlay Metadata controlled by properties manager's bellow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2B5A4E-BCE4-DA38-A391-F8FF7F7881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921"/>
          <a:stretch>
            <a:fillRect/>
          </a:stretch>
        </p:blipFill>
        <p:spPr>
          <a:xfrm>
            <a:off x="618744" y="2578534"/>
            <a:ext cx="4921609" cy="170093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2A375BF-A491-A98C-420B-EB01B295D33E}"/>
              </a:ext>
            </a:extLst>
          </p:cNvPr>
          <p:cNvSpPr/>
          <p:nvPr/>
        </p:nvSpPr>
        <p:spPr>
          <a:xfrm>
            <a:off x="7301997" y="2171507"/>
            <a:ext cx="1755648" cy="245701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34A306-CB9D-D9CF-68D3-71E00D721320}"/>
              </a:ext>
            </a:extLst>
          </p:cNvPr>
          <p:cNvSpPr/>
          <p:nvPr/>
        </p:nvSpPr>
        <p:spPr>
          <a:xfrm>
            <a:off x="10089663" y="2171507"/>
            <a:ext cx="1755648" cy="245701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383440-3977-3BCB-2B01-0CCC3CC77FAA}"/>
              </a:ext>
            </a:extLst>
          </p:cNvPr>
          <p:cNvSpPr txBox="1"/>
          <p:nvPr/>
        </p:nvSpPr>
        <p:spPr>
          <a:xfrm>
            <a:off x="10419609" y="5884147"/>
            <a:ext cx="1095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5964B6-410B-F907-8764-BCDCDCAFF93F}"/>
              </a:ext>
            </a:extLst>
          </p:cNvPr>
          <p:cNvSpPr/>
          <p:nvPr/>
        </p:nvSpPr>
        <p:spPr>
          <a:xfrm>
            <a:off x="9474200" y="4781384"/>
            <a:ext cx="2102104" cy="52213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7E2D6D-2E0C-D60B-F562-30BA6CC32BE8}"/>
              </a:ext>
            </a:extLst>
          </p:cNvPr>
          <p:cNvSpPr/>
          <p:nvPr/>
        </p:nvSpPr>
        <p:spPr>
          <a:xfrm>
            <a:off x="6419087" y="1327318"/>
            <a:ext cx="791469" cy="3752682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EFFF57-6B3C-D83A-1F0E-3BF728108034}"/>
              </a:ext>
            </a:extLst>
          </p:cNvPr>
          <p:cNvSpPr txBox="1"/>
          <p:nvPr/>
        </p:nvSpPr>
        <p:spPr>
          <a:xfrm>
            <a:off x="7301997" y="5843841"/>
            <a:ext cx="1095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Left view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2EC1F-163D-34E6-EFF2-C7648B04C08F}"/>
              </a:ext>
            </a:extLst>
          </p:cNvPr>
          <p:cNvSpPr txBox="1"/>
          <p:nvPr/>
        </p:nvSpPr>
        <p:spPr>
          <a:xfrm>
            <a:off x="8687179" y="5895868"/>
            <a:ext cx="1218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Axillary view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9367D8-A97E-82D3-0444-161B6C3518EE}"/>
              </a:ext>
            </a:extLst>
          </p:cNvPr>
          <p:cNvSpPr txBox="1"/>
          <p:nvPr/>
        </p:nvSpPr>
        <p:spPr>
          <a:xfrm>
            <a:off x="4768141" y="4557351"/>
            <a:ext cx="1095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09C21D2-34AF-E69C-836F-5A7C8A82CFB1}"/>
              </a:ext>
            </a:extLst>
          </p:cNvPr>
          <p:cNvCxnSpPr>
            <a:stCxn id="23" idx="3"/>
          </p:cNvCxnSpPr>
          <p:nvPr/>
        </p:nvCxnSpPr>
        <p:spPr>
          <a:xfrm flipV="1">
            <a:off x="5863897" y="4114800"/>
            <a:ext cx="555191" cy="5964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9D544A4-6904-B5ED-9762-227FC6964A57}"/>
              </a:ext>
            </a:extLst>
          </p:cNvPr>
          <p:cNvCxnSpPr>
            <a:cxnSpLocks/>
          </p:cNvCxnSpPr>
          <p:nvPr/>
        </p:nvCxnSpPr>
        <p:spPr>
          <a:xfrm flipV="1">
            <a:off x="7709680" y="4781384"/>
            <a:ext cx="538132" cy="1142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73A756A-EF65-8D39-3518-67D940B0C96F}"/>
              </a:ext>
            </a:extLst>
          </p:cNvPr>
          <p:cNvCxnSpPr>
            <a:cxnSpLocks/>
          </p:cNvCxnSpPr>
          <p:nvPr/>
        </p:nvCxnSpPr>
        <p:spPr>
          <a:xfrm flipV="1">
            <a:off x="9391913" y="5362891"/>
            <a:ext cx="1027696" cy="632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0EC35B2-6379-C26B-1FB4-463E988BB7D2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1515365" y="4781384"/>
            <a:ext cx="216387" cy="12566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936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B61C-CAE3-C0CD-B0BF-C4BC965F8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0">
            <a:extLst>
              <a:ext uri="{FF2B5EF4-FFF2-40B4-BE49-F238E27FC236}">
                <a16:creationId xmlns:a16="http://schemas.microsoft.com/office/drawing/2014/main" id="{541306F9-D6B4-3399-B6E6-74754CAD2A78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303E372F-C263-6FD8-02CE-9E382AC7D5AD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F032FBA2-69F7-C165-D89C-3F03E11EDC98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99D940AD-90A2-76D8-B60E-34427F6C4163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9DEDD6-5E85-293C-0E2D-86DFFAFC71F6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overlays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std_shank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case : </a:t>
            </a:r>
          </a:p>
        </p:txBody>
      </p:sp>
      <p:sp>
        <p:nvSpPr>
          <p:cNvPr id="37" name="Shape 1">
            <a:extLst>
              <a:ext uri="{FF2B5EF4-FFF2-40B4-BE49-F238E27FC236}">
                <a16:creationId xmlns:a16="http://schemas.microsoft.com/office/drawing/2014/main" id="{39A2CF88-D7A7-85D6-EB50-A7D749B17897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B0B591-99B5-2EE2-6723-E46CB5BF56A9}"/>
              </a:ext>
            </a:extLst>
          </p:cNvPr>
          <p:cNvSpPr txBox="1"/>
          <p:nvPr/>
        </p:nvSpPr>
        <p:spPr>
          <a:xfrm>
            <a:off x="563880" y="1340510"/>
            <a:ext cx="5532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View will pe positioned based on reference points :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0CC05D-9299-C4FD-84E6-DA203EA34D03}"/>
              </a:ext>
            </a:extLst>
          </p:cNvPr>
          <p:cNvSpPr txBox="1"/>
          <p:nvPr/>
        </p:nvSpPr>
        <p:spPr>
          <a:xfrm>
            <a:off x="548640" y="3424557"/>
            <a:ext cx="525949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std_ref_point_right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will control the cut  of the right view in the overlay; the right view is already assigned the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righ_view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configuration .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control of the cut is done by the programmer based by changing the value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std_ref_point_right@std_ref_point_right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the cases we have .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old cut was based on the scale of the view was :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std_ref_point_right@std_ref_point_right = 2.01175in/ "scale“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is </a:t>
            </a:r>
            <a:r>
              <a:rPr lang="en-US" sz="1400" dirty="0">
                <a:solidFill>
                  <a:srgbClr val="00B05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OK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for most of standard cases but for cases with VR its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 OK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programmer will need to give the appropriate value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4F3FBA4D-D5A8-F722-39CA-F0CB04F5488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65853" y="1863730"/>
            <a:ext cx="3291893" cy="1062737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2FFC7FAB-6255-BA26-3153-E363B07D2412}"/>
              </a:ext>
            </a:extLst>
          </p:cNvPr>
          <p:cNvSpPr/>
          <p:nvPr/>
        </p:nvSpPr>
        <p:spPr>
          <a:xfrm>
            <a:off x="1126067" y="1639849"/>
            <a:ext cx="1862666" cy="8154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ED37FC4-66EA-8E7D-DA6B-EBBCA48491E0}"/>
              </a:ext>
            </a:extLst>
          </p:cNvPr>
          <p:cNvSpPr/>
          <p:nvPr/>
        </p:nvSpPr>
        <p:spPr>
          <a:xfrm>
            <a:off x="1126067" y="2484497"/>
            <a:ext cx="1862666" cy="8154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E4C860B-E5D9-3E66-F75D-774DB13ED5A1}"/>
              </a:ext>
            </a:extLst>
          </p:cNvPr>
          <p:cNvCxnSpPr>
            <a:stCxn id="42" idx="3"/>
          </p:cNvCxnSpPr>
          <p:nvPr/>
        </p:nvCxnSpPr>
        <p:spPr>
          <a:xfrm>
            <a:off x="2988733" y="2047591"/>
            <a:ext cx="1016000" cy="6617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C20A02D-F573-A9CB-6CE0-7CC61FF98B4B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 flipV="1">
            <a:off x="2988733" y="2395099"/>
            <a:ext cx="877120" cy="4971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A8A4056-E4B8-A129-3EF1-E76F761C5C71}"/>
              </a:ext>
            </a:extLst>
          </p:cNvPr>
          <p:cNvSpPr txBox="1"/>
          <p:nvPr/>
        </p:nvSpPr>
        <p:spPr>
          <a:xfrm>
            <a:off x="6353386" y="3424556"/>
            <a:ext cx="52594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std_ref_point_left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will control the cut  of the right view in the overlay; the right view is already assigned the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left_view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configuration .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control of the cut is done by the programmer based by changing the value of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std_ref_point_left@std_ref_point_left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the cases we have .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old cut was based on the scale of the view was :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std_ref_point_left@std_ref_point_left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= 2.01175in/ "scale“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this is </a:t>
            </a:r>
            <a:r>
              <a:rPr lang="en-US" sz="1400" dirty="0">
                <a:solidFill>
                  <a:srgbClr val="00B05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OK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for most of standard cases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94D876B4-2B13-63E0-67EF-37BB5318D66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rcRect t="12583"/>
          <a:stretch>
            <a:fillRect/>
          </a:stretch>
        </p:blipFill>
        <p:spPr>
          <a:xfrm>
            <a:off x="828039" y="1648287"/>
            <a:ext cx="2568866" cy="167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167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04087-4690-502E-BC46-48535B171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A2C8BFB-388B-48D8-0EFC-5422AF0FE79C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1503462-8FA0-4050-DEFF-BCEAAA8C41C7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4E59613-0D78-F494-7021-B231A3C83D8D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CC46997-BDBF-6F47-2F4C-9D6F93F5D1D5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099B5-9CAC-7E3D-3977-F8501C22F8CE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628EFFED-4DBE-85C9-CA2D-C8CE9C18FAAC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2A6CD1-8A8F-4F90-FF4B-60D3625D324A}"/>
              </a:ext>
            </a:extLst>
          </p:cNvPr>
          <p:cNvSpPr txBox="1"/>
          <p:nvPr/>
        </p:nvSpPr>
        <p:spPr>
          <a:xfrm>
            <a:off x="563879" y="1340510"/>
            <a:ext cx="5846065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&amp; Left view will have the same scale; the scale is chosen based on FL values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Numerical Limits: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x400 : T ≤ 0.0134 in or 0.3403 mm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x300 : T ≤ 0.0180 in or 0.4572 mm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x200 : T ≤ 0.0272 in or 0.6908 mm 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x100 : T ≤ 0.0542 in or 1.3766 mm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scales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S100 = 1:60.8 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S200 = 1:121.1 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S300 = 1:183.0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S400 = 1:246.0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Image 9" descr="Une image contenant texte, capture d’écran, Bleu électrique, Police&#10;&#10;Le contenu généré par l’IA peut être incorrect.">
            <a:extLst>
              <a:ext uri="{FF2B5EF4-FFF2-40B4-BE49-F238E27FC236}">
                <a16:creationId xmlns:a16="http://schemas.microsoft.com/office/drawing/2014/main" id="{BA6E3393-0515-EE99-0A3E-BCE4DA5878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392" y="1923182"/>
            <a:ext cx="5202936" cy="3902202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742CE5B-FBC4-06B4-B609-436111065EA8}"/>
              </a:ext>
            </a:extLst>
          </p:cNvPr>
          <p:cNvSpPr/>
          <p:nvPr/>
        </p:nvSpPr>
        <p:spPr>
          <a:xfrm>
            <a:off x="7562088" y="3429000"/>
            <a:ext cx="1435608" cy="86868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92E5A7-BC5C-463E-8E9E-783525873E4A}"/>
              </a:ext>
            </a:extLst>
          </p:cNvPr>
          <p:cNvSpPr/>
          <p:nvPr/>
        </p:nvSpPr>
        <p:spPr>
          <a:xfrm>
            <a:off x="10177272" y="3439943"/>
            <a:ext cx="1435608" cy="86868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90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4DF54-F98E-7309-AC35-D7E2DB54E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F1F92044-1B1D-2435-736F-173804F259EE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39411CA4-1BD4-FA81-F9EA-461EC3FE9341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95E7D21-191B-1FB9-9262-AAC9254A2831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C3B7DD76-F379-6BAF-0036-2F6C91D2286E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12E3CB-499B-9DBF-9435-26B78728BADE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PGB overlays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std_shank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Shape 1">
            <a:extLst>
              <a:ext uri="{FF2B5EF4-FFF2-40B4-BE49-F238E27FC236}">
                <a16:creationId xmlns:a16="http://schemas.microsoft.com/office/drawing/2014/main" id="{9D07E10B-9559-228F-A2B5-7FC2F6CB840E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94532F-76AF-3C41-42C2-ABA9753B324F}"/>
              </a:ext>
            </a:extLst>
          </p:cNvPr>
          <p:cNvSpPr txBox="1"/>
          <p:nvPr/>
        </p:nvSpPr>
        <p:spPr>
          <a:xfrm>
            <a:off x="970070" y="5999943"/>
            <a:ext cx="9880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 1 : The programmer need to change the values of the parameters in equation &amp;  inside the sketches based of above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DC2CA5-04EA-72A3-E704-79CCD197A2A2}"/>
              </a:ext>
            </a:extLst>
          </p:cNvPr>
          <p:cNvSpPr txBox="1"/>
          <p:nvPr/>
        </p:nvSpPr>
        <p:spPr>
          <a:xfrm>
            <a:off x="2971423" y="1623444"/>
            <a:ext cx="48059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W to MAX values &amp; W_MIN inside the sketch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081B36-4CD4-9873-D576-4F4FBA6A910D}"/>
              </a:ext>
            </a:extLst>
          </p:cNvPr>
          <p:cNvSpPr txBox="1"/>
          <p:nvPr/>
        </p:nvSpPr>
        <p:spPr>
          <a:xfrm>
            <a:off x="2834640" y="2004846"/>
            <a:ext cx="48059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Turn off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2E86AB-21E0-CB70-DAB7-8764E56D26DF}"/>
              </a:ext>
            </a:extLst>
          </p:cNvPr>
          <p:cNvSpPr txBox="1"/>
          <p:nvPr/>
        </p:nvSpPr>
        <p:spPr>
          <a:xfrm>
            <a:off x="3087757" y="2351602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VW=W , Change VW , VRA to MAX &amp; VR to MIN &amp; VW_MIN , VRA_MIN, VRA_MAX inside the sketch  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93AF8E-67DB-8CB7-18AB-DF2D606F42B2}"/>
              </a:ext>
            </a:extLst>
          </p:cNvPr>
          <p:cNvSpPr txBox="1"/>
          <p:nvPr/>
        </p:nvSpPr>
        <p:spPr>
          <a:xfrm>
            <a:off x="3187376" y="2642674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VW≠W , Change VW , VRA, W, ISA to MAX &amp; VR to MIN &amp; VW_MIN , VRA_MIN, VRA_MAX, W_MIN, ISA_MIN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551E4D-DE5B-1FF5-D979-C90BF05BE272}"/>
              </a:ext>
            </a:extLst>
          </p:cNvPr>
          <p:cNvSpPr txBox="1"/>
          <p:nvPr/>
        </p:nvSpPr>
        <p:spPr>
          <a:xfrm>
            <a:off x="3087757" y="3318682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T, FD to MAX &amp; T_MIN. FD_MIN inside sketch this the standard case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10E5FC-6D1B-6FAC-AFB8-50BE535F120A}"/>
              </a:ext>
            </a:extLst>
          </p:cNvPr>
          <p:cNvSpPr txBox="1"/>
          <p:nvPr/>
        </p:nvSpPr>
        <p:spPr>
          <a:xfrm>
            <a:off x="3087757" y="3615969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SLB, Change T, FD to MAX &amp; T_MIN. FD_MIN inside sketch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6EB9F6-28E0-77E0-5AEA-E4D99F3A952F}"/>
              </a:ext>
            </a:extLst>
          </p:cNvPr>
          <p:cNvSpPr txBox="1"/>
          <p:nvPr/>
        </p:nvSpPr>
        <p:spPr>
          <a:xfrm>
            <a:off x="3036012" y="3936023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RA2, Change T, FD,RA2H to MAX &amp; T_MIN. FD_MIN, RA2H_MIN inside sketch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F9EE43-D607-1A95-1499-927A9FD42AB3}"/>
              </a:ext>
            </a:extLst>
          </p:cNvPr>
          <p:cNvSpPr txBox="1"/>
          <p:nvPr/>
        </p:nvSpPr>
        <p:spPr>
          <a:xfrm>
            <a:off x="3087757" y="4309482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RA2 &amp; SLB, Change T, FD,RA2H to MAX &amp; T_MIN. FD_MIN, RA2H_MIN inside sketch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F533AF-6DF2-B10D-FF77-3941A905DCD4}"/>
              </a:ext>
            </a:extLst>
          </p:cNvPr>
          <p:cNvSpPr txBox="1"/>
          <p:nvPr/>
        </p:nvSpPr>
        <p:spPr>
          <a:xfrm>
            <a:off x="2733284" y="3019720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Turn off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634A4C6C-A7CA-22A0-0ECD-9A1E32C78A0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6980" y="1588248"/>
            <a:ext cx="3031760" cy="303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7941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EA4C3-6AB5-08B3-3DEF-2CF462BB9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2F061C5F-5C8E-726D-AA9C-08567F92C7AB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36239435-399F-9D48-9317-F03D55230CF9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47FEE506-B0CA-AE80-EE29-C79103B7F272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E08CDA81-EC07-8A43-32F9-65A76BBFF79A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D62AB1-F766-8C24-8E03-41F033F2B3F7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AB16 Series – PGB 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PGB overlays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std_shank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Shape 1">
            <a:extLst>
              <a:ext uri="{FF2B5EF4-FFF2-40B4-BE49-F238E27FC236}">
                <a16:creationId xmlns:a16="http://schemas.microsoft.com/office/drawing/2014/main" id="{4F01A26C-C05A-315E-CF32-08D9CEC87467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D3BF0A-2B28-7E51-8269-5A829F997949}"/>
              </a:ext>
            </a:extLst>
          </p:cNvPr>
          <p:cNvSpPr txBox="1"/>
          <p:nvPr/>
        </p:nvSpPr>
        <p:spPr>
          <a:xfrm>
            <a:off x="970070" y="5999943"/>
            <a:ext cx="9880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 1 : The programmer need to change the values of the parameters in equation &amp;  inside the sketches based of above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1417CA-4A10-6925-B4CF-EA0DA7D0978E}"/>
              </a:ext>
            </a:extLst>
          </p:cNvPr>
          <p:cNvSpPr txBox="1"/>
          <p:nvPr/>
        </p:nvSpPr>
        <p:spPr>
          <a:xfrm>
            <a:off x="2971423" y="1623444"/>
            <a:ext cx="48059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W to MAX values &amp; W_MIN inside the sketch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AF161C-0728-A652-D8B5-0A2B9F10C3ED}"/>
              </a:ext>
            </a:extLst>
          </p:cNvPr>
          <p:cNvSpPr txBox="1"/>
          <p:nvPr/>
        </p:nvSpPr>
        <p:spPr>
          <a:xfrm>
            <a:off x="2834640" y="2004846"/>
            <a:ext cx="67360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inside the sketch  W_MIN, W_MAX , W parameter remain nominal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E1FE7F-A345-60C5-634E-6917EA1269D7}"/>
              </a:ext>
            </a:extLst>
          </p:cNvPr>
          <p:cNvSpPr txBox="1"/>
          <p:nvPr/>
        </p:nvSpPr>
        <p:spPr>
          <a:xfrm>
            <a:off x="3087757" y="2351602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VW=W , Change VW , VRA to MAX &amp; VR to MIN &amp; VW_MIN , VRA_MIN, VRA_MAX inside the sketch  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3CB698-8101-1B6F-75CB-CB1D4836C8CA}"/>
              </a:ext>
            </a:extLst>
          </p:cNvPr>
          <p:cNvSpPr txBox="1"/>
          <p:nvPr/>
        </p:nvSpPr>
        <p:spPr>
          <a:xfrm>
            <a:off x="3187376" y="2642674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VW≠W , Change VW , VRA, W, ISA to MAX &amp; VR to MIN &amp; VW_MIN , VRA_MIN, VRA_MAX, W_MIN, ISA_MIN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8CF1BC-27F2-A21C-4334-3B0BA98AAABC}"/>
              </a:ext>
            </a:extLst>
          </p:cNvPr>
          <p:cNvSpPr txBox="1"/>
          <p:nvPr/>
        </p:nvSpPr>
        <p:spPr>
          <a:xfrm>
            <a:off x="3087757" y="3318682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T, FD to MAX &amp; T_MIN. FD_MIN inside sketch this the standard case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DFAA97-9F78-1EDD-4C44-670F63E58AF5}"/>
              </a:ext>
            </a:extLst>
          </p:cNvPr>
          <p:cNvSpPr txBox="1"/>
          <p:nvPr/>
        </p:nvSpPr>
        <p:spPr>
          <a:xfrm>
            <a:off x="3087757" y="3615969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SLB, Change T, FD to MAX &amp; T_MIN. FD_MIN inside sketch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37DCD1-DF8E-4721-B24B-4A1C1703FA62}"/>
              </a:ext>
            </a:extLst>
          </p:cNvPr>
          <p:cNvSpPr txBox="1"/>
          <p:nvPr/>
        </p:nvSpPr>
        <p:spPr>
          <a:xfrm>
            <a:off x="3036012" y="3936023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RA2, Change T, FD,RA2H to MAX &amp; T_MIN. FD_MIN, RA2H_MIN inside sketch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F1E2BB-03D1-D23E-E1F0-CB90CAB47BB8}"/>
              </a:ext>
            </a:extLst>
          </p:cNvPr>
          <p:cNvSpPr txBox="1"/>
          <p:nvPr/>
        </p:nvSpPr>
        <p:spPr>
          <a:xfrm>
            <a:off x="3087757" y="4309482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RA2 &amp; SLB, Change T, FD,RA2H to MAX &amp; T_MIN. FD_MIN, RA2H_MIN inside sketch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DD2AB5-096F-3D5E-3C04-71AAA4D14124}"/>
              </a:ext>
            </a:extLst>
          </p:cNvPr>
          <p:cNvSpPr txBox="1"/>
          <p:nvPr/>
        </p:nvSpPr>
        <p:spPr>
          <a:xfrm>
            <a:off x="2733284" y="3019720"/>
            <a:ext cx="8204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B, GA, GD to MIN values &amp; B_MAX, GA_MAX, GD_MAX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E966899-802C-D276-14CF-68DD0C0C7F3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6980" y="1588248"/>
            <a:ext cx="3031760" cy="303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8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6608</TotalTime>
  <Words>2217</Words>
  <Application>Microsoft Office PowerPoint</Application>
  <PresentationFormat>Widescreen</PresentationFormat>
  <Paragraphs>210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Agnaou</dc:creator>
  <cp:lastModifiedBy>mounir ennakhai</cp:lastModifiedBy>
  <cp:revision>124</cp:revision>
  <dcterms:created xsi:type="dcterms:W3CDTF">2026-07-26T18:29:11Z</dcterms:created>
  <dcterms:modified xsi:type="dcterms:W3CDTF">2026-08-18T09:50:58Z</dcterms:modified>
</cp:coreProperties>
</file>