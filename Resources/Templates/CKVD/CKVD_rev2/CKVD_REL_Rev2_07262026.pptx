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7" r:id="rId2"/>
    <p:sldId id="260" r:id="rId3"/>
    <p:sldId id="261" r:id="rId4"/>
    <p:sldId id="262" r:id="rId5"/>
    <p:sldId id="263" r:id="rId6"/>
    <p:sldId id="264" r:id="rId7"/>
    <p:sldId id="269" r:id="rId8"/>
    <p:sldId id="265" r:id="rId9"/>
    <p:sldId id="272" r:id="rId10"/>
    <p:sldId id="266" r:id="rId11"/>
    <p:sldId id="268" r:id="rId12"/>
    <p:sldId id="270" r:id="rId13"/>
    <p:sldId id="271" r:id="rId14"/>
    <p:sldId id="273" r:id="rId15"/>
    <p:sldId id="267" r:id="rId16"/>
    <p:sldId id="274" r:id="rId17"/>
    <p:sldId id="275" r:id="rId18"/>
    <p:sldId id="276" r:id="rId19"/>
    <p:sldId id="277" r:id="rId20"/>
    <p:sldId id="278" r:id="rId21"/>
    <p:sldId id="279" r:id="rId22"/>
    <p:sldId id="280" r:id="rId2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590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0588C11-5393-8324-3146-69ABA00A72E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EF0FA9-AAB9-A60A-C494-F11F984E9D6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2993FE-E9D3-4B10-B499-4235062A8B3B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C61970-10B0-1539-9780-E6FE15D019A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5C7C85-C158-9B78-E8BD-CD7FBC7620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89A78-DF21-4F81-96A1-9852810E26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04949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2E5E3A-6FB5-47BF-ABCF-397F6C94D529}" type="datetimeFigureOut">
              <a:rPr lang="en-US" smtClean="0"/>
              <a:t>7/28/2026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1061FC-C60C-444C-8470-5860212819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468643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A9E3A-EA0E-2720-599A-7C95C5304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A5D51E-BB1C-A8DA-AE1B-23E7AFA3E9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30252E-9A31-13D4-70FF-4B6E5E5EBE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31267-7A72-C3EA-EE03-E29FD26421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04462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9534B-5356-2980-B3D4-BF6B37F13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9C617C-0C9E-0A18-66BA-C528D28B99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AFF11C-0A97-8B78-E67F-7F1CFC9FE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8FF85-48BF-5D25-C010-2E161BA74F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4804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A9867-31E5-7933-FB68-40102627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A53629-3CEB-89EC-5551-C840B336ED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342C5-5FF6-2F5D-C880-3DAECFA0C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358BC-28E2-E393-F785-9CCE5ACFCC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613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30653-0757-AA88-09C1-BF1981041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B5D99B-BB38-D9E8-7F27-5EF0AFF13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6FAC42-6E33-65FD-F6C7-042A259E80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9F1004-E055-5783-058E-F0CED9880C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23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D380C-12AF-A19E-DEF1-949FB20AF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24A28-359C-03C8-8BD5-FCAB855E3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0CCFD-182F-EC68-89FA-D959B360EC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3C50D-522C-B7FD-9C06-1649E7B5D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547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4320B-3CE4-B816-8CE7-5AFCE65B3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B249D-17D7-AAAE-6B81-EE1B95199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678595-B227-F219-21B6-0F4D6D0EC7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EC35ED-F90A-7728-106F-EE30C5CBD5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2514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051D2-DE4C-4E06-6C72-948269BC9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E719E0-C59F-37B7-7585-08F948C967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4CC0A-ADCB-C533-B89A-260C3C470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99CF3-7BA5-9081-9173-44D02ECB7B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5820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5A0DF-05BE-306B-7088-880EB6ADA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1A6DB-E2D0-BCBA-8293-30F806D356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84362-B7FF-AAE1-D354-63B90EFDDC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80829-D4DB-7A72-BC47-707B7D6FC3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82108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6037E-3774-65B8-D9D8-9F550AC84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3A451B-C777-D7D3-C282-233200594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35BDA-AB04-43DF-1163-809073916B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4A60FA-9592-1534-3AF6-58E3C7A7A8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05779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DCB9-8D50-3FBB-3749-3B22E643D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AABABF-1C97-BD47-F447-DAC4666FE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FA8268-6AD0-D251-C977-A2F4F06860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6F1A8-BB35-E22D-5786-EC05F41243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77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CFC9-B356-33FE-6411-43638BFF5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2B9E1-E770-E0EA-470C-11FB82283E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2E2FB-FBA8-6ABF-75C3-04D08EA25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6007E-7A4C-05F6-93D7-6ED22DE07C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4953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1D9AA-659C-F331-3D9B-7206E42F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1A2499-B0D2-82E4-20F5-5AD2DD8346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D195DD-EFD6-65F8-528E-6EFB9F4CAB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B9175-7D35-3DFA-1349-0CCE82370C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5018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746E6-9EC5-5A70-775C-E04258D9A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E586A8-6E46-B1AF-2AEA-45DF66E75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CDC4FD-F19C-06F2-DE24-A5D86A4400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740CD-6CF4-9B10-B937-90085BF7A3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4340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85C92-ABC7-741E-5DC1-44875018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D875E-A41A-C3F9-CA7F-A24EC72D6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23E671-5456-7E29-606E-B2D1D603E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94BB1-D1D7-84EB-6D72-8DC6722A3A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91357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13B13-2BEC-5273-7AC1-D21031223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3ED767-491E-D450-FB17-0D8EFA41B2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936B0-44F9-1EBA-CC88-92C0D95668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AA3C4-53B9-9517-9DE9-5DCD5D2A28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5260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B679C-CEDC-E78F-799D-D6FCB4D58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B46391-50BD-7869-F2A4-C78E05B9A5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AA9C50-14D7-54B2-0D8D-8539274DD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1391F-147B-1B23-65B9-80AA00B1D4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92502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E193B-2393-0634-8903-6925613EB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C5EA6-8EDA-199D-9D8F-40401A9A5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A2AF05-7EF8-33B6-328F-E91EF0C571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516B5E-4BDD-66C4-D410-CA43E3602C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02762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E42E8-CEB7-931F-9B39-7C35C50DB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47D989-E9B1-B453-2EAD-E46546192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D383F4-1C66-E579-E5EE-BEB9F3C7CC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71FE1-5951-A3C2-1BB0-731D2C1F25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3363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CA014-50C5-2340-ACDC-855C58BA4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29E0E-B995-E35D-BA76-EF869A9D1D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C00B60-42EB-084F-2170-82E23283AF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74F90-002A-D8FE-D6AD-32403B3E69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6774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4994-74E0-E170-F66F-2EBF052FC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CCAB2-A5AC-7C80-147E-7956734FE4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6F4535-E430-73CE-49A1-38960A801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D7D3B-468C-A79E-60F3-C3869507C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2172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0C0D8-A1F7-408A-2EC5-59D92A9D5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960E9-2EB9-3D8C-48A6-477C9C21F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F379C6-48B5-28E0-20D6-1B3F5E571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FEEFE-F077-C601-A52F-7B2ED9BE90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7386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06CAB-2392-F0C5-A62A-8006C50150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14CD1-85A9-4CC9-81FA-75357A1C38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149624-FC93-68C1-D30A-68565D00B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DF2F8-93FC-8954-24EA-06EDC6884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58C16-E36F-7150-C2E2-6551DEFC9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621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A9C76-6BF0-6286-63A0-C273A184E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67FA68-39DF-6C75-E7DB-CEF82A71B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A0C8F-754D-56EB-4260-4F282E0BB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9AA536-67D7-7638-A235-6C18CA192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54B1B-76E5-1C15-50A7-9A9934FED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9567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292A-B3D4-39FE-31AB-98418E53C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C4077-FF6B-4644-8551-A2B2BF006B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91C31-96F0-5492-A76E-96AADBB76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00C738-25D8-DBD9-7FF3-74FA72EF2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08E07-6387-FD4F-9E95-75239919B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814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FF9B-DF47-D6D7-8C3A-E9A79D537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0B4C5-A1EC-C9A2-2509-673340B1C6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5AE832-06F3-26AC-2F34-F58499E883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45A087-AF87-FF82-6D93-2995F234A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E15029-94DB-EF9F-9822-0B4A6DBDD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932DD5-FA4C-7EDC-468D-DF23D7EA7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9213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8E4CE-FDA7-A3A8-A8CD-0DF6C6464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F8735-D338-71D5-BDF9-5C504B016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531A3-EC28-EB15-E24F-DDFE61DF00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ABBE3F-C5CF-FB5B-16B9-CC2FB8FD81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439D4F-A719-98BE-F9AA-E13F8C1C6A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BCAECF-2FCD-357A-716F-B58521144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BDACAB-21A9-7673-D876-B1A169191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916458-B3BB-CE4E-8CEB-5C2B2CE0C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007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A1DC-9ADA-8155-1036-0106284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69AB49-D12A-DF62-8E18-7102D0D67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992904-C4AD-79A8-DD86-BE62ED9DD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F1DEFC-37C4-16B4-3578-993EB529F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919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B4747-E094-6BE0-C5A8-91E40A6D2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6AE805-4E06-B52E-4AA7-E12292F43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D9565-5B28-4A72-D85B-76191BE9A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6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A0FF-76A4-7D71-13CB-D2A5047B1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E8495-1D2B-E698-531D-40098B0E0C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A4E649-00B5-E760-3874-FDF56D80B3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FD2E13-119E-10FA-BD70-D479F7E1A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BB2C9B-502E-3347-3E01-4B09CA1A7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D18E4-48B6-569A-5106-75EC9A21C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9373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B7782-6BB6-7E73-2AC3-E0AC996DA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E8499A-5705-A33C-D370-B13294FF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6C9875-4EA1-87CC-1C39-1A42AEF401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61F31-D882-2E42-AF6C-EE34464E3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4A4BB-D683-CE15-099B-6351A35915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4F4DB9-E8D3-6244-F113-2FC6E6FD7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425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5760F-D9E7-D125-ADBC-57A80C04D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DD216B-086D-D6C6-E7C5-19E59306E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75F6C-F8BF-42D2-92C7-88E56B81B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135CA-A0FE-4B27-A6D2-D39CC6CF8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3AD5D7-3E6D-7239-34CF-CA1888435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370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07D3AD-9453-123B-3BEF-00D0D90E6E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D6F44-6F37-6536-CEC0-632928AD3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F43A7-5EAE-35E8-7320-C7861400E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13473-5614-B1FB-DE63-2D3A5342C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EC424-CBBC-043D-61C1-2F504D50B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80436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9792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8B4C3E-779A-572F-969C-1D280A8F8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3FECA7-7EB7-6E0A-70BB-FA505CDF4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5C1EBD-FC5B-F664-4DC7-78F698AEA8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874F06-308A-2564-1416-F1F9BDEDFF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8D486-FDCB-1905-8B3B-37F2210A0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25A8CA-1635-46EA-9243-46AC60F2292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9426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Text 3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548640" y="26517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Wedge Auto-Draw Rules</a:t>
            </a:r>
            <a:endParaRPr lang="en-US" sz="4400" dirty="0">
              <a:solidFill>
                <a:srgbClr val="FF000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Wire (LW) Wedge Series – CKVD Series – Rules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577840"/>
            <a:ext cx="256032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5800" y="56509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NO.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5897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CKVD_REL_Rev2_07262026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83280" y="5577840"/>
            <a:ext cx="256032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520440" y="56509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520440" y="5897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2026-26-07</a:t>
            </a:r>
          </a:p>
        </p:txBody>
      </p:sp>
      <p:sp>
        <p:nvSpPr>
          <p:cNvPr id="13" name="Shape 11"/>
          <p:cNvSpPr/>
          <p:nvPr/>
        </p:nvSpPr>
        <p:spPr>
          <a:xfrm>
            <a:off x="6217920" y="5577840"/>
            <a:ext cx="256032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55080" y="56509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5897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5577840"/>
            <a:ext cx="2560320" cy="6858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89720" y="56509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89720" y="5897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94097-8B9A-7511-E12E-8B255D7FA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CBBC017-DF26-1ACC-82B3-3BE21E451F88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DE9FAFA-5182-9D6B-3E40-F5E3BF003F00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0D1788D-29DB-3089-CE57-C5DE5684F5DD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185381B-10D5-EC72-5E58-97941602ACA9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86FFB5-791C-9078-1C4B-BC50848B26AA}"/>
              </a:ext>
            </a:extLst>
          </p:cNvPr>
          <p:cNvSpPr txBox="1"/>
          <p:nvPr/>
        </p:nvSpPr>
        <p:spPr>
          <a:xfrm>
            <a:off x="760307" y="759882"/>
            <a:ext cx="1079438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- 70° V-Groove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CKVD series has a 70° deep V-groove design for Cho-onpa heavy wire bonder. Typically, with symmetrical front and back radii around 30% of the wire diameter. Also available with larger back radius to help guide the wire through the groove.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D5699266-FB61-438E-F3BA-CC32597DE3C4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6CB1CF-9752-EA32-5A71-A8C9655209D8}"/>
              </a:ext>
            </a:extLst>
          </p:cNvPr>
          <p:cNvSpPr txBox="1"/>
          <p:nvPr/>
        </p:nvSpPr>
        <p:spPr>
          <a:xfrm>
            <a:off x="698808" y="1562553"/>
            <a:ext cx="107943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Construction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CVKD has two shank style : 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 &amp; SYLE_B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I don’t know if we have in database these, but we can select which type by values , if we don’t have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 or FX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values it means it’s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, else its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STYLE_B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All the 3D models is based on the bellow sketches; these sketch has all the required dimension to construction the 3D models and drawings</a:t>
            </a:r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927E8C01-A1A9-CF2D-F16B-7D37C77682BF}"/>
              </a:ext>
            </a:extLst>
          </p:cNvPr>
          <p:cNvSpPr/>
          <p:nvPr/>
        </p:nvSpPr>
        <p:spPr>
          <a:xfrm>
            <a:off x="563880" y="1686581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FA440B-8DD9-5F51-22E0-C060A050537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3880" y="3059095"/>
            <a:ext cx="3108752" cy="1173343"/>
          </a:xfrm>
          <a:prstGeom prst="rect">
            <a:avLst/>
          </a:prstGeom>
        </p:spPr>
      </p:pic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09CAC6DB-B60D-931B-447B-74A00379A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904602"/>
              </p:ext>
            </p:extLst>
          </p:nvPr>
        </p:nvGraphicFramePr>
        <p:xfrm>
          <a:off x="4024332" y="2858585"/>
          <a:ext cx="795430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1655">
                  <a:extLst>
                    <a:ext uri="{9D8B030D-6E8A-4147-A177-3AD203B41FA5}">
                      <a16:colId xmlns:a16="http://schemas.microsoft.com/office/drawing/2014/main" val="3600172029"/>
                    </a:ext>
                  </a:extLst>
                </a:gridCol>
                <a:gridCol w="5372653">
                  <a:extLst>
                    <a:ext uri="{9D8B030D-6E8A-4147-A177-3AD203B41FA5}">
                      <a16:colId xmlns:a16="http://schemas.microsoft.com/office/drawing/2014/main" val="31628711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annotation_top_plan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TD - TDF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08815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annotation_right_plan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W – ISA – VW – VR – VRR – VRA – TL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9810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style_a_annotation_front_plan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E – ER – BA – FL – F – 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FRX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– 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BRX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– FR – BR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9035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style_b_annotation_front_plan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rgbClr val="FF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X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– 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FX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– FA - E – ER – BA – FL – F – 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FRX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– 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BRX</a:t>
                      </a:r>
                      <a:r>
                        <a:rPr lang="en-US" sz="1400" b="0" dirty="0">
                          <a:solidFill>
                            <a:sysClr val="windowText" lastClr="000000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– FR – BR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9264804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B2230C8C-1D6F-2407-FA54-C2EACFEC147B}"/>
              </a:ext>
            </a:extLst>
          </p:cNvPr>
          <p:cNvSpPr txBox="1"/>
          <p:nvPr/>
        </p:nvSpPr>
        <p:spPr>
          <a:xfrm>
            <a:off x="557245" y="4405952"/>
            <a:ext cx="10794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FRX/BRX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if exist in database we push to the equation file, if they don’t have values, we calculate them based on the equation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4DBBF33-B288-C427-DACF-75637DF418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744" y="4817960"/>
            <a:ext cx="2772849" cy="536084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CF8167F2-8CC6-A36F-2828-3DE9F41E738B}"/>
              </a:ext>
            </a:extLst>
          </p:cNvPr>
          <p:cNvSpPr txBox="1"/>
          <p:nvPr/>
        </p:nvSpPr>
        <p:spPr>
          <a:xfrm>
            <a:off x="3571148" y="4905086"/>
            <a:ext cx="59505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CKVD we consider FA and BA = 0° just for the equation !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41184A-2145-42B2-0760-B89C15E9FECF}"/>
              </a:ext>
            </a:extLst>
          </p:cNvPr>
          <p:cNvSpPr txBox="1"/>
          <p:nvPr/>
        </p:nvSpPr>
        <p:spPr>
          <a:xfrm>
            <a:off x="618744" y="5495224"/>
            <a:ext cx="10794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For X/FX, we always input X , But in some cases X value is missing so we use this equation :</a:t>
            </a: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 = TDF - (FL+FX) </a:t>
            </a:r>
          </a:p>
        </p:txBody>
      </p:sp>
    </p:spTree>
    <p:extLst>
      <p:ext uri="{BB962C8B-B14F-4D97-AF65-F5344CB8AC3E}">
        <p14:creationId xmlns:p14="http://schemas.microsoft.com/office/powerpoint/2010/main" val="4241163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575DE-9F19-528B-2C80-ABECE1166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4C7D087-87FC-9BB7-F45B-2C469CEAD051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FC69386-4328-D96E-6A33-AFB6C3D0FF9F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EA6CE21-EE56-4479-16C7-2CE3C2D509E5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8557A4E5-0B05-E9A3-68B7-398154948ECC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BF64C6-CA5D-338D-A225-AFE95A673B25}"/>
              </a:ext>
            </a:extLst>
          </p:cNvPr>
          <p:cNvSpPr txBox="1"/>
          <p:nvPr/>
        </p:nvSpPr>
        <p:spPr>
          <a:xfrm>
            <a:off x="760306" y="759882"/>
            <a:ext cx="7012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PGB 3D for Customer / Production Drawings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PGB 3D has the following feature :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2A68F018-24F1-4006-A8C6-38A3D762E88A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7669E-B41B-5772-90E2-ED31015CA83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7802" y="1444803"/>
            <a:ext cx="3429975" cy="461033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CA69F5E-213A-DA09-B4EE-57C60BE941F5}"/>
              </a:ext>
            </a:extLst>
          </p:cNvPr>
          <p:cNvCxnSpPr/>
          <p:nvPr/>
        </p:nvCxnSpPr>
        <p:spPr>
          <a:xfrm flipH="1">
            <a:off x="3006694" y="1620982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1B6535-74E1-D403-AD4E-D88657502E3C}"/>
              </a:ext>
            </a:extLst>
          </p:cNvPr>
          <p:cNvCxnSpPr/>
          <p:nvPr/>
        </p:nvCxnSpPr>
        <p:spPr>
          <a:xfrm flipH="1">
            <a:off x="2468847" y="4294909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56619D1-69F6-E44D-4840-61CAF1E97F89}"/>
              </a:ext>
            </a:extLst>
          </p:cNvPr>
          <p:cNvCxnSpPr/>
          <p:nvPr/>
        </p:nvCxnSpPr>
        <p:spPr>
          <a:xfrm flipH="1">
            <a:off x="3107283" y="1981201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4D2B615-52A1-B362-7241-6AA965B3810F}"/>
              </a:ext>
            </a:extLst>
          </p:cNvPr>
          <p:cNvCxnSpPr/>
          <p:nvPr/>
        </p:nvCxnSpPr>
        <p:spPr>
          <a:xfrm flipH="1">
            <a:off x="3782258" y="2294314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CB9A903-278A-6B0B-4607-4709F886C691}"/>
              </a:ext>
            </a:extLst>
          </p:cNvPr>
          <p:cNvCxnSpPr/>
          <p:nvPr/>
        </p:nvCxnSpPr>
        <p:spPr>
          <a:xfrm flipH="1">
            <a:off x="3782258" y="2654532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3D5F954-E835-1CD9-1EB2-116A51824563}"/>
              </a:ext>
            </a:extLst>
          </p:cNvPr>
          <p:cNvCxnSpPr/>
          <p:nvPr/>
        </p:nvCxnSpPr>
        <p:spPr>
          <a:xfrm flipH="1">
            <a:off x="2468846" y="4589554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4C5C2A4-E36D-BB2A-6173-7CA7E3AACBE8}"/>
              </a:ext>
            </a:extLst>
          </p:cNvPr>
          <p:cNvCxnSpPr/>
          <p:nvPr/>
        </p:nvCxnSpPr>
        <p:spPr>
          <a:xfrm flipH="1">
            <a:off x="1876163" y="2959332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C35E69-89A8-E7F5-BA50-2236B4CD0DB6}"/>
              </a:ext>
            </a:extLst>
          </p:cNvPr>
          <p:cNvCxnSpPr/>
          <p:nvPr/>
        </p:nvCxnSpPr>
        <p:spPr>
          <a:xfrm flipH="1">
            <a:off x="2035713" y="3311237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4F7665D-D0FD-1220-3FC7-703622CD5BE1}"/>
              </a:ext>
            </a:extLst>
          </p:cNvPr>
          <p:cNvCxnSpPr/>
          <p:nvPr/>
        </p:nvCxnSpPr>
        <p:spPr>
          <a:xfrm flipH="1">
            <a:off x="1976752" y="3961015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6A5604B-A8BE-2889-3C1D-96131A2D483A}"/>
              </a:ext>
            </a:extLst>
          </p:cNvPr>
          <p:cNvCxnSpPr/>
          <p:nvPr/>
        </p:nvCxnSpPr>
        <p:spPr>
          <a:xfrm flipH="1">
            <a:off x="2086360" y="3630820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02C8642-4956-DAD3-7027-E25090E217A9}"/>
              </a:ext>
            </a:extLst>
          </p:cNvPr>
          <p:cNvSpPr txBox="1"/>
          <p:nvPr/>
        </p:nvSpPr>
        <p:spPr>
          <a:xfrm>
            <a:off x="4185997" y="1489430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06F4F2-6D57-DAFE-CB98-20A477C0F576}"/>
              </a:ext>
            </a:extLst>
          </p:cNvPr>
          <p:cNvSpPr txBox="1"/>
          <p:nvPr/>
        </p:nvSpPr>
        <p:spPr>
          <a:xfrm>
            <a:off x="4347523" y="1841543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B7ACE2-0569-15B1-57B5-C82D961FA60C}"/>
              </a:ext>
            </a:extLst>
          </p:cNvPr>
          <p:cNvSpPr txBox="1"/>
          <p:nvPr/>
        </p:nvSpPr>
        <p:spPr>
          <a:xfrm>
            <a:off x="4912789" y="2152405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7ED23E-99CA-FE77-FE5C-90F4B4CED56A}"/>
              </a:ext>
            </a:extLst>
          </p:cNvPr>
          <p:cNvSpPr txBox="1"/>
          <p:nvPr/>
        </p:nvSpPr>
        <p:spPr>
          <a:xfrm>
            <a:off x="5004230" y="2500643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8F5852-21C7-A78B-A165-C1A3DFA9B6F4}"/>
              </a:ext>
            </a:extLst>
          </p:cNvPr>
          <p:cNvSpPr txBox="1"/>
          <p:nvPr/>
        </p:nvSpPr>
        <p:spPr>
          <a:xfrm>
            <a:off x="3107283" y="2801430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7828E5-663D-4761-3F51-3E8B33E7CA52}"/>
              </a:ext>
            </a:extLst>
          </p:cNvPr>
          <p:cNvSpPr txBox="1"/>
          <p:nvPr/>
        </p:nvSpPr>
        <p:spPr>
          <a:xfrm>
            <a:off x="3216891" y="3157348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84B772-8B85-44AE-EB3C-C61F61A1FA2D}"/>
              </a:ext>
            </a:extLst>
          </p:cNvPr>
          <p:cNvSpPr txBox="1"/>
          <p:nvPr/>
        </p:nvSpPr>
        <p:spPr>
          <a:xfrm>
            <a:off x="3267538" y="3476196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BA86428-E24E-A5E7-62FA-C36EB44040DB}"/>
              </a:ext>
            </a:extLst>
          </p:cNvPr>
          <p:cNvSpPr txBox="1"/>
          <p:nvPr/>
        </p:nvSpPr>
        <p:spPr>
          <a:xfrm>
            <a:off x="3123875" y="3811826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 if : VR/VW/VRR/VRA exist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0F54FE-8A4A-428A-C300-6351E2F1ADAB}"/>
              </a:ext>
            </a:extLst>
          </p:cNvPr>
          <p:cNvSpPr txBox="1"/>
          <p:nvPr/>
        </p:nvSpPr>
        <p:spPr>
          <a:xfrm>
            <a:off x="3632354" y="4127887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shank style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266083-960E-4878-C138-DE8F8C071224}"/>
              </a:ext>
            </a:extLst>
          </p:cNvPr>
          <p:cNvSpPr txBox="1"/>
          <p:nvPr/>
        </p:nvSpPr>
        <p:spPr>
          <a:xfrm>
            <a:off x="3645938" y="4435665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shank style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6287457-BDA5-E829-5CAE-0CC58E96278D}"/>
              </a:ext>
            </a:extLst>
          </p:cNvPr>
          <p:cNvCxnSpPr/>
          <p:nvPr/>
        </p:nvCxnSpPr>
        <p:spPr>
          <a:xfrm flipH="1">
            <a:off x="2960390" y="4966398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D34F376-CFB8-2DAA-4BE5-C54610BDB799}"/>
              </a:ext>
            </a:extLst>
          </p:cNvPr>
          <p:cNvCxnSpPr/>
          <p:nvPr/>
        </p:nvCxnSpPr>
        <p:spPr>
          <a:xfrm flipH="1">
            <a:off x="3393710" y="5301679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4C8055E-1F9A-2602-909D-A7296AF9EC4F}"/>
              </a:ext>
            </a:extLst>
          </p:cNvPr>
          <p:cNvCxnSpPr/>
          <p:nvPr/>
        </p:nvCxnSpPr>
        <p:spPr>
          <a:xfrm flipH="1">
            <a:off x="3006693" y="5653586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40D58F9-3C8F-5431-FBB1-B193ED39DF61}"/>
              </a:ext>
            </a:extLst>
          </p:cNvPr>
          <p:cNvCxnSpPr/>
          <p:nvPr/>
        </p:nvCxnSpPr>
        <p:spPr>
          <a:xfrm flipH="1">
            <a:off x="3393711" y="5955615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8258B46F-8A16-8B79-6862-1D6776954295}"/>
              </a:ext>
            </a:extLst>
          </p:cNvPr>
          <p:cNvSpPr txBox="1"/>
          <p:nvPr/>
        </p:nvSpPr>
        <p:spPr>
          <a:xfrm>
            <a:off x="4137224" y="4791650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OFF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333BF5-1184-3399-6366-48E3F8EDBE03}"/>
              </a:ext>
            </a:extLst>
          </p:cNvPr>
          <p:cNvSpPr txBox="1"/>
          <p:nvPr/>
        </p:nvSpPr>
        <p:spPr>
          <a:xfrm>
            <a:off x="4524241" y="5137963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OFF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5AFA0C6-2F14-F769-6E13-94C56D07C96C}"/>
              </a:ext>
            </a:extLst>
          </p:cNvPr>
          <p:cNvSpPr txBox="1"/>
          <p:nvPr/>
        </p:nvSpPr>
        <p:spPr>
          <a:xfrm>
            <a:off x="4170757" y="5492143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OFF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14027F-7184-19BE-FC04-9AA71BAB316C}"/>
              </a:ext>
            </a:extLst>
          </p:cNvPr>
          <p:cNvSpPr txBox="1"/>
          <p:nvPr/>
        </p:nvSpPr>
        <p:spPr>
          <a:xfrm>
            <a:off x="4580313" y="5809694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OFF</a:t>
            </a:r>
          </a:p>
        </p:txBody>
      </p:sp>
    </p:spTree>
    <p:extLst>
      <p:ext uri="{BB962C8B-B14F-4D97-AF65-F5344CB8AC3E}">
        <p14:creationId xmlns:p14="http://schemas.microsoft.com/office/powerpoint/2010/main" val="2501245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357E4-1B73-52D4-9ACF-52B58AFE9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F2647C7-9B9F-3B8E-2056-F741A65ED241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22A6522-4086-41FE-30AF-C398A9A7F03C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8A9FDE-DC58-F77C-4834-B69259327AB3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3CE063E-485C-3543-C2E3-330644AAB519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5C349-8834-781B-A271-9C893A398A84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FG 3D for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PGB 3D has the following feature :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E093B4A-ACB1-8139-6FC2-7EDDDEFCDA10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374F97-C9DB-190B-818E-3DC8D50CF1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7802" y="1444803"/>
            <a:ext cx="3429975" cy="461033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7926A81-0EC7-FC3E-C4DE-350BE37992FB}"/>
              </a:ext>
            </a:extLst>
          </p:cNvPr>
          <p:cNvCxnSpPr/>
          <p:nvPr/>
        </p:nvCxnSpPr>
        <p:spPr>
          <a:xfrm flipH="1">
            <a:off x="3006694" y="1620982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6FB368C-38A5-D478-AA6B-EB28D67272F2}"/>
              </a:ext>
            </a:extLst>
          </p:cNvPr>
          <p:cNvCxnSpPr/>
          <p:nvPr/>
        </p:nvCxnSpPr>
        <p:spPr>
          <a:xfrm flipH="1">
            <a:off x="2468847" y="4294909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B2EA942-EAB3-C441-17F1-23ADEA5E9C84}"/>
              </a:ext>
            </a:extLst>
          </p:cNvPr>
          <p:cNvCxnSpPr/>
          <p:nvPr/>
        </p:nvCxnSpPr>
        <p:spPr>
          <a:xfrm flipH="1">
            <a:off x="3107283" y="1981201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9D615B2-1304-58FB-FD90-DEBC538DFEBB}"/>
              </a:ext>
            </a:extLst>
          </p:cNvPr>
          <p:cNvCxnSpPr/>
          <p:nvPr/>
        </p:nvCxnSpPr>
        <p:spPr>
          <a:xfrm flipH="1">
            <a:off x="3782258" y="2294314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0EE6E44-D749-9278-AF42-1E56E5A30B07}"/>
              </a:ext>
            </a:extLst>
          </p:cNvPr>
          <p:cNvCxnSpPr/>
          <p:nvPr/>
        </p:nvCxnSpPr>
        <p:spPr>
          <a:xfrm flipH="1">
            <a:off x="3782258" y="2654532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9CC5187-16A0-19CC-BA12-5A82B6BF921C}"/>
              </a:ext>
            </a:extLst>
          </p:cNvPr>
          <p:cNvCxnSpPr/>
          <p:nvPr/>
        </p:nvCxnSpPr>
        <p:spPr>
          <a:xfrm flipH="1">
            <a:off x="2468846" y="4589554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6A2A36A-2A33-8CA8-68A1-7319869DF1F4}"/>
              </a:ext>
            </a:extLst>
          </p:cNvPr>
          <p:cNvCxnSpPr/>
          <p:nvPr/>
        </p:nvCxnSpPr>
        <p:spPr>
          <a:xfrm flipH="1">
            <a:off x="1876163" y="2959332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3556B9E-B1DE-6ABB-0C73-5E1601D37876}"/>
              </a:ext>
            </a:extLst>
          </p:cNvPr>
          <p:cNvCxnSpPr/>
          <p:nvPr/>
        </p:nvCxnSpPr>
        <p:spPr>
          <a:xfrm flipH="1">
            <a:off x="2035713" y="3311237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8300EC7-E595-57E0-8CB6-DA3100EF34D9}"/>
              </a:ext>
            </a:extLst>
          </p:cNvPr>
          <p:cNvCxnSpPr/>
          <p:nvPr/>
        </p:nvCxnSpPr>
        <p:spPr>
          <a:xfrm flipH="1">
            <a:off x="1976752" y="3961015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1CD365E-C7A4-8319-2E29-00848DEBB912}"/>
              </a:ext>
            </a:extLst>
          </p:cNvPr>
          <p:cNvCxnSpPr/>
          <p:nvPr/>
        </p:nvCxnSpPr>
        <p:spPr>
          <a:xfrm flipH="1">
            <a:off x="2086360" y="3630820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381B44B-37FC-5039-6A08-A52F0E359D39}"/>
              </a:ext>
            </a:extLst>
          </p:cNvPr>
          <p:cNvSpPr txBox="1"/>
          <p:nvPr/>
        </p:nvSpPr>
        <p:spPr>
          <a:xfrm>
            <a:off x="4185997" y="1489430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C18F38-0023-2015-1B69-B8036F60C1D1}"/>
              </a:ext>
            </a:extLst>
          </p:cNvPr>
          <p:cNvSpPr txBox="1"/>
          <p:nvPr/>
        </p:nvSpPr>
        <p:spPr>
          <a:xfrm>
            <a:off x="4347523" y="1841543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E06C6B-25BA-C057-3E0B-91E876F712EE}"/>
              </a:ext>
            </a:extLst>
          </p:cNvPr>
          <p:cNvSpPr txBox="1"/>
          <p:nvPr/>
        </p:nvSpPr>
        <p:spPr>
          <a:xfrm>
            <a:off x="4912789" y="2152405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AEC1003-A5C8-0BB6-E12A-16C00D4B6C62}"/>
              </a:ext>
            </a:extLst>
          </p:cNvPr>
          <p:cNvSpPr txBox="1"/>
          <p:nvPr/>
        </p:nvSpPr>
        <p:spPr>
          <a:xfrm>
            <a:off x="5004230" y="2500643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E7C0B2-2DB5-C5EF-9183-0ED714A25EEE}"/>
              </a:ext>
            </a:extLst>
          </p:cNvPr>
          <p:cNvSpPr txBox="1"/>
          <p:nvPr/>
        </p:nvSpPr>
        <p:spPr>
          <a:xfrm>
            <a:off x="3107283" y="2801430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2934AD-60B8-8004-3A1D-DFB7CC1AD004}"/>
              </a:ext>
            </a:extLst>
          </p:cNvPr>
          <p:cNvSpPr txBox="1"/>
          <p:nvPr/>
        </p:nvSpPr>
        <p:spPr>
          <a:xfrm>
            <a:off x="3216891" y="3157348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40A1FA-4FB6-7A49-FD54-00620E448F2A}"/>
              </a:ext>
            </a:extLst>
          </p:cNvPr>
          <p:cNvSpPr txBox="1"/>
          <p:nvPr/>
        </p:nvSpPr>
        <p:spPr>
          <a:xfrm>
            <a:off x="3267538" y="3476196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Always 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E8E8412-E2E7-C01F-FDEC-21F9D0937ED8}"/>
              </a:ext>
            </a:extLst>
          </p:cNvPr>
          <p:cNvSpPr txBox="1"/>
          <p:nvPr/>
        </p:nvSpPr>
        <p:spPr>
          <a:xfrm>
            <a:off x="3123875" y="3811826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 if : VR/VW/VRR/VRA exist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B2452C-13D9-144D-8F85-6E6021E2E85B}"/>
              </a:ext>
            </a:extLst>
          </p:cNvPr>
          <p:cNvSpPr txBox="1"/>
          <p:nvPr/>
        </p:nvSpPr>
        <p:spPr>
          <a:xfrm>
            <a:off x="3632354" y="4127887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shank style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259783-EEAC-BDE5-35C3-51D4253928B9}"/>
              </a:ext>
            </a:extLst>
          </p:cNvPr>
          <p:cNvSpPr txBox="1"/>
          <p:nvPr/>
        </p:nvSpPr>
        <p:spPr>
          <a:xfrm>
            <a:off x="3645938" y="4435665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shank style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34F0C8F-7544-750D-E944-37407778AFFD}"/>
              </a:ext>
            </a:extLst>
          </p:cNvPr>
          <p:cNvCxnSpPr/>
          <p:nvPr/>
        </p:nvCxnSpPr>
        <p:spPr>
          <a:xfrm flipH="1">
            <a:off x="2960390" y="4966398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A45EBBD-493E-78AB-0103-09F3F294B372}"/>
              </a:ext>
            </a:extLst>
          </p:cNvPr>
          <p:cNvCxnSpPr/>
          <p:nvPr/>
        </p:nvCxnSpPr>
        <p:spPr>
          <a:xfrm flipH="1">
            <a:off x="3393710" y="5301679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F8E06DF-9CE0-78DA-4818-1FD3548F2991}"/>
              </a:ext>
            </a:extLst>
          </p:cNvPr>
          <p:cNvCxnSpPr/>
          <p:nvPr/>
        </p:nvCxnSpPr>
        <p:spPr>
          <a:xfrm flipH="1">
            <a:off x="3006693" y="5653586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F2889CB-ACC7-D6B6-2A9C-BE20C94BCA81}"/>
              </a:ext>
            </a:extLst>
          </p:cNvPr>
          <p:cNvCxnSpPr/>
          <p:nvPr/>
        </p:nvCxnSpPr>
        <p:spPr>
          <a:xfrm flipH="1">
            <a:off x="3393711" y="5955615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2105C2A7-BD04-CDE2-232B-D7A2888BFBD7}"/>
              </a:ext>
            </a:extLst>
          </p:cNvPr>
          <p:cNvSpPr txBox="1"/>
          <p:nvPr/>
        </p:nvSpPr>
        <p:spPr>
          <a:xfrm>
            <a:off x="4137224" y="4791650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shank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899AD07-DE2A-EA2D-512C-AACA1F7E8560}"/>
              </a:ext>
            </a:extLst>
          </p:cNvPr>
          <p:cNvSpPr txBox="1"/>
          <p:nvPr/>
        </p:nvSpPr>
        <p:spPr>
          <a:xfrm>
            <a:off x="4524241" y="5137963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shank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C4B16E-224E-DACA-5D21-A6F7658BAC4C}"/>
              </a:ext>
            </a:extLst>
          </p:cNvPr>
          <p:cNvSpPr txBox="1"/>
          <p:nvPr/>
        </p:nvSpPr>
        <p:spPr>
          <a:xfrm>
            <a:off x="4170757" y="5492143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shank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style_B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48F7AB-4D24-37F4-835F-AC567181BF39}"/>
              </a:ext>
            </a:extLst>
          </p:cNvPr>
          <p:cNvSpPr txBox="1"/>
          <p:nvPr/>
        </p:nvSpPr>
        <p:spPr>
          <a:xfrm>
            <a:off x="4580313" y="5809694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shank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style_B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4805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E8EB8-F7D4-6227-4262-2CA84B7D1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BF55641-9BE6-8749-9156-732E89978D39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83B6D9B-BE56-507A-CD31-4F4DD36FF053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F19C887-C1C7-0998-75A6-949782BA6CBE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02ED3D0-81D2-8D95-1BD1-5D02194BA96F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C804B2-6720-7CAC-EB3E-2AA1F7EB862F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can select the type of drawing from drawings properties manager, PGB no need to fill these properties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3C662E84-5CAB-1395-6B6A-9D9DEBC9698E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46C58D-5A46-2C2A-EC3C-C273A9A7FEA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53892" y="1283102"/>
            <a:ext cx="3205479" cy="80671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B67CDB-CC10-C895-DF70-FA6DFD2A44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629" y="1373892"/>
            <a:ext cx="6292427" cy="73780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48E2560-C7CC-D68B-ACAC-6DC0129CE5C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2629" y="2725707"/>
            <a:ext cx="3909591" cy="2864786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6F48ABA-AD16-5C35-F9CE-3591F77A21CB}"/>
              </a:ext>
            </a:extLst>
          </p:cNvPr>
          <p:cNvCxnSpPr/>
          <p:nvPr/>
        </p:nvCxnSpPr>
        <p:spPr>
          <a:xfrm flipH="1">
            <a:off x="3578629" y="3729182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2BE992F-507D-04FD-DBA9-2BF209B98ADE}"/>
              </a:ext>
            </a:extLst>
          </p:cNvPr>
          <p:cNvCxnSpPr/>
          <p:nvPr/>
        </p:nvCxnSpPr>
        <p:spPr>
          <a:xfrm flipH="1">
            <a:off x="3663296" y="4127116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8251517-D9F7-47A6-5DEB-A6ED95D0B940}"/>
              </a:ext>
            </a:extLst>
          </p:cNvPr>
          <p:cNvCxnSpPr/>
          <p:nvPr/>
        </p:nvCxnSpPr>
        <p:spPr>
          <a:xfrm flipH="1">
            <a:off x="3663296" y="4499650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E565820-1759-84BD-E452-93F74E4C09D4}"/>
              </a:ext>
            </a:extLst>
          </p:cNvPr>
          <p:cNvCxnSpPr/>
          <p:nvPr/>
        </p:nvCxnSpPr>
        <p:spPr>
          <a:xfrm flipH="1">
            <a:off x="3663296" y="4872184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2C9A2F9-49F6-5398-A1B6-4E1335DD792B}"/>
              </a:ext>
            </a:extLst>
          </p:cNvPr>
          <p:cNvCxnSpPr/>
          <p:nvPr/>
        </p:nvCxnSpPr>
        <p:spPr>
          <a:xfrm flipH="1">
            <a:off x="4143894" y="5312451"/>
            <a:ext cx="113053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400264D-9FF9-329D-2D30-EC8268EB42BB}"/>
              </a:ext>
            </a:extLst>
          </p:cNvPr>
          <p:cNvSpPr txBox="1"/>
          <p:nvPr/>
        </p:nvSpPr>
        <p:spPr>
          <a:xfrm>
            <a:off x="4793827" y="3555362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Front view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DC1CF5-C23F-1076-39E6-8AE09AECF5CC}"/>
              </a:ext>
            </a:extLst>
          </p:cNvPr>
          <p:cNvSpPr txBox="1"/>
          <p:nvPr/>
        </p:nvSpPr>
        <p:spPr>
          <a:xfrm>
            <a:off x="4793827" y="3984666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703EDA-FB36-8F77-DBDF-B80C15B424A8}"/>
              </a:ext>
            </a:extLst>
          </p:cNvPr>
          <p:cNvSpPr txBox="1"/>
          <p:nvPr/>
        </p:nvSpPr>
        <p:spPr>
          <a:xfrm>
            <a:off x="4878494" y="4340781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view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FD8218-B1DA-7B9E-1E12-FB7F2E4E7743}"/>
              </a:ext>
            </a:extLst>
          </p:cNvPr>
          <p:cNvSpPr txBox="1"/>
          <p:nvPr/>
        </p:nvSpPr>
        <p:spPr>
          <a:xfrm>
            <a:off x="4793827" y="4713314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 view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C54A75-1906-7456-9E48-8F226686B8FD}"/>
              </a:ext>
            </a:extLst>
          </p:cNvPr>
          <p:cNvSpPr txBox="1"/>
          <p:nvPr/>
        </p:nvSpPr>
        <p:spPr>
          <a:xfrm>
            <a:off x="5361093" y="5134185"/>
            <a:ext cx="3820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 view</a:t>
            </a:r>
          </a:p>
        </p:txBody>
      </p:sp>
    </p:spTree>
    <p:extLst>
      <p:ext uri="{BB962C8B-B14F-4D97-AF65-F5344CB8AC3E}">
        <p14:creationId xmlns:p14="http://schemas.microsoft.com/office/powerpoint/2010/main" val="3678626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A1BF-31C1-7B25-6FF2-6F606D259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DF8A08D-E5A6-C228-C3AD-F320F18C14A3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2675C3B-F1F2-C296-5E88-F1EE2FDBDEAF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5B277A0-AA3B-B3BE-C49C-002D7B264A20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B49AAA6-072F-6C2E-5008-1B82E815B120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B6541-6274-159A-3CAB-82F09A4BA857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PGB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Front 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BBBDCF79-76FA-6CBE-AB8F-5183D4E43A37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FC87C4-0D3C-BD5B-98B4-FFF196F86E3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5472" y="1283102"/>
            <a:ext cx="2150129" cy="50881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EEEE67C-7218-F389-D3AF-3812F519A5E3}"/>
              </a:ext>
            </a:extLst>
          </p:cNvPr>
          <p:cNvSpPr txBox="1"/>
          <p:nvPr/>
        </p:nvSpPr>
        <p:spPr>
          <a:xfrm>
            <a:off x="3076787" y="1434729"/>
            <a:ext cx="853609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Front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style_a_annotation_front_plan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or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style_a_annotation_front_plan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of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SYLE_A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show only 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BA@ style_a_annotation_front_plan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E@ style_a_annotation_front_plan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of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STYLE_B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show only: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FA@ style_a_annotation_front_plan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BA@ style_a_annotation_front_plan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E@ style_a_annotation_front_plan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X@ style_a_annotation_front_plan if it's given in DB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FX@ style_a_annotation_front_plan if it’s given in DB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631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8996A-A23C-C0CC-B99D-8F0E1A270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FEF634B-A3B5-955D-DC97-22F9C27F6C47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2607851-E2BC-87E1-17DF-6CE383ACB689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2D3EA2E-992A-66C3-7B82-00188E43FE3B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A8C881D-F063-4595-4C17-312E93D9AD4C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AAB318-9BFE-EC28-96F0-3A70C6CEC338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PGB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4203DA58-8CAF-7155-3C61-0B38E0710922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E6CE23-5ED8-82E5-0D44-48B6FB2B22DB}"/>
              </a:ext>
            </a:extLst>
          </p:cNvPr>
          <p:cNvSpPr txBox="1"/>
          <p:nvPr/>
        </p:nvSpPr>
        <p:spPr>
          <a:xfrm>
            <a:off x="3076787" y="1434729"/>
            <a:ext cx="853609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annotation_right_plan</a:t>
            </a:r>
          </a:p>
          <a:p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TL@annotation_right_plan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81B9B3-54B1-4009-86CF-0B81543BB5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3880" y="1283102"/>
            <a:ext cx="2094992" cy="491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64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98B38-17B1-5284-916B-7E9AD3EC9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4BC1789-4D6E-046C-A6BA-AF9376169940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80465AB-FBE1-1C9B-28DE-557E6E99ADC4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7EA5D5C-4840-47B1-8ACF-09C2240126DC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9F09029-98F2-79D7-1065-B313FFD24F70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861FEA-84E8-C5D3-E431-6624FE5A11BB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PGB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B9A6701E-F6B4-0873-B47D-5FB1A9E96763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82505D-D05D-44AA-DE27-812BF114644A}"/>
              </a:ext>
            </a:extLst>
          </p:cNvPr>
          <p:cNvSpPr txBox="1"/>
          <p:nvPr/>
        </p:nvSpPr>
        <p:spPr>
          <a:xfrm>
            <a:off x="3076787" y="1434729"/>
            <a:ext cx="853609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TD@annotation_top_plan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TDF@annotation_top_plan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D4EBD2-188A-B111-D93F-D7429D1BE2C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rcRect t="7983" r="8371" b="14488"/>
          <a:stretch>
            <a:fillRect/>
          </a:stretch>
        </p:blipFill>
        <p:spPr>
          <a:xfrm>
            <a:off x="228601" y="2523809"/>
            <a:ext cx="2760133" cy="213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5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C2002-2E58-C585-8688-90E2054FF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FC32FE1-6868-89DF-25C1-3F8DC0323435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253B30C-4714-2134-20FD-30462CD9D272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70ED5EA-0E1C-CEB4-6F34-BE12564AA41C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0AB46B0-0639-A9A7-35D6-A0ADE9B2E2ED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3D8AF6-1B7B-5DE1-8C47-E3A01FBD01C3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PGB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 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D99A5E2E-1BFC-7074-614D-AC6E8EC7CF60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87F4D4-34A1-70EE-DE4C-498CD24C2DA0}"/>
              </a:ext>
            </a:extLst>
          </p:cNvPr>
          <p:cNvSpPr txBox="1"/>
          <p:nvPr/>
        </p:nvSpPr>
        <p:spPr>
          <a:xfrm>
            <a:off x="3076787" y="1434729"/>
            <a:ext cx="853609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W@annotation_right_plan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ISA@annotation_right_plan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286F7F-164B-B5E6-AC20-F8F6A07F2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8911" y="1837943"/>
            <a:ext cx="2355427" cy="3749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716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9C701-A8E9-9248-DE75-CAAD20E53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D051164-A092-A691-A55B-E13EA2215F74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F6A13CD-6DB3-A2C0-AB27-1935DE34FFE8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4AF092E-3203-FC5C-F927-855ECEF0BA7F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4B0EE9B-42E4-2F90-DB5C-7BDB7B2AF356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3A856D-CE2E-8F25-486A-442C16EA5A2B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PGB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</a:t>
            </a:r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view in case of PGB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FD5D9B35-A524-50A1-5985-FA827409932F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9D794A-7617-1F5F-EE50-E3440B78B657}"/>
              </a:ext>
            </a:extLst>
          </p:cNvPr>
          <p:cNvSpPr txBox="1"/>
          <p:nvPr/>
        </p:nvSpPr>
        <p:spPr>
          <a:xfrm>
            <a:off x="3076787" y="1434729"/>
            <a:ext cx="853609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style_a_annotation_front_plan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or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style_a_annotation_front_plan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of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SYLE_A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show only 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FL@style_a_annotation_front_plan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of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STYLE_B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show only: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FL@style_b_annotation_front_plan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44B884-F98E-97BA-11F1-10F43470A24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8640" y="1579663"/>
            <a:ext cx="2152227" cy="375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332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21BA4-0CD1-28F2-A643-684C4338F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20FBC6-0352-639E-975B-2B79E695D557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A1F5050-926A-8CB1-BDB9-64BE7536B7F1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AF7DBAB-6257-CC3F-5D18-5B7D772AC122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14FBE20-E703-6C56-A9A2-EDC7AE9C45E3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8F4E54-4407-FED2-E157-052822F6F700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FG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Front view in case of FG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134636CB-B4B0-C669-0AD3-4D7994A6E06F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A2854B-D263-9E11-000D-4FCF44CEF48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5472" y="1283102"/>
            <a:ext cx="2150129" cy="50881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AF64D74-9B03-0A14-7671-BEFC9B8ACC9F}"/>
              </a:ext>
            </a:extLst>
          </p:cNvPr>
          <p:cNvSpPr txBox="1"/>
          <p:nvPr/>
        </p:nvSpPr>
        <p:spPr>
          <a:xfrm>
            <a:off x="3076787" y="1434729"/>
            <a:ext cx="853609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Front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style_a_annotation_front_plan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or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style_a_annotation_front_plan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of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SYLE_A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show only 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BA@ style_a_annotation_front_plan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E@ style_a_annotation_front_plan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of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STYLE_B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show only: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FA@ style_a_annotation_front_plan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BA@ style_a_annotation_front_plan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E@ style_a_annotation_front_plan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X@ style_a_annotation_front_plan if it's given in DB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FX@ style_a_annotation_front_plan if it’s given in DB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710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AC67B-F37D-2FA1-5946-5A8982765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250B68B-BF3B-FF1C-6056-55BE9EC8A786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B293E61-BA50-0CC2-7C5A-4B21BD83BC85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404D9B3-4B01-A29B-0FC8-4810D143513D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EB8A319-3666-B237-3720-A6985309A9BF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DABED3-96AF-6F85-6BE2-CA161A46F01B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FG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 in case of FG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8E5158BF-5B93-68C1-D99C-3DD8EE8D6FE6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B7CC9E-BD4E-5B57-5D26-4C721A249773}"/>
              </a:ext>
            </a:extLst>
          </p:cNvPr>
          <p:cNvSpPr txBox="1"/>
          <p:nvPr/>
        </p:nvSpPr>
        <p:spPr>
          <a:xfrm>
            <a:off x="3076787" y="1434729"/>
            <a:ext cx="853609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annotation_right_plan</a:t>
            </a:r>
          </a:p>
          <a:p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TL@annotation_right_plan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4331A0-8163-D2BF-7532-465949980B7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3880" y="1283102"/>
            <a:ext cx="2094992" cy="491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4876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00E4E-E63A-E3E5-1BCE-66960A31F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A2C95BB-F4E0-43D8-2732-AA2CD8162F98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52B6952-8C77-8FF4-E61D-B46D25F83B05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276A915-E02F-6300-342E-649076C0B538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98805FA-4E3F-6D9C-8DE0-E090A00A5911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44B429-FCC3-8F99-E45B-7AAA7E4D4DBA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FG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view in case of FG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24CF6790-24BA-43AB-FC9A-1FDC34F19F64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EA1EE6-B28E-CF3F-3C2F-854FEAAE855F}"/>
              </a:ext>
            </a:extLst>
          </p:cNvPr>
          <p:cNvSpPr txBox="1"/>
          <p:nvPr/>
        </p:nvSpPr>
        <p:spPr>
          <a:xfrm>
            <a:off x="3076787" y="1434729"/>
            <a:ext cx="853609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Top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TD@annotation_top_plan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TDF@annotation_top_plan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766E8B-FA9C-3582-4AAF-77BFA5EEE4F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rcRect t="7983" r="8371" b="14488"/>
          <a:stretch>
            <a:fillRect/>
          </a:stretch>
        </p:blipFill>
        <p:spPr>
          <a:xfrm>
            <a:off x="228601" y="2523809"/>
            <a:ext cx="2760133" cy="2131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711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2F795-64F1-8A99-BE3A-FDF79CFE0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7E46139-29B9-E761-16B0-24095D72EA22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6B3250C-DE20-562B-7D1D-245C36F4F030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4DCD8E4-7E2B-C469-CE77-EA0F8829541D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1C38127-9D22-CCA8-5B38-46E5BD4908A3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D4F416-F256-6906-FD89-6894E63C033F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FG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 view in case of FG 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1BA4DFC5-991E-8F4C-5946-947911A2237A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6CDD4B-0172-792B-FF0E-364D6318FA29}"/>
              </a:ext>
            </a:extLst>
          </p:cNvPr>
          <p:cNvSpPr txBox="1"/>
          <p:nvPr/>
        </p:nvSpPr>
        <p:spPr>
          <a:xfrm>
            <a:off x="3076787" y="1434729"/>
            <a:ext cx="8536093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Detail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W@annotation_right_plan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ISA@annotation_right_plan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GD@annotation_right_plan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B@annotation_right_plan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GA@annotation_right_plan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VRA@annotation_right_plan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Optional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A5C658-542D-7450-D13B-B3AA801BDF8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8911" y="1837943"/>
            <a:ext cx="2355427" cy="3749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625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3F56-532D-DBFF-27AD-BF153D18C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1B42A0E-7B06-257A-D70D-03D4A02EB732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171D4C9-13DD-8FFA-0728-A1E2DF0F1943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6822BB9-D334-FF3F-FFB5-CCC517F5895A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01D48C5-4570-EDCC-7BA2-5794086F1465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FF6A07-848B-FFDE-CA6C-E3B195059041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FG Customer / Production Drawings: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</a:t>
            </a:r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view in case of FG: 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58DCD9AF-3074-939A-0F98-2F30B1856EE0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31B949-5AFB-8E5A-B2B2-ACC5591DDE2F}"/>
              </a:ext>
            </a:extLst>
          </p:cNvPr>
          <p:cNvSpPr txBox="1"/>
          <p:nvPr/>
        </p:nvSpPr>
        <p:spPr>
          <a:xfrm>
            <a:off x="3076787" y="1434729"/>
            <a:ext cx="853609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Section view have many annotation, all the annotation are from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style_a_annotation_front_plan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or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style_a_annotation_front_plan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of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SYLE_A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show only 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FL@style_a_annotation_front_plan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F@style_a_annotation_front_plan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BR@style_a_annotation_front_plan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FR@style_a_annotation_front_plan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BRX@style_a_annotation_front_plan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given in DB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FRX@style_a_annotation_front_plan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given in DB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case of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STYLE_B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show only: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FL@style_b_annotation_front_plan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F@style_b_annotation_front_plan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BR@style_b_annotation_front_plan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FR@style_b_annotation_front_plan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BRX@style_b_annotation_front_plan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given in DB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FRX@style_b_annotation_front_plan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given in DB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view can be positioned based on your preference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41F4884-5BBD-3D0E-8979-407947F23B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8640" y="1579663"/>
            <a:ext cx="2152227" cy="375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7035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DDABD-3818-C01C-66E8-78E3FBA6C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64EC2B-358D-B648-D302-C71CC8E840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clrChange>
              <a:clrFrom>
                <a:srgbClr val="E6E6DB"/>
              </a:clrFrom>
              <a:clrTo>
                <a:srgbClr val="E6E6DB">
                  <a:alpha val="0"/>
                </a:srgbClr>
              </a:clrTo>
            </a:clrChange>
          </a:blip>
          <a:srcRect l="1444" t="1294" r="2449" b="2275"/>
          <a:stretch>
            <a:fillRect/>
          </a:stretch>
        </p:blipFill>
        <p:spPr>
          <a:xfrm>
            <a:off x="6187440" y="1125067"/>
            <a:ext cx="5776986" cy="4405616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19D41389-B6A7-185F-2F2F-4B0DB107D4F0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5AB65D4-D76F-00F6-C22F-4ADBC2FCD362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0C01F48-D73A-9D0D-AA5E-7C7D7F83922B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A0FE2CC-0C22-2515-C409-D78F7293B10E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004B6D-68EB-9BFF-0C8D-518ECED76FA7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overlays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08E831DA-143B-A236-D60E-58296072AE6A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FE1D01-57ED-17CF-D53D-F9DB1BBC607D}"/>
              </a:ext>
            </a:extLst>
          </p:cNvPr>
          <p:cNvSpPr txBox="1"/>
          <p:nvPr/>
        </p:nvSpPr>
        <p:spPr>
          <a:xfrm>
            <a:off x="563880" y="1340510"/>
            <a:ext cx="55321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general, overlays respect the following shape :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and Left view.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Axillary view Optional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Overlay Metadata controlled by properties manager's bellow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2B5A4E-BCE4-DA38-A391-F8FF7F7881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8921"/>
          <a:stretch>
            <a:fillRect/>
          </a:stretch>
        </p:blipFill>
        <p:spPr>
          <a:xfrm>
            <a:off x="618744" y="2578534"/>
            <a:ext cx="4921609" cy="170093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2A375BF-A491-A98C-420B-EB01B295D33E}"/>
              </a:ext>
            </a:extLst>
          </p:cNvPr>
          <p:cNvSpPr/>
          <p:nvPr/>
        </p:nvSpPr>
        <p:spPr>
          <a:xfrm>
            <a:off x="7301997" y="2171507"/>
            <a:ext cx="1755648" cy="245701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34A306-CB9D-D9CF-68D3-71E00D721320}"/>
              </a:ext>
            </a:extLst>
          </p:cNvPr>
          <p:cNvSpPr/>
          <p:nvPr/>
        </p:nvSpPr>
        <p:spPr>
          <a:xfrm>
            <a:off x="10089663" y="2171507"/>
            <a:ext cx="1755648" cy="245701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383440-3977-3BCB-2B01-0CCC3CC77FAA}"/>
              </a:ext>
            </a:extLst>
          </p:cNvPr>
          <p:cNvSpPr txBox="1"/>
          <p:nvPr/>
        </p:nvSpPr>
        <p:spPr>
          <a:xfrm>
            <a:off x="10419609" y="5884147"/>
            <a:ext cx="1095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5964B6-410B-F907-8764-BCDCDCAFF93F}"/>
              </a:ext>
            </a:extLst>
          </p:cNvPr>
          <p:cNvSpPr/>
          <p:nvPr/>
        </p:nvSpPr>
        <p:spPr>
          <a:xfrm>
            <a:off x="9474200" y="4781384"/>
            <a:ext cx="2102104" cy="52213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7E2D6D-2E0C-D60B-F562-30BA6CC32BE8}"/>
              </a:ext>
            </a:extLst>
          </p:cNvPr>
          <p:cNvSpPr/>
          <p:nvPr/>
        </p:nvSpPr>
        <p:spPr>
          <a:xfrm>
            <a:off x="6419087" y="1327318"/>
            <a:ext cx="791469" cy="3752682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EFFF57-6B3C-D83A-1F0E-3BF728108034}"/>
              </a:ext>
            </a:extLst>
          </p:cNvPr>
          <p:cNvSpPr txBox="1"/>
          <p:nvPr/>
        </p:nvSpPr>
        <p:spPr>
          <a:xfrm>
            <a:off x="7301997" y="5843841"/>
            <a:ext cx="1095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Left view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2EC1F-163D-34E6-EFF2-C7648B04C08F}"/>
              </a:ext>
            </a:extLst>
          </p:cNvPr>
          <p:cNvSpPr txBox="1"/>
          <p:nvPr/>
        </p:nvSpPr>
        <p:spPr>
          <a:xfrm>
            <a:off x="8687179" y="5895868"/>
            <a:ext cx="1218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Axillary view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9367D8-A97E-82D3-0444-161B6C3518EE}"/>
              </a:ext>
            </a:extLst>
          </p:cNvPr>
          <p:cNvSpPr txBox="1"/>
          <p:nvPr/>
        </p:nvSpPr>
        <p:spPr>
          <a:xfrm>
            <a:off x="4768141" y="4557351"/>
            <a:ext cx="10957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Annotation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09C21D2-34AF-E69C-836F-5A7C8A82CFB1}"/>
              </a:ext>
            </a:extLst>
          </p:cNvPr>
          <p:cNvCxnSpPr>
            <a:stCxn id="23" idx="3"/>
          </p:cNvCxnSpPr>
          <p:nvPr/>
        </p:nvCxnSpPr>
        <p:spPr>
          <a:xfrm flipV="1">
            <a:off x="5863897" y="4114800"/>
            <a:ext cx="555191" cy="5964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9D544A4-6904-B5ED-9762-227FC6964A57}"/>
              </a:ext>
            </a:extLst>
          </p:cNvPr>
          <p:cNvCxnSpPr>
            <a:cxnSpLocks/>
          </p:cNvCxnSpPr>
          <p:nvPr/>
        </p:nvCxnSpPr>
        <p:spPr>
          <a:xfrm flipV="1">
            <a:off x="7709680" y="4781384"/>
            <a:ext cx="538132" cy="1142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73A756A-EF65-8D39-3518-67D940B0C96F}"/>
              </a:ext>
            </a:extLst>
          </p:cNvPr>
          <p:cNvCxnSpPr>
            <a:cxnSpLocks/>
          </p:cNvCxnSpPr>
          <p:nvPr/>
        </p:nvCxnSpPr>
        <p:spPr>
          <a:xfrm flipV="1">
            <a:off x="9391913" y="5362891"/>
            <a:ext cx="1027696" cy="632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0EC35B2-6379-C26B-1FB4-463E988BB7D2}"/>
              </a:ext>
            </a:extLst>
          </p:cNvPr>
          <p:cNvCxnSpPr>
            <a:cxnSpLocks/>
            <a:stCxn id="18" idx="3"/>
          </p:cNvCxnSpPr>
          <p:nvPr/>
        </p:nvCxnSpPr>
        <p:spPr>
          <a:xfrm flipV="1">
            <a:off x="11515365" y="4781384"/>
            <a:ext cx="216387" cy="12566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936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B61C-CAE3-C0CD-B0BF-C4BC965F8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A4EE22A-80D0-982B-CEA2-E43397B56EA5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D0900BD-7C41-175C-2072-945501702E63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5CF37D4-D5D2-8AED-7403-FEF8D84A9CD4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D3E24FC-F11C-7784-6CE6-69B435C48A60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DEDFD1-C34F-76A8-B7B6-D644E7B0359D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overlays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09B2E30-5AB7-1B7C-0D91-600709FA737D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D0EA42-C17F-CF39-4779-BA0E54888277}"/>
              </a:ext>
            </a:extLst>
          </p:cNvPr>
          <p:cNvSpPr txBox="1"/>
          <p:nvPr/>
        </p:nvSpPr>
        <p:spPr>
          <a:xfrm>
            <a:off x="563880" y="1340510"/>
            <a:ext cx="55321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View will pe positioned based on reference points 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20D8E8-26E6-674E-2E06-1AAFB9DA1CE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</a:blip>
          <a:srcRect t="4748"/>
          <a:stretch>
            <a:fillRect/>
          </a:stretch>
        </p:blipFill>
        <p:spPr>
          <a:xfrm>
            <a:off x="618744" y="1863730"/>
            <a:ext cx="2446072" cy="11714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0543C-6AC3-0768-609F-931B6041E3EB}"/>
              </a:ext>
            </a:extLst>
          </p:cNvPr>
          <p:cNvSpPr txBox="1"/>
          <p:nvPr/>
        </p:nvSpPr>
        <p:spPr>
          <a:xfrm>
            <a:off x="5305096" y="1691119"/>
            <a:ext cx="630778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Standard cases 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&amp; Left views will have by default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Overlay configuration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ref_point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to position the right view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ref_point_a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or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ref_point_b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to position the left view based on wedge style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3D model turn ON these features 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B67EB3-B027-BD14-39FE-20C61C6A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4568" y="2722821"/>
            <a:ext cx="2205654" cy="5427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99588DE-C461-3545-0746-B546EAA6FA27}"/>
              </a:ext>
            </a:extLst>
          </p:cNvPr>
          <p:cNvSpPr txBox="1"/>
          <p:nvPr/>
        </p:nvSpPr>
        <p:spPr>
          <a:xfrm>
            <a:off x="5305096" y="3404014"/>
            <a:ext cx="630778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Non Standard cases : </a:t>
            </a:r>
            <a:r>
              <a:rPr lang="en-US" sz="1400" dirty="0">
                <a:highlight>
                  <a:srgbClr val="FFFF00"/>
                </a:highligh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When we have VR/VW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 view will have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Overlay_non_std_cut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configuration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Left view will have by default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Overlay configuration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ref_point_non_std_cut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to position the right view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ref_point_a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or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ref_point_b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to position the left view based on wedge style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 3D model turn ON these features</a:t>
            </a: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view</a:t>
            </a:r>
          </a:p>
          <a:p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Left view</a:t>
            </a:r>
          </a:p>
          <a:p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6DEA06-F441-E75E-B298-4DA2519173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484" y="5677792"/>
            <a:ext cx="2127504" cy="523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0CBA8F5-EEDD-1427-8540-1227E3243D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8297"/>
          <a:stretch>
            <a:fillRect/>
          </a:stretch>
        </p:blipFill>
        <p:spPr>
          <a:xfrm>
            <a:off x="6342515" y="5009507"/>
            <a:ext cx="2012053" cy="54275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CE83CBC-ECE6-3E41-1D60-3B8F46E5BE7A}"/>
              </a:ext>
            </a:extLst>
          </p:cNvPr>
          <p:cNvSpPr txBox="1"/>
          <p:nvPr/>
        </p:nvSpPr>
        <p:spPr>
          <a:xfrm>
            <a:off x="548640" y="3265573"/>
            <a:ext cx="46634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ref_point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is positioned by the scale of the 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ref_point_non_std_cut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is controlled by parameters called  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"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non_std_cut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“, the programmer will give its value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ref_point_a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&amp;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ref_point_b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are positioned automatically using sketches</a:t>
            </a:r>
          </a:p>
        </p:txBody>
      </p:sp>
    </p:spTree>
    <p:extLst>
      <p:ext uri="{BB962C8B-B14F-4D97-AF65-F5344CB8AC3E}">
        <p14:creationId xmlns:p14="http://schemas.microsoft.com/office/powerpoint/2010/main" val="2075167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04087-4690-502E-BC46-48535B171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A2C8BFB-388B-48D8-0EFC-5422AF0FE79C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1503462-8FA0-4050-DEFF-BCEAAA8C41C7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4E59613-0D78-F494-7021-B231A3C83D8D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CC46997-BDBF-6F47-2F4C-9D6F93F5D1D5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099B5-9CAC-7E3D-3977-F8501C22F8CE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overlays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628EFFED-4DBE-85C9-CA2D-C8CE9C18FAAC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2A6CD1-8A8F-4F90-FF4B-60D3625D324A}"/>
              </a:ext>
            </a:extLst>
          </p:cNvPr>
          <p:cNvSpPr txBox="1"/>
          <p:nvPr/>
        </p:nvSpPr>
        <p:spPr>
          <a:xfrm>
            <a:off x="563879" y="1340510"/>
            <a:ext cx="5846065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Right &amp; Left view will have the same scale; the scale is chosen based on FL values</a:t>
            </a: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Numerical Limits:</a:t>
            </a: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x400 : FL ≤ 0.0134 in or 0.3403 mm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x300 : FL ≤ 0.0180 in or 0.4572 mm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x200 : FL ≤ 0.0272 in or 0.6908 mm 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x100 : FL ≤ 0.0542 in or 1.3766 mm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scales 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S100 = 1:60.8 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S200 = 1:121.1 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S300 = 1:183.0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S400 = 1:246.0</a:t>
            </a: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Image 9" descr="Une image contenant texte, capture d’écran, Bleu électrique, Police&#10;&#10;Le contenu généré par l’IA peut être incorrect.">
            <a:extLst>
              <a:ext uri="{FF2B5EF4-FFF2-40B4-BE49-F238E27FC236}">
                <a16:creationId xmlns:a16="http://schemas.microsoft.com/office/drawing/2014/main" id="{BA6E3393-0515-EE99-0A3E-BCE4DA5878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392" y="1923182"/>
            <a:ext cx="5202936" cy="3902202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742CE5B-FBC4-06B4-B609-436111065EA8}"/>
              </a:ext>
            </a:extLst>
          </p:cNvPr>
          <p:cNvSpPr/>
          <p:nvPr/>
        </p:nvSpPr>
        <p:spPr>
          <a:xfrm>
            <a:off x="7562088" y="3429000"/>
            <a:ext cx="1435608" cy="868680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92E5A7-BC5C-463E-8E9E-783525873E4A}"/>
              </a:ext>
            </a:extLst>
          </p:cNvPr>
          <p:cNvSpPr/>
          <p:nvPr/>
        </p:nvSpPr>
        <p:spPr>
          <a:xfrm>
            <a:off x="10177272" y="3439943"/>
            <a:ext cx="1435608" cy="868680"/>
          </a:xfrm>
          <a:prstGeom prst="rect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90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4DF54-F98E-7309-AC35-D7E2DB54E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BEDFDAD-C8AE-5F13-EF5F-A4911DBA3517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EEA9DC07-C542-02A8-BF1A-07303E6EE67A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280994B-C206-C25F-7526-91F373782BAA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993B083-DF37-AA0B-9153-4B0BAFA9011C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A8EC04-5B42-9EA7-058B-36D8B17D62A3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PGB 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PGB overlays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FE1D7AE7-9841-9111-573C-6F25602CFAC3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72A580-D29A-A5C2-7696-DBE340F7DECB}"/>
              </a:ext>
            </a:extLst>
          </p:cNvPr>
          <p:cNvSpPr txBox="1"/>
          <p:nvPr/>
        </p:nvSpPr>
        <p:spPr>
          <a:xfrm>
            <a:off x="563880" y="1340510"/>
            <a:ext cx="361759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PGB Overlay :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Respect all instruction in slide 3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Activate these overlay feature see note 1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Choose the scale based on FL value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Activate the correspond cut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Position the view using the reference points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Auxiliary views </a:t>
            </a: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annotations </a:t>
            </a: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metadata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By default, these sketch are on !  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Make sure to rebuild before saving to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tif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022014-A589-9CD7-1BCE-CAFF4F6A80FA}"/>
              </a:ext>
            </a:extLst>
          </p:cNvPr>
          <p:cNvSpPr txBox="1"/>
          <p:nvPr/>
        </p:nvSpPr>
        <p:spPr>
          <a:xfrm>
            <a:off x="4500584" y="1318687"/>
            <a:ext cx="4681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Note 1 : In most of standard cases with no VR/VW 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948A3C-B543-CACE-3561-9EFAD11DC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584" y="1775969"/>
            <a:ext cx="2951776" cy="8813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DB38B8-6972-259A-27FB-9478DB5B4741}"/>
              </a:ext>
            </a:extLst>
          </p:cNvPr>
          <p:cNvSpPr txBox="1"/>
          <p:nvPr/>
        </p:nvSpPr>
        <p:spPr>
          <a:xfrm>
            <a:off x="4500584" y="2806810"/>
            <a:ext cx="725326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the values of </a:t>
            </a: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 parameter will have W_MAX 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W_MIN@w_pgb_overlay_sketch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with W_MIN = W_UTOL - W_LTOL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 parameter will have FL_MAX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FL_MIN@style_a_fl_pgb_overlay_sketch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with FL_MIN = FL_UTOL – FL_LTOL</a:t>
            </a: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 parameter will have FL_MAX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FL_MIN@style_b_fl_pgb_overlay_sketch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with FL_MIN = FL_UTOL – FL_LTOL</a:t>
            </a: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77941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47B85-61D7-76DA-B766-8AB39A3C9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647904C-97A4-2599-FD3E-5CC4DCFACA96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59EF653-A27C-A3D7-1EC4-4AB2A921C5EA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4B12CA5-DB40-2FAB-EC5C-E3A65FECBB83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AC311E9-B88A-5AF3-2AA4-92A9C689C960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DF5109-DF36-14E8-262F-8B4212905FC9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PGB 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PGB overlays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F4F7CEF2-D055-2011-866D-31AD58B62B8F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E34C0E-C89E-1879-D28A-D9462030AF72}"/>
              </a:ext>
            </a:extLst>
          </p:cNvPr>
          <p:cNvSpPr txBox="1"/>
          <p:nvPr/>
        </p:nvSpPr>
        <p:spPr>
          <a:xfrm>
            <a:off x="563880" y="1340510"/>
            <a:ext cx="3617596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PGB Overlay :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Respect all instruction in slide 3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Activate these overlay feature see note 2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Choose the scale based on FL value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Activate the correspond cut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Position the view using the reference points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Auxiliary views </a:t>
            </a: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annotations </a:t>
            </a: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metadata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By default, these sketch are on !  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the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configuration for VR/VW for right view and use the ref point to position it !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Make sure to rebuilt before saving to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tif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536E14-352E-BDBE-0FA6-E3A7D19BC987}"/>
              </a:ext>
            </a:extLst>
          </p:cNvPr>
          <p:cNvSpPr txBox="1"/>
          <p:nvPr/>
        </p:nvSpPr>
        <p:spPr>
          <a:xfrm>
            <a:off x="4500584" y="845523"/>
            <a:ext cx="4681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Note 2 : Cases with VR/VW 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76658-8911-7529-519E-7F42A86F71FC}"/>
              </a:ext>
            </a:extLst>
          </p:cNvPr>
          <p:cNvSpPr txBox="1"/>
          <p:nvPr/>
        </p:nvSpPr>
        <p:spPr>
          <a:xfrm>
            <a:off x="4500584" y="2381062"/>
            <a:ext cx="361759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the values of 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 parameter will have FL_MIN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FL_MIN@style_a_fl_pgb_overlay_sketch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 parameter will have FL_MIN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FL_MAX@style_b_fl_pgb_overlay_sketch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VW_MIN@vw_case1_pgb_overlay_sketch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 parameter will have VW_MAX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VR_MIN@vw_case1_pgb_overlay_sketch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 parameter will have VR_MAX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VRA_MIN@vw_case1_pgb_overlay_sketch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 parameter will have VRA_MAX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BD6A59-1A67-9C69-9DF6-C8AB06FFC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014" y="1238941"/>
            <a:ext cx="2503807" cy="10713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187997B-A36D-44FC-E732-4B32BB4A3E8F}"/>
              </a:ext>
            </a:extLst>
          </p:cNvPr>
          <p:cNvSpPr txBox="1"/>
          <p:nvPr/>
        </p:nvSpPr>
        <p:spPr>
          <a:xfrm>
            <a:off x="7498926" y="1439669"/>
            <a:ext cx="18906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VW = W its case1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VW &gt; W its case2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9CD51A-6B52-C5D9-2C88-717990D01B60}"/>
              </a:ext>
            </a:extLst>
          </p:cNvPr>
          <p:cNvSpPr txBox="1"/>
          <p:nvPr/>
        </p:nvSpPr>
        <p:spPr>
          <a:xfrm>
            <a:off x="8118180" y="2292203"/>
            <a:ext cx="361759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the values of 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 parameter will have FL_MIN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FL_MIN@style_a_fl_pgb_overlay_sketch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 parameter will have FL_MIN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FL_MAX@style_b_fl_pgb_overlay_sketch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VW_MIN@vw_case2_pgb_overlay_sketch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 parameter will have VW_MAX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VR_MIN@vw_case2_pgb_overlay_sketch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 parameter will have VR_MAX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VRA_MIN@vw_case2_pgb_overlay_sketch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 parameter will have VRA_MAX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W_MIN@vw_case2_pgb_overlay_sketch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 parameter will W_MAX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ISA_MIN@vw_case2_pgb_overlay_sketch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ISA parameter will ISA_MAX</a:t>
            </a:r>
          </a:p>
        </p:txBody>
      </p:sp>
    </p:spTree>
    <p:extLst>
      <p:ext uri="{BB962C8B-B14F-4D97-AF65-F5344CB8AC3E}">
        <p14:creationId xmlns:p14="http://schemas.microsoft.com/office/powerpoint/2010/main" val="33747076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55963-1252-D206-BCB1-C93811810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341A5E2-6AD4-DB33-1862-08E86BCE6DCA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5F22F74E-3F50-90A4-CF8E-C1B83FD5E69A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13A56EF-B0DA-2849-4EC9-12BBD60CA392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F8AE5C9-C480-AC81-D4AF-64FE364AE1A2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7415FA-C15D-4473-8E19-5D91FB8C4332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FG 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FG overlays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BD17F919-75DE-33EB-D566-C54B8BFD1E96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703546-5FC4-94E2-DE46-3EFAAE819284}"/>
              </a:ext>
            </a:extLst>
          </p:cNvPr>
          <p:cNvSpPr txBox="1"/>
          <p:nvPr/>
        </p:nvSpPr>
        <p:spPr>
          <a:xfrm>
            <a:off x="563880" y="1340510"/>
            <a:ext cx="361759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PGB Overlay :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Respect all instruction in slide 3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Activate these overlay feature see note 3 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Choose the scale based on FL value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Activate the correspond cut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Position the view using the reference points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Auxiliary views </a:t>
            </a: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annotations </a:t>
            </a: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metadata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By default, these sketch are on !  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Make sure to rebuild before saving to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tif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3FA731-6411-68ED-A9B2-459C8FE0B698}"/>
              </a:ext>
            </a:extLst>
          </p:cNvPr>
          <p:cNvSpPr txBox="1"/>
          <p:nvPr/>
        </p:nvSpPr>
        <p:spPr>
          <a:xfrm>
            <a:off x="4500584" y="921535"/>
            <a:ext cx="4681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Note 3 : In most of standard cases with no VR/VW 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B434A1-B6F0-2E13-0F77-8F2A9BAFC30C}"/>
              </a:ext>
            </a:extLst>
          </p:cNvPr>
          <p:cNvSpPr txBox="1"/>
          <p:nvPr/>
        </p:nvSpPr>
        <p:spPr>
          <a:xfrm>
            <a:off x="4610312" y="2706878"/>
            <a:ext cx="4001706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style chose : </a:t>
            </a: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style_a_fr_br_overlay_sketch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or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style_b_fr_br_overlay_sketch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 need to change any dimension  !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Show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vg_fg_overlay_sketch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the values :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 parameter will have B_MIN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B_MAX@vg_fg_overlay_sketch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GA parameter will have GA_MIN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GA_MAX@vg_fg_overlay_sketch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GD parameter will have GD_MIN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GD_MAX@vg_fg_overlay_sketch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Show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w_fg_overlay_sketch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the values :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W_MIN@w_fg_overlay_sketch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W_MAX@w_fg_overlay_sketch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547F1C9-155D-77FB-ABF1-F6DD6256A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312" y="1283102"/>
            <a:ext cx="2587752" cy="136998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91B1C9E-7C7F-7FA5-62BD-6E45386A35C2}"/>
              </a:ext>
            </a:extLst>
          </p:cNvPr>
          <p:cNvSpPr txBox="1"/>
          <p:nvPr/>
        </p:nvSpPr>
        <p:spPr>
          <a:xfrm>
            <a:off x="8612018" y="2706878"/>
            <a:ext cx="32660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Based on style chose : </a:t>
            </a:r>
          </a:p>
          <a:p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style_a_fl_overlay_sketch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or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style_b_fl_overlay_sketch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change the values :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FL_MIN@style_a_fl_overlay_sketch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FL_MAX@style_a_fl_overlay_sketch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FL_MIN@style_b_fl_overlay_sketch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FL_MAX@style_b_fl_overlay_sketch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120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4300A-BCB0-6AAC-C5FF-FA755419B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C997BA5-FB26-E2FF-F0CD-B377DA56FC51}"/>
              </a:ext>
            </a:extLst>
          </p:cNvPr>
          <p:cNvSpPr/>
          <p:nvPr/>
        </p:nvSpPr>
        <p:spPr>
          <a:xfrm>
            <a:off x="548640" y="11980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BA15494-8424-8425-E38C-7C1A46A636F5}"/>
              </a:ext>
            </a:extLst>
          </p:cNvPr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9525">
            <a:solidFill>
              <a:srgbClr val="E4E4E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7086AA3-956B-3D2A-2161-3C2FE1C2F010}"/>
              </a:ext>
            </a:extLst>
          </p:cNvPr>
          <p:cNvSpPr/>
          <p:nvPr/>
        </p:nvSpPr>
        <p:spPr>
          <a:xfrm>
            <a:off x="54864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PRECISION TOOLS</a:t>
            </a:r>
            <a:endParaRPr lang="en-US" sz="9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E14A31FA-3A90-3AEA-0348-3282983A89BE}"/>
              </a:ext>
            </a:extLst>
          </p:cNvPr>
          <p:cNvSpPr/>
          <p:nvPr/>
        </p:nvSpPr>
        <p:spPr>
          <a:xfrm>
            <a:off x="470916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BD98EF-167B-3624-67BD-288F55C0A1DB}"/>
              </a:ext>
            </a:extLst>
          </p:cNvPr>
          <p:cNvSpPr txBox="1"/>
          <p:nvPr/>
        </p:nvSpPr>
        <p:spPr>
          <a:xfrm>
            <a:off x="760306" y="759882"/>
            <a:ext cx="85360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CKVD Series – FG Overlay : </a:t>
            </a:r>
            <a:br>
              <a:rPr lang="en-US" sz="14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Construction of PGB overlays</a:t>
            </a:r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5896DEDC-E122-F7C8-40E2-81186029C55D}"/>
              </a:ext>
            </a:extLst>
          </p:cNvPr>
          <p:cNvSpPr/>
          <p:nvPr/>
        </p:nvSpPr>
        <p:spPr>
          <a:xfrm>
            <a:off x="563880" y="889684"/>
            <a:ext cx="109728" cy="109728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41FB9E-E562-B908-F998-9773CB4CD145}"/>
              </a:ext>
            </a:extLst>
          </p:cNvPr>
          <p:cNvSpPr txBox="1"/>
          <p:nvPr/>
        </p:nvSpPr>
        <p:spPr>
          <a:xfrm>
            <a:off x="563880" y="1340510"/>
            <a:ext cx="361759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PGB Overlay :</a:t>
            </a:r>
          </a:p>
          <a:p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Respect all instruction in slide 3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Activate these overlay feature see note 2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Choose the scale based on FL value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Activate the correspond cut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Position the view using the reference points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Auxiliary views </a:t>
            </a: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annotations </a:t>
            </a:r>
          </a:p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Add metadata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By default, these sketch are on !  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Use the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configuration for VR/VW for right view and use the ref point to position it !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Replicate the same as the slide before, with out showing </a:t>
            </a:r>
            <a:r>
              <a:rPr lang="en-US" sz="1400" dirty="0" err="1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w_fg_overlay_sketch</a:t>
            </a: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Make sure to rebuilt before saving to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tif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BFA6F9-4D57-BC73-76D2-D7B30983825C}"/>
              </a:ext>
            </a:extLst>
          </p:cNvPr>
          <p:cNvSpPr txBox="1"/>
          <p:nvPr/>
        </p:nvSpPr>
        <p:spPr>
          <a:xfrm>
            <a:off x="4500584" y="845523"/>
            <a:ext cx="4681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Note 2 : Cases with VR/VW </a:t>
            </a:r>
            <a:endParaRPr lang="en-US" sz="1400" dirty="0">
              <a:solidFill>
                <a:srgbClr val="FF0000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5C82ED-09AC-A26B-D5DB-5301B6A5E5AF}"/>
              </a:ext>
            </a:extLst>
          </p:cNvPr>
          <p:cNvSpPr txBox="1"/>
          <p:nvPr/>
        </p:nvSpPr>
        <p:spPr>
          <a:xfrm>
            <a:off x="4500584" y="2381062"/>
            <a:ext cx="361759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VW_MIN@vw_case1_fg_overlay_sketch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 parameter will have VW_MAX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VR_MIN@vw_case1_fg_overlay_sketch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 parameter will have VR_MAX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VRA_MIN@vw_case1_fg_overlay_sketch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 parameter will have VRA_MAX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839A66-A965-7C65-2523-28EEFB307492}"/>
              </a:ext>
            </a:extLst>
          </p:cNvPr>
          <p:cNvSpPr txBox="1"/>
          <p:nvPr/>
        </p:nvSpPr>
        <p:spPr>
          <a:xfrm>
            <a:off x="7498926" y="1439669"/>
            <a:ext cx="18906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VW = W its case1</a:t>
            </a:r>
            <a:b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FF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If VW &gt; W its case2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56A901-AC9F-EFB9-47A8-BA0A439E3319}"/>
              </a:ext>
            </a:extLst>
          </p:cNvPr>
          <p:cNvSpPr txBox="1"/>
          <p:nvPr/>
        </p:nvSpPr>
        <p:spPr>
          <a:xfrm>
            <a:off x="8118180" y="2292203"/>
            <a:ext cx="361759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VW_MIN@vw_case2_fg_overlay_sketch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VW parameter will have VW_MAX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VR_MIN@vw_case2_fg_overlay_sketch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 parameter will have VR_MAX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VRA_MIN@vw_case2_fg_overlay_sketch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VRA parameter will have VRA_MAX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W_MIN@vw_case2_fg_overlay_sketch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 parameter will W_MAX</a:t>
            </a:r>
          </a:p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ISA_MIN@vw_case2_fg_overlay_sketch</a:t>
            </a:r>
            <a:b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ISA parameter will ISA_MAX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21C6FD-FD2B-730C-56D3-21476B191D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357"/>
          <a:stretch>
            <a:fillRect/>
          </a:stretch>
        </p:blipFill>
        <p:spPr>
          <a:xfrm>
            <a:off x="4290137" y="1397568"/>
            <a:ext cx="3208789" cy="592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84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1884</TotalTime>
  <Words>3330</Words>
  <Application>Microsoft Office PowerPoint</Application>
  <PresentationFormat>Widescreen</PresentationFormat>
  <Paragraphs>280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Youssef Agnaou</dc:creator>
  <cp:lastModifiedBy>mounir ennakhai</cp:lastModifiedBy>
  <cp:revision>56</cp:revision>
  <dcterms:created xsi:type="dcterms:W3CDTF">2026-07-26T18:29:11Z</dcterms:created>
  <dcterms:modified xsi:type="dcterms:W3CDTF">2026-07-29T11:36:56Z</dcterms:modified>
</cp:coreProperties>
</file>