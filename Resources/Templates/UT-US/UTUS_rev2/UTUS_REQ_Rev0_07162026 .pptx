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i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0" r:id="rId3"/>
    <p:sldId id="259" r:id="rId4"/>
    <p:sldId id="262" r:id="rId5"/>
    <p:sldId id="263" r:id="rId6"/>
    <p:sldId id="264" r:id="rId7"/>
    <p:sldId id="265" r:id="rId8"/>
    <p:sldId id="266" r:id="rId9"/>
    <p:sldId id="267" r:id="rId10"/>
    <p:sldId id="268" r:id="rId11"/>
    <p:sldId id="269" r:id="rId12"/>
    <p:sldId id="270" r:id="rId13"/>
    <p:sldId id="271"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87" y="1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15T08:11:19.83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0,'306'0,"-300"0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535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9E3A-EA0E-2720-599A-7C95C5304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5D51E-BB1C-A8DA-AE1B-23E7AFA3E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0252E-9A31-13D4-70FF-4B6E5E5EBE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431267-7A72-C3EA-EE03-E29FD26421C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70446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5B672-5378-A69E-FDE3-B85E08D4D3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AE6AE-13A9-C997-16A7-7C629F64F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1F9B7E-9C37-BD6B-FACF-7BCD204DB4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369C0B-5509-58BC-297C-DCDEBBD0D9D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219175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B346A-194A-3134-9395-2474D9B56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F0A42-A55B-5E35-FA36-85FC838E6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EAA2DD-85BE-EF7D-BFA4-409A857EAD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81B097-AAB6-0C3B-A2FD-208082EA0D8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24360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54D7D-611B-37BA-55CF-4A9A601E1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0DBB06-F0D0-36FE-7BB0-DB74B06FC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DF36B7-7D56-590E-D343-6C7084A9B6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217AF8-52FD-1CF8-0557-2CF623685B1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659387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48D34-5C8D-AE50-7124-F02EC4516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3E6BB-DBA0-A854-29D4-C6FEEBCCAE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3E122-76D4-29E9-5D52-D28411154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C085C8-D336-A997-0D63-C40139377B2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364540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71204-456B-1CAD-BE86-17A1E931A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51A67-B8AC-876E-AB51-9CA6B3F24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A368C3-6891-5378-5C73-D6F64FFA05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A0BCEF-F142-D224-3322-04756F520F3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0020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E3E1-36B2-D421-5B4F-5D1075F64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884D5-D9A8-476A-4F52-FE9F7F3B9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713CD-736E-72BD-CF0E-A0CE3F0ADA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140E82-3679-2376-E593-C830C0CD17B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99986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198A5-64F3-E388-35EA-583B77DAE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9A1C1-76E5-64DA-5E09-905B94A8F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FA59CE-B5FB-D604-929B-C27B25411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A10906-DCFF-DE44-E4AF-ABBFFD5F705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814796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21754-37E8-AF9E-FB2B-110B1229A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C1C7A-DCEE-5A1F-46B8-E3792CF1EB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D2152-E2B2-03CB-D983-40CD2D8D8E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90AE86-AE44-5ADF-8E2F-D39A66779C4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088223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A6AA7-992A-6945-AA56-B1CC22290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EF0B4-68D0-84A3-AEEC-D20BBCA1B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A286F-24F2-4AD0-7ABA-E7274AFA2C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FFC551-F08B-8E38-364F-2D4E30A8AC3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53810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189C7-BC4A-7886-5F28-59CBDD4DB4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F6DE0-D20E-AA01-5FA9-202BA2D423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4503A2-B148-9A08-DE45-841DC72EF6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CE0677-BDCB-5711-174C-AE0F5F99EFB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36928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4" Type="http://schemas.openxmlformats.org/officeDocument/2006/relationships/customXml" Target="../ink/ink1.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12.xml.rels><?xml version="1.0" encoding="UTF-8" standalone="yes"?>
<Relationships xmlns="http://schemas.openxmlformats.org/package/2006/relationships"><Relationship Id="rId3" Type="http://schemas.openxmlformats.org/officeDocument/2006/relationships/image" Target="../media/image15.tif"/><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ti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8.tif"/></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C62828"/>
          </a:solidFill>
          <a:ln/>
        </p:spPr>
        <p:txBody>
          <a:bodyPr/>
          <a:lstStyle/>
          <a:p>
            <a:endParaRPr lang="en-US"/>
          </a:p>
        </p:txBody>
      </p:sp>
      <p:sp>
        <p:nvSpPr>
          <p:cNvPr id="3" name="Text 1"/>
          <p:cNvSpPr/>
          <p:nvPr/>
        </p:nvSpPr>
        <p:spPr>
          <a:xfrm>
            <a:off x="548640" y="502920"/>
            <a:ext cx="7315200" cy="365760"/>
          </a:xfrm>
          <a:prstGeom prst="rect">
            <a:avLst/>
          </a:prstGeom>
          <a:noFill/>
          <a:ln/>
        </p:spPr>
        <p:txBody>
          <a:bodyPr wrap="square" lIns="0" tIns="0" rIns="0" bIns="0" rtlCol="0" anchor="ctr"/>
          <a:lstStyle/>
          <a:p>
            <a:pPr marL="0" indent="0">
              <a:buNone/>
            </a:pPr>
            <a:r>
              <a:rPr lang="en-US" sz="1400" b="1" kern="0" spc="100" dirty="0">
                <a:solidFill>
                  <a:srgbClr val="3A3A3A"/>
                </a:solidFill>
                <a:latin typeface="Arial" pitchFamily="34" charset="0"/>
                <a:ea typeface="Arial" pitchFamily="34" charset="-122"/>
                <a:cs typeface="Arial" pitchFamily="34" charset="-120"/>
              </a:rPr>
              <a:t>SMALL PRECISION TOOLS</a:t>
            </a:r>
            <a:endParaRPr lang="en-US" sz="1400" dirty="0"/>
          </a:p>
        </p:txBody>
      </p:sp>
      <p:sp>
        <p:nvSpPr>
          <p:cNvPr id="5" name="Text 3"/>
          <p:cNvSpPr/>
          <p:nvPr/>
        </p:nvSpPr>
        <p:spPr>
          <a:xfrm>
            <a:off x="548640" y="2651760"/>
            <a:ext cx="11064240" cy="1005840"/>
          </a:xfrm>
          <a:prstGeom prst="rect">
            <a:avLst/>
          </a:prstGeom>
          <a:noFill/>
          <a:ln/>
        </p:spPr>
        <p:txBody>
          <a:bodyPr wrap="square" lIns="0" tIns="0" rIns="0" bIns="0" rtlCol="0" anchor="ctr"/>
          <a:lstStyle/>
          <a:p>
            <a:r>
              <a:rPr lang="en-US" sz="4400" b="1" dirty="0">
                <a:solidFill>
                  <a:srgbClr val="C62828"/>
                </a:solidFill>
                <a:latin typeface="Arial" pitchFamily="34" charset="0"/>
                <a:ea typeface="Arial" pitchFamily="34" charset="-122"/>
                <a:cs typeface="Arial" pitchFamily="34" charset="-120"/>
              </a:rPr>
              <a:t>Wedge Auto-Draw Requirements</a:t>
            </a:r>
            <a:endParaRPr lang="en-US" sz="4400" dirty="0"/>
          </a:p>
        </p:txBody>
      </p:sp>
      <p:sp>
        <p:nvSpPr>
          <p:cNvPr id="6" name="Text 4"/>
          <p:cNvSpPr/>
          <p:nvPr/>
        </p:nvSpPr>
        <p:spPr>
          <a:xfrm>
            <a:off x="548640" y="3611880"/>
            <a:ext cx="11064240" cy="457200"/>
          </a:xfrm>
          <a:prstGeom prst="rect">
            <a:avLst/>
          </a:prstGeom>
          <a:noFill/>
          <a:ln/>
        </p:spPr>
        <p:txBody>
          <a:bodyPr wrap="square" lIns="0" tIns="0" rIns="0" bIns="0" rtlCol="0" anchor="ctr"/>
          <a:lstStyle/>
          <a:p>
            <a:r>
              <a:rPr lang="en-US" dirty="0">
                <a:solidFill>
                  <a:srgbClr val="3A3A3A"/>
                </a:solidFill>
                <a:latin typeface="Arial" pitchFamily="34" charset="0"/>
                <a:ea typeface="Arial" pitchFamily="34" charset="-122"/>
                <a:cs typeface="Arial" pitchFamily="34" charset="-120"/>
              </a:rPr>
              <a:t>Small Wire (SW) Wedge Series – COB Requirements (30COB - 45COB – 55COB – 60COB)</a:t>
            </a:r>
            <a:endParaRPr lang="en-US" sz="1800" dirty="0"/>
          </a:p>
        </p:txBody>
      </p:sp>
      <p:sp>
        <p:nvSpPr>
          <p:cNvPr id="7" name="Shape 5"/>
          <p:cNvSpPr/>
          <p:nvPr/>
        </p:nvSpPr>
        <p:spPr>
          <a:xfrm>
            <a:off x="548640" y="5577840"/>
            <a:ext cx="2560320" cy="685800"/>
          </a:xfrm>
          <a:prstGeom prst="rect">
            <a:avLst/>
          </a:prstGeom>
          <a:solidFill>
            <a:srgbClr val="F5F5F5"/>
          </a:solidFill>
          <a:ln/>
        </p:spPr>
        <p:txBody>
          <a:bodyPr/>
          <a:lstStyle/>
          <a:p>
            <a:endParaRPr lang="en-US" dirty="0"/>
          </a:p>
        </p:txBody>
      </p:sp>
      <p:sp>
        <p:nvSpPr>
          <p:cNvPr id="8" name="Text 6"/>
          <p:cNvSpPr/>
          <p:nvPr/>
        </p:nvSpPr>
        <p:spPr>
          <a:xfrm>
            <a:off x="68580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DOCUMENT NO.</a:t>
            </a:r>
            <a:endParaRPr lang="en-US" sz="900" dirty="0"/>
          </a:p>
        </p:txBody>
      </p:sp>
      <p:sp>
        <p:nvSpPr>
          <p:cNvPr id="9" name="Text 7"/>
          <p:cNvSpPr/>
          <p:nvPr/>
        </p:nvSpPr>
        <p:spPr>
          <a:xfrm>
            <a:off x="685800" y="5897880"/>
            <a:ext cx="2286000" cy="292608"/>
          </a:xfrm>
          <a:prstGeom prst="rect">
            <a:avLst/>
          </a:prstGeom>
          <a:noFill/>
          <a:ln/>
        </p:spPr>
        <p:txBody>
          <a:bodyPr wrap="square" lIns="0" tIns="0" rIns="0" bIns="0" rtlCol="0" anchor="ctr"/>
          <a:lstStyle/>
          <a:p>
            <a:r>
              <a:rPr lang="en-US" sz="1300" dirty="0">
                <a:solidFill>
                  <a:srgbClr val="3A3A3A"/>
                </a:solidFill>
                <a:latin typeface="Arial" pitchFamily="34" charset="0"/>
                <a:ea typeface="Arial" pitchFamily="34" charset="-122"/>
                <a:cs typeface="Arial" pitchFamily="34" charset="-120"/>
              </a:rPr>
              <a:t>COB_REQ_Rev0_07162026</a:t>
            </a:r>
            <a:endParaRPr lang="en-US" sz="1300" dirty="0"/>
          </a:p>
        </p:txBody>
      </p:sp>
      <p:sp>
        <p:nvSpPr>
          <p:cNvPr id="10" name="Shape 8"/>
          <p:cNvSpPr/>
          <p:nvPr/>
        </p:nvSpPr>
        <p:spPr>
          <a:xfrm>
            <a:off x="3383280" y="5577840"/>
            <a:ext cx="2560320" cy="685800"/>
          </a:xfrm>
          <a:prstGeom prst="rect">
            <a:avLst/>
          </a:prstGeom>
          <a:solidFill>
            <a:srgbClr val="F5F5F5"/>
          </a:solidFill>
          <a:ln/>
        </p:spPr>
        <p:txBody>
          <a:bodyPr/>
          <a:lstStyle/>
          <a:p>
            <a:endParaRPr lang="en-US"/>
          </a:p>
        </p:txBody>
      </p:sp>
      <p:sp>
        <p:nvSpPr>
          <p:cNvPr id="11" name="Text 9"/>
          <p:cNvSpPr/>
          <p:nvPr/>
        </p:nvSpPr>
        <p:spPr>
          <a:xfrm>
            <a:off x="352044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DATE</a:t>
            </a:r>
            <a:endParaRPr lang="en-US" sz="900" dirty="0"/>
          </a:p>
        </p:txBody>
      </p:sp>
      <p:sp>
        <p:nvSpPr>
          <p:cNvPr id="12" name="Text 10"/>
          <p:cNvSpPr/>
          <p:nvPr/>
        </p:nvSpPr>
        <p:spPr>
          <a:xfrm>
            <a:off x="352044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2026-16-07</a:t>
            </a:r>
          </a:p>
        </p:txBody>
      </p:sp>
      <p:sp>
        <p:nvSpPr>
          <p:cNvPr id="13" name="Shape 11"/>
          <p:cNvSpPr/>
          <p:nvPr/>
        </p:nvSpPr>
        <p:spPr>
          <a:xfrm>
            <a:off x="6217920" y="5577840"/>
            <a:ext cx="2560320" cy="685800"/>
          </a:xfrm>
          <a:prstGeom prst="rect">
            <a:avLst/>
          </a:prstGeom>
          <a:solidFill>
            <a:srgbClr val="F5F5F5"/>
          </a:solidFill>
          <a:ln/>
        </p:spPr>
        <p:txBody>
          <a:bodyPr/>
          <a:lstStyle/>
          <a:p>
            <a:endParaRPr lang="en-US"/>
          </a:p>
        </p:txBody>
      </p:sp>
      <p:sp>
        <p:nvSpPr>
          <p:cNvPr id="14" name="Text 12"/>
          <p:cNvSpPr/>
          <p:nvPr/>
        </p:nvSpPr>
        <p:spPr>
          <a:xfrm>
            <a:off x="635508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PREPARED BY</a:t>
            </a:r>
            <a:endParaRPr lang="en-US" sz="900" dirty="0"/>
          </a:p>
        </p:txBody>
      </p:sp>
      <p:sp>
        <p:nvSpPr>
          <p:cNvPr id="15" name="Text 13"/>
          <p:cNvSpPr/>
          <p:nvPr/>
        </p:nvSpPr>
        <p:spPr>
          <a:xfrm>
            <a:off x="635508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Youssef</a:t>
            </a:r>
            <a:endParaRPr lang="en-US" sz="1300" dirty="0"/>
          </a:p>
        </p:txBody>
      </p:sp>
      <p:sp>
        <p:nvSpPr>
          <p:cNvPr id="16" name="Shape 14"/>
          <p:cNvSpPr/>
          <p:nvPr/>
        </p:nvSpPr>
        <p:spPr>
          <a:xfrm>
            <a:off x="9052560" y="5577840"/>
            <a:ext cx="2560320" cy="685800"/>
          </a:xfrm>
          <a:prstGeom prst="rect">
            <a:avLst/>
          </a:prstGeom>
          <a:solidFill>
            <a:srgbClr val="F5F5F5"/>
          </a:solidFill>
          <a:ln/>
        </p:spPr>
        <p:txBody>
          <a:bodyPr/>
          <a:lstStyle/>
          <a:p>
            <a:endParaRPr lang="en-US"/>
          </a:p>
        </p:txBody>
      </p:sp>
      <p:sp>
        <p:nvSpPr>
          <p:cNvPr id="17" name="Text 15"/>
          <p:cNvSpPr/>
          <p:nvPr/>
        </p:nvSpPr>
        <p:spPr>
          <a:xfrm>
            <a:off x="918972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STATUS</a:t>
            </a:r>
            <a:endParaRPr lang="en-US" sz="900" dirty="0"/>
          </a:p>
        </p:txBody>
      </p:sp>
      <p:sp>
        <p:nvSpPr>
          <p:cNvPr id="18" name="Text 16"/>
          <p:cNvSpPr/>
          <p:nvPr/>
        </p:nvSpPr>
        <p:spPr>
          <a:xfrm>
            <a:off x="918972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Draft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6B94097-8B9A-7511-E12E-8B255D7FA2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BBC017-DF26-1ACC-82B3-3BE21E451F88}"/>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Scope</a:t>
            </a:r>
            <a:endParaRPr lang="en-US" sz="2800" dirty="0"/>
          </a:p>
        </p:txBody>
      </p:sp>
      <p:sp>
        <p:nvSpPr>
          <p:cNvPr id="3" name="Shape 1">
            <a:extLst>
              <a:ext uri="{FF2B5EF4-FFF2-40B4-BE49-F238E27FC236}">
                <a16:creationId xmlns:a16="http://schemas.microsoft.com/office/drawing/2014/main" id="{FDCFC106-E12B-6DC8-4B0F-07199A7035B9}"/>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9AB5FE3A-12EE-8CC6-B97D-932B53A40313}"/>
              </a:ext>
            </a:extLst>
          </p:cNvPr>
          <p:cNvSpPr/>
          <p:nvPr/>
        </p:nvSpPr>
        <p:spPr>
          <a:xfrm>
            <a:off x="812533" y="1566482"/>
            <a:ext cx="6639827" cy="1409328"/>
          </a:xfrm>
          <a:prstGeom prst="rect">
            <a:avLst/>
          </a:prstGeom>
          <a:noFill/>
          <a:ln/>
        </p:spPr>
        <p:txBody>
          <a:bodyPr wrap="square" lIns="0" tIns="0" rIns="0" bIns="0" rtlCol="0" anchor="ctr"/>
          <a:lstStyle/>
          <a:p>
            <a:pPr marL="0" indent="0" algn="just">
              <a:lnSpc>
                <a:spcPct val="150000"/>
              </a:lnSpc>
              <a:buNone/>
            </a:pPr>
            <a:r>
              <a:rPr lang="en-US" sz="1400" dirty="0">
                <a:solidFill>
                  <a:srgbClr val="3A3A3A"/>
                </a:solidFill>
                <a:latin typeface="Arial" pitchFamily="34" charset="0"/>
                <a:ea typeface="Arial" pitchFamily="34" charset="-122"/>
                <a:cs typeface="Arial" pitchFamily="34" charset="-120"/>
              </a:rPr>
              <a:t>This document defines the production drawing, customer drawing, and overlay requirements for the COB Requirements (30COB - 45COB – 60COB) series, covering both the finished wedge and the Pre-Ground Blank (PGB).</a:t>
            </a:r>
            <a:endParaRPr lang="en-US" sz="1400" dirty="0"/>
          </a:p>
        </p:txBody>
      </p:sp>
      <p:sp>
        <p:nvSpPr>
          <p:cNvPr id="13" name="Shape 11">
            <a:extLst>
              <a:ext uri="{FF2B5EF4-FFF2-40B4-BE49-F238E27FC236}">
                <a16:creationId xmlns:a16="http://schemas.microsoft.com/office/drawing/2014/main" id="{CDE9FAFA-5182-9D6B-3E40-F5E3BF003F00}"/>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F0D1788D-29DB-3089-CE57-C5DE5684F5D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185381B-10D5-EC72-5E58-97941602ACA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495B5817-E376-0B6F-B6F9-4E4E83B10661}"/>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Tree>
    <p:extLst>
      <p:ext uri="{BB962C8B-B14F-4D97-AF65-F5344CB8AC3E}">
        <p14:creationId xmlns:p14="http://schemas.microsoft.com/office/powerpoint/2010/main" val="424116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Tool Overview</a:t>
            </a:r>
            <a:endParaRPr lang="en-US" sz="2800" dirty="0"/>
          </a:p>
        </p:txBody>
      </p:sp>
      <p:sp>
        <p:nvSpPr>
          <p:cNvPr id="3" name="Shape 1"/>
          <p:cNvSpPr/>
          <p:nvPr/>
        </p:nvSpPr>
        <p:spPr>
          <a:xfrm>
            <a:off x="548640" y="1673352"/>
            <a:ext cx="109728" cy="109728"/>
          </a:xfrm>
          <a:prstGeom prst="rect">
            <a:avLst/>
          </a:prstGeom>
          <a:solidFill>
            <a:srgbClr val="C62828"/>
          </a:solidFill>
          <a:ln/>
        </p:spPr>
        <p:txBody>
          <a:bodyPr/>
          <a:lstStyle/>
          <a:p>
            <a:endParaRPr lang="en-US"/>
          </a:p>
        </p:txBody>
      </p:sp>
      <p:sp>
        <p:nvSpPr>
          <p:cNvPr id="4" name="Text 2"/>
          <p:cNvSpPr/>
          <p:nvPr/>
        </p:nvSpPr>
        <p:spPr>
          <a:xfrm>
            <a:off x="868679" y="1622330"/>
            <a:ext cx="5556183" cy="1201707"/>
          </a:xfrm>
          <a:prstGeom prst="rect">
            <a:avLst/>
          </a:prstGeom>
          <a:noFill/>
          <a:ln/>
        </p:spPr>
        <p:txBody>
          <a:bodyPr wrap="square" lIns="0" tIns="0" rIns="0" bIns="0" rtlCol="0" anchor="ctr"/>
          <a:lstStyle/>
          <a:p>
            <a:pPr marL="0" indent="0">
              <a:lnSpc>
                <a:spcPct val="150000"/>
              </a:lnSpc>
              <a:buNone/>
            </a:pPr>
            <a:r>
              <a:rPr lang="en-US" sz="1400" dirty="0">
                <a:solidFill>
                  <a:srgbClr val="3A3A3A"/>
                </a:solidFill>
                <a:latin typeface="Arial" pitchFamily="34" charset="0"/>
                <a:ea typeface="Arial" pitchFamily="34" charset="-122"/>
                <a:cs typeface="Arial" pitchFamily="34" charset="-120"/>
              </a:rPr>
              <a:t>The COB series incorporates all the common features of a wedge with the cavity guide design, which is widely used for small aluminum wire bonding. It comes with the elliptical back radius which keeps the wire in the center of the tool for better bond placement capability.</a:t>
            </a:r>
            <a:endParaRPr lang="en-US" sz="1400" dirty="0"/>
          </a:p>
        </p:txBody>
      </p:sp>
      <p:sp>
        <p:nvSpPr>
          <p:cNvPr id="13" name="Shape 11"/>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pic>
        <p:nvPicPr>
          <p:cNvPr id="10" name="Picture 9">
            <a:extLst>
              <a:ext uri="{FF2B5EF4-FFF2-40B4-BE49-F238E27FC236}">
                <a16:creationId xmlns:a16="http://schemas.microsoft.com/office/drawing/2014/main" id="{42A9B025-FBEB-5175-357F-DF398BEA82FD}"/>
              </a:ext>
            </a:extLst>
          </p:cNvPr>
          <p:cNvPicPr>
            <a:picLocks noChangeAspect="1"/>
          </p:cNvPicPr>
          <p:nvPr/>
        </p:nvPicPr>
        <p:blipFill>
          <a:blip r:embed="rId3"/>
          <a:stretch>
            <a:fillRect/>
          </a:stretch>
        </p:blipFill>
        <p:spPr>
          <a:xfrm>
            <a:off x="7235216" y="1396041"/>
            <a:ext cx="4088104" cy="41086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D4A7B4-9BFC-A872-D689-ED88CABFD06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F389624-FD5A-8700-F158-82B52F3510CF}"/>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13ED0E40-67D0-8E98-64F5-84A537E39550}"/>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AE866EF1-5943-B00B-87FE-74C13935307E}"/>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Shank: SW_STD with SLB feature , 20 SW_180REV  with SLB feature</a:t>
            </a:r>
          </a:p>
        </p:txBody>
      </p:sp>
      <p:sp>
        <p:nvSpPr>
          <p:cNvPr id="13" name="Shape 11">
            <a:extLst>
              <a:ext uri="{FF2B5EF4-FFF2-40B4-BE49-F238E27FC236}">
                <a16:creationId xmlns:a16="http://schemas.microsoft.com/office/drawing/2014/main" id="{65D4A2FA-C7D7-7C6F-EA52-F5D484278FD1}"/>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D2BEA0B3-90B6-3358-6663-CE0F98877514}"/>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56D5F149-9D9D-B3CC-B7F9-7072A2E9CF8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57D86523-7141-4D1B-9AA6-F7A5E4749B43}"/>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24" name="Text 2">
            <a:extLst>
              <a:ext uri="{FF2B5EF4-FFF2-40B4-BE49-F238E27FC236}">
                <a16:creationId xmlns:a16="http://schemas.microsoft.com/office/drawing/2014/main" id="{9574D00C-C6A1-C553-BD87-8201E9571DB4}"/>
              </a:ext>
            </a:extLst>
          </p:cNvPr>
          <p:cNvSpPr/>
          <p:nvPr/>
        </p:nvSpPr>
        <p:spPr>
          <a:xfrm>
            <a:off x="868679" y="2221991"/>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For Tip detail we have STD 20°ISA , WITH VW VR , CHMFERED W2, 10°BA, 0°BA, SECOND RA2</a:t>
            </a:r>
            <a:endParaRPr lang="en-US" sz="1400" dirty="0"/>
          </a:p>
        </p:txBody>
      </p:sp>
      <p:sp>
        <p:nvSpPr>
          <p:cNvPr id="25" name="Shape 1">
            <a:extLst>
              <a:ext uri="{FF2B5EF4-FFF2-40B4-BE49-F238E27FC236}">
                <a16:creationId xmlns:a16="http://schemas.microsoft.com/office/drawing/2014/main" id="{F9C84F94-6303-535F-E5B2-6B4C1F05F1B3}"/>
              </a:ext>
            </a:extLst>
          </p:cNvPr>
          <p:cNvSpPr/>
          <p:nvPr/>
        </p:nvSpPr>
        <p:spPr>
          <a:xfrm>
            <a:off x="548640" y="2418587"/>
            <a:ext cx="109728" cy="109728"/>
          </a:xfrm>
          <a:prstGeom prst="rect">
            <a:avLst/>
          </a:prstGeom>
          <a:solidFill>
            <a:srgbClr val="C62828"/>
          </a:solidFill>
          <a:ln/>
        </p:spPr>
        <p:txBody>
          <a:bodyPr/>
          <a:lstStyle/>
          <a:p>
            <a:endParaRPr lang="en-US"/>
          </a:p>
        </p:txBody>
      </p:sp>
      <p:pic>
        <p:nvPicPr>
          <p:cNvPr id="6" name="Picture 5">
            <a:extLst>
              <a:ext uri="{FF2B5EF4-FFF2-40B4-BE49-F238E27FC236}">
                <a16:creationId xmlns:a16="http://schemas.microsoft.com/office/drawing/2014/main" id="{07C36ADD-B5C4-9BF0-BE19-91B4A155C673}"/>
              </a:ext>
            </a:extLst>
          </p:cNvPr>
          <p:cNvPicPr>
            <a:picLocks noChangeAspect="1"/>
          </p:cNvPicPr>
          <p:nvPr/>
        </p:nvPicPr>
        <p:blipFill>
          <a:blip r:embed="rId3"/>
          <a:stretch>
            <a:fillRect/>
          </a:stretch>
        </p:blipFill>
        <p:spPr>
          <a:xfrm>
            <a:off x="7486853" y="363058"/>
            <a:ext cx="4126027" cy="5720014"/>
          </a:xfrm>
          <a:prstGeom prst="rect">
            <a:avLst/>
          </a:prstGeom>
        </p:spPr>
      </p:pic>
      <p:pic>
        <p:nvPicPr>
          <p:cNvPr id="8" name="Picture 7">
            <a:extLst>
              <a:ext uri="{FF2B5EF4-FFF2-40B4-BE49-F238E27FC236}">
                <a16:creationId xmlns:a16="http://schemas.microsoft.com/office/drawing/2014/main" id="{39EB7FE6-D45B-B57F-D5E7-0BB43995B202}"/>
              </a:ext>
            </a:extLst>
          </p:cNvPr>
          <p:cNvPicPr>
            <a:picLocks noChangeAspect="1"/>
          </p:cNvPicPr>
          <p:nvPr/>
        </p:nvPicPr>
        <p:blipFill>
          <a:blip r:embed="rId4"/>
          <a:stretch>
            <a:fillRect/>
          </a:stretch>
        </p:blipFill>
        <p:spPr>
          <a:xfrm>
            <a:off x="301486" y="4079569"/>
            <a:ext cx="7049111" cy="2065199"/>
          </a:xfrm>
          <a:prstGeom prst="rect">
            <a:avLst/>
          </a:prstGeom>
        </p:spPr>
      </p:pic>
    </p:spTree>
    <p:extLst>
      <p:ext uri="{BB962C8B-B14F-4D97-AF65-F5344CB8AC3E}">
        <p14:creationId xmlns:p14="http://schemas.microsoft.com/office/powerpoint/2010/main" val="1963317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0E5E30E-43A4-6F6F-E2F6-EAFC59F953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46DC93-9C77-4AA9-9F53-06029658833E}"/>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7A592985-74FB-6ECD-0510-3A333773F688}"/>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040A2C57-CD86-9398-AFDF-1A430AFB1E7B}"/>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Foot options: SW_C, SW_F, SW_CG, SW_G, SW_VG, SW_CC</a:t>
            </a:r>
            <a:endParaRPr lang="en-US" sz="1400" dirty="0"/>
          </a:p>
        </p:txBody>
      </p:sp>
      <p:sp>
        <p:nvSpPr>
          <p:cNvPr id="13" name="Shape 11">
            <a:extLst>
              <a:ext uri="{FF2B5EF4-FFF2-40B4-BE49-F238E27FC236}">
                <a16:creationId xmlns:a16="http://schemas.microsoft.com/office/drawing/2014/main" id="{2E507A0E-4068-CC39-7C15-90D74990A0A5}"/>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A88C038D-191B-5BC6-1559-03BF3039FBC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EACF3E03-5B1F-DEBB-6EDB-9AFFC81274B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4FED33A3-5D34-9224-C66E-218CDDEFACE2}"/>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pic>
        <p:nvPicPr>
          <p:cNvPr id="6" name="Picture 5">
            <a:extLst>
              <a:ext uri="{FF2B5EF4-FFF2-40B4-BE49-F238E27FC236}">
                <a16:creationId xmlns:a16="http://schemas.microsoft.com/office/drawing/2014/main" id="{399507AD-5DCC-AC81-1D48-FFF7E0FA3D4F}"/>
              </a:ext>
            </a:extLst>
          </p:cNvPr>
          <p:cNvPicPr>
            <a:picLocks noChangeAspect="1"/>
          </p:cNvPicPr>
          <p:nvPr/>
        </p:nvPicPr>
        <p:blipFill>
          <a:blip r:embed="rId3"/>
          <a:srcRect t="2559"/>
          <a:stretch>
            <a:fillRect/>
          </a:stretch>
        </p:blipFill>
        <p:spPr>
          <a:xfrm>
            <a:off x="1490130" y="2294245"/>
            <a:ext cx="9181260" cy="3549671"/>
          </a:xfrm>
          <a:prstGeom prst="rect">
            <a:avLst/>
          </a:prstGeom>
        </p:spPr>
      </p:pic>
    </p:spTree>
    <p:extLst>
      <p:ext uri="{BB962C8B-B14F-4D97-AF65-F5344CB8AC3E}">
        <p14:creationId xmlns:p14="http://schemas.microsoft.com/office/powerpoint/2010/main" val="4217874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C3FADFB-390A-8483-80F5-F5B70E59280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6D4A415-3A67-F16F-0D0D-A46E6AF73CDB}"/>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579AD7F9-4449-1F7B-EEF5-5428F03E8601}"/>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F1A4C84D-AAC5-721C-F5D6-7172D77A6210}"/>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Notch type: </a:t>
            </a:r>
            <a:r>
              <a:rPr lang="en-US" sz="1400" dirty="0" err="1">
                <a:solidFill>
                  <a:srgbClr val="3A3A3A"/>
                </a:solidFill>
                <a:latin typeface="Arial" pitchFamily="34" charset="0"/>
                <a:ea typeface="Arial" pitchFamily="34" charset="-122"/>
                <a:cs typeface="Arial" pitchFamily="34" charset="-120"/>
              </a:rPr>
              <a:t>SW_Cavity</a:t>
            </a:r>
            <a:r>
              <a:rPr lang="en-US" sz="1400" dirty="0">
                <a:solidFill>
                  <a:srgbClr val="3A3A3A"/>
                </a:solidFill>
                <a:latin typeface="Arial" pitchFamily="34" charset="0"/>
                <a:ea typeface="Arial" pitchFamily="34" charset="-122"/>
                <a:cs typeface="Arial" pitchFamily="34" charset="-120"/>
              </a:rPr>
              <a:t>, </a:t>
            </a:r>
          </a:p>
          <a:p>
            <a:pPr marL="0" indent="0">
              <a:buNone/>
            </a:pPr>
            <a:endParaRPr lang="en-US" sz="1400" dirty="0"/>
          </a:p>
        </p:txBody>
      </p:sp>
      <p:sp>
        <p:nvSpPr>
          <p:cNvPr id="13" name="Shape 11">
            <a:extLst>
              <a:ext uri="{FF2B5EF4-FFF2-40B4-BE49-F238E27FC236}">
                <a16:creationId xmlns:a16="http://schemas.microsoft.com/office/drawing/2014/main" id="{18207597-3288-AAE9-CDF4-9A48EB2B11A1}"/>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204915E5-FB5C-C962-9DF1-B8B3BA98DAC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FB2B680-3328-2C62-DB89-90AAF78F86EA}"/>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764858DA-0073-F4BA-A08A-47571BE51B5F}"/>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18" name="Text 2">
            <a:extLst>
              <a:ext uri="{FF2B5EF4-FFF2-40B4-BE49-F238E27FC236}">
                <a16:creationId xmlns:a16="http://schemas.microsoft.com/office/drawing/2014/main" id="{515E3029-EE84-F3AE-B834-6EA202584407}"/>
              </a:ext>
            </a:extLst>
          </p:cNvPr>
          <p:cNvSpPr/>
          <p:nvPr/>
        </p:nvSpPr>
        <p:spPr>
          <a:xfrm>
            <a:off x="658368" y="5731256"/>
            <a:ext cx="5556183" cy="502920"/>
          </a:xfrm>
          <a:prstGeom prst="rect">
            <a:avLst/>
          </a:prstGeom>
          <a:noFill/>
          <a:ln/>
        </p:spPr>
        <p:txBody>
          <a:bodyPr wrap="square" lIns="0" tIns="0" rIns="0" bIns="0" rtlCol="0" anchor="ctr"/>
          <a:lstStyle/>
          <a:p>
            <a:pPr marL="0" indent="0">
              <a:buNone/>
            </a:pPr>
            <a:r>
              <a:rPr lang="en-US" sz="1400" dirty="0">
                <a:solidFill>
                  <a:srgbClr val="FF0000"/>
                </a:solidFill>
                <a:latin typeface="Arial" pitchFamily="34" charset="0"/>
                <a:ea typeface="Arial" pitchFamily="34" charset="-122"/>
                <a:cs typeface="Arial" pitchFamily="34" charset="-120"/>
              </a:rPr>
              <a:t>Note : Main difference with COB is CA align with HA</a:t>
            </a:r>
            <a:endParaRPr lang="en-US" sz="1400" dirty="0">
              <a:solidFill>
                <a:srgbClr val="FF0000"/>
              </a:solidFill>
            </a:endParaRPr>
          </a:p>
        </p:txBody>
      </p:sp>
      <p:pic>
        <p:nvPicPr>
          <p:cNvPr id="6" name="Picture 5">
            <a:extLst>
              <a:ext uri="{FF2B5EF4-FFF2-40B4-BE49-F238E27FC236}">
                <a16:creationId xmlns:a16="http://schemas.microsoft.com/office/drawing/2014/main" id="{F814CAE4-3CCF-F3C2-0887-DC7420B4F5A4}"/>
              </a:ext>
            </a:extLst>
          </p:cNvPr>
          <p:cNvPicPr>
            <a:picLocks noChangeAspect="1"/>
          </p:cNvPicPr>
          <p:nvPr/>
        </p:nvPicPr>
        <p:blipFill>
          <a:blip r:embed="rId3"/>
          <a:stretch>
            <a:fillRect/>
          </a:stretch>
        </p:blipFill>
        <p:spPr>
          <a:xfrm>
            <a:off x="6635173" y="1490472"/>
            <a:ext cx="5159187" cy="3741744"/>
          </a:xfrm>
          <a:prstGeom prst="rect">
            <a:avLst/>
          </a:prstGeom>
        </p:spPr>
      </p:pic>
      <p:pic>
        <p:nvPicPr>
          <p:cNvPr id="8" name="Picture 7">
            <a:extLst>
              <a:ext uri="{FF2B5EF4-FFF2-40B4-BE49-F238E27FC236}">
                <a16:creationId xmlns:a16="http://schemas.microsoft.com/office/drawing/2014/main" id="{02763CF8-D62C-5FE4-204F-C9FF917AA51E}"/>
              </a:ext>
            </a:extLst>
          </p:cNvPr>
          <p:cNvPicPr>
            <a:picLocks noChangeAspect="1"/>
          </p:cNvPicPr>
          <p:nvPr/>
        </p:nvPicPr>
        <p:blipFill>
          <a:blip r:embed="rId4"/>
          <a:stretch>
            <a:fillRect/>
          </a:stretch>
        </p:blipFill>
        <p:spPr>
          <a:xfrm>
            <a:off x="936676" y="1977794"/>
            <a:ext cx="4317114" cy="3389734"/>
          </a:xfrm>
          <a:prstGeom prst="rect">
            <a:avLst/>
          </a:prstGeom>
        </p:spPr>
      </p:pic>
    </p:spTree>
    <p:extLst>
      <p:ext uri="{BB962C8B-B14F-4D97-AF65-F5344CB8AC3E}">
        <p14:creationId xmlns:p14="http://schemas.microsoft.com/office/powerpoint/2010/main" val="2133664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9199208-C264-67A9-11A2-94D0FD480A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CDEE2B-9309-D94F-CCCF-479AE08C7310}"/>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831F03CE-CC55-FE31-B6BF-DCBF7AB130D7}"/>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A388B46C-C3FD-7082-58F8-7B3FBD814C29}"/>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Feed hole types: STD (Round), Oval, Slot</a:t>
            </a:r>
            <a:endParaRPr lang="en-US" sz="1400" dirty="0"/>
          </a:p>
        </p:txBody>
      </p:sp>
      <p:sp>
        <p:nvSpPr>
          <p:cNvPr id="13" name="Shape 11">
            <a:extLst>
              <a:ext uri="{FF2B5EF4-FFF2-40B4-BE49-F238E27FC236}">
                <a16:creationId xmlns:a16="http://schemas.microsoft.com/office/drawing/2014/main" id="{70AF6AF5-0B0C-55A3-B983-737B926D448A}"/>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9566D5F9-37F9-28AC-FC2F-C827FD1F66C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E68E988-832B-9E83-574A-518636AF69A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62809D99-0C8C-4D52-5BA3-47A0E56815B9}"/>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pic>
        <p:nvPicPr>
          <p:cNvPr id="5" name="Picture 4">
            <a:extLst>
              <a:ext uri="{FF2B5EF4-FFF2-40B4-BE49-F238E27FC236}">
                <a16:creationId xmlns:a16="http://schemas.microsoft.com/office/drawing/2014/main" id="{9FA20395-8FD1-F356-841B-9F9B6EAED4C4}"/>
              </a:ext>
            </a:extLst>
          </p:cNvPr>
          <p:cNvPicPr>
            <a:picLocks noChangeAspect="1"/>
          </p:cNvPicPr>
          <p:nvPr/>
        </p:nvPicPr>
        <p:blipFill>
          <a:blip r:embed="rId3"/>
          <a:stretch>
            <a:fillRect/>
          </a:stretch>
        </p:blipFill>
        <p:spPr>
          <a:xfrm>
            <a:off x="6014084" y="1728216"/>
            <a:ext cx="6119495" cy="1746885"/>
          </a:xfrm>
          <a:prstGeom prst="rect">
            <a:avLst/>
          </a:prstGeom>
        </p:spPr>
      </p:pic>
      <p:sp>
        <p:nvSpPr>
          <p:cNvPr id="6" name="Rectangle 2">
            <a:extLst>
              <a:ext uri="{FF2B5EF4-FFF2-40B4-BE49-F238E27FC236}">
                <a16:creationId xmlns:a16="http://schemas.microsoft.com/office/drawing/2014/main" id="{42C740EA-3656-ECC7-ABB0-9EE2E6A2FBD5}"/>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85C1D603-C249-F4C0-7F48-E93EC325DAB9}"/>
              </a:ext>
            </a:extLst>
          </p:cNvPr>
          <p:cNvGraphicFramePr>
            <a:graphicFrameLocks noChangeAspect="1"/>
          </p:cNvGraphicFramePr>
          <p:nvPr>
            <p:extLst>
              <p:ext uri="{D42A27DB-BD31-4B8C-83A1-F6EECF244321}">
                <p14:modId xmlns:p14="http://schemas.microsoft.com/office/powerpoint/2010/main" val="1717723446"/>
              </p:ext>
            </p:extLst>
          </p:nvPr>
        </p:nvGraphicFramePr>
        <p:xfrm>
          <a:off x="6217918" y="3648890"/>
          <a:ext cx="5711825" cy="2347569"/>
        </p:xfrm>
        <a:graphic>
          <a:graphicData uri="http://schemas.openxmlformats.org/presentationml/2006/ole">
            <mc:AlternateContent xmlns:mc="http://schemas.openxmlformats.org/markup-compatibility/2006">
              <mc:Choice xmlns:v="urn:schemas-microsoft-com:vml" Requires="v">
                <p:oleObj name="Bitmap Image" r:id="rId4" imgW="13285714" imgH="4229690" progId="Paint.Picture">
                  <p:embed/>
                </p:oleObj>
              </mc:Choice>
              <mc:Fallback>
                <p:oleObj name="Bitmap Image" r:id="rId4" imgW="13285714" imgH="4229690" progId="Paint.Picture">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7918" y="3648890"/>
                        <a:ext cx="5711825" cy="2347569"/>
                      </a:xfrm>
                      <a:prstGeom prst="rect">
                        <a:avLst/>
                      </a:prstGeom>
                      <a:noFill/>
                    </p:spPr>
                  </p:pic>
                </p:oleObj>
              </mc:Fallback>
            </mc:AlternateContent>
          </a:graphicData>
        </a:graphic>
      </p:graphicFrame>
      <p:sp>
        <p:nvSpPr>
          <p:cNvPr id="21" name="Text 2">
            <a:extLst>
              <a:ext uri="{FF2B5EF4-FFF2-40B4-BE49-F238E27FC236}">
                <a16:creationId xmlns:a16="http://schemas.microsoft.com/office/drawing/2014/main" id="{CFAE0918-3E4A-728F-B4B3-B4707B26BE1D}"/>
              </a:ext>
            </a:extLst>
          </p:cNvPr>
          <p:cNvSpPr/>
          <p:nvPr/>
        </p:nvSpPr>
        <p:spPr>
          <a:xfrm>
            <a:off x="658368" y="5731256"/>
            <a:ext cx="5556183" cy="502920"/>
          </a:xfrm>
          <a:prstGeom prst="rect">
            <a:avLst/>
          </a:prstGeom>
          <a:noFill/>
          <a:ln/>
        </p:spPr>
        <p:txBody>
          <a:bodyPr wrap="square" lIns="0" tIns="0" rIns="0" bIns="0" rtlCol="0" anchor="ctr"/>
          <a:lstStyle/>
          <a:p>
            <a:pPr marL="0" indent="0">
              <a:buNone/>
            </a:pPr>
            <a:r>
              <a:rPr lang="en-US" sz="1400" dirty="0">
                <a:solidFill>
                  <a:srgbClr val="FF0000"/>
                </a:solidFill>
                <a:latin typeface="Arial" pitchFamily="34" charset="0"/>
                <a:ea typeface="Arial" pitchFamily="34" charset="-122"/>
                <a:cs typeface="Arial" pitchFamily="34" charset="-120"/>
              </a:rPr>
              <a:t>Note : Y will be used to position the hole</a:t>
            </a:r>
            <a:endParaRPr lang="en-US" sz="1400" dirty="0">
              <a:solidFill>
                <a:srgbClr val="FF0000"/>
              </a:solidFill>
            </a:endParaRPr>
          </a:p>
        </p:txBody>
      </p:sp>
      <p:pic>
        <p:nvPicPr>
          <p:cNvPr id="9" name="Picture 8">
            <a:extLst>
              <a:ext uri="{FF2B5EF4-FFF2-40B4-BE49-F238E27FC236}">
                <a16:creationId xmlns:a16="http://schemas.microsoft.com/office/drawing/2014/main" id="{8761FC97-C229-DE08-D4D1-0C65691E2DD6}"/>
              </a:ext>
            </a:extLst>
          </p:cNvPr>
          <p:cNvPicPr>
            <a:picLocks noChangeAspect="1"/>
          </p:cNvPicPr>
          <p:nvPr/>
        </p:nvPicPr>
        <p:blipFill>
          <a:blip r:embed="rId6"/>
          <a:stretch>
            <a:fillRect/>
          </a:stretch>
        </p:blipFill>
        <p:spPr>
          <a:xfrm>
            <a:off x="658368" y="2275078"/>
            <a:ext cx="4861085" cy="3174492"/>
          </a:xfrm>
          <a:prstGeom prst="rect">
            <a:avLst/>
          </a:prstGeom>
        </p:spPr>
      </p:pic>
    </p:spTree>
    <p:extLst>
      <p:ext uri="{BB962C8B-B14F-4D97-AF65-F5344CB8AC3E}">
        <p14:creationId xmlns:p14="http://schemas.microsoft.com/office/powerpoint/2010/main" val="3198692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CB2E500-8E84-C127-8B16-842FCD68E99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469A7C-B9A3-A0F2-02AA-A2F78160595C}"/>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1ACAB137-1659-C08F-5638-70F8F4AF1A45}"/>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EC3860B9-4D5C-4669-181E-18F58BA20E21}"/>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BR feature: Round BR</a:t>
            </a:r>
            <a:endParaRPr lang="en-US" sz="1400" dirty="0"/>
          </a:p>
        </p:txBody>
      </p:sp>
      <p:sp>
        <p:nvSpPr>
          <p:cNvPr id="13" name="Shape 11">
            <a:extLst>
              <a:ext uri="{FF2B5EF4-FFF2-40B4-BE49-F238E27FC236}">
                <a16:creationId xmlns:a16="http://schemas.microsoft.com/office/drawing/2014/main" id="{49332829-4156-BA84-2BFC-DDF487CDC8B8}"/>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BB4AEF4B-E178-91A6-2830-5EB20BC892E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5C53B4B-7D4E-1521-5144-C9CD3A194B6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F1DECB49-45AC-4E15-6AC6-554926CD1442}"/>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1A7E688F-033F-B23A-026D-FE9C9C21811D}"/>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Text 2">
            <a:extLst>
              <a:ext uri="{FF2B5EF4-FFF2-40B4-BE49-F238E27FC236}">
                <a16:creationId xmlns:a16="http://schemas.microsoft.com/office/drawing/2014/main" id="{2868C864-2E6C-1EC8-9DE0-2A3BD269FC21}"/>
              </a:ext>
            </a:extLst>
          </p:cNvPr>
          <p:cNvSpPr/>
          <p:nvPr/>
        </p:nvSpPr>
        <p:spPr>
          <a:xfrm>
            <a:off x="658368" y="5731256"/>
            <a:ext cx="621487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Round BR used the same as COB</a:t>
            </a:r>
            <a:endParaRPr lang="en-US" sz="1400" dirty="0">
              <a:solidFill>
                <a:srgbClr val="FF0000"/>
              </a:solidFill>
            </a:endParaRPr>
          </a:p>
        </p:txBody>
      </p:sp>
      <p:pic>
        <p:nvPicPr>
          <p:cNvPr id="9" name="Picture 8">
            <a:extLst>
              <a:ext uri="{FF2B5EF4-FFF2-40B4-BE49-F238E27FC236}">
                <a16:creationId xmlns:a16="http://schemas.microsoft.com/office/drawing/2014/main" id="{E7856124-3B40-185B-CC25-FA5FB7FB9392}"/>
              </a:ext>
            </a:extLst>
          </p:cNvPr>
          <p:cNvPicPr>
            <a:picLocks noChangeAspect="1"/>
          </p:cNvPicPr>
          <p:nvPr/>
        </p:nvPicPr>
        <p:blipFill>
          <a:blip r:embed="rId3"/>
          <a:stretch>
            <a:fillRect/>
          </a:stretch>
        </p:blipFill>
        <p:spPr>
          <a:xfrm>
            <a:off x="1010921" y="3161222"/>
            <a:ext cx="4500880" cy="945391"/>
          </a:xfrm>
          <a:prstGeom prst="rect">
            <a:avLst/>
          </a:prstGeom>
        </p:spPr>
      </p:pic>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EC403DC8-D7B4-6139-15E4-CC2B805507C7}"/>
                  </a:ext>
                </a:extLst>
              </p14:cNvPr>
              <p14:cNvContentPartPr/>
              <p14:nvPr/>
            </p14:nvContentPartPr>
            <p14:xfrm>
              <a:off x="1762560" y="3596720"/>
              <a:ext cx="112680" cy="360"/>
            </p14:xfrm>
          </p:contentPart>
        </mc:Choice>
        <mc:Fallback xmlns="">
          <p:pic>
            <p:nvPicPr>
              <p:cNvPr id="18" name="Ink 17">
                <a:extLst>
                  <a:ext uri="{FF2B5EF4-FFF2-40B4-BE49-F238E27FC236}">
                    <a16:creationId xmlns:a16="http://schemas.microsoft.com/office/drawing/2014/main" id="{EC403DC8-D7B4-6139-15E4-CC2B805507C7}"/>
                  </a:ext>
                </a:extLst>
              </p:cNvPr>
              <p:cNvPicPr/>
              <p:nvPr/>
            </p:nvPicPr>
            <p:blipFill>
              <a:blip r:embed="rId6"/>
              <a:stretch>
                <a:fillRect/>
              </a:stretch>
            </p:blipFill>
            <p:spPr>
              <a:xfrm>
                <a:off x="1708560" y="3488720"/>
                <a:ext cx="220320" cy="216000"/>
              </a:xfrm>
              <a:prstGeom prst="rect">
                <a:avLst/>
              </a:prstGeom>
            </p:spPr>
          </p:pic>
        </mc:Fallback>
      </mc:AlternateContent>
      <p:pic>
        <p:nvPicPr>
          <p:cNvPr id="7" name="Picture 6">
            <a:extLst>
              <a:ext uri="{FF2B5EF4-FFF2-40B4-BE49-F238E27FC236}">
                <a16:creationId xmlns:a16="http://schemas.microsoft.com/office/drawing/2014/main" id="{B5EAA0A8-F75E-3BC0-6AE7-589117BA76AD}"/>
              </a:ext>
            </a:extLst>
          </p:cNvPr>
          <p:cNvPicPr>
            <a:picLocks noChangeAspect="1"/>
          </p:cNvPicPr>
          <p:nvPr/>
        </p:nvPicPr>
        <p:blipFill>
          <a:blip r:embed="rId7"/>
          <a:srcRect l="10371"/>
          <a:stretch>
            <a:fillRect/>
          </a:stretch>
        </p:blipFill>
        <p:spPr>
          <a:xfrm>
            <a:off x="6424862" y="2478834"/>
            <a:ext cx="4999807" cy="1988992"/>
          </a:xfrm>
          <a:prstGeom prst="rect">
            <a:avLst/>
          </a:prstGeom>
        </p:spPr>
      </p:pic>
    </p:spTree>
    <p:extLst>
      <p:ext uri="{BB962C8B-B14F-4D97-AF65-F5344CB8AC3E}">
        <p14:creationId xmlns:p14="http://schemas.microsoft.com/office/powerpoint/2010/main" val="2078926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BF3FBDD-D554-7EBC-505C-9B12401CEBB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ABB10A8-1333-CDC8-58CF-2DCEA0DE9958}"/>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Database Requirements</a:t>
            </a:r>
            <a:endParaRPr lang="en-US" sz="2800" dirty="0"/>
          </a:p>
        </p:txBody>
      </p:sp>
      <p:sp>
        <p:nvSpPr>
          <p:cNvPr id="3" name="Shape 1">
            <a:extLst>
              <a:ext uri="{FF2B5EF4-FFF2-40B4-BE49-F238E27FC236}">
                <a16:creationId xmlns:a16="http://schemas.microsoft.com/office/drawing/2014/main" id="{978851FA-BE60-0177-D087-D4C1AE383283}"/>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F89CE107-9590-2B41-2B26-A874BD918F0A}"/>
              </a:ext>
            </a:extLst>
          </p:cNvPr>
          <p:cNvSpPr/>
          <p:nvPr/>
        </p:nvSpPr>
        <p:spPr>
          <a:xfrm>
            <a:off x="868679" y="1490472"/>
            <a:ext cx="10927081"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Schema is largely consistent with the COB tool family. </a:t>
            </a:r>
            <a:endParaRPr lang="en-US" sz="1400" dirty="0"/>
          </a:p>
        </p:txBody>
      </p:sp>
      <p:sp>
        <p:nvSpPr>
          <p:cNvPr id="13" name="Shape 11">
            <a:extLst>
              <a:ext uri="{FF2B5EF4-FFF2-40B4-BE49-F238E27FC236}">
                <a16:creationId xmlns:a16="http://schemas.microsoft.com/office/drawing/2014/main" id="{DDDB1E2A-9921-9BEB-B773-E57A596B5C2F}"/>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2C721B2D-D38F-5BC4-3628-E183A9AC413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72BEF4F-56EA-806C-60B3-553028A8AD37}"/>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4A0AFDA6-B94B-CEEE-53E9-B8F8034EBE38}"/>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BBEDF9FA-D865-343A-3CB7-7989FAF4BB05}"/>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Text 2">
            <a:extLst>
              <a:ext uri="{FF2B5EF4-FFF2-40B4-BE49-F238E27FC236}">
                <a16:creationId xmlns:a16="http://schemas.microsoft.com/office/drawing/2014/main" id="{F790BC27-B7E8-4635-E093-980EAD261579}"/>
              </a:ext>
            </a:extLst>
          </p:cNvPr>
          <p:cNvSpPr/>
          <p:nvPr/>
        </p:nvSpPr>
        <p:spPr>
          <a:xfrm>
            <a:off x="658368" y="5731256"/>
            <a:ext cx="785571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We may need to add the fields like Wedge type; Foot type; etc.</a:t>
            </a:r>
            <a:br>
              <a:rPr lang="en-US" sz="1400" dirty="0">
                <a:solidFill>
                  <a:srgbClr val="FF0000"/>
                </a:solidFill>
                <a:latin typeface="Arial" pitchFamily="34" charset="0"/>
                <a:ea typeface="Arial" pitchFamily="34" charset="-122"/>
                <a:cs typeface="Arial" pitchFamily="34" charset="-120"/>
              </a:rPr>
            </a:br>
            <a:r>
              <a:rPr lang="en-US" sz="1400" dirty="0">
                <a:solidFill>
                  <a:srgbClr val="FF0000"/>
                </a:solidFill>
                <a:latin typeface="Arial" pitchFamily="34" charset="0"/>
                <a:ea typeface="Arial" pitchFamily="34" charset="-122"/>
                <a:cs typeface="Arial" pitchFamily="34" charset="-120"/>
              </a:rPr>
              <a:t>Note  :  Needed to add the angle for incline VFL !  </a:t>
            </a:r>
            <a:endParaRPr lang="en-US" sz="1400" dirty="0">
              <a:solidFill>
                <a:srgbClr val="FF0000"/>
              </a:solidFill>
            </a:endParaRPr>
          </a:p>
        </p:txBody>
      </p:sp>
      <p:graphicFrame>
        <p:nvGraphicFramePr>
          <p:cNvPr id="5" name="Object 4">
            <a:extLst>
              <a:ext uri="{FF2B5EF4-FFF2-40B4-BE49-F238E27FC236}">
                <a16:creationId xmlns:a16="http://schemas.microsoft.com/office/drawing/2014/main" id="{5F7BA550-9616-486F-6275-B900A65194AC}"/>
              </a:ext>
            </a:extLst>
          </p:cNvPr>
          <p:cNvGraphicFramePr>
            <a:graphicFrameLocks noChangeAspect="1"/>
          </p:cNvGraphicFramePr>
          <p:nvPr>
            <p:extLst>
              <p:ext uri="{D42A27DB-BD31-4B8C-83A1-F6EECF244321}">
                <p14:modId xmlns:p14="http://schemas.microsoft.com/office/powerpoint/2010/main" val="2985654045"/>
              </p:ext>
            </p:extLst>
          </p:nvPr>
        </p:nvGraphicFramePr>
        <p:xfrm>
          <a:off x="187568" y="2772498"/>
          <a:ext cx="11315585" cy="1622777"/>
        </p:xfrm>
        <a:graphic>
          <a:graphicData uri="http://schemas.openxmlformats.org/presentationml/2006/ole">
            <mc:AlternateContent xmlns:mc="http://schemas.openxmlformats.org/markup-compatibility/2006">
              <mc:Choice xmlns:v="urn:schemas-microsoft-com:vml" Requires="v">
                <p:oleObj name="Worksheet" r:id="rId3" imgW="9829933" imgH="1409877" progId="Excel.Sheet.12">
                  <p:embed/>
                </p:oleObj>
              </mc:Choice>
              <mc:Fallback>
                <p:oleObj name="Worksheet" r:id="rId3" imgW="9829933" imgH="1409877" progId="Excel.Sheet.12">
                  <p:embed/>
                  <p:pic>
                    <p:nvPicPr>
                      <p:cNvPr id="0" name=""/>
                      <p:cNvPicPr/>
                      <p:nvPr/>
                    </p:nvPicPr>
                    <p:blipFill>
                      <a:blip r:embed="rId4"/>
                      <a:stretch>
                        <a:fillRect/>
                      </a:stretch>
                    </p:blipFill>
                    <p:spPr>
                      <a:xfrm>
                        <a:off x="187568" y="2772498"/>
                        <a:ext cx="11315585" cy="1622777"/>
                      </a:xfrm>
                      <a:prstGeom prst="rect">
                        <a:avLst/>
                      </a:prstGeom>
                    </p:spPr>
                  </p:pic>
                </p:oleObj>
              </mc:Fallback>
            </mc:AlternateContent>
          </a:graphicData>
        </a:graphic>
      </p:graphicFrame>
    </p:spTree>
    <p:extLst>
      <p:ext uri="{BB962C8B-B14F-4D97-AF65-F5344CB8AC3E}">
        <p14:creationId xmlns:p14="http://schemas.microsoft.com/office/powerpoint/2010/main" val="770768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E8BBA3-6584-46AF-D013-6696815156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E14103B-1B6D-3C03-2961-D6DEAB4CCDF9}"/>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Customer Drawing Requirements</a:t>
            </a:r>
            <a:endParaRPr lang="en-US" sz="2800" dirty="0"/>
          </a:p>
        </p:txBody>
      </p:sp>
      <p:sp>
        <p:nvSpPr>
          <p:cNvPr id="3" name="Shape 1">
            <a:extLst>
              <a:ext uri="{FF2B5EF4-FFF2-40B4-BE49-F238E27FC236}">
                <a16:creationId xmlns:a16="http://schemas.microsoft.com/office/drawing/2014/main" id="{3043D9AC-34CB-C219-7820-0565424C74DF}"/>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E5C89019-C026-10C4-31BF-A43E618D1B64}"/>
              </a:ext>
            </a:extLst>
          </p:cNvPr>
          <p:cNvSpPr/>
          <p:nvPr/>
        </p:nvSpPr>
        <p:spPr>
          <a:xfrm>
            <a:off x="868679" y="1490472"/>
            <a:ext cx="4142233" cy="608074"/>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For customer drawing we will replicate as the same provided, following the same step as COB</a:t>
            </a:r>
            <a:endParaRPr lang="en-US" sz="1400" dirty="0"/>
          </a:p>
        </p:txBody>
      </p:sp>
      <p:sp>
        <p:nvSpPr>
          <p:cNvPr id="13" name="Shape 11">
            <a:extLst>
              <a:ext uri="{FF2B5EF4-FFF2-40B4-BE49-F238E27FC236}">
                <a16:creationId xmlns:a16="http://schemas.microsoft.com/office/drawing/2014/main" id="{3686A3AB-3C00-8895-C6DD-4171D75CFDE9}"/>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2C031EED-7D74-E792-C8D4-273E9CAFD221}"/>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67639A00-3467-4059-986B-7A49CEB7B678}"/>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6150AE62-EFC8-915A-1E35-355D6093B854}"/>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7FB02086-CB92-51A6-5778-4A982022969C}"/>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hape 1">
            <a:extLst>
              <a:ext uri="{FF2B5EF4-FFF2-40B4-BE49-F238E27FC236}">
                <a16:creationId xmlns:a16="http://schemas.microsoft.com/office/drawing/2014/main" id="{174159A0-A74D-EC18-CAF7-38F7687225D0}"/>
              </a:ext>
            </a:extLst>
          </p:cNvPr>
          <p:cNvSpPr/>
          <p:nvPr/>
        </p:nvSpPr>
        <p:spPr>
          <a:xfrm>
            <a:off x="519595" y="2391156"/>
            <a:ext cx="109728" cy="109728"/>
          </a:xfrm>
          <a:prstGeom prst="rect">
            <a:avLst/>
          </a:prstGeom>
          <a:solidFill>
            <a:srgbClr val="C62828"/>
          </a:solidFill>
          <a:ln/>
        </p:spPr>
        <p:txBody>
          <a:bodyPr/>
          <a:lstStyle/>
          <a:p>
            <a:endParaRPr lang="en-US"/>
          </a:p>
        </p:txBody>
      </p:sp>
      <p:sp>
        <p:nvSpPr>
          <p:cNvPr id="9" name="Text 2">
            <a:extLst>
              <a:ext uri="{FF2B5EF4-FFF2-40B4-BE49-F238E27FC236}">
                <a16:creationId xmlns:a16="http://schemas.microsoft.com/office/drawing/2014/main" id="{9AFE1496-3504-FBC0-2869-3170844246B0}"/>
              </a:ext>
            </a:extLst>
          </p:cNvPr>
          <p:cNvSpPr/>
          <p:nvPr/>
        </p:nvSpPr>
        <p:spPr>
          <a:xfrm>
            <a:off x="839634" y="2208276"/>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Front, Right &amp; Top Views</a:t>
            </a:r>
            <a:endParaRPr lang="en-US" sz="1400" dirty="0"/>
          </a:p>
        </p:txBody>
      </p:sp>
      <p:sp>
        <p:nvSpPr>
          <p:cNvPr id="11" name="Shape 1">
            <a:extLst>
              <a:ext uri="{FF2B5EF4-FFF2-40B4-BE49-F238E27FC236}">
                <a16:creationId xmlns:a16="http://schemas.microsoft.com/office/drawing/2014/main" id="{E4EC49CA-4D07-7341-5977-AB354841C2BD}"/>
              </a:ext>
            </a:extLst>
          </p:cNvPr>
          <p:cNvSpPr/>
          <p:nvPr/>
        </p:nvSpPr>
        <p:spPr>
          <a:xfrm>
            <a:off x="519595" y="3108960"/>
            <a:ext cx="109728" cy="109728"/>
          </a:xfrm>
          <a:prstGeom prst="rect">
            <a:avLst/>
          </a:prstGeom>
          <a:solidFill>
            <a:srgbClr val="C62828"/>
          </a:solidFill>
          <a:ln/>
        </p:spPr>
        <p:txBody>
          <a:bodyPr/>
          <a:lstStyle/>
          <a:p>
            <a:endParaRPr lang="en-US"/>
          </a:p>
        </p:txBody>
      </p:sp>
      <p:sp>
        <p:nvSpPr>
          <p:cNvPr id="12" name="Text 2">
            <a:extLst>
              <a:ext uri="{FF2B5EF4-FFF2-40B4-BE49-F238E27FC236}">
                <a16:creationId xmlns:a16="http://schemas.microsoft.com/office/drawing/2014/main" id="{F23A5358-2C04-B7DE-B21B-A2F834A4B395}"/>
              </a:ext>
            </a:extLst>
          </p:cNvPr>
          <p:cNvSpPr/>
          <p:nvPr/>
        </p:nvSpPr>
        <p:spPr>
          <a:xfrm>
            <a:off x="839634" y="2926080"/>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Detail &amp; Section Views</a:t>
            </a:r>
            <a:endParaRPr lang="en-US" sz="1400" dirty="0"/>
          </a:p>
        </p:txBody>
      </p:sp>
      <p:sp>
        <p:nvSpPr>
          <p:cNvPr id="18" name="Shape 1">
            <a:extLst>
              <a:ext uri="{FF2B5EF4-FFF2-40B4-BE49-F238E27FC236}">
                <a16:creationId xmlns:a16="http://schemas.microsoft.com/office/drawing/2014/main" id="{F551DD9D-779F-8BC0-2F5E-21732F608A26}"/>
              </a:ext>
            </a:extLst>
          </p:cNvPr>
          <p:cNvSpPr/>
          <p:nvPr/>
        </p:nvSpPr>
        <p:spPr>
          <a:xfrm>
            <a:off x="519595" y="3813046"/>
            <a:ext cx="109728" cy="109728"/>
          </a:xfrm>
          <a:prstGeom prst="rect">
            <a:avLst/>
          </a:prstGeom>
          <a:solidFill>
            <a:srgbClr val="C62828"/>
          </a:solidFill>
          <a:ln/>
        </p:spPr>
        <p:txBody>
          <a:bodyPr/>
          <a:lstStyle/>
          <a:p>
            <a:endParaRPr lang="en-US"/>
          </a:p>
        </p:txBody>
      </p:sp>
      <p:sp>
        <p:nvSpPr>
          <p:cNvPr id="19" name="Text 2">
            <a:extLst>
              <a:ext uri="{FF2B5EF4-FFF2-40B4-BE49-F238E27FC236}">
                <a16:creationId xmlns:a16="http://schemas.microsoft.com/office/drawing/2014/main" id="{8AF03127-3A02-3081-906B-3A200E147115}"/>
              </a:ext>
            </a:extLst>
          </p:cNvPr>
          <p:cNvSpPr/>
          <p:nvPr/>
        </p:nvSpPr>
        <p:spPr>
          <a:xfrm>
            <a:off x="839634" y="3630166"/>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cs typeface="Arial" pitchFamily="34" charset="-120"/>
              </a:rPr>
              <a:t>Dimensions Tables</a:t>
            </a:r>
            <a:endParaRPr lang="en-US" sz="1400" dirty="0"/>
          </a:p>
        </p:txBody>
      </p:sp>
      <p:pic>
        <p:nvPicPr>
          <p:cNvPr id="10" name="Picture 9">
            <a:extLst>
              <a:ext uri="{FF2B5EF4-FFF2-40B4-BE49-F238E27FC236}">
                <a16:creationId xmlns:a16="http://schemas.microsoft.com/office/drawing/2014/main" id="{B2379CF2-8F4E-6863-319B-2830B098D59E}"/>
              </a:ext>
            </a:extLst>
          </p:cNvPr>
          <p:cNvPicPr>
            <a:picLocks noChangeAspect="1"/>
          </p:cNvPicPr>
          <p:nvPr/>
        </p:nvPicPr>
        <p:blipFill>
          <a:blip r:embed="rId3"/>
          <a:stretch>
            <a:fillRect/>
          </a:stretch>
        </p:blipFill>
        <p:spPr>
          <a:xfrm>
            <a:off x="5424006" y="1127692"/>
            <a:ext cx="6492240" cy="5004948"/>
          </a:xfrm>
          <a:prstGeom prst="rect">
            <a:avLst/>
          </a:prstGeom>
        </p:spPr>
      </p:pic>
      <p:sp>
        <p:nvSpPr>
          <p:cNvPr id="20" name="Text 2">
            <a:extLst>
              <a:ext uri="{FF2B5EF4-FFF2-40B4-BE49-F238E27FC236}">
                <a16:creationId xmlns:a16="http://schemas.microsoft.com/office/drawing/2014/main" id="{A25B05DF-22D4-A7F0-8C84-C17BC6F81ED7}"/>
              </a:ext>
            </a:extLst>
          </p:cNvPr>
          <p:cNvSpPr/>
          <p:nvPr/>
        </p:nvSpPr>
        <p:spPr>
          <a:xfrm>
            <a:off x="548640" y="5731256"/>
            <a:ext cx="621487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Noticed the VFL has an angle, but  Not define in the DB </a:t>
            </a:r>
            <a:endParaRPr lang="en-US" sz="1400" dirty="0">
              <a:solidFill>
                <a:srgbClr val="FF0000"/>
              </a:solidFill>
            </a:endParaRPr>
          </a:p>
        </p:txBody>
      </p:sp>
    </p:spTree>
    <p:extLst>
      <p:ext uri="{BB962C8B-B14F-4D97-AF65-F5344CB8AC3E}">
        <p14:creationId xmlns:p14="http://schemas.microsoft.com/office/powerpoint/2010/main" val="1119627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205D2AD-CBC2-26E1-D617-934FE938AC3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F805ED-2E06-B9A9-7FE8-7B9288080CC3}"/>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Production Drawing Requirements</a:t>
            </a:r>
            <a:endParaRPr lang="en-US" sz="2800" dirty="0"/>
          </a:p>
        </p:txBody>
      </p:sp>
      <p:sp>
        <p:nvSpPr>
          <p:cNvPr id="3" name="Shape 1">
            <a:extLst>
              <a:ext uri="{FF2B5EF4-FFF2-40B4-BE49-F238E27FC236}">
                <a16:creationId xmlns:a16="http://schemas.microsoft.com/office/drawing/2014/main" id="{A74E236F-745E-930A-5BF1-DA68C85B451C}"/>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5B547F88-62DB-3EC3-4016-87A205B0D5B6}"/>
              </a:ext>
            </a:extLst>
          </p:cNvPr>
          <p:cNvSpPr/>
          <p:nvPr/>
        </p:nvSpPr>
        <p:spPr>
          <a:xfrm>
            <a:off x="868679" y="1490472"/>
            <a:ext cx="4142233" cy="608074"/>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For customer drawing we will replicate as the same provided, following the same step as COB</a:t>
            </a:r>
            <a:endParaRPr lang="en-US" sz="1400" dirty="0"/>
          </a:p>
        </p:txBody>
      </p:sp>
      <p:sp>
        <p:nvSpPr>
          <p:cNvPr id="13" name="Shape 11">
            <a:extLst>
              <a:ext uri="{FF2B5EF4-FFF2-40B4-BE49-F238E27FC236}">
                <a16:creationId xmlns:a16="http://schemas.microsoft.com/office/drawing/2014/main" id="{A1844702-D57C-2204-79A1-75C21E53E058}"/>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E16E3123-BEE8-FC21-B025-21D7ED30AE4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931A6FD1-71A3-5111-CC11-25F9363F7BE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F2DA0B01-B2EB-F8F7-C62F-F8F86DBBE6D3}"/>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B02955B3-E953-DE2E-D2B2-D2AC5721D092}"/>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hape 1">
            <a:extLst>
              <a:ext uri="{FF2B5EF4-FFF2-40B4-BE49-F238E27FC236}">
                <a16:creationId xmlns:a16="http://schemas.microsoft.com/office/drawing/2014/main" id="{064E9DDE-E2CA-FD81-F5E3-5BE7E265A410}"/>
              </a:ext>
            </a:extLst>
          </p:cNvPr>
          <p:cNvSpPr/>
          <p:nvPr/>
        </p:nvSpPr>
        <p:spPr>
          <a:xfrm>
            <a:off x="519595" y="2391156"/>
            <a:ext cx="109728" cy="109728"/>
          </a:xfrm>
          <a:prstGeom prst="rect">
            <a:avLst/>
          </a:prstGeom>
          <a:solidFill>
            <a:srgbClr val="C62828"/>
          </a:solidFill>
          <a:ln/>
        </p:spPr>
        <p:txBody>
          <a:bodyPr/>
          <a:lstStyle/>
          <a:p>
            <a:endParaRPr lang="en-US"/>
          </a:p>
        </p:txBody>
      </p:sp>
      <p:sp>
        <p:nvSpPr>
          <p:cNvPr id="9" name="Text 2">
            <a:extLst>
              <a:ext uri="{FF2B5EF4-FFF2-40B4-BE49-F238E27FC236}">
                <a16:creationId xmlns:a16="http://schemas.microsoft.com/office/drawing/2014/main" id="{1E2B1E8E-5D96-8BAC-7E2F-C58BB07E1E5B}"/>
              </a:ext>
            </a:extLst>
          </p:cNvPr>
          <p:cNvSpPr/>
          <p:nvPr/>
        </p:nvSpPr>
        <p:spPr>
          <a:xfrm>
            <a:off x="839634" y="2208276"/>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Front, Right &amp; Top Views</a:t>
            </a:r>
            <a:endParaRPr lang="en-US" sz="1400" dirty="0"/>
          </a:p>
        </p:txBody>
      </p:sp>
      <p:sp>
        <p:nvSpPr>
          <p:cNvPr id="11" name="Shape 1">
            <a:extLst>
              <a:ext uri="{FF2B5EF4-FFF2-40B4-BE49-F238E27FC236}">
                <a16:creationId xmlns:a16="http://schemas.microsoft.com/office/drawing/2014/main" id="{8A59D0D0-0846-A88F-EC46-89B5034E9227}"/>
              </a:ext>
            </a:extLst>
          </p:cNvPr>
          <p:cNvSpPr/>
          <p:nvPr/>
        </p:nvSpPr>
        <p:spPr>
          <a:xfrm>
            <a:off x="519595" y="3108960"/>
            <a:ext cx="109728" cy="109728"/>
          </a:xfrm>
          <a:prstGeom prst="rect">
            <a:avLst/>
          </a:prstGeom>
          <a:solidFill>
            <a:srgbClr val="C62828"/>
          </a:solidFill>
          <a:ln/>
        </p:spPr>
        <p:txBody>
          <a:bodyPr/>
          <a:lstStyle/>
          <a:p>
            <a:endParaRPr lang="en-US"/>
          </a:p>
        </p:txBody>
      </p:sp>
      <p:sp>
        <p:nvSpPr>
          <p:cNvPr id="12" name="Text 2">
            <a:extLst>
              <a:ext uri="{FF2B5EF4-FFF2-40B4-BE49-F238E27FC236}">
                <a16:creationId xmlns:a16="http://schemas.microsoft.com/office/drawing/2014/main" id="{E6E48BA3-BD38-8CC0-9976-A0876FB4A4A3}"/>
              </a:ext>
            </a:extLst>
          </p:cNvPr>
          <p:cNvSpPr/>
          <p:nvPr/>
        </p:nvSpPr>
        <p:spPr>
          <a:xfrm>
            <a:off x="839634" y="2926080"/>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Detail &amp; Section Views</a:t>
            </a:r>
            <a:endParaRPr lang="en-US" sz="1400" dirty="0"/>
          </a:p>
        </p:txBody>
      </p:sp>
      <p:sp>
        <p:nvSpPr>
          <p:cNvPr id="18" name="Shape 1">
            <a:extLst>
              <a:ext uri="{FF2B5EF4-FFF2-40B4-BE49-F238E27FC236}">
                <a16:creationId xmlns:a16="http://schemas.microsoft.com/office/drawing/2014/main" id="{08CC91AC-A269-3C2F-A1D5-523156BEE2E3}"/>
              </a:ext>
            </a:extLst>
          </p:cNvPr>
          <p:cNvSpPr/>
          <p:nvPr/>
        </p:nvSpPr>
        <p:spPr>
          <a:xfrm>
            <a:off x="519595" y="3813046"/>
            <a:ext cx="109728" cy="109728"/>
          </a:xfrm>
          <a:prstGeom prst="rect">
            <a:avLst/>
          </a:prstGeom>
          <a:solidFill>
            <a:srgbClr val="C62828"/>
          </a:solidFill>
          <a:ln/>
        </p:spPr>
        <p:txBody>
          <a:bodyPr/>
          <a:lstStyle/>
          <a:p>
            <a:endParaRPr lang="en-US"/>
          </a:p>
        </p:txBody>
      </p:sp>
      <p:sp>
        <p:nvSpPr>
          <p:cNvPr id="19" name="Text 2">
            <a:extLst>
              <a:ext uri="{FF2B5EF4-FFF2-40B4-BE49-F238E27FC236}">
                <a16:creationId xmlns:a16="http://schemas.microsoft.com/office/drawing/2014/main" id="{4974A171-C481-1854-364E-DB6E0E58F9F2}"/>
              </a:ext>
            </a:extLst>
          </p:cNvPr>
          <p:cNvSpPr/>
          <p:nvPr/>
        </p:nvSpPr>
        <p:spPr>
          <a:xfrm>
            <a:off x="839634" y="3630166"/>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cs typeface="Arial" pitchFamily="34" charset="-120"/>
              </a:rPr>
              <a:t>Dimensions Tables</a:t>
            </a:r>
            <a:endParaRPr lang="en-US" sz="1400" dirty="0"/>
          </a:p>
        </p:txBody>
      </p:sp>
      <p:sp>
        <p:nvSpPr>
          <p:cNvPr id="17" name="Shape 1">
            <a:extLst>
              <a:ext uri="{FF2B5EF4-FFF2-40B4-BE49-F238E27FC236}">
                <a16:creationId xmlns:a16="http://schemas.microsoft.com/office/drawing/2014/main" id="{10AFCA4B-B4FA-5507-B5BC-2D2B97F66959}"/>
              </a:ext>
            </a:extLst>
          </p:cNvPr>
          <p:cNvSpPr/>
          <p:nvPr/>
        </p:nvSpPr>
        <p:spPr>
          <a:xfrm>
            <a:off x="519595" y="4539997"/>
            <a:ext cx="109728" cy="109728"/>
          </a:xfrm>
          <a:prstGeom prst="rect">
            <a:avLst/>
          </a:prstGeom>
          <a:solidFill>
            <a:srgbClr val="C62828"/>
          </a:solidFill>
          <a:ln/>
        </p:spPr>
        <p:txBody>
          <a:bodyPr/>
          <a:lstStyle/>
          <a:p>
            <a:endParaRPr lang="en-US"/>
          </a:p>
        </p:txBody>
      </p:sp>
      <p:sp>
        <p:nvSpPr>
          <p:cNvPr id="20" name="Text 2">
            <a:extLst>
              <a:ext uri="{FF2B5EF4-FFF2-40B4-BE49-F238E27FC236}">
                <a16:creationId xmlns:a16="http://schemas.microsoft.com/office/drawing/2014/main" id="{EE81A5AF-EFBE-6510-D14B-CD5B76575645}"/>
              </a:ext>
            </a:extLst>
          </p:cNvPr>
          <p:cNvSpPr/>
          <p:nvPr/>
        </p:nvSpPr>
        <p:spPr>
          <a:xfrm>
            <a:off x="839634" y="4357117"/>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cs typeface="Arial" pitchFamily="34" charset="-120"/>
              </a:rPr>
              <a:t>Add all dimensions and parameters to views </a:t>
            </a:r>
            <a:endParaRPr lang="en-US" sz="1400" dirty="0"/>
          </a:p>
        </p:txBody>
      </p:sp>
      <p:graphicFrame>
        <p:nvGraphicFramePr>
          <p:cNvPr id="7" name="Object 6">
            <a:extLst>
              <a:ext uri="{FF2B5EF4-FFF2-40B4-BE49-F238E27FC236}">
                <a16:creationId xmlns:a16="http://schemas.microsoft.com/office/drawing/2014/main" id="{2116F8DB-CDAF-3064-E278-32ED7B74E75E}"/>
              </a:ext>
            </a:extLst>
          </p:cNvPr>
          <p:cNvGraphicFramePr>
            <a:graphicFrameLocks noChangeAspect="1"/>
          </p:cNvGraphicFramePr>
          <p:nvPr>
            <p:extLst>
              <p:ext uri="{D42A27DB-BD31-4B8C-83A1-F6EECF244321}">
                <p14:modId xmlns:p14="http://schemas.microsoft.com/office/powerpoint/2010/main" val="3260132050"/>
              </p:ext>
            </p:extLst>
          </p:nvPr>
        </p:nvGraphicFramePr>
        <p:xfrm>
          <a:off x="5393395" y="1327402"/>
          <a:ext cx="6517403" cy="4605528"/>
        </p:xfrm>
        <a:graphic>
          <a:graphicData uri="http://schemas.openxmlformats.org/presentationml/2006/ole">
            <mc:AlternateContent xmlns:mc="http://schemas.openxmlformats.org/markup-compatibility/2006">
              <mc:Choice xmlns:v="urn:schemas-microsoft-com:vml" Requires="v">
                <p:oleObj name="Acrobat Document" r:id="rId3" imgW="8019763" imgH="5667341" progId="Acrobat.Document.DC">
                  <p:embed/>
                </p:oleObj>
              </mc:Choice>
              <mc:Fallback>
                <p:oleObj name="Acrobat Document" r:id="rId3" imgW="8019763" imgH="5667341" progId="Acrobat.Document.DC">
                  <p:embed/>
                  <p:pic>
                    <p:nvPicPr>
                      <p:cNvPr id="3" name="Object 2">
                        <a:extLst>
                          <a:ext uri="{FF2B5EF4-FFF2-40B4-BE49-F238E27FC236}">
                            <a16:creationId xmlns:a16="http://schemas.microsoft.com/office/drawing/2014/main" id="{0F3C46A9-19E5-DD7B-DA32-F19642F7D27B}"/>
                          </a:ext>
                        </a:extLst>
                      </p:cNvPr>
                      <p:cNvPicPr/>
                      <p:nvPr/>
                    </p:nvPicPr>
                    <p:blipFill>
                      <a:blip r:embed="rId4"/>
                      <a:stretch>
                        <a:fillRect/>
                      </a:stretch>
                    </p:blipFill>
                    <p:spPr>
                      <a:xfrm>
                        <a:off x="5393395" y="1327402"/>
                        <a:ext cx="6517403" cy="4605528"/>
                      </a:xfrm>
                      <a:prstGeom prst="rect">
                        <a:avLst/>
                      </a:prstGeom>
                    </p:spPr>
                  </p:pic>
                </p:oleObj>
              </mc:Fallback>
            </mc:AlternateContent>
          </a:graphicData>
        </a:graphic>
      </p:graphicFrame>
      <p:sp>
        <p:nvSpPr>
          <p:cNvPr id="22" name="Text 2">
            <a:extLst>
              <a:ext uri="{FF2B5EF4-FFF2-40B4-BE49-F238E27FC236}">
                <a16:creationId xmlns:a16="http://schemas.microsoft.com/office/drawing/2014/main" id="{B65C20F5-4EA5-C8D1-A39F-E739534EE168}"/>
              </a:ext>
            </a:extLst>
          </p:cNvPr>
          <p:cNvSpPr/>
          <p:nvPr/>
        </p:nvSpPr>
        <p:spPr>
          <a:xfrm>
            <a:off x="548640" y="5731256"/>
            <a:ext cx="621487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Noticed the VFL has an angle, but  Not define in the DB </a:t>
            </a:r>
            <a:endParaRPr lang="en-US" sz="1400" dirty="0">
              <a:solidFill>
                <a:srgbClr val="FF0000"/>
              </a:solidFill>
            </a:endParaRPr>
          </a:p>
        </p:txBody>
      </p:sp>
    </p:spTree>
    <p:extLst>
      <p:ext uri="{BB962C8B-B14F-4D97-AF65-F5344CB8AC3E}">
        <p14:creationId xmlns:p14="http://schemas.microsoft.com/office/powerpoint/2010/main" val="3136644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DD6384C-0B2A-2AE2-BB5B-4C15F47F82B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17B7491-8090-6255-E1CD-13F787BB31CA}"/>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Overlay Requirements: Finish Wedge</a:t>
            </a:r>
            <a:endParaRPr lang="en-US" sz="2800" dirty="0"/>
          </a:p>
        </p:txBody>
      </p:sp>
      <p:sp>
        <p:nvSpPr>
          <p:cNvPr id="3" name="Shape 1">
            <a:extLst>
              <a:ext uri="{FF2B5EF4-FFF2-40B4-BE49-F238E27FC236}">
                <a16:creationId xmlns:a16="http://schemas.microsoft.com/office/drawing/2014/main" id="{5BE7060E-5D30-BFCA-07B7-258EA3B4EA88}"/>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D2EF34FE-E89F-902E-84A2-F6972287D027}"/>
              </a:ext>
            </a:extLst>
          </p:cNvPr>
          <p:cNvSpPr/>
          <p:nvPr/>
        </p:nvSpPr>
        <p:spPr>
          <a:xfrm>
            <a:off x="868679" y="1642110"/>
            <a:ext cx="10464801" cy="608074"/>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Similar to COB overlay, with different tolerance zone construction.</a:t>
            </a:r>
            <a:br>
              <a:rPr lang="en-US" sz="1400" dirty="0">
                <a:solidFill>
                  <a:srgbClr val="3A3A3A"/>
                </a:solidFill>
                <a:latin typeface="Arial" pitchFamily="34" charset="0"/>
                <a:ea typeface="Arial" pitchFamily="34" charset="-122"/>
                <a:cs typeface="Arial" pitchFamily="34" charset="-120"/>
              </a:rPr>
            </a:br>
            <a:r>
              <a:rPr lang="en-US" sz="1400" dirty="0">
                <a:solidFill>
                  <a:srgbClr val="3A3A3A"/>
                </a:solidFill>
                <a:latin typeface="Arial" pitchFamily="34" charset="0"/>
                <a:ea typeface="Arial" pitchFamily="34" charset="-122"/>
                <a:cs typeface="Arial" pitchFamily="34" charset="-120"/>
              </a:rPr>
              <a:t>.</a:t>
            </a:r>
            <a:endParaRPr lang="en-US" sz="1400" dirty="0"/>
          </a:p>
        </p:txBody>
      </p:sp>
      <p:sp>
        <p:nvSpPr>
          <p:cNvPr id="13" name="Shape 11">
            <a:extLst>
              <a:ext uri="{FF2B5EF4-FFF2-40B4-BE49-F238E27FC236}">
                <a16:creationId xmlns:a16="http://schemas.microsoft.com/office/drawing/2014/main" id="{9FE1B684-D083-77BF-0A29-57656DAAD94E}"/>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6E04B3C1-35EB-FDA5-899C-DDD2410EF8F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3A4A7D5-06B6-EDC8-E5A7-8D2E9AE09A38}"/>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0638B3A1-788B-6C48-F0B8-342CFD33F1AF}"/>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124F9236-DADC-3365-1077-CFC1B0833B3F}"/>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Text 2">
            <a:extLst>
              <a:ext uri="{FF2B5EF4-FFF2-40B4-BE49-F238E27FC236}">
                <a16:creationId xmlns:a16="http://schemas.microsoft.com/office/drawing/2014/main" id="{14D7DDA0-3EF2-493B-AFC3-76E4647087BD}"/>
              </a:ext>
            </a:extLst>
          </p:cNvPr>
          <p:cNvSpPr/>
          <p:nvPr/>
        </p:nvSpPr>
        <p:spPr>
          <a:xfrm>
            <a:off x="693928" y="5674097"/>
            <a:ext cx="785571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Scaling the view the same way as COB </a:t>
            </a:r>
            <a:br>
              <a:rPr lang="en-US" sz="1400" dirty="0">
                <a:solidFill>
                  <a:srgbClr val="FF0000"/>
                </a:solidFill>
                <a:latin typeface="Arial" pitchFamily="34" charset="0"/>
                <a:ea typeface="Arial" pitchFamily="34" charset="-122"/>
                <a:cs typeface="Arial" pitchFamily="34" charset="-120"/>
              </a:rPr>
            </a:br>
            <a:r>
              <a:rPr lang="en-US" sz="1400" dirty="0">
                <a:solidFill>
                  <a:srgbClr val="FF0000"/>
                </a:solidFill>
                <a:latin typeface="Arial" pitchFamily="34" charset="0"/>
                <a:ea typeface="Arial" pitchFamily="34" charset="-122"/>
                <a:cs typeface="Arial" pitchFamily="34" charset="-120"/>
              </a:rPr>
              <a:t>Note  :  Only add two views to the overlays</a:t>
            </a:r>
            <a:br>
              <a:rPr lang="en-US" sz="1400" dirty="0">
                <a:solidFill>
                  <a:srgbClr val="FF0000"/>
                </a:solidFill>
                <a:latin typeface="Arial" pitchFamily="34" charset="0"/>
                <a:ea typeface="Arial" pitchFamily="34" charset="-122"/>
                <a:cs typeface="Arial" pitchFamily="34" charset="-120"/>
              </a:rPr>
            </a:br>
            <a:r>
              <a:rPr lang="en-US" sz="1400" dirty="0">
                <a:solidFill>
                  <a:srgbClr val="FF0000"/>
                </a:solidFill>
                <a:latin typeface="Arial" pitchFamily="34" charset="0"/>
                <a:ea typeface="Arial" pitchFamily="34" charset="-122"/>
                <a:cs typeface="Arial" pitchFamily="34" charset="-120"/>
              </a:rPr>
              <a:t>Note : No need to all the annotations </a:t>
            </a:r>
            <a:endParaRPr lang="en-US" sz="1400" dirty="0">
              <a:solidFill>
                <a:srgbClr val="FF0000"/>
              </a:solidFill>
            </a:endParaRPr>
          </a:p>
        </p:txBody>
      </p:sp>
      <p:pic>
        <p:nvPicPr>
          <p:cNvPr id="8" name="Picture 7">
            <a:extLst>
              <a:ext uri="{FF2B5EF4-FFF2-40B4-BE49-F238E27FC236}">
                <a16:creationId xmlns:a16="http://schemas.microsoft.com/office/drawing/2014/main" id="{BE84E9A6-CC1D-5CDB-6031-890EBAD15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1405" y="2192721"/>
            <a:ext cx="4292386" cy="3219290"/>
          </a:xfrm>
          <a:prstGeom prst="rect">
            <a:avLst/>
          </a:prstGeom>
        </p:spPr>
      </p:pic>
      <p:pic>
        <p:nvPicPr>
          <p:cNvPr id="10" name="Picture 9">
            <a:extLst>
              <a:ext uri="{FF2B5EF4-FFF2-40B4-BE49-F238E27FC236}">
                <a16:creationId xmlns:a16="http://schemas.microsoft.com/office/drawing/2014/main" id="{31F9261D-C80F-AFCB-54E2-1795B0A49A6C}"/>
              </a:ext>
            </a:extLst>
          </p:cNvPr>
          <p:cNvPicPr>
            <a:picLocks noChangeAspect="1"/>
          </p:cNvPicPr>
          <p:nvPr/>
        </p:nvPicPr>
        <p:blipFill>
          <a:blip r:embed="rId4"/>
          <a:stretch>
            <a:fillRect/>
          </a:stretch>
        </p:blipFill>
        <p:spPr>
          <a:xfrm>
            <a:off x="1671930" y="2250184"/>
            <a:ext cx="4059019" cy="3161827"/>
          </a:xfrm>
          <a:prstGeom prst="rect">
            <a:avLst/>
          </a:prstGeom>
        </p:spPr>
      </p:pic>
    </p:spTree>
    <p:extLst>
      <p:ext uri="{BB962C8B-B14F-4D97-AF65-F5344CB8AC3E}">
        <p14:creationId xmlns:p14="http://schemas.microsoft.com/office/powerpoint/2010/main" val="2196825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9497E43-9CAD-5CF2-9A6A-7D4AEE91823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7AF8A6E-A49F-6500-FD1B-7FD4F955C7FE}"/>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Overlay Requirements: PGB</a:t>
            </a:r>
            <a:endParaRPr lang="en-US" sz="2800" dirty="0"/>
          </a:p>
        </p:txBody>
      </p:sp>
      <p:sp>
        <p:nvSpPr>
          <p:cNvPr id="3" name="Shape 1">
            <a:extLst>
              <a:ext uri="{FF2B5EF4-FFF2-40B4-BE49-F238E27FC236}">
                <a16:creationId xmlns:a16="http://schemas.microsoft.com/office/drawing/2014/main" id="{2E1CDCD5-B0B2-D2D0-3FF5-D3EAD95EBD7C}"/>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A85029D8-AE11-FEF9-6304-9D4CD3F1804D}"/>
              </a:ext>
            </a:extLst>
          </p:cNvPr>
          <p:cNvSpPr/>
          <p:nvPr/>
        </p:nvSpPr>
        <p:spPr>
          <a:xfrm>
            <a:off x="868679" y="1642110"/>
            <a:ext cx="10464801" cy="608074"/>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Remains unchanged from the standard wedge overlay used across all tool families.</a:t>
            </a:r>
            <a:endParaRPr lang="en-US" sz="1400" dirty="0"/>
          </a:p>
        </p:txBody>
      </p:sp>
      <p:sp>
        <p:nvSpPr>
          <p:cNvPr id="13" name="Shape 11">
            <a:extLst>
              <a:ext uri="{FF2B5EF4-FFF2-40B4-BE49-F238E27FC236}">
                <a16:creationId xmlns:a16="http://schemas.microsoft.com/office/drawing/2014/main" id="{5FF01A89-25C4-33B9-3711-511E3DCE0143}"/>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F5F66E30-DD01-5E18-FDAD-28754AF52AB5}"/>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D42887E-935F-BAC9-C8B4-0956494CC5A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73F10A39-9E06-C96E-D693-EF1B98D6C14E}"/>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6EE6A61A-0C6B-F66A-A8F7-8F62464C1D76}"/>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Text 2">
            <a:extLst>
              <a:ext uri="{FF2B5EF4-FFF2-40B4-BE49-F238E27FC236}">
                <a16:creationId xmlns:a16="http://schemas.microsoft.com/office/drawing/2014/main" id="{C17EA538-00E4-402C-3573-F62234927D9B}"/>
              </a:ext>
            </a:extLst>
          </p:cNvPr>
          <p:cNvSpPr/>
          <p:nvPr/>
        </p:nvSpPr>
        <p:spPr>
          <a:xfrm>
            <a:off x="693928" y="5674097"/>
            <a:ext cx="785571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PGB overlay may have VR/VW feature </a:t>
            </a:r>
            <a:endParaRPr lang="en-US" sz="1400" dirty="0">
              <a:solidFill>
                <a:srgbClr val="FF0000"/>
              </a:solidFill>
            </a:endParaRPr>
          </a:p>
        </p:txBody>
      </p:sp>
      <p:pic>
        <p:nvPicPr>
          <p:cNvPr id="9" name="Picture 8">
            <a:extLst>
              <a:ext uri="{FF2B5EF4-FFF2-40B4-BE49-F238E27FC236}">
                <a16:creationId xmlns:a16="http://schemas.microsoft.com/office/drawing/2014/main" id="{9D8DEB35-FF46-D3B8-D79B-4749BA6FF4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8412" y="2319296"/>
            <a:ext cx="4242456" cy="3181842"/>
          </a:xfrm>
          <a:prstGeom prst="rect">
            <a:avLst/>
          </a:prstGeom>
        </p:spPr>
      </p:pic>
      <p:pic>
        <p:nvPicPr>
          <p:cNvPr id="12" name="Picture 11">
            <a:extLst>
              <a:ext uri="{FF2B5EF4-FFF2-40B4-BE49-F238E27FC236}">
                <a16:creationId xmlns:a16="http://schemas.microsoft.com/office/drawing/2014/main" id="{EC52EA56-AACA-B5A5-AA48-9284EDB022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5804" y="2314191"/>
            <a:ext cx="4242456" cy="3181842"/>
          </a:xfrm>
          <a:prstGeom prst="rect">
            <a:avLst/>
          </a:prstGeom>
        </p:spPr>
      </p:pic>
    </p:spTree>
    <p:extLst>
      <p:ext uri="{BB962C8B-B14F-4D97-AF65-F5344CB8AC3E}">
        <p14:creationId xmlns:p14="http://schemas.microsoft.com/office/powerpoint/2010/main" val="3992070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299</TotalTime>
  <Words>553</Words>
  <Application>Microsoft Office PowerPoint</Application>
  <PresentationFormat>Widescreen</PresentationFormat>
  <Paragraphs>100</Paragraphs>
  <Slides>13</Slides>
  <Notes>13</Notes>
  <HiddenSlides>0</HiddenSlides>
  <MMClips>0</MMClips>
  <ScaleCrop>false</ScaleCrop>
  <HeadingPairs>
    <vt:vector size="8" baseType="variant">
      <vt:variant>
        <vt:lpstr>Fonts Used</vt:lpstr>
      </vt:variant>
      <vt:variant>
        <vt:i4>1</vt:i4>
      </vt:variant>
      <vt:variant>
        <vt:lpstr>Theme</vt:lpstr>
      </vt:variant>
      <vt:variant>
        <vt:i4>1</vt:i4>
      </vt:variant>
      <vt:variant>
        <vt:lpstr>Embedded OLE Servers</vt:lpstr>
      </vt:variant>
      <vt:variant>
        <vt:i4>3</vt:i4>
      </vt:variant>
      <vt:variant>
        <vt:lpstr>Slide Titles</vt:lpstr>
      </vt:variant>
      <vt:variant>
        <vt:i4>13</vt:i4>
      </vt:variant>
    </vt:vector>
  </HeadingPairs>
  <TitlesOfParts>
    <vt:vector size="18" baseType="lpstr">
      <vt:lpstr>Arial</vt:lpstr>
      <vt:lpstr>Office Theme</vt:lpstr>
      <vt:lpstr>Bitmap Image</vt:lpstr>
      <vt:lpstr>Worksheet</vt:lpstr>
      <vt:lpstr>Acrobat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Youssef Agnaou</cp:lastModifiedBy>
  <cp:revision>16</cp:revision>
  <dcterms:created xsi:type="dcterms:W3CDTF">2026-07-15T07:12:43Z</dcterms:created>
  <dcterms:modified xsi:type="dcterms:W3CDTF">2026-08-25T15:24:26Z</dcterms:modified>
</cp:coreProperties>
</file>