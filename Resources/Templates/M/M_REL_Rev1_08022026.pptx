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57" r:id="rId2"/>
    <p:sldId id="260" r:id="rId3"/>
    <p:sldId id="261" r:id="rId4"/>
    <p:sldId id="292" r:id="rId5"/>
    <p:sldId id="262" r:id="rId6"/>
    <p:sldId id="293" r:id="rId7"/>
    <p:sldId id="281" r:id="rId8"/>
    <p:sldId id="263" r:id="rId9"/>
    <p:sldId id="264" r:id="rId10"/>
    <p:sldId id="269" r:id="rId11"/>
    <p:sldId id="265" r:id="rId12"/>
    <p:sldId id="272" r:id="rId13"/>
    <p:sldId id="266" r:id="rId14"/>
    <p:sldId id="284" r:id="rId15"/>
    <p:sldId id="285" r:id="rId16"/>
    <p:sldId id="286" r:id="rId17"/>
    <p:sldId id="287" r:id="rId18"/>
    <p:sldId id="288" r:id="rId19"/>
    <p:sldId id="295" r:id="rId20"/>
    <p:sldId id="274" r:id="rId21"/>
    <p:sldId id="275" r:id="rId22"/>
    <p:sldId id="298" r:id="rId23"/>
    <p:sldId id="276" r:id="rId24"/>
    <p:sldId id="277" r:id="rId25"/>
    <p:sldId id="297" r:id="rId26"/>
    <p:sldId id="296" r:id="rId27"/>
    <p:sldId id="299" r:id="rId2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107" d="100"/>
          <a:sy n="107" d="100"/>
        </p:scale>
        <p:origin x="72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588C11-5393-8324-3146-69ABA00A72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EF0FA9-AAB9-A60A-C494-F11F984E9D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2993FE-E9D3-4B10-B499-4235062A8B3B}" type="datetimeFigureOut">
              <a:rPr lang="en-US" smtClean="0"/>
              <a:t>8/22/2026</a:t>
            </a:fld>
            <a:endParaRPr lang="en-US"/>
          </a:p>
        </p:txBody>
      </p:sp>
      <p:sp>
        <p:nvSpPr>
          <p:cNvPr id="4" name="Footer Placeholder 3">
            <a:extLst>
              <a:ext uri="{FF2B5EF4-FFF2-40B4-BE49-F238E27FC236}">
                <a16:creationId xmlns:a16="http://schemas.microsoft.com/office/drawing/2014/main" id="{95C61970-10B0-1539-9780-E6FE15D019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55C7C85-C158-9B78-E8BD-CD7FBC7620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589A78-DF21-4F81-96A1-9852810E2621}" type="slidenum">
              <a:rPr lang="en-US" smtClean="0"/>
              <a:t>‹#›</a:t>
            </a:fld>
            <a:endParaRPr lang="en-US"/>
          </a:p>
        </p:txBody>
      </p:sp>
    </p:spTree>
    <p:extLst>
      <p:ext uri="{BB962C8B-B14F-4D97-AF65-F5344CB8AC3E}">
        <p14:creationId xmlns:p14="http://schemas.microsoft.com/office/powerpoint/2010/main" val="22720494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E5E3A-6FB5-47BF-ABCF-397F6C94D529}" type="datetimeFigureOut">
              <a:rPr lang="en-US" smtClean="0"/>
              <a:t>8/22/2026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1061FC-C60C-444C-8470-586021281957}" type="slidenum">
              <a:rPr lang="en-US" smtClean="0"/>
              <a:t>‹#›</a:t>
            </a:fld>
            <a:endParaRPr lang="en-US" dirty="0"/>
          </a:p>
        </p:txBody>
      </p:sp>
    </p:spTree>
    <p:extLst>
      <p:ext uri="{BB962C8B-B14F-4D97-AF65-F5344CB8AC3E}">
        <p14:creationId xmlns:p14="http://schemas.microsoft.com/office/powerpoint/2010/main" val="164468643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9E3A-EA0E-2720-599A-7C95C5304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5D51E-BB1C-A8DA-AE1B-23E7AFA3E98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C30252E-9A31-13D4-70FF-4B6E5E5EBE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431267-7A72-C3EA-EE03-E29FD26421CF}"/>
              </a:ext>
            </a:extLst>
          </p:cNvPr>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2570446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9534B-5356-2980-B3D4-BF6B37F13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C617C-0C9E-0A18-66BA-C528D28B99F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AAFF11C-0A97-8B78-E67F-7F1CFC9FE4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8FF85-48BF-5D25-C010-2E161BA74FD2}"/>
              </a:ext>
            </a:extLst>
          </p:cNvPr>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462480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F967-1EA6-317B-8AAF-262532408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64539-793D-22B1-0244-ECE9E1222FF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F24645-BC05-5960-F843-B47B9074E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0D3911-FDB3-DBFF-6683-67A3A9D5F7ED}"/>
              </a:ext>
            </a:extLst>
          </p:cNvPr>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3677104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A9867-31E5-7933-FB68-40102627E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53629-3CEB-89EC-5551-C840B336ED3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62342C5-5FF6-2F5D-C880-3DAECFA0CA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358BC-28E2-E393-F785-9CCE5ACFCC2E}"/>
              </a:ext>
            </a:extLst>
          </p:cNvPr>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2258613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3937-AF42-F6AC-4353-E54FF89F8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C6E49-0C8A-3942-BFA9-92BE4BF81D8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21F885A-E641-4D12-D4ED-48D8433E7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56E705-F538-B96C-BDBA-078AF7F7E881}"/>
              </a:ext>
            </a:extLst>
          </p:cNvPr>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372064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9140B-7EC2-FD3E-4BA9-78EC7002E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6B84A-ECFB-EE60-9DAC-343CB962100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AEED18-2250-ED5D-4646-7B178BE4E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9A0D5-6A66-182B-C41F-2418B314F0D2}"/>
              </a:ext>
            </a:extLst>
          </p:cNvPr>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904294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0653-0757-AA88-09C1-BF1981041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5D99B-BB38-D9E8-7F27-5EF0AFF13BB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E6FAC42-6E33-65FD-F6C7-042A259E80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F1004-E055-5783-058E-F0CED9880C72}"/>
              </a:ext>
            </a:extLst>
          </p:cNvPr>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344623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D380C-12AF-A19E-DEF1-949FB20AF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F24A28-359C-03C8-8BD5-FCAB855E3F3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C80CCFD-182F-EC68-89FA-D959B360EC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83C50D-522C-B7FD-9C06-1649E7B5D796}"/>
              </a:ext>
            </a:extLst>
          </p:cNvPr>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80354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320B-3CE4-B816-8CE7-5AFCE65B3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B249D-17D7-AAAE-6B81-EE1B95199C6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D678595-B227-F219-21B6-0F4D6D0EC7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EC35ED-F90A-7728-106F-EE30C5CBD5CA}"/>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396251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051D2-DE4C-4E06-6C72-948269BC9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719E0-C59F-37B7-7585-08F948C9679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9F4CC0A-ADCB-C533-B89A-260C3C4702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E99CF3-7BA5-9081-9173-44D02ECB7B10}"/>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2825582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A0DF-05BE-306B-7088-880EB6ADA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1A6DB-E2D0-BCBA-8293-30F806D3561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FD84362-B7FF-AAE1-D354-63B90EFDDC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B80829-D4DB-7A72-BC47-707B7D6FC3F9}"/>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2668210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6037E-3774-65B8-D9D8-9F550AC84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A451B-C777-D7D3-C282-233200594D6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AE35BDA-AB04-43DF-1163-809073916B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4A60FA-9592-1534-3AF6-58E3C7A7A8AF}"/>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970577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DE88-92A0-6CFA-842A-009E9BEA8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B027B-0355-9456-703E-B049A561431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162D116-BCF3-19DE-9A76-BAAB1004E8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622AE9-4109-3936-6498-1C1AFE22CA9D}"/>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4238750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9FEB-5B0C-AB08-AABF-907D93424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9C66A-2081-09DB-DB72-492FD1751A9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EA95FA3-FD3B-26E5-C61C-371D5FF88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EE0AD6-71EB-6D07-0980-32236D94D4B9}"/>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779582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63407-9F67-A20E-1CB6-70A8322D0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CE68C-6A9F-6888-D17D-D7A30AAAB2D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D7C37D0-89CC-BA1D-3A75-3E1AF0ED2A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1587D7-7F59-4B70-6A77-DDD492455333}"/>
              </a:ext>
            </a:extLst>
          </p:cNvPr>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596135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8ED0-1637-4D04-0103-A45FE915E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619A9-4DF4-0B98-8850-C365E4F6167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2EB6311-BAE9-8E50-DA2F-8B15C6C22F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8471B5-BE31-9462-60BD-A45F1994CE89}"/>
              </a:ext>
            </a:extLst>
          </p:cNvPr>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751022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F34CB-558B-05F6-EF58-E77DEB0B2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1364D-FB69-BFFE-910C-7DDB19421EC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261E907-AE52-1B9B-E1F4-B2D118C83E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3AC658-8082-4787-9EE7-6C4E2092D47A}"/>
              </a:ext>
            </a:extLst>
          </p:cNvPr>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2597796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FC20-D1E5-4DE0-B83D-D4FDBA432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1D3EB-AE74-2345-A14F-D84BC80FD86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727F0D7-D4E0-F7DE-BFDE-5478564C99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BBDC7-AFD5-C213-BAFC-7DCE8A7D76DC}"/>
              </a:ext>
            </a:extLst>
          </p:cNvPr>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3495672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13B13-2BEC-5273-7AC1-D21031223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ED767-491E-D450-FB17-0D8EFA41B25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09936B0-44F9-1EBA-CC88-92C0D9566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8AA3C4-53B9-9517-9DE9-5DCD5D2A28BE}"/>
              </a:ext>
            </a:extLst>
          </p:cNvPr>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26065260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679C-CEDC-E78F-799D-D6FCB4D58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46391-50BD-7869-F2A4-C78E05B9A54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9AA9C50-14D7-54B2-0D8D-8539274DD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B1391F-147B-1B23-65B9-80AA00B1D475}"/>
              </a:ext>
            </a:extLst>
          </p:cNvPr>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42192502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FA803-EB30-3AB8-03EC-588F5AEA3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A001F-C3FC-95B2-25AC-253D211D4B3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6B18BE0-509E-7C99-51EB-99C741BEB4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0B5AA-CB8F-7A3A-EB6D-0E0E3D5F4C17}"/>
              </a:ext>
            </a:extLst>
          </p:cNvPr>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33190225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193B-2393-0634-8903-6925613EB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C5EA6-8EDA-199D-9D8F-40401A9A53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DA2AF05-7EF8-33B6-328F-E91EF0C57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516B5E-4BDD-66C4-D410-CA43E3602C72}"/>
              </a:ext>
            </a:extLst>
          </p:cNvPr>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3890276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42E8-CEB7-931F-9B39-7C35C50DB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7D989-E9B1-B453-2EAD-E4654619232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BD383F4-1C66-E579-E5EE-BEB9F3C7CC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A71FE1-5951-A3C2-1BB0-731D2C1F2593}"/>
              </a:ext>
            </a:extLst>
          </p:cNvPr>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3425336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3E81-F539-8804-05F2-BC3B750FB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C195E-1C5D-D6A6-9693-38B8017CAF6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F59A8B7-937C-5324-10A8-4817B9BCE9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C4C79F-6E08-2F27-6412-4B27E02B4186}"/>
              </a:ext>
            </a:extLst>
          </p:cNvPr>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1484899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73C9-A47C-E8BC-ABA0-FDFD6800F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1549F-B461-CA86-ED55-98D46774F0E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20A83B-3A15-12E5-022B-56F45142F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D89F19-7904-D438-CC82-646C4CEF4DBA}"/>
              </a:ext>
            </a:extLst>
          </p:cNvPr>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761900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2DB94-1912-E4D6-3ADB-8B7215105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49C52-A687-DE6E-1815-D2AB4554275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7E2CCC1-6E91-2EB0-5D40-FA5583CDDB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E05CB3-DFFC-19AA-AD9C-88E36B58EFBE}"/>
              </a:ext>
            </a:extLst>
          </p:cNvPr>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416987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6CAB-2392-F0C5-A62A-8006C5015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14CD1-85A9-4CC9-81FA-75357A1C38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149624-FC93-68C1-D30A-68565D00BE0A}"/>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EDF2F8-93FC-8954-24EA-06EDC68846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C58C16-E36F-7150-C2E2-6551DEFC9B3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333621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9C76-6BF0-6286-63A0-C273A184E0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67FA68-39DF-6C75-E7DB-CEF82A71B4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A0C8F-754D-56EB-4260-4F282E0BBEDC}"/>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949AA536-67D7-7638-A235-6C18CA192F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754B1B-76E5-1C15-50A7-9A9934FED43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5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292A-B3D4-39FE-31AB-98418E53C6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3C4077-FF6B-4644-8551-A2B2BF006B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91C31-96F0-5492-A76E-96AADBB76E3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000C738-25D8-DBD9-7FF3-74FA72EF22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B08E07-6387-FD4F-9E95-75239919BB62}"/>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770814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FF9B-DF47-D6D7-8C3A-E9A79D5376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E0B4C5-A1EC-C9A2-2509-673340B1C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5AE832-06F3-26AC-2F34-F58499E883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45A087-AF87-FF82-6D93-2995F234A38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7FE15029-94DB-EF9F-9822-0B4A6DBDD6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8932DD5-FA4C-7EDC-468D-DF23D7EA7754}"/>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213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E4CE-FDA7-A3A8-A8CD-0DF6C64641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FF8735-D338-71D5-BDF9-5C504B0163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5531A3-EC28-EB15-E24F-DDFE61DF00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ABBE3F-C5CF-FB5B-16B9-CC2FB8FD81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439D4F-A719-98BE-F9AA-E13F8C1C6A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AECF-2FCD-357A-716F-B585211448F8}"/>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75BDACAB-21A9-7673-D876-B1A1691912C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916458-B3BB-CE4E-8CEB-5C2B2CE0C68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484007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A1DC-9ADA-8155-1036-0106284306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69AB49-D12A-DF62-8E18-7102D0D678E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45992904-C4AD-79A8-DD86-BE62ED9DD33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F1DEFC-37C4-16B4-3578-993EB529F16E}"/>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7691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EB4747-E094-6BE0-C5A8-91E40A6D20AC}"/>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5E6AE805-4E06-B52E-4AA7-E12292F43BF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CFD9565-5B28-4A72-D85B-76191BE9A2D7}"/>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8679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DA0FF-76A4-7D71-13CB-D2A5047B16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0E8495-1D2B-E698-531D-40098B0E0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A4E649-00B5-E760-3874-FDF56D80B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D2E13-119E-10FA-BD70-D479F7E1A13D}"/>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8BB2C9B-502E-3347-3E01-4B09CA1A782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CD18E4-48B6-569A-5106-75EC9A21C10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83937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7782-6BB6-7E73-2AC3-E0AC996DA8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E8499A-5705-A33C-D370-B13294FF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B6C9875-4EA1-87CC-1C39-1A42AEF40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61F31-D882-2E42-AF6C-EE34464E399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1824A4BB-D683-CE15-099B-6351A35915E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74F4DB9-E8D3-6244-F113-2FC6E6FD7DE9}"/>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772742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5760F-D9E7-D125-ADBC-57A80C04DD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DD216B-086D-D6C6-E7C5-19E59306E8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75F6C-F8BF-42D2-92C7-88E56B81BBBF}"/>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29B135CA-A0FE-4B27-A6D2-D39CC6CF81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B3AD5D7-3E6D-7239-34CF-CA18884351A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513370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07D3AD-9453-123B-3BEF-00D0D90E6E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CD6F44-6F37-6536-CEC0-632928AD37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5F43A7-5EAE-35E8-7320-C7861400E0A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D713473-5614-B1FB-DE63-2D3A5342C5A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A3EC424-CBBC-043D-61C1-2F504D50B3F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508043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79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8B4C3E-779A-572F-969C-1D280A8F82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3FECA7-7EB7-6E0A-70BB-FA505CDF43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C1EBD-FC5B-F664-4DC7-78F698AEA8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a:extLst>
              <a:ext uri="{FF2B5EF4-FFF2-40B4-BE49-F238E27FC236}">
                <a16:creationId xmlns:a16="http://schemas.microsoft.com/office/drawing/2014/main" id="{07874F06-308A-2564-1416-F1F9BDEDFF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788D486-FDCB-1905-8B3B-37F2210A0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25A8CA-1635-46EA-9243-46AC60F2292D}" type="slidenum">
              <a:rPr lang="en-US" smtClean="0"/>
              <a:t>‹#›</a:t>
            </a:fld>
            <a:endParaRPr lang="en-US" dirty="0"/>
          </a:p>
        </p:txBody>
      </p:sp>
    </p:spTree>
    <p:extLst>
      <p:ext uri="{BB962C8B-B14F-4D97-AF65-F5344CB8AC3E}">
        <p14:creationId xmlns:p14="http://schemas.microsoft.com/office/powerpoint/2010/main" val="3719426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TIF"/><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C62828"/>
          </a:solidFill>
          <a:ln/>
        </p:spPr>
        <p:txBody>
          <a:bodyPr/>
          <a:lstStyle/>
          <a:p>
            <a:endParaRPr lang="en-US" dirty="0"/>
          </a:p>
        </p:txBody>
      </p:sp>
      <p:sp>
        <p:nvSpPr>
          <p:cNvPr id="3" name="Text 1">
            <a:extLst>
              <a:ext uri="{C183D7F6-B498-43B3-948B-1728B52AA6E4}">
                <adec:decorative xmlns:adec="http://schemas.microsoft.com/office/drawing/2017/decorative" val="0"/>
              </a:ext>
            </a:extLst>
          </p:cNvPr>
          <p:cNvSpPr/>
          <p:nvPr/>
        </p:nvSpPr>
        <p:spPr>
          <a:xfrm>
            <a:off x="548640" y="502920"/>
            <a:ext cx="7315200" cy="365760"/>
          </a:xfrm>
          <a:prstGeom prst="rect">
            <a:avLst/>
          </a:prstGeom>
          <a:noFill/>
          <a:ln/>
        </p:spPr>
        <p:txBody>
          <a:bodyPr wrap="square" lIns="0" tIns="0" rIns="0" bIns="0" rtlCol="0" anchor="ctr"/>
          <a:lstStyle/>
          <a:p>
            <a:pPr marL="0" indent="0">
              <a:buNone/>
            </a:pPr>
            <a:r>
              <a:rPr lang="en-US" sz="1400" b="1" kern="0" spc="100" dirty="0">
                <a:solidFill>
                  <a:srgbClr val="FF0000"/>
                </a:solidFill>
                <a:latin typeface="Arial" pitchFamily="34" charset="0"/>
                <a:ea typeface="Arial" pitchFamily="34" charset="-122"/>
                <a:cs typeface="Arial" pitchFamily="34" charset="-120"/>
              </a:rPr>
              <a:t>SMALL PRECISION TOOLS</a:t>
            </a:r>
            <a:endParaRPr lang="en-US" sz="1400" dirty="0">
              <a:solidFill>
                <a:srgbClr val="FF0000"/>
              </a:solidFill>
            </a:endParaRPr>
          </a:p>
        </p:txBody>
      </p:sp>
      <p:sp>
        <p:nvSpPr>
          <p:cNvPr id="5" name="Text 3">
            <a:extLst>
              <a:ext uri="{C183D7F6-B498-43B3-948B-1728B52AA6E4}">
                <adec:decorative xmlns:adec="http://schemas.microsoft.com/office/drawing/2017/decorative" val="0"/>
              </a:ext>
            </a:extLst>
          </p:cNvPr>
          <p:cNvSpPr/>
          <p:nvPr/>
        </p:nvSpPr>
        <p:spPr>
          <a:xfrm>
            <a:off x="548640" y="2651760"/>
            <a:ext cx="11064240" cy="1005840"/>
          </a:xfrm>
          <a:prstGeom prst="rect">
            <a:avLst/>
          </a:prstGeom>
          <a:noFill/>
          <a:ln/>
        </p:spPr>
        <p:txBody>
          <a:bodyPr wrap="square" lIns="0" tIns="0" rIns="0" bIns="0" rtlCol="0" anchor="ctr"/>
          <a:lstStyle/>
          <a:p>
            <a:r>
              <a:rPr lang="en-US" sz="4400" b="1" dirty="0">
                <a:solidFill>
                  <a:srgbClr val="FF0000"/>
                </a:solidFill>
                <a:latin typeface="Arial" pitchFamily="34" charset="0"/>
                <a:ea typeface="Arial" pitchFamily="34" charset="-122"/>
                <a:cs typeface="Arial" pitchFamily="34" charset="-120"/>
              </a:rPr>
              <a:t>Wedge Auto-Draw Rules</a:t>
            </a:r>
            <a:endParaRPr lang="en-US" sz="4400" dirty="0">
              <a:solidFill>
                <a:srgbClr val="FF0000"/>
              </a:solidFill>
            </a:endParaRPr>
          </a:p>
        </p:txBody>
      </p:sp>
      <p:sp>
        <p:nvSpPr>
          <p:cNvPr id="6" name="Text 4"/>
          <p:cNvSpPr/>
          <p:nvPr/>
        </p:nvSpPr>
        <p:spPr>
          <a:xfrm>
            <a:off x="548640" y="3611880"/>
            <a:ext cx="11064240" cy="457200"/>
          </a:xfrm>
          <a:prstGeom prst="rect">
            <a:avLst/>
          </a:prstGeom>
          <a:noFill/>
          <a:ln/>
        </p:spPr>
        <p:txBody>
          <a:bodyPr wrap="square" lIns="0" tIns="0" rIns="0" bIns="0" rtlCol="0" anchor="ctr"/>
          <a:lstStyle/>
          <a:p>
            <a:r>
              <a:rPr lang="en-US" dirty="0">
                <a:solidFill>
                  <a:srgbClr val="3A3A3A"/>
                </a:solidFill>
                <a:latin typeface="Arial" pitchFamily="34" charset="0"/>
                <a:ea typeface="Arial" pitchFamily="34" charset="-122"/>
                <a:cs typeface="Arial" pitchFamily="34" charset="-120"/>
              </a:rPr>
              <a:t>Small Wire (SW) Wedge Series – M Series – Rules</a:t>
            </a:r>
            <a:endParaRPr lang="en-US" sz="1800" dirty="0"/>
          </a:p>
        </p:txBody>
      </p:sp>
      <p:sp>
        <p:nvSpPr>
          <p:cNvPr id="7" name="Shape 5"/>
          <p:cNvSpPr/>
          <p:nvPr/>
        </p:nvSpPr>
        <p:spPr>
          <a:xfrm>
            <a:off x="548640" y="5577840"/>
            <a:ext cx="2560320" cy="685800"/>
          </a:xfrm>
          <a:prstGeom prst="rect">
            <a:avLst/>
          </a:prstGeom>
          <a:solidFill>
            <a:srgbClr val="F5F5F5"/>
          </a:solidFill>
          <a:ln/>
        </p:spPr>
        <p:txBody>
          <a:bodyPr/>
          <a:lstStyle/>
          <a:p>
            <a:endParaRPr lang="en-US" dirty="0"/>
          </a:p>
        </p:txBody>
      </p:sp>
      <p:sp>
        <p:nvSpPr>
          <p:cNvPr id="8" name="Text 6"/>
          <p:cNvSpPr/>
          <p:nvPr/>
        </p:nvSpPr>
        <p:spPr>
          <a:xfrm>
            <a:off x="68580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DOCUMENT NO.</a:t>
            </a:r>
            <a:endParaRPr lang="en-US" sz="900" dirty="0"/>
          </a:p>
        </p:txBody>
      </p:sp>
      <p:sp>
        <p:nvSpPr>
          <p:cNvPr id="9" name="Text 7"/>
          <p:cNvSpPr/>
          <p:nvPr/>
        </p:nvSpPr>
        <p:spPr>
          <a:xfrm>
            <a:off x="685800" y="5897880"/>
            <a:ext cx="2286000" cy="292608"/>
          </a:xfrm>
          <a:prstGeom prst="rect">
            <a:avLst/>
          </a:prstGeom>
          <a:noFill/>
          <a:ln/>
        </p:spPr>
        <p:txBody>
          <a:bodyPr wrap="square" lIns="0" tIns="0" rIns="0" bIns="0" rtlCol="0" anchor="ctr"/>
          <a:lstStyle/>
          <a:p>
            <a:r>
              <a:rPr lang="en-US" sz="1300" dirty="0">
                <a:solidFill>
                  <a:srgbClr val="3A3A3A"/>
                </a:solidFill>
                <a:latin typeface="Arial" pitchFamily="34" charset="0"/>
                <a:ea typeface="Arial" pitchFamily="34" charset="-122"/>
                <a:cs typeface="Arial" pitchFamily="34" charset="-120"/>
              </a:rPr>
              <a:t>M_REL_Rev1_08222026</a:t>
            </a:r>
            <a:endParaRPr lang="en-US" sz="1300" dirty="0"/>
          </a:p>
        </p:txBody>
      </p:sp>
      <p:sp>
        <p:nvSpPr>
          <p:cNvPr id="10" name="Shape 8"/>
          <p:cNvSpPr/>
          <p:nvPr/>
        </p:nvSpPr>
        <p:spPr>
          <a:xfrm>
            <a:off x="3383280" y="5577840"/>
            <a:ext cx="2560320" cy="685800"/>
          </a:xfrm>
          <a:prstGeom prst="rect">
            <a:avLst/>
          </a:prstGeom>
          <a:solidFill>
            <a:srgbClr val="F5F5F5"/>
          </a:solidFill>
          <a:ln/>
        </p:spPr>
        <p:txBody>
          <a:bodyPr/>
          <a:lstStyle/>
          <a:p>
            <a:endParaRPr lang="en-US" dirty="0"/>
          </a:p>
        </p:txBody>
      </p:sp>
      <p:sp>
        <p:nvSpPr>
          <p:cNvPr id="11" name="Text 9"/>
          <p:cNvSpPr/>
          <p:nvPr/>
        </p:nvSpPr>
        <p:spPr>
          <a:xfrm>
            <a:off x="352044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DATE</a:t>
            </a:r>
            <a:endParaRPr lang="en-US" sz="900" dirty="0"/>
          </a:p>
        </p:txBody>
      </p:sp>
      <p:sp>
        <p:nvSpPr>
          <p:cNvPr id="12" name="Text 10"/>
          <p:cNvSpPr/>
          <p:nvPr/>
        </p:nvSpPr>
        <p:spPr>
          <a:xfrm>
            <a:off x="352044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2026-22-08</a:t>
            </a:r>
          </a:p>
        </p:txBody>
      </p:sp>
      <p:sp>
        <p:nvSpPr>
          <p:cNvPr id="13" name="Shape 11"/>
          <p:cNvSpPr/>
          <p:nvPr/>
        </p:nvSpPr>
        <p:spPr>
          <a:xfrm>
            <a:off x="6217920" y="5577840"/>
            <a:ext cx="2560320" cy="685800"/>
          </a:xfrm>
          <a:prstGeom prst="rect">
            <a:avLst/>
          </a:prstGeom>
          <a:solidFill>
            <a:srgbClr val="F5F5F5"/>
          </a:solidFill>
          <a:ln/>
        </p:spPr>
        <p:txBody>
          <a:bodyPr/>
          <a:lstStyle/>
          <a:p>
            <a:endParaRPr lang="en-US" dirty="0"/>
          </a:p>
        </p:txBody>
      </p:sp>
      <p:sp>
        <p:nvSpPr>
          <p:cNvPr id="14" name="Text 12"/>
          <p:cNvSpPr/>
          <p:nvPr/>
        </p:nvSpPr>
        <p:spPr>
          <a:xfrm>
            <a:off x="635508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PREPARED BY</a:t>
            </a:r>
            <a:endParaRPr lang="en-US" sz="900" dirty="0"/>
          </a:p>
        </p:txBody>
      </p:sp>
      <p:sp>
        <p:nvSpPr>
          <p:cNvPr id="15" name="Text 13"/>
          <p:cNvSpPr/>
          <p:nvPr/>
        </p:nvSpPr>
        <p:spPr>
          <a:xfrm>
            <a:off x="635508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Youssef</a:t>
            </a:r>
            <a:endParaRPr lang="en-US" sz="1300" dirty="0"/>
          </a:p>
        </p:txBody>
      </p:sp>
      <p:sp>
        <p:nvSpPr>
          <p:cNvPr id="16" name="Shape 14"/>
          <p:cNvSpPr/>
          <p:nvPr/>
        </p:nvSpPr>
        <p:spPr>
          <a:xfrm>
            <a:off x="9052560" y="5577840"/>
            <a:ext cx="2560320" cy="685800"/>
          </a:xfrm>
          <a:prstGeom prst="rect">
            <a:avLst/>
          </a:prstGeom>
          <a:solidFill>
            <a:srgbClr val="F5F5F5"/>
          </a:solidFill>
          <a:ln/>
        </p:spPr>
        <p:txBody>
          <a:bodyPr/>
          <a:lstStyle/>
          <a:p>
            <a:endParaRPr lang="en-US" dirty="0"/>
          </a:p>
        </p:txBody>
      </p:sp>
      <p:sp>
        <p:nvSpPr>
          <p:cNvPr id="17" name="Text 15"/>
          <p:cNvSpPr/>
          <p:nvPr/>
        </p:nvSpPr>
        <p:spPr>
          <a:xfrm>
            <a:off x="918972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STATUS</a:t>
            </a:r>
            <a:endParaRPr lang="en-US" sz="900" dirty="0"/>
          </a:p>
        </p:txBody>
      </p:sp>
      <p:sp>
        <p:nvSpPr>
          <p:cNvPr id="18" name="Text 16"/>
          <p:cNvSpPr/>
          <p:nvPr/>
        </p:nvSpPr>
        <p:spPr>
          <a:xfrm>
            <a:off x="918972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Draft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4097-8B9A-7511-E12E-8B255D7FA2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BBC017-DF26-1ACC-82B3-3BE21E451F8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DE9FAFA-5182-9D6B-3E40-F5E3BF003F0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0D1788D-29DB-3089-CE57-C5DE5684F5D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185381B-10D5-EC72-5E58-97941602ACA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F86FFB5-791C-9078-1C4B-BC50848B26AA}"/>
              </a:ext>
            </a:extLst>
          </p:cNvPr>
          <p:cNvSpPr txBox="1"/>
          <p:nvPr/>
        </p:nvSpPr>
        <p:spPr>
          <a:xfrm>
            <a:off x="760307" y="759882"/>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a:t>
            </a:r>
            <a:r>
              <a:rPr lang="en-US" sz="1400" b="1" dirty="0" err="1">
                <a:latin typeface="Tahoma" panose="020B0604030504040204" pitchFamily="34" charset="0"/>
                <a:ea typeface="Tahoma" panose="020B0604030504040204" pitchFamily="34" charset="0"/>
                <a:cs typeface="Tahoma" panose="020B0604030504040204" pitchFamily="34" charset="0"/>
              </a:rPr>
              <a:t>Autobonding</a:t>
            </a:r>
            <a:r>
              <a:rPr lang="en-US" sz="1400" b="1" dirty="0">
                <a:latin typeface="Tahoma" panose="020B0604030504040204" pitchFamily="34" charset="0"/>
                <a:ea typeface="Tahoma" panose="020B0604030504040204" pitchFamily="34" charset="0"/>
                <a:cs typeface="Tahoma" panose="020B0604030504040204" pitchFamily="34" charset="0"/>
              </a:rPr>
              <a:t>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M series incorporates all the common features of a wedge with the cavity guide design, which is widely used for small aluminum wire bonding. It comes with the elliptical back radius which keeps the wire in the center of the tool for better bond placement capability.</a:t>
            </a:r>
          </a:p>
        </p:txBody>
      </p:sp>
      <p:sp>
        <p:nvSpPr>
          <p:cNvPr id="7" name="Shape 1">
            <a:extLst>
              <a:ext uri="{FF2B5EF4-FFF2-40B4-BE49-F238E27FC236}">
                <a16:creationId xmlns:a16="http://schemas.microsoft.com/office/drawing/2014/main" id="{D5699266-FB61-438E-F3BA-CC32597DE3C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9" name="TextBox 8">
            <a:extLst>
              <a:ext uri="{FF2B5EF4-FFF2-40B4-BE49-F238E27FC236}">
                <a16:creationId xmlns:a16="http://schemas.microsoft.com/office/drawing/2014/main" id="{C76CB1CF-9752-EA32-5A71-A8C9655209D8}"/>
              </a:ext>
            </a:extLst>
          </p:cNvPr>
          <p:cNvSpPr txBox="1"/>
          <p:nvPr/>
        </p:nvSpPr>
        <p:spPr>
          <a:xfrm>
            <a:off x="698808" y="1649633"/>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Construction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M has two shank style :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STYLE_STD </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 &amp;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STYLE_180_REV</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All the 3D models is based on the bellow sketches; these sketch has all the required dimension to construction the 3D models and drawings</a:t>
            </a:r>
          </a:p>
        </p:txBody>
      </p:sp>
      <p:sp>
        <p:nvSpPr>
          <p:cNvPr id="10" name="Shape 1">
            <a:extLst>
              <a:ext uri="{FF2B5EF4-FFF2-40B4-BE49-F238E27FC236}">
                <a16:creationId xmlns:a16="http://schemas.microsoft.com/office/drawing/2014/main" id="{927E8C01-A1A9-CF2D-F16B-7D37C77682BF}"/>
              </a:ext>
            </a:extLst>
          </p:cNvPr>
          <p:cNvSpPr/>
          <p:nvPr/>
        </p:nvSpPr>
        <p:spPr>
          <a:xfrm>
            <a:off x="569363" y="1762410"/>
            <a:ext cx="109728" cy="109728"/>
          </a:xfrm>
          <a:prstGeom prst="rect">
            <a:avLst/>
          </a:prstGeom>
          <a:solidFill>
            <a:srgbClr val="FF0000"/>
          </a:solidFill>
          <a:ln/>
        </p:spPr>
        <p:txBody>
          <a:bodyPr/>
          <a:lstStyle/>
          <a:p>
            <a:endParaRPr lang="en-US" dirty="0"/>
          </a:p>
        </p:txBody>
      </p:sp>
      <p:sp>
        <p:nvSpPr>
          <p:cNvPr id="27" name="TextBox 26">
            <a:extLst>
              <a:ext uri="{FF2B5EF4-FFF2-40B4-BE49-F238E27FC236}">
                <a16:creationId xmlns:a16="http://schemas.microsoft.com/office/drawing/2014/main" id="{B2230C8C-1D6F-2407-FA54-C2EACFEC147B}"/>
              </a:ext>
            </a:extLst>
          </p:cNvPr>
          <p:cNvSpPr txBox="1"/>
          <p:nvPr/>
        </p:nvSpPr>
        <p:spPr>
          <a:xfrm>
            <a:off x="5005065" y="3224728"/>
            <a:ext cx="3067449"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Never suppresses these features !  </a:t>
            </a:r>
          </a:p>
        </p:txBody>
      </p:sp>
      <p:pic>
        <p:nvPicPr>
          <p:cNvPr id="6" name="Picture 5">
            <a:extLst>
              <a:ext uri="{FF2B5EF4-FFF2-40B4-BE49-F238E27FC236}">
                <a16:creationId xmlns:a16="http://schemas.microsoft.com/office/drawing/2014/main" id="{C7D680B5-125A-998B-CDFB-CF665A69FE53}"/>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18744" y="2647982"/>
            <a:ext cx="3265147" cy="1691018"/>
          </a:xfrm>
          <a:prstGeom prst="rect">
            <a:avLst/>
          </a:prstGeom>
          <a:ln>
            <a:solidFill>
              <a:srgbClr val="FF0000"/>
            </a:solidFill>
          </a:ln>
        </p:spPr>
      </p:pic>
      <p:sp>
        <p:nvSpPr>
          <p:cNvPr id="8" name="TextBox 7">
            <a:extLst>
              <a:ext uri="{FF2B5EF4-FFF2-40B4-BE49-F238E27FC236}">
                <a16:creationId xmlns:a16="http://schemas.microsoft.com/office/drawing/2014/main" id="{EB87FB23-55BD-EDD7-6F13-B60C6DE68AF5}"/>
              </a:ext>
            </a:extLst>
          </p:cNvPr>
          <p:cNvSpPr txBox="1"/>
          <p:nvPr/>
        </p:nvSpPr>
        <p:spPr>
          <a:xfrm>
            <a:off x="709645" y="4558352"/>
            <a:ext cx="10794384"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need to calculate it based on with foot type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VG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CD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G groove,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Flate</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W,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foor</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depth = 0 </a:t>
            </a:r>
          </a:p>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have the equation , just in case of SLB feature make in the equation that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BA = 0deg</a:t>
            </a:r>
          </a:p>
        </p:txBody>
      </p:sp>
      <p:cxnSp>
        <p:nvCxnSpPr>
          <p:cNvPr id="4" name="Straight Arrow Connector 3">
            <a:extLst>
              <a:ext uri="{FF2B5EF4-FFF2-40B4-BE49-F238E27FC236}">
                <a16:creationId xmlns:a16="http://schemas.microsoft.com/office/drawing/2014/main" id="{35DA8E84-60FB-69E7-CE0C-40763AD2557B}"/>
              </a:ext>
            </a:extLst>
          </p:cNvPr>
          <p:cNvCxnSpPr>
            <a:cxnSpLocks/>
            <a:stCxn id="27" idx="1"/>
            <a:endCxn id="6" idx="3"/>
          </p:cNvCxnSpPr>
          <p:nvPr/>
        </p:nvCxnSpPr>
        <p:spPr>
          <a:xfrm flipH="1">
            <a:off x="3883891" y="3378617"/>
            <a:ext cx="1121174" cy="11487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1713F034-033A-0DFA-0DDF-0AD4F5915516}"/>
              </a:ext>
            </a:extLst>
          </p:cNvPr>
          <p:cNvPicPr>
            <a:picLocks noChangeAspect="1"/>
          </p:cNvPicPr>
          <p:nvPr/>
        </p:nvPicPr>
        <p:blipFill>
          <a:blip r:embed="rId4">
            <a:clrChange>
              <a:clrFrom>
                <a:srgbClr val="FFFFFF"/>
              </a:clrFrom>
              <a:clrTo>
                <a:srgbClr val="FFFFFF">
                  <a:alpha val="0"/>
                </a:srgbClr>
              </a:clrTo>
            </a:clrChange>
          </a:blip>
          <a:stretch>
            <a:fillRect/>
          </a:stretch>
        </p:blipFill>
        <p:spPr>
          <a:xfrm rot="10800000">
            <a:off x="9575299" y="2778850"/>
            <a:ext cx="2616701" cy="2788920"/>
          </a:xfrm>
          <a:prstGeom prst="rect">
            <a:avLst/>
          </a:prstGeom>
        </p:spPr>
      </p:pic>
    </p:spTree>
    <p:extLst>
      <p:ext uri="{BB962C8B-B14F-4D97-AF65-F5344CB8AC3E}">
        <p14:creationId xmlns:p14="http://schemas.microsoft.com/office/powerpoint/2010/main" val="424116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575DE-9F19-528B-2C80-ABECE11669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4C7D087-87FC-9BB7-F45B-2C469CEAD05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FC69386-4328-D96E-6A33-AFB6C3D0FF9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EA6CE21-EE56-4479-16C7-2CE3C2D509E5}"/>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557A4E5-0B05-E9A3-68B7-398154948E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4BF64C6-CA5D-338D-A225-AFE95A673B25}"/>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2A68F018-24F1-4006-A8C6-38A3D762E88A}"/>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08EA9345-5308-8967-5FBD-6F412F591CC7}"/>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F02C8642-4956-DAD3-7027-E25090E217A9}"/>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03A33F8-A12D-D217-A1E4-EF1378835049}"/>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1C4013F-F0C1-AC31-16B5-63228FF62538}"/>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630965"/>
            <a:ext cx="3400900" cy="2886478"/>
          </a:xfrm>
          <a:prstGeom prst="rect">
            <a:avLst/>
          </a:prstGeom>
        </p:spPr>
      </p:pic>
      <p:grpSp>
        <p:nvGrpSpPr>
          <p:cNvPr id="6" name="Group 5">
            <a:extLst>
              <a:ext uri="{FF2B5EF4-FFF2-40B4-BE49-F238E27FC236}">
                <a16:creationId xmlns:a16="http://schemas.microsoft.com/office/drawing/2014/main" id="{79C82B15-55D8-B2D5-B6DF-C622B2237413}"/>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CAE7ABF0-AFFE-2C30-2C7A-0B166B6A4908}"/>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DF128356-4381-C35E-2FE3-7EA8604D9D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EF961025-9154-794E-16C1-DBC7BDC61B99}"/>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ECE3CE56-5F58-0BB1-E34E-8CF30DBFFC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53A128EC-17BF-65BB-409A-B7E3AFCD4EA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74AB5003-A7DB-5076-C889-C13CD87F22BE}"/>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BC317F1B-F71A-6204-47A5-ABA629020C2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3FC50C98-1BEE-52C9-F0B6-78B42FDC3E6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B5E8B009-00AD-1644-F1B9-030170609EC9}"/>
              </a:ext>
            </a:extLst>
          </p:cNvPr>
          <p:cNvGrpSpPr/>
          <p:nvPr/>
        </p:nvGrpSpPr>
        <p:grpSpPr>
          <a:xfrm>
            <a:off x="4029879" y="4232530"/>
            <a:ext cx="4925807" cy="307777"/>
            <a:chOff x="4092326" y="1688590"/>
            <a:chExt cx="4925807" cy="307777"/>
          </a:xfrm>
        </p:grpSpPr>
        <p:sp>
          <p:nvSpPr>
            <p:cNvPr id="21" name="TextBox 20">
              <a:extLst>
                <a:ext uri="{FF2B5EF4-FFF2-40B4-BE49-F238E27FC236}">
                  <a16:creationId xmlns:a16="http://schemas.microsoft.com/office/drawing/2014/main" id="{D26A2E95-5122-105A-971F-D8CE39512C05}"/>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808F88B1-8F06-EF17-C44B-C16B82F61251}"/>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23" name="Picture 22">
            <a:extLst>
              <a:ext uri="{FF2B5EF4-FFF2-40B4-BE49-F238E27FC236}">
                <a16:creationId xmlns:a16="http://schemas.microsoft.com/office/drawing/2014/main" id="{C58D79B0-ED0B-B1CA-FBE7-A088B4E9203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534801" y="1110400"/>
            <a:ext cx="896893" cy="4958170"/>
          </a:xfrm>
          <a:prstGeom prst="rect">
            <a:avLst/>
          </a:prstGeom>
        </p:spPr>
      </p:pic>
      <p:pic>
        <p:nvPicPr>
          <p:cNvPr id="24" name="Picture 23">
            <a:extLst>
              <a:ext uri="{FF2B5EF4-FFF2-40B4-BE49-F238E27FC236}">
                <a16:creationId xmlns:a16="http://schemas.microsoft.com/office/drawing/2014/main" id="{8F27B32C-AFB7-5E9A-8CD2-6AC086D45EB5}"/>
              </a:ext>
            </a:extLst>
          </p:cNvPr>
          <p:cNvPicPr>
            <a:picLocks noChangeAspect="1"/>
          </p:cNvPicPr>
          <p:nvPr/>
        </p:nvPicPr>
        <p:blipFill>
          <a:blip r:embed="rId5">
            <a:clrChange>
              <a:clrFrom>
                <a:srgbClr val="F7F7F7"/>
              </a:clrFrom>
              <a:clrTo>
                <a:srgbClr val="F7F7F7">
                  <a:alpha val="0"/>
                </a:srgbClr>
              </a:clrTo>
            </a:clrChange>
          </a:blip>
          <a:stretch>
            <a:fillRect/>
          </a:stretch>
        </p:blipFill>
        <p:spPr>
          <a:xfrm>
            <a:off x="1292277" y="4586513"/>
            <a:ext cx="2800741" cy="447737"/>
          </a:xfrm>
          <a:prstGeom prst="rect">
            <a:avLst/>
          </a:prstGeom>
        </p:spPr>
      </p:pic>
      <p:grpSp>
        <p:nvGrpSpPr>
          <p:cNvPr id="32" name="Group 31">
            <a:extLst>
              <a:ext uri="{FF2B5EF4-FFF2-40B4-BE49-F238E27FC236}">
                <a16:creationId xmlns:a16="http://schemas.microsoft.com/office/drawing/2014/main" id="{FFA429FD-5E96-EBA1-34D3-5310723C8B0A}"/>
              </a:ext>
            </a:extLst>
          </p:cNvPr>
          <p:cNvGrpSpPr/>
          <p:nvPr/>
        </p:nvGrpSpPr>
        <p:grpSpPr>
          <a:xfrm>
            <a:off x="4029879" y="4680127"/>
            <a:ext cx="4925807" cy="307777"/>
            <a:chOff x="4092326" y="1688590"/>
            <a:chExt cx="4925807" cy="307777"/>
          </a:xfrm>
        </p:grpSpPr>
        <p:sp>
          <p:nvSpPr>
            <p:cNvPr id="33" name="TextBox 32">
              <a:extLst>
                <a:ext uri="{FF2B5EF4-FFF2-40B4-BE49-F238E27FC236}">
                  <a16:creationId xmlns:a16="http://schemas.microsoft.com/office/drawing/2014/main" id="{5DBDDC61-E0E2-9FF5-A30B-CA7DBEAD5A60}"/>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Need C, ND, NR, NA, FTA</a:t>
              </a:r>
            </a:p>
          </p:txBody>
        </p:sp>
        <p:cxnSp>
          <p:nvCxnSpPr>
            <p:cNvPr id="34" name="Straight Arrow Connector 33">
              <a:extLst>
                <a:ext uri="{FF2B5EF4-FFF2-40B4-BE49-F238E27FC236}">
                  <a16:creationId xmlns:a16="http://schemas.microsoft.com/office/drawing/2014/main" id="{9C4F413F-DF99-C2A7-3CC3-BBE6F2E1B46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01245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13E57-E590-FCF6-2DB1-DC6FAFE874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B765CF-E49B-5FB1-EA1A-39FEED21DE0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F317566-229A-4BA1-6885-347C6B03212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C90BC3B-CA23-2204-0C23-8D81EB9B0A8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2A08585-DA24-97DF-4E43-3FE056356FF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10405CA-DAF3-83A8-191E-FB63AA40DB74}"/>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8540319B-611C-E51C-2961-7020C837C205}"/>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2DB14DAE-FF62-09BC-9E2C-9905D7D3F9C9}"/>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090ED303-1A3E-C666-80E5-2B71B8BCBC6B}"/>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F5EA464-E03B-06DD-C05D-31F810CEBE9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D9BA09E6-1785-5491-6B1D-2C206BD3D11E}"/>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EB1CD3C8-2D95-8E20-80E4-8DA8D30A51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167F1D62-394B-57C9-7AA7-92BD89381DA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964A0392-9915-0FF6-4BBB-AC28600644FB}"/>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A0BA70AF-0A59-F0FF-9B0A-60C8DD86AE3F}"/>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60624312-6A41-7898-19D5-EAB29E18B357}"/>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55B0A8DA-A253-429F-FF9A-E481D8796885}"/>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47002DF9-94BF-EA48-03B6-C62D3B4533F4}"/>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A31A27D6-3430-3C6D-7311-AD6D52168D45}"/>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74ECB748-003D-5F61-F5C6-5C6DFCBA14F7}"/>
              </a:ext>
            </a:extLst>
          </p:cNvPr>
          <p:cNvGrpSpPr/>
          <p:nvPr/>
        </p:nvGrpSpPr>
        <p:grpSpPr>
          <a:xfrm>
            <a:off x="4029879" y="4209666"/>
            <a:ext cx="4925807" cy="307777"/>
            <a:chOff x="4092326" y="1688590"/>
            <a:chExt cx="4925807" cy="307777"/>
          </a:xfrm>
        </p:grpSpPr>
        <p:sp>
          <p:nvSpPr>
            <p:cNvPr id="21" name="TextBox 20">
              <a:extLst>
                <a:ext uri="{FF2B5EF4-FFF2-40B4-BE49-F238E27FC236}">
                  <a16:creationId xmlns:a16="http://schemas.microsoft.com/office/drawing/2014/main" id="{B3243490-67A5-4D38-A3CF-4D0868DD190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E3F45F80-8BC1-F1D2-FE1D-6E548BC4B4C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99589C12-DF4D-FCF5-5A3F-30A412BF775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833971" y="1681815"/>
            <a:ext cx="4001337" cy="2800012"/>
          </a:xfrm>
          <a:prstGeom prst="rect">
            <a:avLst/>
          </a:prstGeom>
        </p:spPr>
      </p:pic>
      <p:pic>
        <p:nvPicPr>
          <p:cNvPr id="26" name="Picture 25">
            <a:extLst>
              <a:ext uri="{FF2B5EF4-FFF2-40B4-BE49-F238E27FC236}">
                <a16:creationId xmlns:a16="http://schemas.microsoft.com/office/drawing/2014/main" id="{9D921E0C-2EAB-B048-F6A1-0ED75809FFC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069470" y="271567"/>
            <a:ext cx="1899205" cy="5954750"/>
          </a:xfrm>
          <a:prstGeom prst="rect">
            <a:avLst/>
          </a:prstGeom>
        </p:spPr>
      </p:pic>
      <p:grpSp>
        <p:nvGrpSpPr>
          <p:cNvPr id="3" name="Group 2">
            <a:extLst>
              <a:ext uri="{FF2B5EF4-FFF2-40B4-BE49-F238E27FC236}">
                <a16:creationId xmlns:a16="http://schemas.microsoft.com/office/drawing/2014/main" id="{EAD1413F-91F3-2287-5A62-3A64078C41DB}"/>
              </a:ext>
            </a:extLst>
          </p:cNvPr>
          <p:cNvGrpSpPr/>
          <p:nvPr/>
        </p:nvGrpSpPr>
        <p:grpSpPr>
          <a:xfrm>
            <a:off x="4066495" y="4629959"/>
            <a:ext cx="4925807" cy="307777"/>
            <a:chOff x="4092326" y="1688590"/>
            <a:chExt cx="4925807" cy="307777"/>
          </a:xfrm>
        </p:grpSpPr>
        <p:sp>
          <p:nvSpPr>
            <p:cNvPr id="23" name="TextBox 22">
              <a:extLst>
                <a:ext uri="{FF2B5EF4-FFF2-40B4-BE49-F238E27FC236}">
                  <a16:creationId xmlns:a16="http://schemas.microsoft.com/office/drawing/2014/main" id="{88F7090A-5A9B-553C-6DDB-0BBAD8CFED61}"/>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Need C, ND, NR, NA, FTA</a:t>
              </a:r>
            </a:p>
          </p:txBody>
        </p:sp>
        <p:cxnSp>
          <p:nvCxnSpPr>
            <p:cNvPr id="24" name="Straight Arrow Connector 23">
              <a:extLst>
                <a:ext uri="{FF2B5EF4-FFF2-40B4-BE49-F238E27FC236}">
                  <a16:creationId xmlns:a16="http://schemas.microsoft.com/office/drawing/2014/main" id="{1EC6FB13-D270-C62D-0EF5-B18CED2FAE3E}"/>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31" name="Picture 30">
            <a:extLst>
              <a:ext uri="{FF2B5EF4-FFF2-40B4-BE49-F238E27FC236}">
                <a16:creationId xmlns:a16="http://schemas.microsoft.com/office/drawing/2014/main" id="{6DD1BA0B-77E9-34B0-3512-F55FB024FBA0}"/>
              </a:ext>
            </a:extLst>
          </p:cNvPr>
          <p:cNvPicPr>
            <a:picLocks noChangeAspect="1"/>
          </p:cNvPicPr>
          <p:nvPr/>
        </p:nvPicPr>
        <p:blipFill>
          <a:blip r:embed="rId5">
            <a:clrChange>
              <a:clrFrom>
                <a:srgbClr val="F7F7F7"/>
              </a:clrFrom>
              <a:clrTo>
                <a:srgbClr val="F7F7F7">
                  <a:alpha val="0"/>
                </a:srgbClr>
              </a:clrTo>
            </a:clrChange>
          </a:blip>
          <a:stretch>
            <a:fillRect/>
          </a:stretch>
        </p:blipFill>
        <p:spPr>
          <a:xfrm>
            <a:off x="1677570" y="4569351"/>
            <a:ext cx="2314138" cy="427349"/>
          </a:xfrm>
          <a:prstGeom prst="rect">
            <a:avLst/>
          </a:prstGeom>
        </p:spPr>
      </p:pic>
    </p:spTree>
    <p:extLst>
      <p:ext uri="{BB962C8B-B14F-4D97-AF65-F5344CB8AC3E}">
        <p14:creationId xmlns:p14="http://schemas.microsoft.com/office/powerpoint/2010/main" val="76655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57E4-1B73-52D4-9ACF-52B58AFE91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2647C7-9B9F-3B8E-2056-F741A65ED24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622A6522-4086-41FE-30AF-C398A9A7F03C}"/>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A9FDE-DC58-F77C-4834-B69259327AB3}"/>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E063E-485C-3543-C2E3-330644AAB51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F25C349-8834-781B-A271-9C893A398A8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CE093B4A-ACB1-8139-6FC2-7EDDDEFCDA10}"/>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9" name="Group 8">
            <a:extLst>
              <a:ext uri="{FF2B5EF4-FFF2-40B4-BE49-F238E27FC236}">
                <a16:creationId xmlns:a16="http://schemas.microsoft.com/office/drawing/2014/main" id="{540048DF-E43E-F2BA-BEF7-8A185F6BB81B}"/>
              </a:ext>
            </a:extLst>
          </p:cNvPr>
          <p:cNvGrpSpPr/>
          <p:nvPr/>
        </p:nvGrpSpPr>
        <p:grpSpPr>
          <a:xfrm>
            <a:off x="2049623" y="2158997"/>
            <a:ext cx="4925807" cy="261610"/>
            <a:chOff x="4092326" y="1688590"/>
            <a:chExt cx="4925807" cy="261610"/>
          </a:xfrm>
        </p:grpSpPr>
        <p:sp>
          <p:nvSpPr>
            <p:cNvPr id="10" name="TextBox 9">
              <a:extLst>
                <a:ext uri="{FF2B5EF4-FFF2-40B4-BE49-F238E27FC236}">
                  <a16:creationId xmlns:a16="http://schemas.microsoft.com/office/drawing/2014/main" id="{A9F1FCD8-5CB0-7F15-EC01-879CD6A9B554}"/>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W2</a:t>
              </a:r>
            </a:p>
          </p:txBody>
        </p:sp>
        <p:cxnSp>
          <p:nvCxnSpPr>
            <p:cNvPr id="16" name="Straight Arrow Connector 15">
              <a:extLst>
                <a:ext uri="{FF2B5EF4-FFF2-40B4-BE49-F238E27FC236}">
                  <a16:creationId xmlns:a16="http://schemas.microsoft.com/office/drawing/2014/main" id="{F02FA1E4-E93E-A347-823F-BF6F88F7377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EF2271E0-9ACD-975D-9541-CE6577DF3AB3}"/>
              </a:ext>
            </a:extLst>
          </p:cNvPr>
          <p:cNvGrpSpPr/>
          <p:nvPr/>
        </p:nvGrpSpPr>
        <p:grpSpPr>
          <a:xfrm>
            <a:off x="2096794" y="2407049"/>
            <a:ext cx="4925807" cy="261610"/>
            <a:chOff x="4092326" y="1688590"/>
            <a:chExt cx="4925807" cy="261610"/>
          </a:xfrm>
        </p:grpSpPr>
        <p:sp>
          <p:nvSpPr>
            <p:cNvPr id="8" name="TextBox 7">
              <a:extLst>
                <a:ext uri="{FF2B5EF4-FFF2-40B4-BE49-F238E27FC236}">
                  <a16:creationId xmlns:a16="http://schemas.microsoft.com/office/drawing/2014/main" id="{150011E2-24E9-84F8-80DE-3D66058CDC1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RA2-RA2H</a:t>
              </a:r>
            </a:p>
          </p:txBody>
        </p:sp>
        <p:cxnSp>
          <p:nvCxnSpPr>
            <p:cNvPr id="11" name="Straight Arrow Connector 10">
              <a:extLst>
                <a:ext uri="{FF2B5EF4-FFF2-40B4-BE49-F238E27FC236}">
                  <a16:creationId xmlns:a16="http://schemas.microsoft.com/office/drawing/2014/main" id="{151537CF-46F2-1368-2678-3235C3E17FC6}"/>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ADA6D6AF-E6DC-7A44-EC99-E4CF46633343}"/>
              </a:ext>
            </a:extLst>
          </p:cNvPr>
          <p:cNvGrpSpPr/>
          <p:nvPr/>
        </p:nvGrpSpPr>
        <p:grpSpPr>
          <a:xfrm>
            <a:off x="2121327" y="2681368"/>
            <a:ext cx="4925807" cy="261610"/>
            <a:chOff x="4092326" y="1688590"/>
            <a:chExt cx="4925807" cy="261610"/>
          </a:xfrm>
        </p:grpSpPr>
        <p:sp>
          <p:nvSpPr>
            <p:cNvPr id="20" name="TextBox 19">
              <a:extLst>
                <a:ext uri="{FF2B5EF4-FFF2-40B4-BE49-F238E27FC236}">
                  <a16:creationId xmlns:a16="http://schemas.microsoft.com/office/drawing/2014/main" id="{D33020C6-3096-9989-1ADD-BB0C29CCA8A5}"/>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FRO </a:t>
              </a:r>
            </a:p>
          </p:txBody>
        </p:sp>
        <p:cxnSp>
          <p:nvCxnSpPr>
            <p:cNvPr id="21" name="Straight Arrow Connector 20">
              <a:extLst>
                <a:ext uri="{FF2B5EF4-FFF2-40B4-BE49-F238E27FC236}">
                  <a16:creationId xmlns:a16="http://schemas.microsoft.com/office/drawing/2014/main" id="{FC0912C6-B855-FB55-D1F1-8D15D1EDCC2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941D9F9A-BC76-B22B-B7A6-476E0582962D}"/>
              </a:ext>
            </a:extLst>
          </p:cNvPr>
          <p:cNvGrpSpPr/>
          <p:nvPr/>
        </p:nvGrpSpPr>
        <p:grpSpPr>
          <a:xfrm>
            <a:off x="2116529" y="2944618"/>
            <a:ext cx="7754531" cy="261610"/>
            <a:chOff x="4092326" y="1688590"/>
            <a:chExt cx="7754531" cy="261610"/>
          </a:xfrm>
        </p:grpSpPr>
        <p:sp>
          <p:nvSpPr>
            <p:cNvPr id="26" name="TextBox 25">
              <a:extLst>
                <a:ext uri="{FF2B5EF4-FFF2-40B4-BE49-F238E27FC236}">
                  <a16:creationId xmlns:a16="http://schemas.microsoft.com/office/drawing/2014/main" id="{9FCF4EBE-6313-8EFB-1BDE-5DE49C32DBAA}"/>
                </a:ext>
              </a:extLst>
            </p:cNvPr>
            <p:cNvSpPr txBox="1"/>
            <p:nvPr/>
          </p:nvSpPr>
          <p:spPr>
            <a:xfrm>
              <a:off x="5198127" y="1688590"/>
              <a:ext cx="6648730"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C, FTA, ND, NR , for NR values needed to be added in the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db</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by SPT</a:t>
              </a:r>
            </a:p>
          </p:txBody>
        </p:sp>
        <p:cxnSp>
          <p:nvCxnSpPr>
            <p:cNvPr id="27" name="Straight Arrow Connector 26">
              <a:extLst>
                <a:ext uri="{FF2B5EF4-FFF2-40B4-BE49-F238E27FC236}">
                  <a16:creationId xmlns:a16="http://schemas.microsoft.com/office/drawing/2014/main" id="{D7E9B737-A7F7-D437-0799-2D142A226F30}"/>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31" name="Picture 30">
            <a:extLst>
              <a:ext uri="{FF2B5EF4-FFF2-40B4-BE49-F238E27FC236}">
                <a16:creationId xmlns:a16="http://schemas.microsoft.com/office/drawing/2014/main" id="{47BBB5CC-17F5-A9F8-BA89-C97C5DD8AC3A}"/>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72876" y="3333003"/>
            <a:ext cx="1751427" cy="2848759"/>
          </a:xfrm>
          <a:prstGeom prst="rect">
            <a:avLst/>
          </a:prstGeom>
        </p:spPr>
      </p:pic>
      <p:sp>
        <p:nvSpPr>
          <p:cNvPr id="32" name="Rectangle 31">
            <a:extLst>
              <a:ext uri="{FF2B5EF4-FFF2-40B4-BE49-F238E27FC236}">
                <a16:creationId xmlns:a16="http://schemas.microsoft.com/office/drawing/2014/main" id="{6EA90A11-9B28-2946-FA9D-687CA781FF3C}"/>
              </a:ext>
            </a:extLst>
          </p:cNvPr>
          <p:cNvSpPr/>
          <p:nvPr/>
        </p:nvSpPr>
        <p:spPr>
          <a:xfrm>
            <a:off x="959005" y="3723989"/>
            <a:ext cx="1551621" cy="5604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C26E32E-29DC-30B5-8C04-68FCBA80B739}"/>
              </a:ext>
            </a:extLst>
          </p:cNvPr>
          <p:cNvSpPr/>
          <p:nvPr/>
        </p:nvSpPr>
        <p:spPr>
          <a:xfrm>
            <a:off x="959005" y="4489747"/>
            <a:ext cx="1551621" cy="77427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27792C6-91AB-F30D-F32A-5635293F40B4}"/>
              </a:ext>
            </a:extLst>
          </p:cNvPr>
          <p:cNvSpPr/>
          <p:nvPr/>
        </p:nvSpPr>
        <p:spPr>
          <a:xfrm>
            <a:off x="959005" y="5437998"/>
            <a:ext cx="1551621" cy="80556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978F0746-C413-3D61-63F5-33B8E7374477}"/>
              </a:ext>
            </a:extLst>
          </p:cNvPr>
          <p:cNvGrpSpPr/>
          <p:nvPr/>
        </p:nvGrpSpPr>
        <p:grpSpPr>
          <a:xfrm>
            <a:off x="2510626" y="3879005"/>
            <a:ext cx="8952827" cy="261610"/>
            <a:chOff x="4092326" y="1688590"/>
            <a:chExt cx="6917993" cy="261610"/>
          </a:xfrm>
        </p:grpSpPr>
        <p:sp>
          <p:nvSpPr>
            <p:cNvPr id="36" name="TextBox 35">
              <a:extLst>
                <a:ext uri="{FF2B5EF4-FFF2-40B4-BE49-F238E27FC236}">
                  <a16:creationId xmlns:a16="http://schemas.microsoft.com/office/drawing/2014/main" id="{B134C2A7-EEE4-5398-2174-C1C9E8E37577}"/>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std hole wire exit : Activate all these features, we need to have 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37" name="Straight Arrow Connector 36">
              <a:extLst>
                <a:ext uri="{FF2B5EF4-FFF2-40B4-BE49-F238E27FC236}">
                  <a16:creationId xmlns:a16="http://schemas.microsoft.com/office/drawing/2014/main" id="{6CF61C12-ACA8-90FF-2228-2FFB2D98BF9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8" name="Group 37">
            <a:extLst>
              <a:ext uri="{FF2B5EF4-FFF2-40B4-BE49-F238E27FC236}">
                <a16:creationId xmlns:a16="http://schemas.microsoft.com/office/drawing/2014/main" id="{6D241A06-895E-3CBB-EB67-C7E24AB7AFC2}"/>
              </a:ext>
            </a:extLst>
          </p:cNvPr>
          <p:cNvGrpSpPr/>
          <p:nvPr/>
        </p:nvGrpSpPr>
        <p:grpSpPr>
          <a:xfrm>
            <a:off x="2526553" y="4696019"/>
            <a:ext cx="9405252" cy="261610"/>
            <a:chOff x="4092326" y="1688590"/>
            <a:chExt cx="7942211" cy="261610"/>
          </a:xfrm>
        </p:grpSpPr>
        <p:sp>
          <p:nvSpPr>
            <p:cNvPr id="39" name="TextBox 38">
              <a:extLst>
                <a:ext uri="{FF2B5EF4-FFF2-40B4-BE49-F238E27FC236}">
                  <a16:creationId xmlns:a16="http://schemas.microsoft.com/office/drawing/2014/main" id="{5B30D1F0-4F4C-20DB-CCE3-F6635D4272CF}"/>
                </a:ext>
              </a:extLst>
            </p:cNvPr>
            <p:cNvSpPr txBox="1"/>
            <p:nvPr/>
          </p:nvSpPr>
          <p:spPr>
            <a:xfrm>
              <a:off x="5198126" y="1688590"/>
              <a:ext cx="6836411"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oval hole wire exit : Activate all these features, we need to have HW-HH-HA-Y-FNA-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0" name="Straight Arrow Connector 39">
              <a:extLst>
                <a:ext uri="{FF2B5EF4-FFF2-40B4-BE49-F238E27FC236}">
                  <a16:creationId xmlns:a16="http://schemas.microsoft.com/office/drawing/2014/main" id="{B83CB1CF-5291-C0F5-91B7-66C999CF9884}"/>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EA589EB7-2607-A733-7E6B-8EE1D6CF245D}"/>
              </a:ext>
            </a:extLst>
          </p:cNvPr>
          <p:cNvGrpSpPr/>
          <p:nvPr/>
        </p:nvGrpSpPr>
        <p:grpSpPr>
          <a:xfrm>
            <a:off x="2510626" y="5625294"/>
            <a:ext cx="8841315" cy="261610"/>
            <a:chOff x="4092326" y="1688590"/>
            <a:chExt cx="8841315" cy="261610"/>
          </a:xfrm>
        </p:grpSpPr>
        <p:sp>
          <p:nvSpPr>
            <p:cNvPr id="45" name="TextBox 44">
              <a:extLst>
                <a:ext uri="{FF2B5EF4-FFF2-40B4-BE49-F238E27FC236}">
                  <a16:creationId xmlns:a16="http://schemas.microsoft.com/office/drawing/2014/main" id="{19C512D6-862E-B784-926B-413BE3661F8B}"/>
                </a:ext>
              </a:extLst>
            </p:cNvPr>
            <p:cNvSpPr txBox="1"/>
            <p:nvPr/>
          </p:nvSpPr>
          <p:spPr>
            <a:xfrm>
              <a:off x="5198127" y="1688590"/>
              <a:ext cx="7735514"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slot  wire exit : Activate all these features, we need to have SW-ST-Y-FNA-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6" name="Straight Arrow Connector 45">
              <a:extLst>
                <a:ext uri="{FF2B5EF4-FFF2-40B4-BE49-F238E27FC236}">
                  <a16:creationId xmlns:a16="http://schemas.microsoft.com/office/drawing/2014/main" id="{43852B33-7FB1-8FDF-C0E8-19F297F975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28" name="Picture 27">
            <a:extLst>
              <a:ext uri="{FF2B5EF4-FFF2-40B4-BE49-F238E27FC236}">
                <a16:creationId xmlns:a16="http://schemas.microsoft.com/office/drawing/2014/main" id="{BA3B9F0A-7080-5221-E5CC-3BA05599C762}"/>
              </a:ext>
            </a:extLst>
          </p:cNvPr>
          <p:cNvPicPr>
            <a:picLocks noChangeAspect="1"/>
          </p:cNvPicPr>
          <p:nvPr/>
        </p:nvPicPr>
        <p:blipFill>
          <a:blip r:embed="rId4">
            <a:clrChange>
              <a:clrFrom>
                <a:srgbClr val="F7F7F7"/>
              </a:clrFrom>
              <a:clrTo>
                <a:srgbClr val="F7F7F7">
                  <a:alpha val="0"/>
                </a:srgbClr>
              </a:clrTo>
            </a:clrChange>
          </a:blip>
          <a:srcRect l="5566" r="18826"/>
          <a:stretch>
            <a:fillRect/>
          </a:stretch>
        </p:blipFill>
        <p:spPr>
          <a:xfrm>
            <a:off x="455777" y="1602389"/>
            <a:ext cx="1641017" cy="1641340"/>
          </a:xfrm>
          <a:prstGeom prst="rect">
            <a:avLst/>
          </a:prstGeom>
        </p:spPr>
      </p:pic>
    </p:spTree>
    <p:extLst>
      <p:ext uri="{BB962C8B-B14F-4D97-AF65-F5344CB8AC3E}">
        <p14:creationId xmlns:p14="http://schemas.microsoft.com/office/powerpoint/2010/main" val="1684805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91D9E-BF4C-C1B7-B55C-C615599A8BA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268B95C-66A8-7598-3121-716FEBFAFB9B}"/>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485439" y="1523060"/>
            <a:ext cx="3044655" cy="4372808"/>
          </a:xfrm>
          <a:prstGeom prst="rect">
            <a:avLst/>
          </a:prstGeom>
        </p:spPr>
      </p:pic>
      <p:sp>
        <p:nvSpPr>
          <p:cNvPr id="2" name="Text 0">
            <a:extLst>
              <a:ext uri="{FF2B5EF4-FFF2-40B4-BE49-F238E27FC236}">
                <a16:creationId xmlns:a16="http://schemas.microsoft.com/office/drawing/2014/main" id="{1798107D-F072-9257-6B81-4004A1E3983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9ADD7219-97DC-2A81-73A2-DB85C9F0EB3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40D980B-E7A2-B0E8-76AC-E752E0E0D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A7F434-45CC-2641-17F2-CC88F5CBA6F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99D3604-DE8E-5B97-073D-159CF39CEB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D0A515BB-2D1D-8494-84AB-2F9D10170DC6}"/>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0" name="Rectangle 29">
            <a:extLst>
              <a:ext uri="{FF2B5EF4-FFF2-40B4-BE49-F238E27FC236}">
                <a16:creationId xmlns:a16="http://schemas.microsoft.com/office/drawing/2014/main" id="{DAB7EC5A-B6BD-1F96-0388-C3C2AA56DEE0}"/>
              </a:ext>
            </a:extLst>
          </p:cNvPr>
          <p:cNvSpPr/>
          <p:nvPr/>
        </p:nvSpPr>
        <p:spPr>
          <a:xfrm>
            <a:off x="1095048" y="1777900"/>
            <a:ext cx="1915781" cy="1433649"/>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6623BAB8-6E32-7B04-CBCF-4512CDA18C09}"/>
              </a:ext>
            </a:extLst>
          </p:cNvPr>
          <p:cNvGrpSpPr/>
          <p:nvPr/>
        </p:nvGrpSpPr>
        <p:grpSpPr>
          <a:xfrm>
            <a:off x="3046513" y="4146105"/>
            <a:ext cx="8952827" cy="261610"/>
            <a:chOff x="4092326" y="1688590"/>
            <a:chExt cx="6917993" cy="261610"/>
          </a:xfrm>
        </p:grpSpPr>
        <p:sp>
          <p:nvSpPr>
            <p:cNvPr id="48" name="TextBox 47">
              <a:extLst>
                <a:ext uri="{FF2B5EF4-FFF2-40B4-BE49-F238E27FC236}">
                  <a16:creationId xmlns:a16="http://schemas.microsoft.com/office/drawing/2014/main" id="{CDD195EC-FC07-317E-912B-71CF4286F40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VG groove : Activate all these features, we need to GA-GD</a:t>
              </a:r>
            </a:p>
          </p:txBody>
        </p:sp>
        <p:cxnSp>
          <p:nvCxnSpPr>
            <p:cNvPr id="49" name="Straight Arrow Connector 48">
              <a:extLst>
                <a:ext uri="{FF2B5EF4-FFF2-40B4-BE49-F238E27FC236}">
                  <a16:creationId xmlns:a16="http://schemas.microsoft.com/office/drawing/2014/main" id="{1AA7AF94-0ADF-C262-9960-C63F72F0DF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4D50477F-C438-2B71-F6EE-87D3D0327E1F}"/>
              </a:ext>
            </a:extLst>
          </p:cNvPr>
          <p:cNvGrpSpPr/>
          <p:nvPr/>
        </p:nvGrpSpPr>
        <p:grpSpPr>
          <a:xfrm>
            <a:off x="3046513" y="5348179"/>
            <a:ext cx="8952827" cy="261610"/>
            <a:chOff x="4092326" y="1688590"/>
            <a:chExt cx="6917993" cy="261610"/>
          </a:xfrm>
        </p:grpSpPr>
        <p:sp>
          <p:nvSpPr>
            <p:cNvPr id="50" name="TextBox 49">
              <a:extLst>
                <a:ext uri="{FF2B5EF4-FFF2-40B4-BE49-F238E27FC236}">
                  <a16:creationId xmlns:a16="http://schemas.microsoft.com/office/drawing/2014/main" id="{6EBE52F7-33B6-31EE-1CBE-BFE9D73B0A6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G groove : Activate all these features, we need to GO-GD</a:t>
              </a:r>
            </a:p>
          </p:txBody>
        </p:sp>
        <p:cxnSp>
          <p:nvCxnSpPr>
            <p:cNvPr id="51" name="Straight Arrow Connector 50">
              <a:extLst>
                <a:ext uri="{FF2B5EF4-FFF2-40B4-BE49-F238E27FC236}">
                  <a16:creationId xmlns:a16="http://schemas.microsoft.com/office/drawing/2014/main" id="{7651EC1B-BC31-E23A-4413-D400E7EC701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C0F025B1-AE9E-6C10-83F5-D16479F9E9D2}"/>
              </a:ext>
            </a:extLst>
          </p:cNvPr>
          <p:cNvGrpSpPr/>
          <p:nvPr/>
        </p:nvGrpSpPr>
        <p:grpSpPr>
          <a:xfrm>
            <a:off x="3130253" y="1796333"/>
            <a:ext cx="8482627" cy="1277273"/>
            <a:chOff x="4092326" y="1688590"/>
            <a:chExt cx="6554662" cy="1277273"/>
          </a:xfrm>
        </p:grpSpPr>
        <p:sp>
          <p:nvSpPr>
            <p:cNvPr id="53" name="TextBox 52">
              <a:extLst>
                <a:ext uri="{FF2B5EF4-FFF2-40B4-BE49-F238E27FC236}">
                  <a16:creationId xmlns:a16="http://schemas.microsoft.com/office/drawing/2014/main" id="{C08C47AB-756D-FF78-A0F4-4184BC2C0541}"/>
                </a:ext>
              </a:extLst>
            </p:cNvPr>
            <p:cNvSpPr txBox="1"/>
            <p:nvPr/>
          </p:nvSpPr>
          <p:spPr>
            <a:xfrm>
              <a:off x="5198126" y="1688590"/>
              <a:ext cx="5448862" cy="1277273"/>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C groove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We have cases :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_</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we have C + CBR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endPar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Or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Based on FRO and FR values , CBR needs CBRL &amp; CBRD</a:t>
              </a:r>
            </a:p>
          </p:txBody>
        </p:sp>
        <p:cxnSp>
          <p:nvCxnSpPr>
            <p:cNvPr id="54" name="Straight Arrow Connector 53">
              <a:extLst>
                <a:ext uri="{FF2B5EF4-FFF2-40B4-BE49-F238E27FC236}">
                  <a16:creationId xmlns:a16="http://schemas.microsoft.com/office/drawing/2014/main" id="{0BA8BC30-C8D4-C738-CE77-95FC51B253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8" name="Rectangle 7">
            <a:extLst>
              <a:ext uri="{FF2B5EF4-FFF2-40B4-BE49-F238E27FC236}">
                <a16:creationId xmlns:a16="http://schemas.microsoft.com/office/drawing/2014/main" id="{AEF6D69E-CC35-B3E0-32A7-633F42176C20}"/>
              </a:ext>
            </a:extLst>
          </p:cNvPr>
          <p:cNvSpPr/>
          <p:nvPr/>
        </p:nvSpPr>
        <p:spPr>
          <a:xfrm>
            <a:off x="1130160" y="3545200"/>
            <a:ext cx="1915781" cy="968814"/>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93B83AC-0F4B-9C53-4258-20E4ACE39664}"/>
              </a:ext>
            </a:extLst>
          </p:cNvPr>
          <p:cNvSpPr/>
          <p:nvPr/>
        </p:nvSpPr>
        <p:spPr>
          <a:xfrm>
            <a:off x="1165272" y="4886420"/>
            <a:ext cx="1915781" cy="100944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3601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A435-E62C-E199-66BE-9F46B673C0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D5EE94-19AF-684C-5703-CF5C812CCF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150BCC-68B2-967F-4D6C-B4B6EE65674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1E90E8C-4517-B647-86B6-24008590374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ACC564F-25BE-42FB-5F87-2EB82A20CC3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59940C3-8943-ED2D-E326-AF88D1F32F0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93FE6C76-EA6B-E409-3CF3-E243C6B2B0B5}"/>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9" name="TextBox 18">
            <a:extLst>
              <a:ext uri="{FF2B5EF4-FFF2-40B4-BE49-F238E27FC236}">
                <a16:creationId xmlns:a16="http://schemas.microsoft.com/office/drawing/2014/main" id="{26FBE416-FF1F-1617-8984-92CB7526CAAC}"/>
              </a:ext>
            </a:extLst>
          </p:cNvPr>
          <p:cNvSpPr txBox="1"/>
          <p:nvPr/>
        </p:nvSpPr>
        <p:spPr>
          <a:xfrm>
            <a:off x="3946771" y="3807107"/>
            <a:ext cx="7521771" cy="261610"/>
          </a:xfrm>
          <a:prstGeom prst="rect">
            <a:avLst/>
          </a:prstGeom>
          <a:noFill/>
        </p:spPr>
        <p:txBody>
          <a:bodyPr wrap="square" rtlCol="0">
            <a:spAutoFit/>
          </a:bodyPr>
          <a:lstStyle/>
          <a:p>
            <a:r>
              <a:rPr lang="en-US" sz="1100" dirty="0">
                <a:latin typeface="Tahoma" panose="020B0604030504040204" pitchFamily="34" charset="0"/>
                <a:ea typeface="Tahoma" panose="020B0604030504040204" pitchFamily="34" charset="0"/>
                <a:cs typeface="Tahoma" panose="020B0604030504040204" pitchFamily="34" charset="0"/>
              </a:rPr>
              <a:t>The same rules as std shank , main difference is the name of feature have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rev</a:t>
            </a:r>
            <a:r>
              <a:rPr lang="en-US" sz="1100" dirty="0">
                <a:latin typeface="Tahoma" panose="020B0604030504040204" pitchFamily="34" charset="0"/>
                <a:ea typeface="Tahoma" panose="020B0604030504040204" pitchFamily="34" charset="0"/>
                <a:cs typeface="Tahoma" panose="020B0604030504040204" pitchFamily="34" charset="0"/>
              </a:rPr>
              <a:t> rather then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std</a:t>
            </a:r>
            <a:r>
              <a:rPr lang="en-US" sz="1100" dirty="0">
                <a:latin typeface="Tahoma" panose="020B0604030504040204" pitchFamily="34" charset="0"/>
                <a:ea typeface="Tahoma" panose="020B0604030504040204" pitchFamily="34" charset="0"/>
                <a:cs typeface="Tahoma" panose="020B0604030504040204" pitchFamily="34" charset="0"/>
              </a:rPr>
              <a:t> </a:t>
            </a:r>
          </a:p>
        </p:txBody>
      </p:sp>
      <p:pic>
        <p:nvPicPr>
          <p:cNvPr id="4" name="Picture 3">
            <a:extLst>
              <a:ext uri="{FF2B5EF4-FFF2-40B4-BE49-F238E27FC236}">
                <a16:creationId xmlns:a16="http://schemas.microsoft.com/office/drawing/2014/main" id="{116A4C1D-F0C5-C022-75ED-57C217CD0298}"/>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800543" y="1558704"/>
            <a:ext cx="2906122" cy="4149538"/>
          </a:xfrm>
          <a:prstGeom prst="rect">
            <a:avLst/>
          </a:prstGeom>
        </p:spPr>
      </p:pic>
    </p:spTree>
    <p:extLst>
      <p:ext uri="{BB962C8B-B14F-4D97-AF65-F5344CB8AC3E}">
        <p14:creationId xmlns:p14="http://schemas.microsoft.com/office/powerpoint/2010/main" val="1340246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E8EB8-F7D4-6227-4262-2CA84B7D1E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F55641-9BE6-8749-9156-732E89978D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3B6D9B-BE56-507A-CD31-4F4DD36FF05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F19C887-C1C7-0998-75A6-949782BA6CB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2ED3D0-81D2-8D95-1BD1-5D02194BA96F}"/>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3C804B2-6720-7CAC-EB3E-2AA1F7EB862F}"/>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We can select the type of drawing from drawings properties manager, PGB no need to fill these properties</a:t>
            </a:r>
          </a:p>
        </p:txBody>
      </p:sp>
      <p:sp>
        <p:nvSpPr>
          <p:cNvPr id="7" name="Shape 1">
            <a:extLst>
              <a:ext uri="{FF2B5EF4-FFF2-40B4-BE49-F238E27FC236}">
                <a16:creationId xmlns:a16="http://schemas.microsoft.com/office/drawing/2014/main" id="{3C662E84-5CAB-1395-6B6A-9D9DEBC9698E}"/>
              </a:ext>
            </a:extLst>
          </p:cNvPr>
          <p:cNvSpPr/>
          <p:nvPr/>
        </p:nvSpPr>
        <p:spPr>
          <a:xfrm>
            <a:off x="563880" y="889684"/>
            <a:ext cx="109728" cy="109728"/>
          </a:xfrm>
          <a:prstGeom prst="rect">
            <a:avLst/>
          </a:prstGeom>
          <a:solidFill>
            <a:srgbClr val="FF0000"/>
          </a:solidFill>
          <a:ln/>
        </p:spPr>
        <p:txBody>
          <a:bodyPr/>
          <a:lstStyle/>
          <a:p>
            <a:endParaRPr lang="en-US" dirty="0"/>
          </a:p>
        </p:txBody>
      </p:sp>
      <p:pic>
        <p:nvPicPr>
          <p:cNvPr id="6" name="Picture 5">
            <a:extLst>
              <a:ext uri="{FF2B5EF4-FFF2-40B4-BE49-F238E27FC236}">
                <a16:creationId xmlns:a16="http://schemas.microsoft.com/office/drawing/2014/main" id="{2346C58D-5A46-2C2A-EC3C-C273A9A7FEAF}"/>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8353892" y="1283102"/>
            <a:ext cx="3205479" cy="806712"/>
          </a:xfrm>
          <a:prstGeom prst="rect">
            <a:avLst/>
          </a:prstGeom>
        </p:spPr>
      </p:pic>
      <p:pic>
        <p:nvPicPr>
          <p:cNvPr id="10" name="Picture 9">
            <a:extLst>
              <a:ext uri="{FF2B5EF4-FFF2-40B4-BE49-F238E27FC236}">
                <a16:creationId xmlns:a16="http://schemas.microsoft.com/office/drawing/2014/main" id="{58B67CDB-CC10-C895-DF70-FA6DFD2A443B}"/>
              </a:ext>
            </a:extLst>
          </p:cNvPr>
          <p:cNvPicPr>
            <a:picLocks noChangeAspect="1"/>
          </p:cNvPicPr>
          <p:nvPr/>
        </p:nvPicPr>
        <p:blipFill>
          <a:blip r:embed="rId4"/>
          <a:stretch>
            <a:fillRect/>
          </a:stretch>
        </p:blipFill>
        <p:spPr>
          <a:xfrm>
            <a:off x="632629" y="1373892"/>
            <a:ext cx="6292427" cy="737805"/>
          </a:xfrm>
          <a:prstGeom prst="rect">
            <a:avLst/>
          </a:prstGeom>
        </p:spPr>
      </p:pic>
      <p:pic>
        <p:nvPicPr>
          <p:cNvPr id="25" name="Picture 24">
            <a:extLst>
              <a:ext uri="{FF2B5EF4-FFF2-40B4-BE49-F238E27FC236}">
                <a16:creationId xmlns:a16="http://schemas.microsoft.com/office/drawing/2014/main" id="{C48E2560-C7CC-D68B-ACAC-6DC0129CE5C0}"/>
              </a:ext>
            </a:extLst>
          </p:cNvPr>
          <p:cNvPicPr>
            <a:picLocks noChangeAspect="1"/>
          </p:cNvPicPr>
          <p:nvPr/>
        </p:nvPicPr>
        <p:blipFill>
          <a:blip r:embed="rId5">
            <a:clrChange>
              <a:clrFrom>
                <a:srgbClr val="F7F7F7"/>
              </a:clrFrom>
              <a:clrTo>
                <a:srgbClr val="F7F7F7">
                  <a:alpha val="0"/>
                </a:srgbClr>
              </a:clrTo>
            </a:clrChange>
          </a:blip>
          <a:stretch>
            <a:fillRect/>
          </a:stretch>
        </p:blipFill>
        <p:spPr>
          <a:xfrm>
            <a:off x="632629" y="2734174"/>
            <a:ext cx="3909591" cy="2864786"/>
          </a:xfrm>
          <a:prstGeom prst="rect">
            <a:avLst/>
          </a:prstGeom>
        </p:spPr>
      </p:pic>
      <p:cxnSp>
        <p:nvCxnSpPr>
          <p:cNvPr id="26" name="Straight Arrow Connector 25">
            <a:extLst>
              <a:ext uri="{FF2B5EF4-FFF2-40B4-BE49-F238E27FC236}">
                <a16:creationId xmlns:a16="http://schemas.microsoft.com/office/drawing/2014/main" id="{96F48ABA-AD16-5C35-F9CE-3591F77A21CB}"/>
              </a:ext>
            </a:extLst>
          </p:cNvPr>
          <p:cNvCxnSpPr/>
          <p:nvPr/>
        </p:nvCxnSpPr>
        <p:spPr>
          <a:xfrm flipH="1">
            <a:off x="3578629" y="3729182"/>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2BE992F-507D-04FD-DBA9-2BF209B98ADE}"/>
              </a:ext>
            </a:extLst>
          </p:cNvPr>
          <p:cNvCxnSpPr/>
          <p:nvPr/>
        </p:nvCxnSpPr>
        <p:spPr>
          <a:xfrm flipH="1">
            <a:off x="3663296" y="4127116"/>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8251517-D9F7-47A6-5DEB-A6ED95D0B940}"/>
              </a:ext>
            </a:extLst>
          </p:cNvPr>
          <p:cNvCxnSpPr/>
          <p:nvPr/>
        </p:nvCxnSpPr>
        <p:spPr>
          <a:xfrm flipH="1">
            <a:off x="3663296" y="4499650"/>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E565820-1759-84BD-E452-93F74E4C09D4}"/>
              </a:ext>
            </a:extLst>
          </p:cNvPr>
          <p:cNvCxnSpPr/>
          <p:nvPr/>
        </p:nvCxnSpPr>
        <p:spPr>
          <a:xfrm flipH="1">
            <a:off x="3663296" y="4872184"/>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2C9A2F9-49F6-5398-A1B6-4E1335DD792B}"/>
              </a:ext>
            </a:extLst>
          </p:cNvPr>
          <p:cNvCxnSpPr/>
          <p:nvPr/>
        </p:nvCxnSpPr>
        <p:spPr>
          <a:xfrm flipH="1">
            <a:off x="4143894" y="5312451"/>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8400264D-9FF9-329D-2D30-EC8268EB42BB}"/>
              </a:ext>
            </a:extLst>
          </p:cNvPr>
          <p:cNvSpPr txBox="1"/>
          <p:nvPr/>
        </p:nvSpPr>
        <p:spPr>
          <a:xfrm>
            <a:off x="4793827" y="3555362"/>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a:t>
            </a:r>
          </a:p>
        </p:txBody>
      </p:sp>
      <p:sp>
        <p:nvSpPr>
          <p:cNvPr id="51" name="TextBox 50">
            <a:extLst>
              <a:ext uri="{FF2B5EF4-FFF2-40B4-BE49-F238E27FC236}">
                <a16:creationId xmlns:a16="http://schemas.microsoft.com/office/drawing/2014/main" id="{19DC1CF5-C23F-1076-39E6-8AE09AECF5CC}"/>
              </a:ext>
            </a:extLst>
          </p:cNvPr>
          <p:cNvSpPr txBox="1"/>
          <p:nvPr/>
        </p:nvSpPr>
        <p:spPr>
          <a:xfrm>
            <a:off x="4793827" y="3984666"/>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p>
        </p:txBody>
      </p:sp>
      <p:sp>
        <p:nvSpPr>
          <p:cNvPr id="52" name="TextBox 51">
            <a:extLst>
              <a:ext uri="{FF2B5EF4-FFF2-40B4-BE49-F238E27FC236}">
                <a16:creationId xmlns:a16="http://schemas.microsoft.com/office/drawing/2014/main" id="{2A703EDA-FB36-8F77-DBDF-B80C15B424A8}"/>
              </a:ext>
            </a:extLst>
          </p:cNvPr>
          <p:cNvSpPr txBox="1"/>
          <p:nvPr/>
        </p:nvSpPr>
        <p:spPr>
          <a:xfrm>
            <a:off x="4878494" y="4340781"/>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a:t>
            </a:r>
          </a:p>
        </p:txBody>
      </p:sp>
      <p:sp>
        <p:nvSpPr>
          <p:cNvPr id="53" name="TextBox 52">
            <a:extLst>
              <a:ext uri="{FF2B5EF4-FFF2-40B4-BE49-F238E27FC236}">
                <a16:creationId xmlns:a16="http://schemas.microsoft.com/office/drawing/2014/main" id="{D4FD8218-B1DA-7B9E-1E12-FB7F2E4E7743}"/>
              </a:ext>
            </a:extLst>
          </p:cNvPr>
          <p:cNvSpPr txBox="1"/>
          <p:nvPr/>
        </p:nvSpPr>
        <p:spPr>
          <a:xfrm>
            <a:off x="4793827" y="4713314"/>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a:t>
            </a:r>
          </a:p>
        </p:txBody>
      </p:sp>
      <p:sp>
        <p:nvSpPr>
          <p:cNvPr id="54" name="TextBox 53">
            <a:extLst>
              <a:ext uri="{FF2B5EF4-FFF2-40B4-BE49-F238E27FC236}">
                <a16:creationId xmlns:a16="http://schemas.microsoft.com/office/drawing/2014/main" id="{91C54A75-1906-7456-9E48-8F226686B8FD}"/>
              </a:ext>
            </a:extLst>
          </p:cNvPr>
          <p:cNvSpPr txBox="1"/>
          <p:nvPr/>
        </p:nvSpPr>
        <p:spPr>
          <a:xfrm>
            <a:off x="5361093" y="5134185"/>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a:t>
            </a:r>
          </a:p>
        </p:txBody>
      </p:sp>
    </p:spTree>
    <p:extLst>
      <p:ext uri="{BB962C8B-B14F-4D97-AF65-F5344CB8AC3E}">
        <p14:creationId xmlns:p14="http://schemas.microsoft.com/office/powerpoint/2010/main" val="3678626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EA1BF-31C1-7B25-6FF2-6F606D2596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F8A08D-E5A6-C228-C3AD-F320F18C14A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2675C3B-F1F2-C296-5E88-F1EE2FDBDEA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5B277A0-AA3B-B3BE-C49C-002D7B264A2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B49AAA6-072F-6C2E-5008-1B82E815B12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F3B6541-6274-159A-3CAB-82F09A4BA85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PGB : </a:t>
            </a:r>
          </a:p>
        </p:txBody>
      </p:sp>
      <p:sp>
        <p:nvSpPr>
          <p:cNvPr id="7" name="Shape 1">
            <a:extLst>
              <a:ext uri="{FF2B5EF4-FFF2-40B4-BE49-F238E27FC236}">
                <a16:creationId xmlns:a16="http://schemas.microsoft.com/office/drawing/2014/main" id="{BBBDCF79-76FA-6CBE-AB8F-5183D4E43A3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5EEEE67C-7218-F389-D3AF-3812F519A5E3}"/>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525BB85E-64BC-A557-5D10-7CE2D60C764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196631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8996A-A23C-C0CC-B99D-8F0E1A2704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EF634B-A3B5-955D-DC97-22F9C27F6C4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2607851-E2BC-87E1-17DF-6CE383ACB68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22D3EA2E-992A-66C3-7B82-00188E43FE3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2A8C881D-F063-4595-4C17-312E93D9AD4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EAAB318-9BFE-EC28-96F0-3A70C6CEC338}"/>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PGB : </a:t>
            </a:r>
          </a:p>
        </p:txBody>
      </p:sp>
      <p:sp>
        <p:nvSpPr>
          <p:cNvPr id="7" name="Shape 1">
            <a:extLst>
              <a:ext uri="{FF2B5EF4-FFF2-40B4-BE49-F238E27FC236}">
                <a16:creationId xmlns:a16="http://schemas.microsoft.com/office/drawing/2014/main" id="{4203DA58-8CAF-7155-3C61-0B38E071092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24E6CE23-5ED8-82E5-0D44-48B6FB2B22D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7C952C4-28C7-E5D1-36C2-84E7ED7201D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857864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98B38-17B1-5284-916B-7E9AD3EC97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4BC1789-4D6E-046C-A6BA-AF937616994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580465AB-FBE1-1C9B-28DE-557E6E99ADC4}"/>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7EA5D5C-4840-47B1-8ACF-09C224012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9F09029-98F2-79D7-1065-B313FFD24F7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33861FEA-84E8-C5D3-E431-6624FE5A11B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PGB : </a:t>
            </a:r>
          </a:p>
        </p:txBody>
      </p:sp>
      <p:sp>
        <p:nvSpPr>
          <p:cNvPr id="7" name="Shape 1">
            <a:extLst>
              <a:ext uri="{FF2B5EF4-FFF2-40B4-BE49-F238E27FC236}">
                <a16:creationId xmlns:a16="http://schemas.microsoft.com/office/drawing/2014/main" id="{B9A6701E-F6B4-0873-B47D-5FB1A9E9676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A82505D-D05D-44AA-DE27-812BF114644A}"/>
              </a:ext>
            </a:extLst>
          </p:cNvPr>
          <p:cNvSpPr txBox="1"/>
          <p:nvPr/>
        </p:nvSpPr>
        <p:spPr>
          <a:xfrm>
            <a:off x="3271521" y="1399962"/>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34F79B4B-E548-66BB-C48E-D32315E6067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558" y="2635214"/>
            <a:ext cx="3227136" cy="2655824"/>
          </a:xfrm>
          <a:prstGeom prst="rect">
            <a:avLst/>
          </a:prstGeom>
        </p:spPr>
      </p:pic>
    </p:spTree>
    <p:extLst>
      <p:ext uri="{BB962C8B-B14F-4D97-AF65-F5344CB8AC3E}">
        <p14:creationId xmlns:p14="http://schemas.microsoft.com/office/powerpoint/2010/main" val="10345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2002-2E58-C585-8688-90E2054FF6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C32FE1-6868-89DF-25C1-3F8DC032343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253B30C-4714-2134-20FD-30462CD9D27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70ED5EA-0E1C-CEB4-6F34-BE12564AA41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0AB46B0-0639-A9A7-35D6-A0ADE9B2E2E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63D8AF6-1B7B-5DE1-8C47-E3A01FBD01C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PGB : </a:t>
            </a:r>
          </a:p>
        </p:txBody>
      </p:sp>
      <p:sp>
        <p:nvSpPr>
          <p:cNvPr id="7" name="Shape 1">
            <a:extLst>
              <a:ext uri="{FF2B5EF4-FFF2-40B4-BE49-F238E27FC236}">
                <a16:creationId xmlns:a16="http://schemas.microsoft.com/office/drawing/2014/main" id="{D99A5E2E-1BFC-7074-614D-AC6E8EC7CF60}"/>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887F4D4-34A1-70EE-DE4C-498CD24C2DA0}"/>
              </a:ext>
            </a:extLst>
          </p:cNvPr>
          <p:cNvSpPr txBox="1"/>
          <p:nvPr/>
        </p:nvSpPr>
        <p:spPr>
          <a:xfrm>
            <a:off x="3076787" y="1434729"/>
            <a:ext cx="8536093" cy="203132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CAF9653-F7C5-E629-0F46-34E110F961A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708716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9C701-A8E9-9248-DE75-CAAD20E53F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051164-A092-A691-A55B-E13EA2215F74}"/>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F6A13CD-6DB3-A2C0-AB27-1935DE34FFE8}"/>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4AF092E-3203-FC5C-F927-855ECEF0BA7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4B0EE9B-42E4-2F90-DB5C-7BDB7B2AF35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A3A856D-CE2E-8F25-486A-442C16EA5A2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PGB : </a:t>
            </a:r>
          </a:p>
        </p:txBody>
      </p:sp>
      <p:sp>
        <p:nvSpPr>
          <p:cNvPr id="7" name="Shape 1">
            <a:extLst>
              <a:ext uri="{FF2B5EF4-FFF2-40B4-BE49-F238E27FC236}">
                <a16:creationId xmlns:a16="http://schemas.microsoft.com/office/drawing/2014/main" id="{FD5D9B35-A524-50A1-5985-FA827409932F}"/>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A9D794A-7617-1F5F-EE50-E3440B78B657}"/>
              </a:ext>
            </a:extLst>
          </p:cNvPr>
          <p:cNvSpPr txBox="1"/>
          <p:nvPr/>
        </p:nvSpPr>
        <p:spPr>
          <a:xfrm>
            <a:off x="3655907" y="1399962"/>
            <a:ext cx="8536093" cy="2893100"/>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FCB0609-1815-103A-AC38-26DD690BFB49}"/>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214433" y="1498074"/>
            <a:ext cx="3478851" cy="4281180"/>
          </a:xfrm>
          <a:prstGeom prst="rect">
            <a:avLst/>
          </a:prstGeom>
        </p:spPr>
      </p:pic>
    </p:spTree>
    <p:extLst>
      <p:ext uri="{BB962C8B-B14F-4D97-AF65-F5344CB8AC3E}">
        <p14:creationId xmlns:p14="http://schemas.microsoft.com/office/powerpoint/2010/main" val="4066332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C650-6AF3-56A0-9FC6-0E92348408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5F943C-D517-DC64-4A24-1FA144B2FDC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30C8699-0E73-9D6D-70A5-0A86F11131C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A9020F1-D766-F280-0D9A-28CCE2EE6E1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7FCB0-8B4E-77DE-0530-960E748758CA}"/>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879A5A2E-8F87-590A-755C-2C4B2BC8A4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FG : </a:t>
            </a:r>
          </a:p>
        </p:txBody>
      </p:sp>
      <p:sp>
        <p:nvSpPr>
          <p:cNvPr id="7" name="Shape 1">
            <a:extLst>
              <a:ext uri="{FF2B5EF4-FFF2-40B4-BE49-F238E27FC236}">
                <a16:creationId xmlns:a16="http://schemas.microsoft.com/office/drawing/2014/main" id="{50BF857D-AA88-2E51-66F1-D5EF3D01DDC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AA378D2-0E38-FFF5-C397-3D92200D860F}"/>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F9E59BA-259F-55A3-49FD-8E124BCBB99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5822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FEF7-DF86-F9B3-54A8-6825C1F79E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3A9888-98BD-2FBE-BBDB-5D105438EB0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C9CB857-CA68-4AE0-7BE2-CB4904EB25B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EDD8259-DF83-989B-6214-E9457594435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155FEA9-5118-C85F-3BC3-BAD92832688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A0D3E26-CE3C-EC5E-ED97-F28AA46FD5F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FG : </a:t>
            </a:r>
          </a:p>
        </p:txBody>
      </p:sp>
      <p:sp>
        <p:nvSpPr>
          <p:cNvPr id="7" name="Shape 1">
            <a:extLst>
              <a:ext uri="{FF2B5EF4-FFF2-40B4-BE49-F238E27FC236}">
                <a16:creationId xmlns:a16="http://schemas.microsoft.com/office/drawing/2014/main" id="{5732D0AF-CD62-A074-658C-B2901198EA5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D4ECAC0F-E18A-0547-1908-385B1B3BCB4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B7005A51-92F0-DDCE-53AF-EC08ADF2879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1051003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CF35-EABE-29E3-B253-5C12DAD9AE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DDA985-ECD0-4093-50D6-64AF0FDEE652}"/>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0189745-9A60-5BAD-FDC8-1BD3915CD9D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9E853FC-CF59-EE3D-1507-7AD1B938D5E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1A6B69D-8CD5-54C3-953F-FBFAB04114C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D0537965-A36F-06F6-DB18-850B35FC625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FG : </a:t>
            </a:r>
          </a:p>
        </p:txBody>
      </p:sp>
      <p:sp>
        <p:nvSpPr>
          <p:cNvPr id="7" name="Shape 1">
            <a:extLst>
              <a:ext uri="{FF2B5EF4-FFF2-40B4-BE49-F238E27FC236}">
                <a16:creationId xmlns:a16="http://schemas.microsoft.com/office/drawing/2014/main" id="{29A32888-CEC5-77E0-FE63-EB84242F7C4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0C592A6-6EE4-B452-CBA5-B1EC7AA32A74}"/>
              </a:ext>
            </a:extLst>
          </p:cNvPr>
          <p:cNvSpPr txBox="1"/>
          <p:nvPr/>
        </p:nvSpPr>
        <p:spPr>
          <a:xfrm>
            <a:off x="3076787" y="1434729"/>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6EFC334-6D04-7C63-A4F6-893EE4FDDD8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4308" y="1957949"/>
            <a:ext cx="3227136" cy="2655824"/>
          </a:xfrm>
          <a:prstGeom prst="rect">
            <a:avLst/>
          </a:prstGeom>
        </p:spPr>
      </p:pic>
    </p:spTree>
    <p:extLst>
      <p:ext uri="{BB962C8B-B14F-4D97-AF65-F5344CB8AC3E}">
        <p14:creationId xmlns:p14="http://schemas.microsoft.com/office/powerpoint/2010/main" val="3857647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A3AC-F8A1-7801-6F46-8A67710B59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6D0AE2-23EC-D749-4062-CF3CCA94AA3F}"/>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17D8DAC-5036-60C1-5040-75C92042726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A0992FE-DC9D-8497-E8FE-EE22804B38F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0A6B295-7042-BDCF-787D-442DDDE61034}"/>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EE52116-2A31-603E-5298-BEC6CF864E0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FG : </a:t>
            </a:r>
          </a:p>
        </p:txBody>
      </p:sp>
      <p:sp>
        <p:nvSpPr>
          <p:cNvPr id="7" name="Shape 1">
            <a:extLst>
              <a:ext uri="{FF2B5EF4-FFF2-40B4-BE49-F238E27FC236}">
                <a16:creationId xmlns:a16="http://schemas.microsoft.com/office/drawing/2014/main" id="{C85FA02D-7C3A-A980-E04B-E5F4FFB5514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53FF-D1BC-98C1-D9DF-5AD79520EF35}"/>
              </a:ext>
            </a:extLst>
          </p:cNvPr>
          <p:cNvSpPr txBox="1"/>
          <p:nvPr/>
        </p:nvSpPr>
        <p:spPr>
          <a:xfrm>
            <a:off x="3076787" y="1434729"/>
            <a:ext cx="8536093"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W2@annotation_right_plan </a:t>
            </a:r>
            <a:r>
              <a:rPr lang="en-US" sz="1400" dirty="0">
                <a:latin typeface="Tahoma" panose="020B0604030504040204" pitchFamily="34" charset="0"/>
                <a:ea typeface="Tahoma" panose="020B0604030504040204" pitchFamily="34" charset="0"/>
                <a:cs typeface="Tahoma" panose="020B0604030504040204" pitchFamily="34" charset="0"/>
              </a:rPr>
              <a:t>Optional in case W2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VR option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of VR option</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GV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GD_G@annotation_right_plan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GO@annotation_right_plan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CL@annotation_right_plan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1C2237E-59B3-3FAF-85C4-AEF5E20B3F2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418849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B259C-47B4-7527-8A5A-552B162D38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10206A-A8F3-F5D7-C62F-E79A8F05717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020DA6DD-3991-51C7-1C11-659F2B760AAD}"/>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8E3A2D9A-D2CB-1716-A674-BD5D8A2F8B1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522EF6E-26EC-624A-838C-F8A281EE455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CBFA1ABC-4612-39CF-AA6C-A0505671FB59}"/>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M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shank : </a:t>
            </a:r>
          </a:p>
        </p:txBody>
      </p:sp>
      <p:sp>
        <p:nvSpPr>
          <p:cNvPr id="7" name="Shape 1">
            <a:extLst>
              <a:ext uri="{FF2B5EF4-FFF2-40B4-BE49-F238E27FC236}">
                <a16:creationId xmlns:a16="http://schemas.microsoft.com/office/drawing/2014/main" id="{1C289352-66B9-38B6-E704-F51C5A37B13B}"/>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841AEBBD-E07B-3BD5-F4EB-CAB4046234A3}"/>
              </a:ext>
            </a:extLst>
          </p:cNvPr>
          <p:cNvSpPr txBox="1"/>
          <p:nvPr/>
        </p:nvSpPr>
        <p:spPr>
          <a:xfrm>
            <a:off x="4514591" y="1021492"/>
            <a:ext cx="8536093" cy="5693866"/>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FTA@annotation_std_front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NR@annotation_std_front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3FDEB790-A55C-7CF8-2E31-79219CBBBA5E}"/>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618743" y="1923181"/>
            <a:ext cx="3355552" cy="4129444"/>
          </a:xfrm>
          <a:prstGeom prst="rect">
            <a:avLst/>
          </a:prstGeom>
        </p:spPr>
      </p:pic>
    </p:spTree>
    <p:extLst>
      <p:ext uri="{BB962C8B-B14F-4D97-AF65-F5344CB8AC3E}">
        <p14:creationId xmlns:p14="http://schemas.microsoft.com/office/powerpoint/2010/main" val="2241125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5A31-1D14-823C-135C-8057AADEEA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46B822-8718-7ED7-B5EA-A91AA0A1B2DB}"/>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5F3A3FC-D585-6E1A-A1D7-8A5BB27D9D3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C0B1382-5D00-09BA-6785-5B6550AEF64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CF2925C-874A-A648-AA69-C51A693BDD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1C48F4DA-F68D-0262-C1CA-8D5D00C1ACDB}"/>
              </a:ext>
            </a:extLst>
          </p:cNvPr>
          <p:cNvSpPr txBox="1"/>
          <p:nvPr/>
        </p:nvSpPr>
        <p:spPr>
          <a:xfrm>
            <a:off x="755845" y="711267"/>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M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rev shank : </a:t>
            </a:r>
          </a:p>
        </p:txBody>
      </p:sp>
      <p:sp>
        <p:nvSpPr>
          <p:cNvPr id="7" name="Shape 1">
            <a:extLst>
              <a:ext uri="{FF2B5EF4-FFF2-40B4-BE49-F238E27FC236}">
                <a16:creationId xmlns:a16="http://schemas.microsoft.com/office/drawing/2014/main" id="{89BC5A3E-A4E7-565B-2BD6-0EBA25EF3A3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233DC64-FF49-2C67-2AA6-369F1CDE81EF}"/>
              </a:ext>
            </a:extLst>
          </p:cNvPr>
          <p:cNvSpPr txBox="1"/>
          <p:nvPr/>
        </p:nvSpPr>
        <p:spPr>
          <a:xfrm>
            <a:off x="4527973" y="1077761"/>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RA2@annotation_rev_front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ND@annotation_rev_front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NR@annotation_rev_front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B51E6BB3-6356-728B-0D5E-E0315678D977}"/>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618743" y="1923181"/>
            <a:ext cx="3355552" cy="4129444"/>
          </a:xfrm>
          <a:prstGeom prst="rect">
            <a:avLst/>
          </a:prstGeom>
        </p:spPr>
      </p:pic>
    </p:spTree>
    <p:extLst>
      <p:ext uri="{BB962C8B-B14F-4D97-AF65-F5344CB8AC3E}">
        <p14:creationId xmlns:p14="http://schemas.microsoft.com/office/powerpoint/2010/main" val="371624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DABD-3818-C01C-66E8-78E3FBA6C0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64EC2B-358D-B648-D302-C71CC8E8404D}"/>
              </a:ext>
            </a:extLst>
          </p:cNvPr>
          <p:cNvPicPr>
            <a:picLocks noGrp="1" noRot="1" noChangeAspect="1" noMove="1" noResize="1" noEditPoints="1" noAdjustHandles="1" noChangeArrowheads="1" noChangeShapeType="1" noCrop="1"/>
          </p:cNvPicPr>
          <p:nvPr/>
        </p:nvPicPr>
        <p:blipFill>
          <a:blip r:embed="rId3">
            <a:clrChange>
              <a:clrFrom>
                <a:srgbClr val="E6E6DB"/>
              </a:clrFrom>
              <a:clrTo>
                <a:srgbClr val="E6E6DB">
                  <a:alpha val="0"/>
                </a:srgbClr>
              </a:clrTo>
            </a:clrChange>
          </a:blip>
          <a:srcRect l="1444" t="1294" r="2449" b="2275"/>
          <a:stretch>
            <a:fillRect/>
          </a:stretch>
        </p:blipFill>
        <p:spPr>
          <a:xfrm>
            <a:off x="6187440" y="1125067"/>
            <a:ext cx="5776986" cy="4405616"/>
          </a:xfrm>
          <a:prstGeom prst="rect">
            <a:avLst/>
          </a:prstGeom>
        </p:spPr>
      </p:pic>
      <p:sp>
        <p:nvSpPr>
          <p:cNvPr id="2" name="Text 0">
            <a:extLst>
              <a:ext uri="{FF2B5EF4-FFF2-40B4-BE49-F238E27FC236}">
                <a16:creationId xmlns:a16="http://schemas.microsoft.com/office/drawing/2014/main" id="{19D41389-B6A7-185F-2F2F-4B0DB107D4F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5AB65D4-D76F-00F6-C22F-4ADBC2FCD36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10C01F48-D73A-9D0D-AA5E-7C7D7F83922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5A0FE2CC-0C22-2515-C409-D78F7293B10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8004B6D-68EB-9BFF-0C8D-518ECED76FA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08E831DA-143B-A236-D60E-58296072AE6A}"/>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7DFE1D01-57ED-17CF-D53D-F9DB1BBC607D}"/>
              </a:ext>
            </a:extLst>
          </p:cNvPr>
          <p:cNvSpPr txBox="1"/>
          <p:nvPr/>
        </p:nvSpPr>
        <p:spPr>
          <a:xfrm>
            <a:off x="563880" y="1340510"/>
            <a:ext cx="5532120"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In general, overlays respect the following shape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Right and Left view.</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Axillary view 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Overlay Metadata controlled by properties manager's bellow</a:t>
            </a:r>
          </a:p>
          <a:p>
            <a:r>
              <a:rPr lang="en-US" sz="1400" dirty="0">
                <a:latin typeface="Tahoma" panose="020B0604030504040204" pitchFamily="34" charset="0"/>
                <a:ea typeface="Tahoma" panose="020B0604030504040204" pitchFamily="34" charset="0"/>
                <a:cs typeface="Tahoma" panose="020B0604030504040204" pitchFamily="34" charset="0"/>
              </a:rPr>
              <a:t> </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7">
            <a:extLst>
              <a:ext uri="{FF2B5EF4-FFF2-40B4-BE49-F238E27FC236}">
                <a16:creationId xmlns:a16="http://schemas.microsoft.com/office/drawing/2014/main" id="{1F2B5A4E-BCE4-DA38-A391-F8FF7F78814F}"/>
              </a:ext>
            </a:extLst>
          </p:cNvPr>
          <p:cNvPicPr>
            <a:picLocks noChangeAspect="1"/>
          </p:cNvPicPr>
          <p:nvPr/>
        </p:nvPicPr>
        <p:blipFill>
          <a:blip r:embed="rId4"/>
          <a:srcRect r="28921"/>
          <a:stretch>
            <a:fillRect/>
          </a:stretch>
        </p:blipFill>
        <p:spPr>
          <a:xfrm>
            <a:off x="618744" y="2578534"/>
            <a:ext cx="4921609" cy="1700931"/>
          </a:xfrm>
          <a:prstGeom prst="rect">
            <a:avLst/>
          </a:prstGeom>
        </p:spPr>
      </p:pic>
      <p:sp>
        <p:nvSpPr>
          <p:cNvPr id="12" name="Rectangle 11">
            <a:extLst>
              <a:ext uri="{FF2B5EF4-FFF2-40B4-BE49-F238E27FC236}">
                <a16:creationId xmlns:a16="http://schemas.microsoft.com/office/drawing/2014/main" id="{D2A375BF-A491-A98C-420B-EB01B295D33E}"/>
              </a:ext>
            </a:extLst>
          </p:cNvPr>
          <p:cNvSpPr/>
          <p:nvPr/>
        </p:nvSpPr>
        <p:spPr>
          <a:xfrm>
            <a:off x="7301997"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34A306-CB9D-D9CF-68D3-71E00D721320}"/>
              </a:ext>
            </a:extLst>
          </p:cNvPr>
          <p:cNvSpPr/>
          <p:nvPr/>
        </p:nvSpPr>
        <p:spPr>
          <a:xfrm>
            <a:off x="10089663"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5383440-3977-3BCB-2B01-0CCC3CC77FAA}"/>
              </a:ext>
            </a:extLst>
          </p:cNvPr>
          <p:cNvSpPr txBox="1"/>
          <p:nvPr/>
        </p:nvSpPr>
        <p:spPr>
          <a:xfrm>
            <a:off x="10419609" y="5884147"/>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9" name="Rectangle 18">
            <a:extLst>
              <a:ext uri="{FF2B5EF4-FFF2-40B4-BE49-F238E27FC236}">
                <a16:creationId xmlns:a16="http://schemas.microsoft.com/office/drawing/2014/main" id="{465964B6-410B-F907-8764-BCDCDCAFF93F}"/>
              </a:ext>
            </a:extLst>
          </p:cNvPr>
          <p:cNvSpPr/>
          <p:nvPr/>
        </p:nvSpPr>
        <p:spPr>
          <a:xfrm>
            <a:off x="9474200" y="4781384"/>
            <a:ext cx="2102104" cy="522135"/>
          </a:xfrm>
          <a:prstGeom prst="rect">
            <a:avLst/>
          </a:prstGeom>
          <a:no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87E2D6D-2E0C-D60B-F562-30BA6CC32BE8}"/>
              </a:ext>
            </a:extLst>
          </p:cNvPr>
          <p:cNvSpPr/>
          <p:nvPr/>
        </p:nvSpPr>
        <p:spPr>
          <a:xfrm>
            <a:off x="6419087" y="1327318"/>
            <a:ext cx="791469" cy="3752682"/>
          </a:xfrm>
          <a:prstGeom prst="rect">
            <a:avLst/>
          </a:pr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7EFFF57-6B3C-D83A-1F0E-3BF728108034}"/>
              </a:ext>
            </a:extLst>
          </p:cNvPr>
          <p:cNvSpPr txBox="1"/>
          <p:nvPr/>
        </p:nvSpPr>
        <p:spPr>
          <a:xfrm>
            <a:off x="7301997" y="584384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Left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02C2EC1F-163D-34E6-EFF2-C7648B04C08F}"/>
              </a:ext>
            </a:extLst>
          </p:cNvPr>
          <p:cNvSpPr txBox="1"/>
          <p:nvPr/>
        </p:nvSpPr>
        <p:spPr>
          <a:xfrm>
            <a:off x="8687179" y="5895868"/>
            <a:ext cx="121844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Axillary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CC9367D8-A97E-82D3-0444-161B6C3518EE}"/>
              </a:ext>
            </a:extLst>
          </p:cNvPr>
          <p:cNvSpPr txBox="1"/>
          <p:nvPr/>
        </p:nvSpPr>
        <p:spPr>
          <a:xfrm>
            <a:off x="4768141" y="455735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Annotation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25" name="Straight Arrow Connector 24">
            <a:extLst>
              <a:ext uri="{FF2B5EF4-FFF2-40B4-BE49-F238E27FC236}">
                <a16:creationId xmlns:a16="http://schemas.microsoft.com/office/drawing/2014/main" id="{E09C21D2-34AF-E69C-836F-5A7C8A82CFB1}"/>
              </a:ext>
            </a:extLst>
          </p:cNvPr>
          <p:cNvCxnSpPr>
            <a:stCxn id="23" idx="3"/>
          </p:cNvCxnSpPr>
          <p:nvPr/>
        </p:nvCxnSpPr>
        <p:spPr>
          <a:xfrm flipV="1">
            <a:off x="5863897" y="4114800"/>
            <a:ext cx="555191" cy="5964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9D544A4-6904-B5ED-9762-227FC6964A57}"/>
              </a:ext>
            </a:extLst>
          </p:cNvPr>
          <p:cNvCxnSpPr>
            <a:cxnSpLocks/>
          </p:cNvCxnSpPr>
          <p:nvPr/>
        </p:nvCxnSpPr>
        <p:spPr>
          <a:xfrm flipV="1">
            <a:off x="7709680" y="4781384"/>
            <a:ext cx="538132" cy="114231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73A756A-EF65-8D39-3518-67D940B0C96F}"/>
              </a:ext>
            </a:extLst>
          </p:cNvPr>
          <p:cNvCxnSpPr>
            <a:cxnSpLocks/>
          </p:cNvCxnSpPr>
          <p:nvPr/>
        </p:nvCxnSpPr>
        <p:spPr>
          <a:xfrm flipV="1">
            <a:off x="9391913" y="5362891"/>
            <a:ext cx="1027696" cy="6326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60EC35B2-6379-C26B-1FB4-463E988BB7D2}"/>
              </a:ext>
            </a:extLst>
          </p:cNvPr>
          <p:cNvCxnSpPr>
            <a:cxnSpLocks/>
            <a:stCxn id="18" idx="3"/>
          </p:cNvCxnSpPr>
          <p:nvPr/>
        </p:nvCxnSpPr>
        <p:spPr>
          <a:xfrm flipV="1">
            <a:off x="11515365" y="4781384"/>
            <a:ext cx="216387" cy="12566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4936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B61C-CAE3-C0CD-B0BF-C4BC965F88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4EE22A-80D0-982B-CEA2-E43397B56EA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0900BD-7C41-175C-2072-945501702E6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A5CF37D4-D5D2-8AED-7403-FEF8D84A9CD4}"/>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D3E24FC-F11C-7784-6CE6-69B435C48A6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DDEDFD1-C34F-76A8-B7B6-D644E7B0359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C09B2E30-5AB7-1B7C-0D91-600709FA737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EA42-C17F-CF39-4779-BA0E54888277}"/>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3CE83CBC-ECE6-3E41-1D60-3B8F46E5BE7A}"/>
              </a:ext>
            </a:extLst>
          </p:cNvPr>
          <p:cNvSpPr txBox="1"/>
          <p:nvPr/>
        </p:nvSpPr>
        <p:spPr>
          <a:xfrm>
            <a:off x="548640" y="3424557"/>
            <a:ext cx="5259494" cy="2462213"/>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4" name="Picture 3">
            <a:extLst>
              <a:ext uri="{FF2B5EF4-FFF2-40B4-BE49-F238E27FC236}">
                <a16:creationId xmlns:a16="http://schemas.microsoft.com/office/drawing/2014/main" id="{349B70E4-0EEC-8C1C-0FDE-4D69AD69FA46}"/>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908313" y="1648287"/>
            <a:ext cx="2495287" cy="1607325"/>
          </a:xfrm>
          <a:prstGeom prst="rect">
            <a:avLst/>
          </a:prstGeom>
        </p:spPr>
      </p:pic>
      <p:pic>
        <p:nvPicPr>
          <p:cNvPr id="17" name="Picture 16">
            <a:extLst>
              <a:ext uri="{FF2B5EF4-FFF2-40B4-BE49-F238E27FC236}">
                <a16:creationId xmlns:a16="http://schemas.microsoft.com/office/drawing/2014/main" id="{F79F857F-C1D3-4266-95FC-AD480DA991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DE5EB4CA-5265-681B-F337-C86EDCF18BD8}"/>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3F73AB1-9660-BFEB-6B41-F3B8C148A186}"/>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0C269E7F-3377-14A4-64CE-3F472F845D66}"/>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D5F0850-2680-A94C-9B54-4B359060AE04}"/>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353668DB-2099-DC19-98A5-6CD177B1549C}"/>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spTree>
    <p:extLst>
      <p:ext uri="{BB962C8B-B14F-4D97-AF65-F5344CB8AC3E}">
        <p14:creationId xmlns:p14="http://schemas.microsoft.com/office/powerpoint/2010/main" val="2075167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8BCF4-8B30-4D77-35F5-662103894E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9308C8-BFAE-8243-E3AB-93A01D179F0D}"/>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AE77C21-C6D4-CDB0-76E4-12B8F4713A0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0A32444B-EDE3-A36D-14EF-8D90755C5FD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65341D3-7691-32E2-1A36-0A051920C68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39EDB8E-44B0-309C-ECF5-7E62052DF3F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F399650D-7F71-93BC-DEE7-3755B7A3944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548A995-4022-ED88-B4D1-531040321566}"/>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0C299D37-2288-40DA-4488-F195D36BDD7C}"/>
              </a:ext>
            </a:extLst>
          </p:cNvPr>
          <p:cNvSpPr txBox="1"/>
          <p:nvPr/>
        </p:nvSpPr>
        <p:spPr>
          <a:xfrm>
            <a:off x="548640" y="3424557"/>
            <a:ext cx="5259494" cy="2462213"/>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rev_ref_point_right@std_ref_point_right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17" name="Picture 16">
            <a:extLst>
              <a:ext uri="{FF2B5EF4-FFF2-40B4-BE49-F238E27FC236}">
                <a16:creationId xmlns:a16="http://schemas.microsoft.com/office/drawing/2014/main" id="{3E11A632-D4FF-5085-65D1-E09CB9DC891A}"/>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A08B2BFE-8F91-DCD0-37D0-96978BEAD89B}"/>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4E4C0C-1444-4064-4FF2-916FD401A730}"/>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C92FCA1-1184-7A9C-6517-3EFD69898D7C}"/>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B983F73-5E97-ECF5-7EED-498B33CD1A4B}"/>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57AE9B9-CC06-CCFE-39FF-8680D31EAC20}"/>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pic>
        <p:nvPicPr>
          <p:cNvPr id="6" name="Picture 5">
            <a:extLst>
              <a:ext uri="{FF2B5EF4-FFF2-40B4-BE49-F238E27FC236}">
                <a16:creationId xmlns:a16="http://schemas.microsoft.com/office/drawing/2014/main" id="{04AB9856-3784-EE39-5208-F802B3761E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1126067" y="1677191"/>
            <a:ext cx="1782003" cy="1556283"/>
          </a:xfrm>
          <a:prstGeom prst="rect">
            <a:avLst/>
          </a:prstGeom>
        </p:spPr>
      </p:pic>
    </p:spTree>
    <p:extLst>
      <p:ext uri="{BB962C8B-B14F-4D97-AF65-F5344CB8AC3E}">
        <p14:creationId xmlns:p14="http://schemas.microsoft.com/office/powerpoint/2010/main" val="2167379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4087-4690-502E-BC46-48535B171E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2C8BFB-388B-48D8-0EFC-5422AF0FE79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1503462-8FA0-4050-DEFF-BCEAAA8C41C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4E59613-0D78-F494-7021-B231A3C83D8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9CC46997-BDBF-6F47-2F4C-9D6F93F5D1D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A6099B5-9CAC-7E3D-3977-F8501C22F8CE}"/>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628EFFED-4DBE-85C9-CA2D-C8CE9C18FAAC}"/>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062A6CD1-8A8F-4F90-FF4B-60D3625D324A}"/>
              </a:ext>
            </a:extLst>
          </p:cNvPr>
          <p:cNvSpPr txBox="1"/>
          <p:nvPr/>
        </p:nvSpPr>
        <p:spPr>
          <a:xfrm>
            <a:off x="563879" y="1340510"/>
            <a:ext cx="5846065"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&amp; Left view will have the same scale; the scale is chosen based on FL values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Numerical Limits: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x400 : T ≤ 0.0134 in or 0.3403 mm</a:t>
            </a:r>
          </a:p>
          <a:p>
            <a:r>
              <a:rPr lang="en-US" sz="1400" dirty="0">
                <a:latin typeface="Tahoma" panose="020B0604030504040204" pitchFamily="34" charset="0"/>
                <a:ea typeface="Tahoma" panose="020B0604030504040204" pitchFamily="34" charset="0"/>
                <a:cs typeface="Tahoma" panose="020B0604030504040204" pitchFamily="34" charset="0"/>
              </a:rPr>
              <a:t>x300 : T ≤ 0.0180 in or 0.4572 mm</a:t>
            </a:r>
          </a:p>
          <a:p>
            <a:r>
              <a:rPr lang="en-US" sz="1400" dirty="0">
                <a:latin typeface="Tahoma" panose="020B0604030504040204" pitchFamily="34" charset="0"/>
                <a:ea typeface="Tahoma" panose="020B0604030504040204" pitchFamily="34" charset="0"/>
                <a:cs typeface="Tahoma" panose="020B0604030504040204" pitchFamily="34" charset="0"/>
              </a:rPr>
              <a:t>x200 : T ≤ 0.0272 in or 0.6908 mm </a:t>
            </a:r>
          </a:p>
          <a:p>
            <a:r>
              <a:rPr lang="en-US" sz="1400" dirty="0">
                <a:latin typeface="Tahoma" panose="020B0604030504040204" pitchFamily="34" charset="0"/>
                <a:ea typeface="Tahoma" panose="020B0604030504040204" pitchFamily="34" charset="0"/>
                <a:cs typeface="Tahoma" panose="020B0604030504040204" pitchFamily="34" charset="0"/>
              </a:rPr>
              <a:t>x100 : T ≤ 0.0542 in or 1.3766 mm</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scales : </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S100 = 1:60.8 </a:t>
            </a:r>
          </a:p>
          <a:p>
            <a:r>
              <a:rPr lang="en-US" sz="1400" dirty="0">
                <a:latin typeface="Tahoma" panose="020B0604030504040204" pitchFamily="34" charset="0"/>
                <a:ea typeface="Tahoma" panose="020B0604030504040204" pitchFamily="34" charset="0"/>
                <a:cs typeface="Tahoma" panose="020B0604030504040204" pitchFamily="34" charset="0"/>
              </a:rPr>
              <a:t>S200 = 1:121.1 </a:t>
            </a:r>
          </a:p>
          <a:p>
            <a:r>
              <a:rPr lang="en-US" sz="1400" dirty="0">
                <a:latin typeface="Tahoma" panose="020B0604030504040204" pitchFamily="34" charset="0"/>
                <a:ea typeface="Tahoma" panose="020B0604030504040204" pitchFamily="34" charset="0"/>
                <a:cs typeface="Tahoma" panose="020B0604030504040204" pitchFamily="34" charset="0"/>
              </a:rPr>
              <a:t>S300 = 1:183.0</a:t>
            </a:r>
          </a:p>
          <a:p>
            <a:r>
              <a:rPr lang="en-US" sz="1400" dirty="0">
                <a:latin typeface="Tahoma" panose="020B0604030504040204" pitchFamily="34" charset="0"/>
                <a:ea typeface="Tahoma" panose="020B0604030504040204" pitchFamily="34" charset="0"/>
                <a:cs typeface="Tahoma" panose="020B0604030504040204" pitchFamily="34" charset="0"/>
              </a:rPr>
              <a:t>S400 = 1:246.0</a:t>
            </a:r>
          </a:p>
          <a:p>
            <a:endParaRPr lang="en-US" sz="1400" dirty="0">
              <a:latin typeface="Tahoma" panose="020B0604030504040204" pitchFamily="34" charset="0"/>
              <a:ea typeface="Tahoma" panose="020B0604030504040204" pitchFamily="34" charset="0"/>
              <a:cs typeface="Tahoma" panose="020B0604030504040204" pitchFamily="34" charset="0"/>
            </a:endParaRPr>
          </a:p>
        </p:txBody>
      </p:sp>
      <p:pic>
        <p:nvPicPr>
          <p:cNvPr id="8" name="Image 9" descr="Une image contenant texte, capture d’écran, Bleu électrique, Police&#10;&#10;Le contenu généré par l’IA peut être incorrect.">
            <a:extLst>
              <a:ext uri="{FF2B5EF4-FFF2-40B4-BE49-F238E27FC236}">
                <a16:creationId xmlns:a16="http://schemas.microsoft.com/office/drawing/2014/main" id="{BA6E3393-0515-EE99-0A3E-BCE4DA587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5392" y="1923182"/>
            <a:ext cx="5202936" cy="3902202"/>
          </a:xfrm>
          <a:prstGeom prst="rect">
            <a:avLst/>
          </a:prstGeom>
        </p:spPr>
      </p:pic>
      <p:sp>
        <p:nvSpPr>
          <p:cNvPr id="17" name="Rectangle 16">
            <a:extLst>
              <a:ext uri="{FF2B5EF4-FFF2-40B4-BE49-F238E27FC236}">
                <a16:creationId xmlns:a16="http://schemas.microsoft.com/office/drawing/2014/main" id="{1742CE5B-FBC4-06B4-B609-436111065EA8}"/>
              </a:ext>
            </a:extLst>
          </p:cNvPr>
          <p:cNvSpPr/>
          <p:nvPr/>
        </p:nvSpPr>
        <p:spPr>
          <a:xfrm>
            <a:off x="7562088" y="3429000"/>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C92E5A7-BC5C-463E-8E9E-783525873E4A}"/>
              </a:ext>
            </a:extLst>
          </p:cNvPr>
          <p:cNvSpPr/>
          <p:nvPr/>
        </p:nvSpPr>
        <p:spPr>
          <a:xfrm>
            <a:off x="10177272" y="3439943"/>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2590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4DF54-F98E-7309-AC35-D7E2DB54EA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EDFDAD-C8AE-5F13-EF5F-A4911DBA351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EA9DC07-C542-02A8-BF1A-07303E6EE67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0994B-C206-C25F-7526-91F373782BA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993B083-DF37-AA0B-9153-4B0BAFA9011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CA8EC04-5B42-9EA7-058B-36D8B17D62A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FE1D7AE7-9841-9111-573C-6F25602CFAC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9022014-A589-9CD7-1BCE-CAFF4F6A80F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9CD726AA-D465-AAD6-9894-FEBE3A3E4C7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D2242302-F277-00E1-233F-51F8F4D47AA4}"/>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67996239-2765-1CAC-0C32-025D410E648C}"/>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BB1B6677-8338-5DC2-DB6B-100E16095B2E}"/>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A39CF6ED-97E7-D8E4-3DB9-3ED21396ADF2}"/>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85AF770F-AC0D-DB4C-1B67-B9AD2D5D84D9}"/>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FL, to MAX  &amp; ND, C to MIN &amp; T_MIN, FL_MIN, C_MAX, ND_MAX inside sketch this the standard case</a:t>
            </a:r>
          </a:p>
        </p:txBody>
      </p:sp>
      <p:sp>
        <p:nvSpPr>
          <p:cNvPr id="21" name="TextBox 20">
            <a:extLst>
              <a:ext uri="{FF2B5EF4-FFF2-40B4-BE49-F238E27FC236}">
                <a16:creationId xmlns:a16="http://schemas.microsoft.com/office/drawing/2014/main" id="{74F49E66-F13E-945A-E2EF-1D49C16762C2}"/>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FL, to MAX  &amp; ND, C to MIN &amp; T_MIN, FL_MIN, C_MAX, ND_MAX inside sketch</a:t>
            </a:r>
          </a:p>
        </p:txBody>
      </p:sp>
      <p:sp>
        <p:nvSpPr>
          <p:cNvPr id="22" name="TextBox 21">
            <a:extLst>
              <a:ext uri="{FF2B5EF4-FFF2-40B4-BE49-F238E27FC236}">
                <a16:creationId xmlns:a16="http://schemas.microsoft.com/office/drawing/2014/main" id="{0E5DF490-FD3F-F9ED-B7B0-47343BEFE2A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FL, to MAX  &amp; ND, RA2H to MIN &amp; T_MIN, FL_MIN, RA2H_MAX, ND_MAX inside sketch</a:t>
            </a:r>
          </a:p>
        </p:txBody>
      </p:sp>
      <p:sp>
        <p:nvSpPr>
          <p:cNvPr id="23" name="TextBox 22">
            <a:extLst>
              <a:ext uri="{FF2B5EF4-FFF2-40B4-BE49-F238E27FC236}">
                <a16:creationId xmlns:a16="http://schemas.microsoft.com/office/drawing/2014/main" id="{EA1DC066-798F-23A7-CFEC-8A769517435E}"/>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T, FL, to MAX  &amp; ND, RA2H to MIN &amp; T_MIN, FL_MIN, RA2H_MAX, ND_MAX inside sketch</a:t>
            </a:r>
          </a:p>
        </p:txBody>
      </p:sp>
      <p:sp>
        <p:nvSpPr>
          <p:cNvPr id="24" name="TextBox 23">
            <a:extLst>
              <a:ext uri="{FF2B5EF4-FFF2-40B4-BE49-F238E27FC236}">
                <a16:creationId xmlns:a16="http://schemas.microsoft.com/office/drawing/2014/main" id="{E19B07C8-BC48-5EC8-C889-7C1F3ACA99A9}"/>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D87B9C6-4B0E-4286-206D-C3D966393CA1}"/>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B39E7663-D103-850E-00D5-42FD7A3EB203}"/>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Tree>
    <p:extLst>
      <p:ext uri="{BB962C8B-B14F-4D97-AF65-F5344CB8AC3E}">
        <p14:creationId xmlns:p14="http://schemas.microsoft.com/office/powerpoint/2010/main" val="3507794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D4533-590A-D13E-ADAE-17474EF529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D7B0FF-981E-F1AA-0B45-0D7F163537A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478B2F43-B887-6CD8-17A5-32CCCB9CC966}"/>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7B09D70F-8C80-352A-4507-5E02B51715C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676F49F-82A1-458F-3565-DCF0B9C2FFD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A053A651-0B0B-3EE3-15A9-44BA48091C66}"/>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ABBBCD80-26EB-068F-975B-FD6462F322B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BB8B8C1-D546-142D-2854-6782F3F89300}"/>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2DBBF9AC-5074-CAA2-C1B9-EB3719F9C780}"/>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77B477B8-7979-ECE5-7240-92E59B813389}"/>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E315546C-E76A-39D8-27C0-A60DFD11BD3D}"/>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99A02EE-6594-B376-DDA5-219BB842446F}"/>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C1081B1-10AF-9D99-C199-309A86FE66D1}"/>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FL, to MAX  &amp; ND, C to MIN &amp; T_MIN, FL_MIN, C_MAX, ND_MAX inside sketch this the standard case</a:t>
            </a:r>
          </a:p>
        </p:txBody>
      </p:sp>
      <p:sp>
        <p:nvSpPr>
          <p:cNvPr id="21" name="TextBox 20">
            <a:extLst>
              <a:ext uri="{FF2B5EF4-FFF2-40B4-BE49-F238E27FC236}">
                <a16:creationId xmlns:a16="http://schemas.microsoft.com/office/drawing/2014/main" id="{08E4969C-D718-1E80-334F-D3B960330784}"/>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FL, to MAX  &amp; ND, C to MIN &amp; T_MIN, FL_MIN, C_MAX, ND_MAX inside sketch</a:t>
            </a:r>
          </a:p>
        </p:txBody>
      </p:sp>
      <p:sp>
        <p:nvSpPr>
          <p:cNvPr id="22" name="TextBox 21">
            <a:extLst>
              <a:ext uri="{FF2B5EF4-FFF2-40B4-BE49-F238E27FC236}">
                <a16:creationId xmlns:a16="http://schemas.microsoft.com/office/drawing/2014/main" id="{1AEB21C2-6A8A-6728-DE19-F5CF91FEFCC2}"/>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FL, to MAX  &amp; ND, RA2H to MIN &amp; T_MIN, FL_MIN, RA2H_MAX, ND_MAX inside sketch</a:t>
            </a:r>
          </a:p>
        </p:txBody>
      </p:sp>
      <p:sp>
        <p:nvSpPr>
          <p:cNvPr id="23" name="TextBox 22">
            <a:extLst>
              <a:ext uri="{FF2B5EF4-FFF2-40B4-BE49-F238E27FC236}">
                <a16:creationId xmlns:a16="http://schemas.microsoft.com/office/drawing/2014/main" id="{6D10A1B1-FB1F-C52D-DFE9-0C2ECB471E3A}"/>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T, FL, to MAX  &amp; ND, RA2H to MIN &amp; T_MIN, FL_MIN, RA2H_MAX, ND_MAX inside sketch</a:t>
            </a:r>
          </a:p>
        </p:txBody>
      </p:sp>
      <p:sp>
        <p:nvSpPr>
          <p:cNvPr id="24" name="TextBox 23">
            <a:extLst>
              <a:ext uri="{FF2B5EF4-FFF2-40B4-BE49-F238E27FC236}">
                <a16:creationId xmlns:a16="http://schemas.microsoft.com/office/drawing/2014/main" id="{1F12B20D-2C40-8206-A8AE-7C675B53F92E}"/>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7F4DDAC-94E2-86BB-DC4C-8BE6EDE6A1EC}"/>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AF5A6C46-8178-8159-911F-3F6E69014892}"/>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pic>
        <p:nvPicPr>
          <p:cNvPr id="6" name="Picture 5">
            <a:extLst>
              <a:ext uri="{FF2B5EF4-FFF2-40B4-BE49-F238E27FC236}">
                <a16:creationId xmlns:a16="http://schemas.microsoft.com/office/drawing/2014/main" id="{0023B398-6613-06DE-152A-72A49CD20B7B}"/>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3932226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10CA4-6D48-CF1B-014C-B8B9DFE941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58919C-8A59-46C1-1117-C79D1CA1356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DE9076-D111-60E3-3A65-601EC580278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4257414-5D3E-EB54-C4D9-7708B5FF93C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E9CFB52A-83B1-CA0E-9C73-C54DCF0C0B5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517C9B1-5A2B-B932-212E-FBAAAD2E7B35}"/>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C8D756C5-FEBA-3D97-4CD8-B7A57535D66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6716050-9564-F28E-66B9-EE7A2E83B319}"/>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5553CE3A-1642-649D-3B78-AE103F87364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8FFB0E65-F6E2-83E4-D662-DC60EF5EAEEB}"/>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02C2AC20-E835-8312-7875-2BBA1FEBAA77}"/>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09A342A6-BFD4-B2A8-702E-45886B49D2AA}"/>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53C47281-ECE4-50B1-12E4-9C281F59E1AB}"/>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BCB5A9C-BFB8-D5F7-0EDD-A08815D15974}"/>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FL, to MAX  &amp; ND, C to MIN &amp; T_MIN, FL_MIN, C_MAX, ND_MAX inside sketch this the standard case</a:t>
            </a:r>
          </a:p>
        </p:txBody>
      </p:sp>
      <p:sp>
        <p:nvSpPr>
          <p:cNvPr id="21" name="TextBox 20">
            <a:extLst>
              <a:ext uri="{FF2B5EF4-FFF2-40B4-BE49-F238E27FC236}">
                <a16:creationId xmlns:a16="http://schemas.microsoft.com/office/drawing/2014/main" id="{B8C05C9C-E909-30A7-D565-E6FD97C3AFA5}"/>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FL, to MAX  &amp; ND, C to MIN &amp; T_MIN, FL_MIN, C_MAX, ND_MAX inside sketch</a:t>
            </a:r>
          </a:p>
        </p:txBody>
      </p:sp>
      <p:sp>
        <p:nvSpPr>
          <p:cNvPr id="22" name="TextBox 21">
            <a:extLst>
              <a:ext uri="{FF2B5EF4-FFF2-40B4-BE49-F238E27FC236}">
                <a16:creationId xmlns:a16="http://schemas.microsoft.com/office/drawing/2014/main" id="{DFCA94FD-93E7-23C4-58F5-B694ADF04B6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FL, to MAX  &amp; ND, RA2H to MIN &amp; T_MIN, FL_MIN, RA2H_MAX, ND_MAX inside sketch</a:t>
            </a:r>
          </a:p>
        </p:txBody>
      </p:sp>
      <p:sp>
        <p:nvSpPr>
          <p:cNvPr id="23" name="TextBox 22">
            <a:extLst>
              <a:ext uri="{FF2B5EF4-FFF2-40B4-BE49-F238E27FC236}">
                <a16:creationId xmlns:a16="http://schemas.microsoft.com/office/drawing/2014/main" id="{D4391EF0-9981-CC06-3987-E36902B6CD80}"/>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T, FL, to MAX  &amp; ND, RA2H to MIN &amp; T_MIN, FL_MIN, RA2H_MAX, ND_MAX inside sketch</a:t>
            </a:r>
          </a:p>
        </p:txBody>
      </p:sp>
      <p:sp>
        <p:nvSpPr>
          <p:cNvPr id="24" name="TextBox 23">
            <a:extLst>
              <a:ext uri="{FF2B5EF4-FFF2-40B4-BE49-F238E27FC236}">
                <a16:creationId xmlns:a16="http://schemas.microsoft.com/office/drawing/2014/main" id="{2CBF913B-6B42-5145-B92F-0B4419468A7C}"/>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AF25A936-2DC3-3C92-652C-6D44C17D28E3}"/>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A6B092C8-A52B-4C07-8950-5C2831EF5FB0}"/>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spTree>
    <p:extLst>
      <p:ext uri="{BB962C8B-B14F-4D97-AF65-F5344CB8AC3E}">
        <p14:creationId xmlns:p14="http://schemas.microsoft.com/office/powerpoint/2010/main" val="82608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E07B8-4E64-2AA2-833A-B0FB078328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F70C18-FA20-2041-C3CD-F868BF77EC8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ACE1230A-0CED-98B5-0B88-5066B9EFBF2E}"/>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B105AD0B-D535-7D45-6564-0B8B4195CEF8}"/>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E6F1F89-14D0-5918-B54C-21DD12148C5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231BBB3-FC9A-6201-C274-DEEDA3022A3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M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3EF27377-1041-3258-F72F-271835F6AE7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EEE562F-B42F-9FED-B384-140E7C4527A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DD308DFC-07D1-6872-8B23-9DEC0D81EB45}"/>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9B88CBB9-6E37-01A4-FE43-BB83ADBDB33C}"/>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871D18D5-FB05-F488-8656-616923DCA70C}"/>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C03C26D-F9B9-C07D-649D-546107C2EB8A}"/>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E859DA24-5568-7048-A61B-C4A62B5C57A8}"/>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FL, to MAX  &amp; ND, C to MIN &amp; T_MIN, FL_MIN, C_MAX, ND_MAX inside sketch this the standard case</a:t>
            </a:r>
          </a:p>
        </p:txBody>
      </p:sp>
      <p:sp>
        <p:nvSpPr>
          <p:cNvPr id="21" name="TextBox 20">
            <a:extLst>
              <a:ext uri="{FF2B5EF4-FFF2-40B4-BE49-F238E27FC236}">
                <a16:creationId xmlns:a16="http://schemas.microsoft.com/office/drawing/2014/main" id="{A9CE1DFF-3838-A611-45A0-839233AD6D1D}"/>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FL, to MAX  &amp; ND, C to MIN &amp; T_MIN, FL_MIN, C_MAX, ND_MAX inside sketch</a:t>
            </a:r>
          </a:p>
        </p:txBody>
      </p:sp>
      <p:sp>
        <p:nvSpPr>
          <p:cNvPr id="22" name="TextBox 21">
            <a:extLst>
              <a:ext uri="{FF2B5EF4-FFF2-40B4-BE49-F238E27FC236}">
                <a16:creationId xmlns:a16="http://schemas.microsoft.com/office/drawing/2014/main" id="{9D0DE6A2-12FB-DC54-E253-511491C51517}"/>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FL, to MAX  &amp; ND, RA2H to MIN &amp; T_MIN, FL_MIN, RA2H_MAX, ND_MAX inside sketch</a:t>
            </a:r>
          </a:p>
        </p:txBody>
      </p:sp>
      <p:sp>
        <p:nvSpPr>
          <p:cNvPr id="23" name="TextBox 22">
            <a:extLst>
              <a:ext uri="{FF2B5EF4-FFF2-40B4-BE49-F238E27FC236}">
                <a16:creationId xmlns:a16="http://schemas.microsoft.com/office/drawing/2014/main" id="{BDAD7F3C-F70D-089F-381C-2762D4F10478}"/>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T, FL, to MAX  &amp; ND, RA2H to MIN &amp; T_MIN, FL_MIN, RA2H_MAX, ND_MAX inside sketch</a:t>
            </a:r>
          </a:p>
        </p:txBody>
      </p:sp>
      <p:sp>
        <p:nvSpPr>
          <p:cNvPr id="24" name="TextBox 23">
            <a:extLst>
              <a:ext uri="{FF2B5EF4-FFF2-40B4-BE49-F238E27FC236}">
                <a16:creationId xmlns:a16="http://schemas.microsoft.com/office/drawing/2014/main" id="{951066D3-1AC2-521C-B2D8-DFC5A7280DD6}"/>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6532BFE2-9D81-3B40-3F9E-456DADE4BB59}"/>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00D75994-1260-8942-B45E-77FCA64FB50B}"/>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pic>
        <p:nvPicPr>
          <p:cNvPr id="9" name="Picture 8">
            <a:extLst>
              <a:ext uri="{FF2B5EF4-FFF2-40B4-BE49-F238E27FC236}">
                <a16:creationId xmlns:a16="http://schemas.microsoft.com/office/drawing/2014/main" id="{2D8E723B-9545-9780-D00C-B8936D4BC51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2303344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1192</TotalTime>
  <Words>4337</Words>
  <Application>Microsoft Office PowerPoint</Application>
  <PresentationFormat>Widescreen</PresentationFormat>
  <Paragraphs>300</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Display</vt:lpstr>
      <vt:lpstr>Arial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Youssef Agnaou</dc:creator>
  <cp:lastModifiedBy>Youssef Agnaou</cp:lastModifiedBy>
  <cp:revision>139</cp:revision>
  <dcterms:created xsi:type="dcterms:W3CDTF">2026-07-26T18:29:11Z</dcterms:created>
  <dcterms:modified xsi:type="dcterms:W3CDTF">2026-08-22T16:09:22Z</dcterms:modified>
</cp:coreProperties>
</file>