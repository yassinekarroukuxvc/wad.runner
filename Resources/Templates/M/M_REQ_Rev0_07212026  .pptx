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672-5378-A69E-FDE3-B85E08D4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E6AE-13A9-C997-16A7-7C629F64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F9B7E-9C37-BD6B-FACF-7BCD204D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9C0B-5509-58BC-297C-DCDEBBD0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346A-194A-3134-9395-2474D9B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F0A42-A55B-5E35-FA36-85FC838E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A2DD-85BE-EF7D-BFA4-409A857E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1B097-AAB6-0C3B-A2FD-208082EA0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D7D-611B-37BA-55CF-4A9A601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BB06-F0D0-36FE-7BB0-DB74B06F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36B7-7D56-590E-D343-6C7084A9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7AF8-52FD-1CF8-0557-2CF62368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8D34-5C8D-AE50-7124-F02EC451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E6BB-DBA0-A854-29D4-C6FEEBCC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3E122-76D4-29E9-5D52-D2841115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85C8-D336-A997-0D63-C40139377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4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204-456B-1CAD-BE86-17A1E931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51A67-B8AC-876E-AB51-9CA6B3F24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368C3-6891-5378-5C73-D6F64FF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0BCEF-F142-D224-3322-04756F520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3E1-36B2-D421-5B4F-5D1075F6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4D5-D9A8-476A-4F52-FE9F7F3B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713CD-736E-72BD-CF0E-A0CE3F0A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0E82-3679-2376-E593-C830C0CD1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98A5-64F3-E388-35EA-583B77D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A1C1-76E5-64DA-5E09-905B94A8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59CE-B5FB-D604-929B-C27B2541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0906-DCFF-DE44-E4AF-ABBFFD5F7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1754-37E8-AF9E-FB2B-110B122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1C7A-DCEE-5A1F-46B8-E3792CF1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2152-E2B2-03CB-D983-40CD2D8D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AE86-AE44-5ADF-8E2F-D39A6677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6AA7-992A-6945-AA56-B1CC2229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F0B4-68D0-84A3-AEEC-D20BBCA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A286F-24F2-4AD0-7ABA-E7274AFA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FC551-F08B-8E38-364F-2D4E30A8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0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9C7-BC4A-7886-5F28-59CBDD4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6DE0-D20E-AA01-5FA9-202BA2D4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03A2-B148-9A08-DE45-841DC72E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0677-BDCB-5711-174C-AE0F5F99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t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Requirements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M Series – Microwave Bonding Tools</a:t>
            </a:r>
          </a:p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M_REQ_Rev0_07202026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2026-21-07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CFC106-E12B-6DC8-4B0F-07199A7035B9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5FE3A-12EE-8CC6-B97D-932B53A40313}"/>
              </a:ext>
            </a:extLst>
          </p:cNvPr>
          <p:cNvSpPr/>
          <p:nvPr/>
        </p:nvSpPr>
        <p:spPr>
          <a:xfrm>
            <a:off x="812533" y="1566482"/>
            <a:ext cx="11064240" cy="140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drawing, customer drawing, and overlay requirements for the M Series – Microwave Bonding Tools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series, covering both the finished wedge and the Pre-Ground Blank (PGB). Including M45A, M45B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B5817-E376-0B6F-B6F9-4E4E83B10661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79" y="1622330"/>
            <a:ext cx="5556183" cy="120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DC7774-741D-5359-3C71-143AEE63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66" y="1207007"/>
            <a:ext cx="7709129" cy="4498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A7B4-9BFC-A872-D689-ED88CABF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89624-FD5A-8700-F158-82B52F3510CF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D0E40-67D0-8E98-64F5-84A537E39550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866EF1-5943-B00B-87FE-74C13935307E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Shank: SW_STD with SLB feature , SW_180REV with SLB feature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4A2FA-C7D7-7C6F-EA52-F5D484278FD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EA0B3-90B6-3358-6663-CE0F9887751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D5F149-9D9D-B3CC-B7F9-7072A2E9CF8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D86523-7141-4D1B-9AA6-F7A5E4749B4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74D00C-C6A1-C553-BD87-8201E9571DB4}"/>
              </a:ext>
            </a:extLst>
          </p:cNvPr>
          <p:cNvSpPr/>
          <p:nvPr/>
        </p:nvSpPr>
        <p:spPr>
          <a:xfrm>
            <a:off x="868679" y="2221991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Tip detail we have STD 20°ISA , WITH VW VR , CHMFERED W2, 10°BA, 0°BA, SECOND RA2</a:t>
            </a:r>
            <a:endParaRPr lang="en-US" sz="14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F9C84F94-6303-535F-E5B2-6B4C1F05F1B3}"/>
              </a:ext>
            </a:extLst>
          </p:cNvPr>
          <p:cNvSpPr/>
          <p:nvPr/>
        </p:nvSpPr>
        <p:spPr>
          <a:xfrm>
            <a:off x="548640" y="241858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6ED0D-6FF9-9BCC-5ABD-A68F12F9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199204"/>
            <a:ext cx="6020602" cy="1813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A4A06A-7BB0-8C86-837E-ABA1D3CF6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896" y="748899"/>
            <a:ext cx="3936092" cy="526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1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E30E-43A4-6F6F-E2F6-EAFC59F9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6DC93-9C77-4AA9-9F53-06029658833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92985-74FB-6ECD-0510-3A333773F6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A2C57-CD86-9398-AFDF-1A430AFB1E7B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options: SW_C, SW_F, SW_CG, SW_G, SW_VG, SW_CC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07A0E-4068-CC39-7C15-90D74990A0A5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8C038D-191B-5BC6-1559-03BF3039FBC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CF3E03-5B1F-DEBB-6EDB-9AFFC81274B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ED33A3-5D34-9224-C66E-218CDDEFACE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507AD-5DCC-AC81-1D48-FFF7E0FA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9"/>
          <a:stretch>
            <a:fillRect/>
          </a:stretch>
        </p:blipFill>
        <p:spPr>
          <a:xfrm>
            <a:off x="1490130" y="2294245"/>
            <a:ext cx="9181260" cy="35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ADFB-390A-8483-80F5-F5B70E59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4A415-3A67-F16F-0D0D-A46E6AF73CDB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9AD7F9-4449-1F7B-EEF5-5428F03E8601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4C84D-AAC5-721C-F5D6-7172D77A6210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Notch type: SW_L-Notch,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207597-3288-AAE9-CDF4-9A48EB2B11A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4915E5-FB5C-C962-9DF1-B8B3BA98DAC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B2B680-3328-2C62-DB89-90AAF78F86E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4858DA-0073-F4BA-A08A-47571BE51B5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15E3029-EE84-F3AE-B834-6EA202584407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for the C value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52877-179A-1830-37A9-CF972E421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618" y="1490472"/>
            <a:ext cx="5570703" cy="3833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3BA52D-CE34-48A4-B4D1-951F8C632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2370"/>
            <a:ext cx="4818619" cy="36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6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9208-C264-67A9-11A2-94D0FD48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DEE2B-9309-D94F-CCCF-479AE08C7310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F03CE-CC55-FE31-B6BF-DCBF7AB130D7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8B46C-C3FD-7082-58F8-7B3FBD814C29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hole types: STD (Round), Oval, Slot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F6AF5-0B0C-55A3-B983-737B926D448A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66D5F9-37F9-28AC-FC2F-C827FD1F66C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68E988-832B-9E83-574A-518636AF69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809D99-0C8C-4D52-5BA3-47A0E56815B9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0395-8FD1-F356-841B-9F9B6EAE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84" y="1728216"/>
            <a:ext cx="6119495" cy="174688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2C740EA-3656-ECC7-ABB0-9EE2E6A2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C1D603-C249-F4C0-7F48-E93EC325D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23446"/>
              </p:ext>
            </p:extLst>
          </p:nvPr>
        </p:nvGraphicFramePr>
        <p:xfrm>
          <a:off x="6217918" y="3648890"/>
          <a:ext cx="5711825" cy="234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3285714" imgH="4229690" progId="Paint.Picture">
                  <p:embed/>
                </p:oleObj>
              </mc:Choice>
              <mc:Fallback>
                <p:oleObj name="Bitmap Image" r:id="rId4" imgW="13285714" imgH="422969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18" y="3648890"/>
                        <a:ext cx="5711825" cy="234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CFAE0918-3E4A-728F-B4B3-B4707B26BE1D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Y will be used to position the hole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BE4CEF-B6CB-BCA1-DA8B-825BF3C19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031349"/>
            <a:ext cx="4818619" cy="36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9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E500-8E84-C127-8B16-842FCD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469A7C-B9A3-A0F2-02AA-A2F78160595C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AB137-1659-C08F-5638-70F8F4AF1A45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860B9-4D5C-4669-181E-18F58BA20E21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feature: N/A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32829-4156-BA84-2BFC-DDF487CDC8B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4AEF4B-E178-91A6-2830-5EB20BC892E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C53B4B-7D4E-1521-5144-C9CD3A194B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DECB49-45AC-4E15-6AC6-554926CD144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7E688F-033F-B23A-026D-FE9C9C21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68C864-2E6C-1EC8-9DE0-2A3BD269FC21}"/>
              </a:ext>
            </a:extLst>
          </p:cNvPr>
          <p:cNvSpPr/>
          <p:nvPr/>
        </p:nvSpPr>
        <p:spPr>
          <a:xfrm>
            <a:off x="658368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31DA1-F7DF-E910-B51A-7C2816FFD9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10"/>
          <a:stretch>
            <a:fillRect/>
          </a:stretch>
        </p:blipFill>
        <p:spPr>
          <a:xfrm>
            <a:off x="5526505" y="2358777"/>
            <a:ext cx="6086375" cy="2796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C15968-5C0F-B9C8-EDF1-69692F2EE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91" y="3242703"/>
            <a:ext cx="5273497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26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3FBDD-D554-7EBC-505C-9B12401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B10A8-1333-CDC8-58CF-2DCEA0DE995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851FA-BE60-0177-D087-D4C1AE383283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CE107-9590-2B41-2B26-A874BD918F0A}"/>
              </a:ext>
            </a:extLst>
          </p:cNvPr>
          <p:cNvSpPr/>
          <p:nvPr/>
        </p:nvSpPr>
        <p:spPr>
          <a:xfrm>
            <a:off x="868679" y="1490472"/>
            <a:ext cx="10927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largely consistent with the COB tool family.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DB1E2A-9921-9BEB-B773-E57A596B5C2F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21B2D-D38F-5BC4-3628-E183A9AC41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2BEF4F-56EA-806C-60B3-553028A8AD3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0AFDA6-B94B-CEEE-53E9-B8F8034EBE38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DF9FA-D865-343A-3CB7-7989FAF4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790BC27-B7E8-4635-E093-980EAD261579}"/>
              </a:ext>
            </a:extLst>
          </p:cNvPr>
          <p:cNvSpPr/>
          <p:nvPr/>
        </p:nvSpPr>
        <p:spPr>
          <a:xfrm>
            <a:off x="658368" y="573927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We may need to add the fields like Wedge type; Foot type; etc.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We will need to add some rules of data handling ! </a:t>
            </a:r>
            <a:endParaRPr 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D32C43-A0F9-29A7-D611-35483ECCE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636106"/>
              </p:ext>
            </p:extLst>
          </p:nvPr>
        </p:nvGraphicFramePr>
        <p:xfrm>
          <a:off x="548640" y="2687054"/>
          <a:ext cx="10927081" cy="2101515"/>
        </p:xfrm>
        <a:graphic>
          <a:graphicData uri="http://schemas.openxmlformats.org/drawingml/2006/table">
            <a:tbl>
              <a:tblPr/>
              <a:tblGrid>
                <a:gridCol w="865512">
                  <a:extLst>
                    <a:ext uri="{9D8B030D-6E8A-4147-A177-3AD203B41FA5}">
                      <a16:colId xmlns:a16="http://schemas.microsoft.com/office/drawing/2014/main" val="4048823809"/>
                    </a:ext>
                  </a:extLst>
                </a:gridCol>
                <a:gridCol w="595039">
                  <a:extLst>
                    <a:ext uri="{9D8B030D-6E8A-4147-A177-3AD203B41FA5}">
                      <a16:colId xmlns:a16="http://schemas.microsoft.com/office/drawing/2014/main" val="2177129323"/>
                    </a:ext>
                  </a:extLst>
                </a:gridCol>
                <a:gridCol w="567992">
                  <a:extLst>
                    <a:ext uri="{9D8B030D-6E8A-4147-A177-3AD203B41FA5}">
                      <a16:colId xmlns:a16="http://schemas.microsoft.com/office/drawing/2014/main" val="3556409999"/>
                    </a:ext>
                  </a:extLst>
                </a:gridCol>
                <a:gridCol w="1352361">
                  <a:extLst>
                    <a:ext uri="{9D8B030D-6E8A-4147-A177-3AD203B41FA5}">
                      <a16:colId xmlns:a16="http://schemas.microsoft.com/office/drawing/2014/main" val="2458018838"/>
                    </a:ext>
                  </a:extLst>
                </a:gridCol>
                <a:gridCol w="2745295">
                  <a:extLst>
                    <a:ext uri="{9D8B030D-6E8A-4147-A177-3AD203B41FA5}">
                      <a16:colId xmlns:a16="http://schemas.microsoft.com/office/drawing/2014/main" val="2072987295"/>
                    </a:ext>
                  </a:extLst>
                </a:gridCol>
                <a:gridCol w="879035">
                  <a:extLst>
                    <a:ext uri="{9D8B030D-6E8A-4147-A177-3AD203B41FA5}">
                      <a16:colId xmlns:a16="http://schemas.microsoft.com/office/drawing/2014/main" val="3391751047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3116153692"/>
                    </a:ext>
                  </a:extLst>
                </a:gridCol>
                <a:gridCol w="1203601">
                  <a:extLst>
                    <a:ext uri="{9D8B030D-6E8A-4147-A177-3AD203B41FA5}">
                      <a16:colId xmlns:a16="http://schemas.microsoft.com/office/drawing/2014/main" val="1153770840"/>
                    </a:ext>
                  </a:extLst>
                </a:gridCol>
                <a:gridCol w="1352361">
                  <a:extLst>
                    <a:ext uri="{9D8B030D-6E8A-4147-A177-3AD203B41FA5}">
                      <a16:colId xmlns:a16="http://schemas.microsoft.com/office/drawing/2014/main" val="1035285199"/>
                    </a:ext>
                  </a:extLst>
                </a:gridCol>
              </a:tblGrid>
              <a:tr h="4203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Part_Spec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Filter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Drawing_Number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Wed-Type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Wed-Foot_Option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Wed-Wire_Exit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Wed-Feed_H/Slot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248319"/>
                  </a:ext>
                </a:extLst>
              </a:tr>
              <a:tr h="4203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117627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3112545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14003377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M45A-WH-1510-3/4-F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SW_STD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L Notch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STD(Round)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880046"/>
                  </a:ext>
                </a:extLst>
              </a:tr>
              <a:tr h="4203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117625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3112546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14003377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M45A-WH-1510-S-F W=.003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SW_STD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L Notch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STD(Round)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922945"/>
                  </a:ext>
                </a:extLst>
              </a:tr>
              <a:tr h="4203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117641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3112756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14001389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M45A-TI-1515-S-FM W=003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SW_STD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L Notch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STD(Round)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304370"/>
                  </a:ext>
                </a:extLst>
              </a:tr>
              <a:tr h="4203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117802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3112760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14003533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M45A-TI-2020-S-FM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SW_STD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SW_F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L Notch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STD(Round)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795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6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BBA3-6584-46AF-D013-66968151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4103B-1B6D-3C03-2961-D6DEAB4CCDF9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43D9AC-34CB-C219-7820-0565424C74DF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89019-C026-10C4-31BF-A43E618D1B64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86A3AB-3C00-8895-C6DD-4171D75CFDE9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031EED-7D74-E792-C8D4-273E9CAFD22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639A00-3467-4059-986B-7A49CEB7B67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0AE62-EFC8-915A-1E35-355D6093B854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B02086-CB92-51A6-5778-4A982022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74159A0-A74D-EC18-CAF7-38F7687225D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AFE1496-3504-FBC0-2869-3170844246B0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4EC49CA-4D07-7341-5977-AB354841C2BD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23A5358-2C04-B7DE-B21B-A2F834A4B395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51DD9D-779F-8BC0-2F5E-21732F608A26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F03127-3A02-3081-906B-3A200E147115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25B05DF-22D4-A7F0-8C84-C17BC6F81ED7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Noticed the VFL has an angle, but  Not define in the DB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62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2AD-CBC2-26E1-D617-934FE93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805ED-2E06-B9A9-7FE8-7B9288080CC3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4E236F-745E-930A-5BF1-DA68C85B451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547F88-62DB-3EC3-4016-87A205B0D5B6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844702-D57C-2204-79A1-75C21E53E05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6E3123-BEE8-FC21-B025-21D7ED30AE4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1A6FD1-71A3-5111-CC11-25F9363F7BE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A0B01-B2EB-F8F7-C62F-F8F86DBBE6D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2955B3-E953-DE2E-D2B2-D2AC5721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64E9DDE-E2CA-FD81-F5E3-5BE7E265A41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E2B1E8E-5D96-8BAC-7E2F-C58BB07E1E5B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59D0D0-0846-A88F-EC46-89B5034E9227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E48BA3-BD38-8CC0-9976-A0876FB4A4A3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8CC91AC-A269-3C2F-A1D5-523156BEE2E3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4974A171-C481-1854-364E-DB6E0E58F9F2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0AFCA4B-B4FA-5507-B5BC-2D2B97F66959}"/>
              </a:ext>
            </a:extLst>
          </p:cNvPr>
          <p:cNvSpPr/>
          <p:nvPr/>
        </p:nvSpPr>
        <p:spPr>
          <a:xfrm>
            <a:off x="519595" y="453999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E81A5AF-EFBE-6510-D14B-CD5B76575645}"/>
              </a:ext>
            </a:extLst>
          </p:cNvPr>
          <p:cNvSpPr/>
          <p:nvPr/>
        </p:nvSpPr>
        <p:spPr>
          <a:xfrm>
            <a:off x="839634" y="4357117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Add all dimensions and parameters to views </a:t>
            </a:r>
            <a:endParaRPr lang="en-US" sz="1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65C20F5-4EA5-C8D1-A39F-E739534EE168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production drawing will follow the same as sample provided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64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6384C-0B2A-2AE2-BB5B-4C15F47F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B7491-8090-6255-E1CD-13F787BB31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Finish Wedge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7060E-5D30-BFCA-07B7-258EA3B4EA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F34FE-E89F-902E-84A2-F6972287D027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COB overlay, with different tolerance zone construction. 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E1B684-D083-77BF-0A29-57656DAAD94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04B3C1-35EB-FDA5-899C-DDD2410EF8F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A4A7D5-06B6-EDC8-E5A7-8D2E9AE09A3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38B3A1-788B-6C48-F0B8-342CFD33F1A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4F9236-DADC-3365-1077-CFC1B083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7DDA0-3EF2-493B-AFC3-76E4647087BD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Scaling the view the same way as COB, The T dimension start from TDF 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:  Only add two views to the overlays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to all the annotations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E23107-AAAB-A0FB-8C2B-8E12EE4C9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6" t="16417" r="24596" b="10461"/>
          <a:stretch>
            <a:fillRect/>
          </a:stretch>
        </p:blipFill>
        <p:spPr>
          <a:xfrm>
            <a:off x="1222625" y="2428247"/>
            <a:ext cx="5157628" cy="2659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9441BE-5AA5-E4E6-9B83-587969BF21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280" y="1673352"/>
            <a:ext cx="4965032" cy="372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2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97E43-9CAD-5CF2-9A6A-7D4AEE9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F8A6E-A49F-6500-FD1B-7FD4F955C7F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PGB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1CDCD5-B0B2-D2D0-3FF5-D3EAD95EBD7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029D8-AE11-FEF9-6304-9D4CD3F1804D}"/>
              </a:ext>
            </a:extLst>
          </p:cNvPr>
          <p:cNvSpPr/>
          <p:nvPr/>
        </p:nvSpPr>
        <p:spPr>
          <a:xfrm>
            <a:off x="848359" y="1424179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unchanged from the standard wedge overlay used across all tool families. Feed Hole added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F01A89-25C4-33B9-3711-511E3DCE0143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66E30-DD01-5E18-FDAD-28754AF52AB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42887E-935F-BAC9-C8B4-0956494CC5A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F10A39-9E06-C96E-D693-EF1B98D6C14E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E6A61A-0C6B-F66A-A8F7-8F62464C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7EA538-00E4-402C-3573-F62234927D9B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PGB may have the VR/VW version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6C701-50A5-AEBF-6DC2-796885333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358" y="1972459"/>
            <a:ext cx="4855522" cy="3641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09AD87-940A-180F-B381-F00ED6EFF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88" y="1976470"/>
            <a:ext cx="4850174" cy="363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599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Agnaou</cp:lastModifiedBy>
  <cp:revision>41</cp:revision>
  <dcterms:created xsi:type="dcterms:W3CDTF">2026-07-15T07:12:43Z</dcterms:created>
  <dcterms:modified xsi:type="dcterms:W3CDTF">2026-07-23T01:50:07Z</dcterms:modified>
</cp:coreProperties>
</file>