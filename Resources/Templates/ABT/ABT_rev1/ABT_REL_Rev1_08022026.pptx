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I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0"/>
  </p:notesMasterIdLst>
  <p:handoutMasterIdLst>
    <p:handoutMasterId r:id="rId31"/>
  </p:handoutMasterIdLst>
  <p:sldIdLst>
    <p:sldId id="257" r:id="rId2"/>
    <p:sldId id="260" r:id="rId3"/>
    <p:sldId id="261" r:id="rId4"/>
    <p:sldId id="292" r:id="rId5"/>
    <p:sldId id="262" r:id="rId6"/>
    <p:sldId id="293" r:id="rId7"/>
    <p:sldId id="281" r:id="rId8"/>
    <p:sldId id="263" r:id="rId9"/>
    <p:sldId id="264" r:id="rId10"/>
    <p:sldId id="269" r:id="rId11"/>
    <p:sldId id="265" r:id="rId12"/>
    <p:sldId id="272" r:id="rId13"/>
    <p:sldId id="266" r:id="rId14"/>
    <p:sldId id="284" r:id="rId15"/>
    <p:sldId id="285" r:id="rId16"/>
    <p:sldId id="286" r:id="rId17"/>
    <p:sldId id="287" r:id="rId18"/>
    <p:sldId id="288" r:id="rId19"/>
    <p:sldId id="294" r:id="rId20"/>
    <p:sldId id="295" r:id="rId21"/>
    <p:sldId id="274" r:id="rId22"/>
    <p:sldId id="275" r:id="rId23"/>
    <p:sldId id="298" r:id="rId24"/>
    <p:sldId id="276" r:id="rId25"/>
    <p:sldId id="277" r:id="rId26"/>
    <p:sldId id="297" r:id="rId27"/>
    <p:sldId id="296" r:id="rId28"/>
    <p:sldId id="299" r:id="rId29"/>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00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204" autoAdjust="0"/>
    <p:restoredTop sz="94660"/>
  </p:normalViewPr>
  <p:slideViewPr>
    <p:cSldViewPr snapToGrid="0">
      <p:cViewPr varScale="1">
        <p:scale>
          <a:sx n="118" d="100"/>
          <a:sy n="118" d="100"/>
        </p:scale>
        <p:origin x="638" y="101"/>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handoutMaster" Target="handoutMasters/handout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35"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D0588C11-5393-8324-3146-69ABA00A72EE}"/>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45EF0FA9-AAB9-A60A-C494-F11F984E9D6B}"/>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5A2993FE-E9D3-4B10-B499-4235062A8B3B}" type="datetimeFigureOut">
              <a:rPr lang="en-US" smtClean="0"/>
              <a:t>8/13/2026</a:t>
            </a:fld>
            <a:endParaRPr lang="en-US"/>
          </a:p>
        </p:txBody>
      </p:sp>
      <p:sp>
        <p:nvSpPr>
          <p:cNvPr id="4" name="Footer Placeholder 3">
            <a:extLst>
              <a:ext uri="{FF2B5EF4-FFF2-40B4-BE49-F238E27FC236}">
                <a16:creationId xmlns:a16="http://schemas.microsoft.com/office/drawing/2014/main" id="{95C61970-10B0-1539-9780-E6FE15D019A7}"/>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B55C7C85-C158-9B78-E8BD-CD7FBC7620C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A589A78-DF21-4F81-96A1-9852810E2621}" type="slidenum">
              <a:rPr lang="en-US" smtClean="0"/>
              <a:t>‹#›</a:t>
            </a:fld>
            <a:endParaRPr lang="en-US"/>
          </a:p>
        </p:txBody>
      </p:sp>
    </p:spTree>
    <p:extLst>
      <p:ext uri="{BB962C8B-B14F-4D97-AF65-F5344CB8AC3E}">
        <p14:creationId xmlns:p14="http://schemas.microsoft.com/office/powerpoint/2010/main" val="2272049496"/>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D2E5E3A-6FB5-47BF-ABCF-397F6C94D529}" type="datetimeFigureOut">
              <a:rPr lang="en-US" smtClean="0"/>
              <a:t>8/13/2026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71061FC-C60C-444C-8470-586021281957}" type="slidenum">
              <a:rPr lang="en-US" smtClean="0"/>
              <a:t>‹#›</a:t>
            </a:fld>
            <a:endParaRPr lang="en-US" dirty="0"/>
          </a:p>
        </p:txBody>
      </p:sp>
    </p:spTree>
    <p:extLst>
      <p:ext uri="{BB962C8B-B14F-4D97-AF65-F5344CB8AC3E}">
        <p14:creationId xmlns:p14="http://schemas.microsoft.com/office/powerpoint/2010/main" val="1644686437"/>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dirty="0"/>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5A9E3A-EA0E-2720-599A-7C95C5304BE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A5D51E-BB1C-A8DA-AE1B-23E7AFA3E98F}"/>
              </a:ext>
            </a:extLst>
          </p:cNvPr>
          <p:cNvSpPr>
            <a:spLocks noGrp="1" noRot="1" noChangeAspect="1"/>
          </p:cNvSpPr>
          <p:nvPr>
            <p:ph type="sldImg"/>
          </p:nvPr>
        </p:nvSpPr>
        <p:spPr/>
        <p:txBody>
          <a:bodyPr/>
          <a:lstStyle/>
          <a:p>
            <a:endParaRPr lang="en-US" dirty="0"/>
          </a:p>
        </p:txBody>
      </p:sp>
      <p:sp>
        <p:nvSpPr>
          <p:cNvPr id="3" name="Notes Placeholder 2">
            <a:extLst>
              <a:ext uri="{FF2B5EF4-FFF2-40B4-BE49-F238E27FC236}">
                <a16:creationId xmlns:a16="http://schemas.microsoft.com/office/drawing/2014/main" id="{BC30252E-9A31-13D4-70FF-4B6E5E5EBE2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D431267-7A72-C3EA-EE03-E29FD26421CF}"/>
              </a:ext>
            </a:extLst>
          </p:cNvPr>
          <p:cNvSpPr>
            <a:spLocks noGrp="1"/>
          </p:cNvSpPr>
          <p:nvPr>
            <p:ph type="sldNum" sz="quarter" idx="10"/>
          </p:nvPr>
        </p:nvSpPr>
        <p:spPr/>
        <p:txBody>
          <a:bodyPr/>
          <a:lstStyle/>
          <a:p>
            <a:fld id="{F7021451-1387-4CA6-816F-3879F97B5CBC}" type="slidenum">
              <a:rPr lang="en-US"/>
              <a:t>2</a:t>
            </a:fld>
            <a:endParaRPr lang="en-US" dirty="0"/>
          </a:p>
        </p:txBody>
      </p:sp>
    </p:spTree>
    <p:extLst>
      <p:ext uri="{BB962C8B-B14F-4D97-AF65-F5344CB8AC3E}">
        <p14:creationId xmlns:p14="http://schemas.microsoft.com/office/powerpoint/2010/main" val="257044626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19534B-5356-2980-B3D4-BF6B37F139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9C617C-0C9E-0A18-66BA-C528D28B99F9}"/>
              </a:ext>
            </a:extLst>
          </p:cNvPr>
          <p:cNvSpPr>
            <a:spLocks noGrp="1" noRot="1" noChangeAspect="1"/>
          </p:cNvSpPr>
          <p:nvPr>
            <p:ph type="sldImg"/>
          </p:nvPr>
        </p:nvSpPr>
        <p:spPr/>
        <p:txBody>
          <a:bodyPr/>
          <a:lstStyle/>
          <a:p>
            <a:endParaRPr lang="en-US" dirty="0"/>
          </a:p>
        </p:txBody>
      </p:sp>
      <p:sp>
        <p:nvSpPr>
          <p:cNvPr id="3" name="Notes Placeholder 2">
            <a:extLst>
              <a:ext uri="{FF2B5EF4-FFF2-40B4-BE49-F238E27FC236}">
                <a16:creationId xmlns:a16="http://schemas.microsoft.com/office/drawing/2014/main" id="{4AAFF11C-0A97-8B78-E67F-7F1CFC9FE44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AD8FF85-48BF-5D25-C010-2E161BA74FD2}"/>
              </a:ext>
            </a:extLst>
          </p:cNvPr>
          <p:cNvSpPr>
            <a:spLocks noGrp="1"/>
          </p:cNvSpPr>
          <p:nvPr>
            <p:ph type="sldNum" sz="quarter" idx="10"/>
          </p:nvPr>
        </p:nvSpPr>
        <p:spPr/>
        <p:txBody>
          <a:bodyPr/>
          <a:lstStyle/>
          <a:p>
            <a:fld id="{F7021451-1387-4CA6-816F-3879F97B5CBC}" type="slidenum">
              <a:rPr lang="en-US"/>
              <a:t>3</a:t>
            </a:fld>
            <a:endParaRPr lang="en-US" dirty="0"/>
          </a:p>
        </p:txBody>
      </p:sp>
    </p:spTree>
    <p:extLst>
      <p:ext uri="{BB962C8B-B14F-4D97-AF65-F5344CB8AC3E}">
        <p14:creationId xmlns:p14="http://schemas.microsoft.com/office/powerpoint/2010/main" val="46248048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85F967-1EA6-317B-8AAF-2625324088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F64539-793D-22B1-0244-ECE9E1222FFD}"/>
              </a:ext>
            </a:extLst>
          </p:cNvPr>
          <p:cNvSpPr>
            <a:spLocks noGrp="1" noRot="1" noChangeAspect="1"/>
          </p:cNvSpPr>
          <p:nvPr>
            <p:ph type="sldImg"/>
          </p:nvPr>
        </p:nvSpPr>
        <p:spPr/>
        <p:txBody>
          <a:bodyPr/>
          <a:lstStyle/>
          <a:p>
            <a:endParaRPr lang="en-US" dirty="0"/>
          </a:p>
        </p:txBody>
      </p:sp>
      <p:sp>
        <p:nvSpPr>
          <p:cNvPr id="3" name="Notes Placeholder 2">
            <a:extLst>
              <a:ext uri="{FF2B5EF4-FFF2-40B4-BE49-F238E27FC236}">
                <a16:creationId xmlns:a16="http://schemas.microsoft.com/office/drawing/2014/main" id="{31F24645-BC05-5960-F843-B47B9074E9A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F0D3911-FDB3-DBFF-6683-67A3A9D5F7ED}"/>
              </a:ext>
            </a:extLst>
          </p:cNvPr>
          <p:cNvSpPr>
            <a:spLocks noGrp="1"/>
          </p:cNvSpPr>
          <p:nvPr>
            <p:ph type="sldNum" sz="quarter" idx="10"/>
          </p:nvPr>
        </p:nvSpPr>
        <p:spPr/>
        <p:txBody>
          <a:bodyPr/>
          <a:lstStyle/>
          <a:p>
            <a:fld id="{F7021451-1387-4CA6-816F-3879F97B5CBC}" type="slidenum">
              <a:rPr lang="en-US"/>
              <a:t>4</a:t>
            </a:fld>
            <a:endParaRPr lang="en-US" dirty="0"/>
          </a:p>
        </p:txBody>
      </p:sp>
    </p:spTree>
    <p:extLst>
      <p:ext uri="{BB962C8B-B14F-4D97-AF65-F5344CB8AC3E}">
        <p14:creationId xmlns:p14="http://schemas.microsoft.com/office/powerpoint/2010/main" val="367710468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DA9867-31E5-7933-FB68-40102627E8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A53629-3CEB-89EC-5551-C840B336ED35}"/>
              </a:ext>
            </a:extLst>
          </p:cNvPr>
          <p:cNvSpPr>
            <a:spLocks noGrp="1" noRot="1" noChangeAspect="1"/>
          </p:cNvSpPr>
          <p:nvPr>
            <p:ph type="sldImg"/>
          </p:nvPr>
        </p:nvSpPr>
        <p:spPr/>
        <p:txBody>
          <a:bodyPr/>
          <a:lstStyle/>
          <a:p>
            <a:endParaRPr lang="en-US" dirty="0"/>
          </a:p>
        </p:txBody>
      </p:sp>
      <p:sp>
        <p:nvSpPr>
          <p:cNvPr id="3" name="Notes Placeholder 2">
            <a:extLst>
              <a:ext uri="{FF2B5EF4-FFF2-40B4-BE49-F238E27FC236}">
                <a16:creationId xmlns:a16="http://schemas.microsoft.com/office/drawing/2014/main" id="{562342C5-5FF6-2F5D-C880-3DAECFA0CA0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12358BC-28E2-E393-F785-9CCE5ACFCC2E}"/>
              </a:ext>
            </a:extLst>
          </p:cNvPr>
          <p:cNvSpPr>
            <a:spLocks noGrp="1"/>
          </p:cNvSpPr>
          <p:nvPr>
            <p:ph type="sldNum" sz="quarter" idx="10"/>
          </p:nvPr>
        </p:nvSpPr>
        <p:spPr/>
        <p:txBody>
          <a:bodyPr/>
          <a:lstStyle/>
          <a:p>
            <a:fld id="{F7021451-1387-4CA6-816F-3879F97B5CBC}" type="slidenum">
              <a:rPr lang="en-US"/>
              <a:t>5</a:t>
            </a:fld>
            <a:endParaRPr lang="en-US" dirty="0"/>
          </a:p>
        </p:txBody>
      </p:sp>
    </p:spTree>
    <p:extLst>
      <p:ext uri="{BB962C8B-B14F-4D97-AF65-F5344CB8AC3E}">
        <p14:creationId xmlns:p14="http://schemas.microsoft.com/office/powerpoint/2010/main" val="225861319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7C3937-AF42-F6AC-4353-E54FF89F863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ECC6E49-0C8A-3942-BFA9-92BE4BF81D83}"/>
              </a:ext>
            </a:extLst>
          </p:cNvPr>
          <p:cNvSpPr>
            <a:spLocks noGrp="1" noRot="1" noChangeAspect="1"/>
          </p:cNvSpPr>
          <p:nvPr>
            <p:ph type="sldImg"/>
          </p:nvPr>
        </p:nvSpPr>
        <p:spPr/>
        <p:txBody>
          <a:bodyPr/>
          <a:lstStyle/>
          <a:p>
            <a:endParaRPr lang="en-US" dirty="0"/>
          </a:p>
        </p:txBody>
      </p:sp>
      <p:sp>
        <p:nvSpPr>
          <p:cNvPr id="3" name="Notes Placeholder 2">
            <a:extLst>
              <a:ext uri="{FF2B5EF4-FFF2-40B4-BE49-F238E27FC236}">
                <a16:creationId xmlns:a16="http://schemas.microsoft.com/office/drawing/2014/main" id="{821F885A-E641-4D12-D4ED-48D8433E7EA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856E705-F538-B96C-BDBA-078AF7F7E881}"/>
              </a:ext>
            </a:extLst>
          </p:cNvPr>
          <p:cNvSpPr>
            <a:spLocks noGrp="1"/>
          </p:cNvSpPr>
          <p:nvPr>
            <p:ph type="sldNum" sz="quarter" idx="10"/>
          </p:nvPr>
        </p:nvSpPr>
        <p:spPr/>
        <p:txBody>
          <a:bodyPr/>
          <a:lstStyle/>
          <a:p>
            <a:fld id="{F7021451-1387-4CA6-816F-3879F97B5CBC}" type="slidenum">
              <a:rPr lang="en-US"/>
              <a:t>6</a:t>
            </a:fld>
            <a:endParaRPr lang="en-US" dirty="0"/>
          </a:p>
        </p:txBody>
      </p:sp>
    </p:spTree>
    <p:extLst>
      <p:ext uri="{BB962C8B-B14F-4D97-AF65-F5344CB8AC3E}">
        <p14:creationId xmlns:p14="http://schemas.microsoft.com/office/powerpoint/2010/main" val="137206453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99140B-7EC2-FD3E-4BA9-78EC7002E5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56B84A-ECFB-EE60-9DAC-343CB962100C}"/>
              </a:ext>
            </a:extLst>
          </p:cNvPr>
          <p:cNvSpPr>
            <a:spLocks noGrp="1" noRot="1" noChangeAspect="1"/>
          </p:cNvSpPr>
          <p:nvPr>
            <p:ph type="sldImg"/>
          </p:nvPr>
        </p:nvSpPr>
        <p:spPr/>
        <p:txBody>
          <a:bodyPr/>
          <a:lstStyle/>
          <a:p>
            <a:endParaRPr lang="en-US" dirty="0"/>
          </a:p>
        </p:txBody>
      </p:sp>
      <p:sp>
        <p:nvSpPr>
          <p:cNvPr id="3" name="Notes Placeholder 2">
            <a:extLst>
              <a:ext uri="{FF2B5EF4-FFF2-40B4-BE49-F238E27FC236}">
                <a16:creationId xmlns:a16="http://schemas.microsoft.com/office/drawing/2014/main" id="{73AEED18-2250-ED5D-4646-7B178BE4E6B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CA9A0D5-6A66-182B-C41F-2418B314F0D2}"/>
              </a:ext>
            </a:extLst>
          </p:cNvPr>
          <p:cNvSpPr>
            <a:spLocks noGrp="1"/>
          </p:cNvSpPr>
          <p:nvPr>
            <p:ph type="sldNum" sz="quarter" idx="10"/>
          </p:nvPr>
        </p:nvSpPr>
        <p:spPr/>
        <p:txBody>
          <a:bodyPr/>
          <a:lstStyle/>
          <a:p>
            <a:fld id="{F7021451-1387-4CA6-816F-3879F97B5CBC}" type="slidenum">
              <a:rPr lang="en-US"/>
              <a:t>7</a:t>
            </a:fld>
            <a:endParaRPr lang="en-US" dirty="0"/>
          </a:p>
        </p:txBody>
      </p:sp>
    </p:spTree>
    <p:extLst>
      <p:ext uri="{BB962C8B-B14F-4D97-AF65-F5344CB8AC3E}">
        <p14:creationId xmlns:p14="http://schemas.microsoft.com/office/powerpoint/2010/main" val="90429435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930653-0757-AA88-09C1-BF19810416D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B5D99B-BB38-D9E8-7F27-5EF0AFF13BB4}"/>
              </a:ext>
            </a:extLst>
          </p:cNvPr>
          <p:cNvSpPr>
            <a:spLocks noGrp="1" noRot="1" noChangeAspect="1"/>
          </p:cNvSpPr>
          <p:nvPr>
            <p:ph type="sldImg"/>
          </p:nvPr>
        </p:nvSpPr>
        <p:spPr/>
        <p:txBody>
          <a:bodyPr/>
          <a:lstStyle/>
          <a:p>
            <a:endParaRPr lang="en-US" dirty="0"/>
          </a:p>
        </p:txBody>
      </p:sp>
      <p:sp>
        <p:nvSpPr>
          <p:cNvPr id="3" name="Notes Placeholder 2">
            <a:extLst>
              <a:ext uri="{FF2B5EF4-FFF2-40B4-BE49-F238E27FC236}">
                <a16:creationId xmlns:a16="http://schemas.microsoft.com/office/drawing/2014/main" id="{3E6FAC42-6E33-65FD-F6C7-042A259E809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D9F1004-E055-5783-058E-F0CED9880C72}"/>
              </a:ext>
            </a:extLst>
          </p:cNvPr>
          <p:cNvSpPr>
            <a:spLocks noGrp="1"/>
          </p:cNvSpPr>
          <p:nvPr>
            <p:ph type="sldNum" sz="quarter" idx="10"/>
          </p:nvPr>
        </p:nvSpPr>
        <p:spPr/>
        <p:txBody>
          <a:bodyPr/>
          <a:lstStyle/>
          <a:p>
            <a:fld id="{F7021451-1387-4CA6-816F-3879F97B5CBC}" type="slidenum">
              <a:rPr lang="en-US"/>
              <a:t>8</a:t>
            </a:fld>
            <a:endParaRPr lang="en-US" dirty="0"/>
          </a:p>
        </p:txBody>
      </p:sp>
    </p:spTree>
    <p:extLst>
      <p:ext uri="{BB962C8B-B14F-4D97-AF65-F5344CB8AC3E}">
        <p14:creationId xmlns:p14="http://schemas.microsoft.com/office/powerpoint/2010/main" val="34462342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5D380C-12AF-A19E-DEF1-949FB20AF2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F24A28-359C-03C8-8BD5-FCAB855E3F36}"/>
              </a:ext>
            </a:extLst>
          </p:cNvPr>
          <p:cNvSpPr>
            <a:spLocks noGrp="1" noRot="1" noChangeAspect="1"/>
          </p:cNvSpPr>
          <p:nvPr>
            <p:ph type="sldImg"/>
          </p:nvPr>
        </p:nvSpPr>
        <p:spPr/>
        <p:txBody>
          <a:bodyPr/>
          <a:lstStyle/>
          <a:p>
            <a:endParaRPr lang="en-US" dirty="0"/>
          </a:p>
        </p:txBody>
      </p:sp>
      <p:sp>
        <p:nvSpPr>
          <p:cNvPr id="3" name="Notes Placeholder 2">
            <a:extLst>
              <a:ext uri="{FF2B5EF4-FFF2-40B4-BE49-F238E27FC236}">
                <a16:creationId xmlns:a16="http://schemas.microsoft.com/office/drawing/2014/main" id="{7C80CCFD-182F-EC68-89FA-D959B360ECF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C83C50D-522C-B7FD-9C06-1649E7B5D796}"/>
              </a:ext>
            </a:extLst>
          </p:cNvPr>
          <p:cNvSpPr>
            <a:spLocks noGrp="1"/>
          </p:cNvSpPr>
          <p:nvPr>
            <p:ph type="sldNum" sz="quarter" idx="10"/>
          </p:nvPr>
        </p:nvSpPr>
        <p:spPr/>
        <p:txBody>
          <a:bodyPr/>
          <a:lstStyle/>
          <a:p>
            <a:fld id="{F7021451-1387-4CA6-816F-3879F97B5CBC}" type="slidenum">
              <a:rPr lang="en-US"/>
              <a:t>9</a:t>
            </a:fld>
            <a:endParaRPr lang="en-US" dirty="0"/>
          </a:p>
        </p:txBody>
      </p:sp>
    </p:spTree>
    <p:extLst>
      <p:ext uri="{BB962C8B-B14F-4D97-AF65-F5344CB8AC3E}">
        <p14:creationId xmlns:p14="http://schemas.microsoft.com/office/powerpoint/2010/main" val="18035470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64320B-3CE4-B816-8CE7-5AFCE65B3B5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BB249D-17D7-AAAE-6B81-EE1B95199C6A}"/>
              </a:ext>
            </a:extLst>
          </p:cNvPr>
          <p:cNvSpPr>
            <a:spLocks noGrp="1" noRot="1" noChangeAspect="1"/>
          </p:cNvSpPr>
          <p:nvPr>
            <p:ph type="sldImg"/>
          </p:nvPr>
        </p:nvSpPr>
        <p:spPr/>
        <p:txBody>
          <a:bodyPr/>
          <a:lstStyle/>
          <a:p>
            <a:endParaRPr lang="en-US" dirty="0"/>
          </a:p>
        </p:txBody>
      </p:sp>
      <p:sp>
        <p:nvSpPr>
          <p:cNvPr id="3" name="Notes Placeholder 2">
            <a:extLst>
              <a:ext uri="{FF2B5EF4-FFF2-40B4-BE49-F238E27FC236}">
                <a16:creationId xmlns:a16="http://schemas.microsoft.com/office/drawing/2014/main" id="{ED678595-B227-F219-21B6-0F4D6D0EC71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BEC35ED-F90A-7728-106F-EE30C5CBD5CA}"/>
              </a:ext>
            </a:extLst>
          </p:cNvPr>
          <p:cNvSpPr>
            <a:spLocks noGrp="1"/>
          </p:cNvSpPr>
          <p:nvPr>
            <p:ph type="sldNum" sz="quarter" idx="10"/>
          </p:nvPr>
        </p:nvSpPr>
        <p:spPr/>
        <p:txBody>
          <a:bodyPr/>
          <a:lstStyle/>
          <a:p>
            <a:fld id="{F7021451-1387-4CA6-816F-3879F97B5CBC}" type="slidenum">
              <a:rPr lang="en-US"/>
              <a:t>10</a:t>
            </a:fld>
            <a:endParaRPr lang="en-US" dirty="0"/>
          </a:p>
        </p:txBody>
      </p:sp>
    </p:spTree>
    <p:extLst>
      <p:ext uri="{BB962C8B-B14F-4D97-AF65-F5344CB8AC3E}">
        <p14:creationId xmlns:p14="http://schemas.microsoft.com/office/powerpoint/2010/main" val="139625147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C051D2-DE4C-4E06-6C72-948269BC991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E719E0-C59F-37B7-7585-08F948C9679C}"/>
              </a:ext>
            </a:extLst>
          </p:cNvPr>
          <p:cNvSpPr>
            <a:spLocks noGrp="1" noRot="1" noChangeAspect="1"/>
          </p:cNvSpPr>
          <p:nvPr>
            <p:ph type="sldImg"/>
          </p:nvPr>
        </p:nvSpPr>
        <p:spPr/>
        <p:txBody>
          <a:bodyPr/>
          <a:lstStyle/>
          <a:p>
            <a:endParaRPr lang="en-US" dirty="0"/>
          </a:p>
        </p:txBody>
      </p:sp>
      <p:sp>
        <p:nvSpPr>
          <p:cNvPr id="3" name="Notes Placeholder 2">
            <a:extLst>
              <a:ext uri="{FF2B5EF4-FFF2-40B4-BE49-F238E27FC236}">
                <a16:creationId xmlns:a16="http://schemas.microsoft.com/office/drawing/2014/main" id="{59F4CC0A-ADCB-C533-B89A-260C3C4702C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0E99CF3-7BA5-9081-9173-44D02ECB7B10}"/>
              </a:ext>
            </a:extLst>
          </p:cNvPr>
          <p:cNvSpPr>
            <a:spLocks noGrp="1"/>
          </p:cNvSpPr>
          <p:nvPr>
            <p:ph type="sldNum" sz="quarter" idx="10"/>
          </p:nvPr>
        </p:nvSpPr>
        <p:spPr/>
        <p:txBody>
          <a:bodyPr/>
          <a:lstStyle/>
          <a:p>
            <a:fld id="{F7021451-1387-4CA6-816F-3879F97B5CBC}" type="slidenum">
              <a:rPr lang="en-US"/>
              <a:t>11</a:t>
            </a:fld>
            <a:endParaRPr lang="en-US" dirty="0"/>
          </a:p>
        </p:txBody>
      </p:sp>
    </p:spTree>
    <p:extLst>
      <p:ext uri="{BB962C8B-B14F-4D97-AF65-F5344CB8AC3E}">
        <p14:creationId xmlns:p14="http://schemas.microsoft.com/office/powerpoint/2010/main" val="282558204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5A0DF-05BE-306B-7088-880EB6ADACB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D1A6DB-E2D0-BCBA-8293-30F806D35612}"/>
              </a:ext>
            </a:extLst>
          </p:cNvPr>
          <p:cNvSpPr>
            <a:spLocks noGrp="1" noRot="1" noChangeAspect="1"/>
          </p:cNvSpPr>
          <p:nvPr>
            <p:ph type="sldImg"/>
          </p:nvPr>
        </p:nvSpPr>
        <p:spPr/>
        <p:txBody>
          <a:bodyPr/>
          <a:lstStyle/>
          <a:p>
            <a:endParaRPr lang="en-US" dirty="0"/>
          </a:p>
        </p:txBody>
      </p:sp>
      <p:sp>
        <p:nvSpPr>
          <p:cNvPr id="3" name="Notes Placeholder 2">
            <a:extLst>
              <a:ext uri="{FF2B5EF4-FFF2-40B4-BE49-F238E27FC236}">
                <a16:creationId xmlns:a16="http://schemas.microsoft.com/office/drawing/2014/main" id="{CFD84362-B7FF-AAE1-D354-63B90EFDDCF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6B80829-D4DB-7A72-BC47-707B7D6FC3F9}"/>
              </a:ext>
            </a:extLst>
          </p:cNvPr>
          <p:cNvSpPr>
            <a:spLocks noGrp="1"/>
          </p:cNvSpPr>
          <p:nvPr>
            <p:ph type="sldNum" sz="quarter" idx="10"/>
          </p:nvPr>
        </p:nvSpPr>
        <p:spPr/>
        <p:txBody>
          <a:bodyPr/>
          <a:lstStyle/>
          <a:p>
            <a:fld id="{F7021451-1387-4CA6-816F-3879F97B5CBC}" type="slidenum">
              <a:rPr lang="en-US"/>
              <a:t>12</a:t>
            </a:fld>
            <a:endParaRPr lang="en-US" dirty="0"/>
          </a:p>
        </p:txBody>
      </p:sp>
    </p:spTree>
    <p:extLst>
      <p:ext uri="{BB962C8B-B14F-4D97-AF65-F5344CB8AC3E}">
        <p14:creationId xmlns:p14="http://schemas.microsoft.com/office/powerpoint/2010/main" val="266821083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B6037E-3774-65B8-D9D8-9F550AC84E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3A451B-C777-D7D3-C282-233200594D67}"/>
              </a:ext>
            </a:extLst>
          </p:cNvPr>
          <p:cNvSpPr>
            <a:spLocks noGrp="1" noRot="1" noChangeAspect="1"/>
          </p:cNvSpPr>
          <p:nvPr>
            <p:ph type="sldImg"/>
          </p:nvPr>
        </p:nvSpPr>
        <p:spPr/>
        <p:txBody>
          <a:bodyPr/>
          <a:lstStyle/>
          <a:p>
            <a:endParaRPr lang="en-US" dirty="0"/>
          </a:p>
        </p:txBody>
      </p:sp>
      <p:sp>
        <p:nvSpPr>
          <p:cNvPr id="3" name="Notes Placeholder 2">
            <a:extLst>
              <a:ext uri="{FF2B5EF4-FFF2-40B4-BE49-F238E27FC236}">
                <a16:creationId xmlns:a16="http://schemas.microsoft.com/office/drawing/2014/main" id="{3AE35BDA-AB04-43DF-1163-809073916B3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74A60FA-9592-1534-3AF6-58E3C7A7A8AF}"/>
              </a:ext>
            </a:extLst>
          </p:cNvPr>
          <p:cNvSpPr>
            <a:spLocks noGrp="1"/>
          </p:cNvSpPr>
          <p:nvPr>
            <p:ph type="sldNum" sz="quarter" idx="10"/>
          </p:nvPr>
        </p:nvSpPr>
        <p:spPr/>
        <p:txBody>
          <a:bodyPr/>
          <a:lstStyle/>
          <a:p>
            <a:fld id="{F7021451-1387-4CA6-816F-3879F97B5CBC}" type="slidenum">
              <a:rPr lang="en-US"/>
              <a:t>13</a:t>
            </a:fld>
            <a:endParaRPr lang="en-US" dirty="0"/>
          </a:p>
        </p:txBody>
      </p:sp>
    </p:spTree>
    <p:extLst>
      <p:ext uri="{BB962C8B-B14F-4D97-AF65-F5344CB8AC3E}">
        <p14:creationId xmlns:p14="http://schemas.microsoft.com/office/powerpoint/2010/main" val="97057790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4DE88-92A0-6CFA-842A-009E9BEA89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A4B027B-0355-9456-703E-B049A5614318}"/>
              </a:ext>
            </a:extLst>
          </p:cNvPr>
          <p:cNvSpPr>
            <a:spLocks noGrp="1" noRot="1" noChangeAspect="1"/>
          </p:cNvSpPr>
          <p:nvPr>
            <p:ph type="sldImg"/>
          </p:nvPr>
        </p:nvSpPr>
        <p:spPr/>
        <p:txBody>
          <a:bodyPr/>
          <a:lstStyle/>
          <a:p>
            <a:endParaRPr lang="en-US" dirty="0"/>
          </a:p>
        </p:txBody>
      </p:sp>
      <p:sp>
        <p:nvSpPr>
          <p:cNvPr id="3" name="Notes Placeholder 2">
            <a:extLst>
              <a:ext uri="{FF2B5EF4-FFF2-40B4-BE49-F238E27FC236}">
                <a16:creationId xmlns:a16="http://schemas.microsoft.com/office/drawing/2014/main" id="{F162D116-BCF3-19DE-9A76-BAAB1004E84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B622AE9-4109-3936-6498-1C1AFE22CA9D}"/>
              </a:ext>
            </a:extLst>
          </p:cNvPr>
          <p:cNvSpPr>
            <a:spLocks noGrp="1"/>
          </p:cNvSpPr>
          <p:nvPr>
            <p:ph type="sldNum" sz="quarter" idx="10"/>
          </p:nvPr>
        </p:nvSpPr>
        <p:spPr/>
        <p:txBody>
          <a:bodyPr/>
          <a:lstStyle/>
          <a:p>
            <a:fld id="{F7021451-1387-4CA6-816F-3879F97B5CBC}" type="slidenum">
              <a:rPr lang="en-US"/>
              <a:t>14</a:t>
            </a:fld>
            <a:endParaRPr lang="en-US" dirty="0"/>
          </a:p>
        </p:txBody>
      </p:sp>
    </p:spTree>
    <p:extLst>
      <p:ext uri="{BB962C8B-B14F-4D97-AF65-F5344CB8AC3E}">
        <p14:creationId xmlns:p14="http://schemas.microsoft.com/office/powerpoint/2010/main" val="423875020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DF9FEB-5B0C-AB08-AABF-907D934249A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C9C66A-2081-09DB-DB72-492FD1751A9D}"/>
              </a:ext>
            </a:extLst>
          </p:cNvPr>
          <p:cNvSpPr>
            <a:spLocks noGrp="1" noRot="1" noChangeAspect="1"/>
          </p:cNvSpPr>
          <p:nvPr>
            <p:ph type="sldImg"/>
          </p:nvPr>
        </p:nvSpPr>
        <p:spPr/>
        <p:txBody>
          <a:bodyPr/>
          <a:lstStyle/>
          <a:p>
            <a:endParaRPr lang="en-US" dirty="0"/>
          </a:p>
        </p:txBody>
      </p:sp>
      <p:sp>
        <p:nvSpPr>
          <p:cNvPr id="3" name="Notes Placeholder 2">
            <a:extLst>
              <a:ext uri="{FF2B5EF4-FFF2-40B4-BE49-F238E27FC236}">
                <a16:creationId xmlns:a16="http://schemas.microsoft.com/office/drawing/2014/main" id="{FEA95FA3-FD3B-26E5-C61C-371D5FF88AF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9EE0AD6-71EB-6D07-0980-32236D94D4B9}"/>
              </a:ext>
            </a:extLst>
          </p:cNvPr>
          <p:cNvSpPr>
            <a:spLocks noGrp="1"/>
          </p:cNvSpPr>
          <p:nvPr>
            <p:ph type="sldNum" sz="quarter" idx="10"/>
          </p:nvPr>
        </p:nvSpPr>
        <p:spPr/>
        <p:txBody>
          <a:bodyPr/>
          <a:lstStyle/>
          <a:p>
            <a:fld id="{F7021451-1387-4CA6-816F-3879F97B5CBC}" type="slidenum">
              <a:rPr lang="en-US"/>
              <a:t>15</a:t>
            </a:fld>
            <a:endParaRPr lang="en-US" dirty="0"/>
          </a:p>
        </p:txBody>
      </p:sp>
    </p:spTree>
    <p:extLst>
      <p:ext uri="{BB962C8B-B14F-4D97-AF65-F5344CB8AC3E}">
        <p14:creationId xmlns:p14="http://schemas.microsoft.com/office/powerpoint/2010/main" val="77958274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F63407-9F67-A20E-1CB6-70A8322D04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DCE68C-6A9F-6888-D17D-D7A30AAAB2DB}"/>
              </a:ext>
            </a:extLst>
          </p:cNvPr>
          <p:cNvSpPr>
            <a:spLocks noGrp="1" noRot="1" noChangeAspect="1"/>
          </p:cNvSpPr>
          <p:nvPr>
            <p:ph type="sldImg"/>
          </p:nvPr>
        </p:nvSpPr>
        <p:spPr/>
        <p:txBody>
          <a:bodyPr/>
          <a:lstStyle/>
          <a:p>
            <a:endParaRPr lang="en-US" dirty="0"/>
          </a:p>
        </p:txBody>
      </p:sp>
      <p:sp>
        <p:nvSpPr>
          <p:cNvPr id="3" name="Notes Placeholder 2">
            <a:extLst>
              <a:ext uri="{FF2B5EF4-FFF2-40B4-BE49-F238E27FC236}">
                <a16:creationId xmlns:a16="http://schemas.microsoft.com/office/drawing/2014/main" id="{2D7C37D0-89CC-BA1D-3A75-3E1AF0ED2A1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D1587D7-7F59-4B70-6A77-DDD492455333}"/>
              </a:ext>
            </a:extLst>
          </p:cNvPr>
          <p:cNvSpPr>
            <a:spLocks noGrp="1"/>
          </p:cNvSpPr>
          <p:nvPr>
            <p:ph type="sldNum" sz="quarter" idx="10"/>
          </p:nvPr>
        </p:nvSpPr>
        <p:spPr/>
        <p:txBody>
          <a:bodyPr/>
          <a:lstStyle/>
          <a:p>
            <a:fld id="{F7021451-1387-4CA6-816F-3879F97B5CBC}" type="slidenum">
              <a:rPr lang="en-US"/>
              <a:t>16</a:t>
            </a:fld>
            <a:endParaRPr lang="en-US" dirty="0"/>
          </a:p>
        </p:txBody>
      </p:sp>
    </p:spTree>
    <p:extLst>
      <p:ext uri="{BB962C8B-B14F-4D97-AF65-F5344CB8AC3E}">
        <p14:creationId xmlns:p14="http://schemas.microsoft.com/office/powerpoint/2010/main" val="59613591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608ED0-1637-4D04-0103-A45FE915E1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8619A9-4DF4-0B98-8850-C365E4F61670}"/>
              </a:ext>
            </a:extLst>
          </p:cNvPr>
          <p:cNvSpPr>
            <a:spLocks noGrp="1" noRot="1" noChangeAspect="1"/>
          </p:cNvSpPr>
          <p:nvPr>
            <p:ph type="sldImg"/>
          </p:nvPr>
        </p:nvSpPr>
        <p:spPr/>
        <p:txBody>
          <a:bodyPr/>
          <a:lstStyle/>
          <a:p>
            <a:endParaRPr lang="en-US" dirty="0"/>
          </a:p>
        </p:txBody>
      </p:sp>
      <p:sp>
        <p:nvSpPr>
          <p:cNvPr id="3" name="Notes Placeholder 2">
            <a:extLst>
              <a:ext uri="{FF2B5EF4-FFF2-40B4-BE49-F238E27FC236}">
                <a16:creationId xmlns:a16="http://schemas.microsoft.com/office/drawing/2014/main" id="{E2EB6311-BAE9-8E50-DA2F-8B15C6C22F0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48471B5-BE31-9462-60BD-A45F1994CE89}"/>
              </a:ext>
            </a:extLst>
          </p:cNvPr>
          <p:cNvSpPr>
            <a:spLocks noGrp="1"/>
          </p:cNvSpPr>
          <p:nvPr>
            <p:ph type="sldNum" sz="quarter" idx="10"/>
          </p:nvPr>
        </p:nvSpPr>
        <p:spPr/>
        <p:txBody>
          <a:bodyPr/>
          <a:lstStyle/>
          <a:p>
            <a:fld id="{F7021451-1387-4CA6-816F-3879F97B5CBC}" type="slidenum">
              <a:rPr lang="en-US"/>
              <a:t>17</a:t>
            </a:fld>
            <a:endParaRPr lang="en-US" dirty="0"/>
          </a:p>
        </p:txBody>
      </p:sp>
    </p:spTree>
    <p:extLst>
      <p:ext uri="{BB962C8B-B14F-4D97-AF65-F5344CB8AC3E}">
        <p14:creationId xmlns:p14="http://schemas.microsoft.com/office/powerpoint/2010/main" val="75102267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F34CB-558B-05F6-EF58-E77DEB0B2C6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E1364D-FB69-BFFE-910C-7DDB19421EC7}"/>
              </a:ext>
            </a:extLst>
          </p:cNvPr>
          <p:cNvSpPr>
            <a:spLocks noGrp="1" noRot="1" noChangeAspect="1"/>
          </p:cNvSpPr>
          <p:nvPr>
            <p:ph type="sldImg"/>
          </p:nvPr>
        </p:nvSpPr>
        <p:spPr/>
        <p:txBody>
          <a:bodyPr/>
          <a:lstStyle/>
          <a:p>
            <a:endParaRPr lang="en-US" dirty="0"/>
          </a:p>
        </p:txBody>
      </p:sp>
      <p:sp>
        <p:nvSpPr>
          <p:cNvPr id="3" name="Notes Placeholder 2">
            <a:extLst>
              <a:ext uri="{FF2B5EF4-FFF2-40B4-BE49-F238E27FC236}">
                <a16:creationId xmlns:a16="http://schemas.microsoft.com/office/drawing/2014/main" id="{5261E907-AE52-1B9B-E1F4-B2D118C83E4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93AC658-8082-4787-9EE7-6C4E2092D47A}"/>
              </a:ext>
            </a:extLst>
          </p:cNvPr>
          <p:cNvSpPr>
            <a:spLocks noGrp="1"/>
          </p:cNvSpPr>
          <p:nvPr>
            <p:ph type="sldNum" sz="quarter" idx="10"/>
          </p:nvPr>
        </p:nvSpPr>
        <p:spPr/>
        <p:txBody>
          <a:bodyPr/>
          <a:lstStyle/>
          <a:p>
            <a:fld id="{F7021451-1387-4CA6-816F-3879F97B5CBC}" type="slidenum">
              <a:rPr lang="en-US"/>
              <a:t>18</a:t>
            </a:fld>
            <a:endParaRPr lang="en-US" dirty="0"/>
          </a:p>
        </p:txBody>
      </p:sp>
    </p:spTree>
    <p:extLst>
      <p:ext uri="{BB962C8B-B14F-4D97-AF65-F5344CB8AC3E}">
        <p14:creationId xmlns:p14="http://schemas.microsoft.com/office/powerpoint/2010/main" val="259779646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8C3D0D-571F-782B-34A4-4319348B3F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54465DB-99D7-6D80-D5A3-91FFBC7EC0A2}"/>
              </a:ext>
            </a:extLst>
          </p:cNvPr>
          <p:cNvSpPr>
            <a:spLocks noGrp="1" noRot="1" noChangeAspect="1"/>
          </p:cNvSpPr>
          <p:nvPr>
            <p:ph type="sldImg"/>
          </p:nvPr>
        </p:nvSpPr>
        <p:spPr/>
        <p:txBody>
          <a:bodyPr/>
          <a:lstStyle/>
          <a:p>
            <a:endParaRPr lang="en-US" dirty="0"/>
          </a:p>
        </p:txBody>
      </p:sp>
      <p:sp>
        <p:nvSpPr>
          <p:cNvPr id="3" name="Notes Placeholder 2">
            <a:extLst>
              <a:ext uri="{FF2B5EF4-FFF2-40B4-BE49-F238E27FC236}">
                <a16:creationId xmlns:a16="http://schemas.microsoft.com/office/drawing/2014/main" id="{930B010E-3C9E-3BE3-B2D5-E33FA3A5181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E3AAF71-03C9-0353-0740-76AFBA688A15}"/>
              </a:ext>
            </a:extLst>
          </p:cNvPr>
          <p:cNvSpPr>
            <a:spLocks noGrp="1"/>
          </p:cNvSpPr>
          <p:nvPr>
            <p:ph type="sldNum" sz="quarter" idx="10"/>
          </p:nvPr>
        </p:nvSpPr>
        <p:spPr/>
        <p:txBody>
          <a:bodyPr/>
          <a:lstStyle/>
          <a:p>
            <a:fld id="{F7021451-1387-4CA6-816F-3879F97B5CBC}" type="slidenum">
              <a:rPr lang="en-US"/>
              <a:t>19</a:t>
            </a:fld>
            <a:endParaRPr lang="en-US" dirty="0"/>
          </a:p>
        </p:txBody>
      </p:sp>
    </p:spTree>
    <p:extLst>
      <p:ext uri="{BB962C8B-B14F-4D97-AF65-F5344CB8AC3E}">
        <p14:creationId xmlns:p14="http://schemas.microsoft.com/office/powerpoint/2010/main" val="276053451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5EFC20-D1E5-4DE0-B83D-D4FDBA4322C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2D1D3EB-AE74-2345-A14F-D84BC80FD866}"/>
              </a:ext>
            </a:extLst>
          </p:cNvPr>
          <p:cNvSpPr>
            <a:spLocks noGrp="1" noRot="1" noChangeAspect="1"/>
          </p:cNvSpPr>
          <p:nvPr>
            <p:ph type="sldImg"/>
          </p:nvPr>
        </p:nvSpPr>
        <p:spPr/>
        <p:txBody>
          <a:bodyPr/>
          <a:lstStyle/>
          <a:p>
            <a:endParaRPr lang="en-US" dirty="0"/>
          </a:p>
        </p:txBody>
      </p:sp>
      <p:sp>
        <p:nvSpPr>
          <p:cNvPr id="3" name="Notes Placeholder 2">
            <a:extLst>
              <a:ext uri="{FF2B5EF4-FFF2-40B4-BE49-F238E27FC236}">
                <a16:creationId xmlns:a16="http://schemas.microsoft.com/office/drawing/2014/main" id="{A727F0D7-D4E0-F7DE-BFDE-5478564C991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C7BBDC7-AFD5-C213-BAFC-7DCE8A7D76DC}"/>
              </a:ext>
            </a:extLst>
          </p:cNvPr>
          <p:cNvSpPr>
            <a:spLocks noGrp="1"/>
          </p:cNvSpPr>
          <p:nvPr>
            <p:ph type="sldNum" sz="quarter" idx="10"/>
          </p:nvPr>
        </p:nvSpPr>
        <p:spPr/>
        <p:txBody>
          <a:bodyPr/>
          <a:lstStyle/>
          <a:p>
            <a:fld id="{F7021451-1387-4CA6-816F-3879F97B5CBC}" type="slidenum">
              <a:rPr lang="en-US"/>
              <a:t>20</a:t>
            </a:fld>
            <a:endParaRPr lang="en-US" dirty="0"/>
          </a:p>
        </p:txBody>
      </p:sp>
    </p:spTree>
    <p:extLst>
      <p:ext uri="{BB962C8B-B14F-4D97-AF65-F5344CB8AC3E}">
        <p14:creationId xmlns:p14="http://schemas.microsoft.com/office/powerpoint/2010/main" val="349567231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E13B13-2BEC-5273-7AC1-D210312235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F3ED767-491E-D450-FB17-0D8EFA41B25A}"/>
              </a:ext>
            </a:extLst>
          </p:cNvPr>
          <p:cNvSpPr>
            <a:spLocks noGrp="1" noRot="1" noChangeAspect="1"/>
          </p:cNvSpPr>
          <p:nvPr>
            <p:ph type="sldImg"/>
          </p:nvPr>
        </p:nvSpPr>
        <p:spPr/>
        <p:txBody>
          <a:bodyPr/>
          <a:lstStyle/>
          <a:p>
            <a:endParaRPr lang="en-US" dirty="0"/>
          </a:p>
        </p:txBody>
      </p:sp>
      <p:sp>
        <p:nvSpPr>
          <p:cNvPr id="3" name="Notes Placeholder 2">
            <a:extLst>
              <a:ext uri="{FF2B5EF4-FFF2-40B4-BE49-F238E27FC236}">
                <a16:creationId xmlns:a16="http://schemas.microsoft.com/office/drawing/2014/main" id="{B09936B0-44F9-1EBA-CC88-92C0D956685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28AA3C4-53B9-9517-9DE9-5DCD5D2A28BE}"/>
              </a:ext>
            </a:extLst>
          </p:cNvPr>
          <p:cNvSpPr>
            <a:spLocks noGrp="1"/>
          </p:cNvSpPr>
          <p:nvPr>
            <p:ph type="sldNum" sz="quarter" idx="10"/>
          </p:nvPr>
        </p:nvSpPr>
        <p:spPr/>
        <p:txBody>
          <a:bodyPr/>
          <a:lstStyle/>
          <a:p>
            <a:fld id="{F7021451-1387-4CA6-816F-3879F97B5CBC}" type="slidenum">
              <a:rPr lang="en-US"/>
              <a:t>21</a:t>
            </a:fld>
            <a:endParaRPr lang="en-US" dirty="0"/>
          </a:p>
        </p:txBody>
      </p:sp>
    </p:spTree>
    <p:extLst>
      <p:ext uri="{BB962C8B-B14F-4D97-AF65-F5344CB8AC3E}">
        <p14:creationId xmlns:p14="http://schemas.microsoft.com/office/powerpoint/2010/main" val="260652606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3B679C-CEDC-E78F-799D-D6FCB4D58C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B46391-50BD-7869-F2A4-C78E05B9A54A}"/>
              </a:ext>
            </a:extLst>
          </p:cNvPr>
          <p:cNvSpPr>
            <a:spLocks noGrp="1" noRot="1" noChangeAspect="1"/>
          </p:cNvSpPr>
          <p:nvPr>
            <p:ph type="sldImg"/>
          </p:nvPr>
        </p:nvSpPr>
        <p:spPr/>
        <p:txBody>
          <a:bodyPr/>
          <a:lstStyle/>
          <a:p>
            <a:endParaRPr lang="en-US" dirty="0"/>
          </a:p>
        </p:txBody>
      </p:sp>
      <p:sp>
        <p:nvSpPr>
          <p:cNvPr id="3" name="Notes Placeholder 2">
            <a:extLst>
              <a:ext uri="{FF2B5EF4-FFF2-40B4-BE49-F238E27FC236}">
                <a16:creationId xmlns:a16="http://schemas.microsoft.com/office/drawing/2014/main" id="{39AA9C50-14D7-54B2-0D8D-8539274DD74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B1391F-147B-1B23-65B9-80AA00B1D475}"/>
              </a:ext>
            </a:extLst>
          </p:cNvPr>
          <p:cNvSpPr>
            <a:spLocks noGrp="1"/>
          </p:cNvSpPr>
          <p:nvPr>
            <p:ph type="sldNum" sz="quarter" idx="10"/>
          </p:nvPr>
        </p:nvSpPr>
        <p:spPr/>
        <p:txBody>
          <a:bodyPr/>
          <a:lstStyle/>
          <a:p>
            <a:fld id="{F7021451-1387-4CA6-816F-3879F97B5CBC}" type="slidenum">
              <a:rPr lang="en-US"/>
              <a:t>22</a:t>
            </a:fld>
            <a:endParaRPr lang="en-US" dirty="0"/>
          </a:p>
        </p:txBody>
      </p:sp>
    </p:spTree>
    <p:extLst>
      <p:ext uri="{BB962C8B-B14F-4D97-AF65-F5344CB8AC3E}">
        <p14:creationId xmlns:p14="http://schemas.microsoft.com/office/powerpoint/2010/main" val="421925026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FFA803-EB30-3AB8-03EC-588F5AEA3DF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25A001F-C3FC-95B2-25AC-253D211D4B37}"/>
              </a:ext>
            </a:extLst>
          </p:cNvPr>
          <p:cNvSpPr>
            <a:spLocks noGrp="1" noRot="1" noChangeAspect="1"/>
          </p:cNvSpPr>
          <p:nvPr>
            <p:ph type="sldImg"/>
          </p:nvPr>
        </p:nvSpPr>
        <p:spPr/>
        <p:txBody>
          <a:bodyPr/>
          <a:lstStyle/>
          <a:p>
            <a:endParaRPr lang="en-US" dirty="0"/>
          </a:p>
        </p:txBody>
      </p:sp>
      <p:sp>
        <p:nvSpPr>
          <p:cNvPr id="3" name="Notes Placeholder 2">
            <a:extLst>
              <a:ext uri="{FF2B5EF4-FFF2-40B4-BE49-F238E27FC236}">
                <a16:creationId xmlns:a16="http://schemas.microsoft.com/office/drawing/2014/main" id="{D6B18BE0-509E-7C99-51EB-99C741BEB4D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AA0B5AA-CB8F-7A3A-EB6D-0E0E3D5F4C17}"/>
              </a:ext>
            </a:extLst>
          </p:cNvPr>
          <p:cNvSpPr>
            <a:spLocks noGrp="1"/>
          </p:cNvSpPr>
          <p:nvPr>
            <p:ph type="sldNum" sz="quarter" idx="10"/>
          </p:nvPr>
        </p:nvSpPr>
        <p:spPr/>
        <p:txBody>
          <a:bodyPr/>
          <a:lstStyle/>
          <a:p>
            <a:fld id="{F7021451-1387-4CA6-816F-3879F97B5CBC}" type="slidenum">
              <a:rPr lang="en-US"/>
              <a:t>23</a:t>
            </a:fld>
            <a:endParaRPr lang="en-US" dirty="0"/>
          </a:p>
        </p:txBody>
      </p:sp>
    </p:spTree>
    <p:extLst>
      <p:ext uri="{BB962C8B-B14F-4D97-AF65-F5344CB8AC3E}">
        <p14:creationId xmlns:p14="http://schemas.microsoft.com/office/powerpoint/2010/main" val="331902257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AE193B-2393-0634-8903-6925613EBD9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3FC5EA6-8EDA-199D-9D8F-40401A9A538B}"/>
              </a:ext>
            </a:extLst>
          </p:cNvPr>
          <p:cNvSpPr>
            <a:spLocks noGrp="1" noRot="1" noChangeAspect="1"/>
          </p:cNvSpPr>
          <p:nvPr>
            <p:ph type="sldImg"/>
          </p:nvPr>
        </p:nvSpPr>
        <p:spPr/>
        <p:txBody>
          <a:bodyPr/>
          <a:lstStyle/>
          <a:p>
            <a:endParaRPr lang="en-US" dirty="0"/>
          </a:p>
        </p:txBody>
      </p:sp>
      <p:sp>
        <p:nvSpPr>
          <p:cNvPr id="3" name="Notes Placeholder 2">
            <a:extLst>
              <a:ext uri="{FF2B5EF4-FFF2-40B4-BE49-F238E27FC236}">
                <a16:creationId xmlns:a16="http://schemas.microsoft.com/office/drawing/2014/main" id="{CDA2AF05-7EF8-33B6-328F-E91EF0C571E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C516B5E-4BDD-66C4-D410-CA43E3602C72}"/>
              </a:ext>
            </a:extLst>
          </p:cNvPr>
          <p:cNvSpPr>
            <a:spLocks noGrp="1"/>
          </p:cNvSpPr>
          <p:nvPr>
            <p:ph type="sldNum" sz="quarter" idx="10"/>
          </p:nvPr>
        </p:nvSpPr>
        <p:spPr/>
        <p:txBody>
          <a:bodyPr/>
          <a:lstStyle/>
          <a:p>
            <a:fld id="{F7021451-1387-4CA6-816F-3879F97B5CBC}" type="slidenum">
              <a:rPr lang="en-US"/>
              <a:t>24</a:t>
            </a:fld>
            <a:endParaRPr lang="en-US" dirty="0"/>
          </a:p>
        </p:txBody>
      </p:sp>
    </p:spTree>
    <p:extLst>
      <p:ext uri="{BB962C8B-B14F-4D97-AF65-F5344CB8AC3E}">
        <p14:creationId xmlns:p14="http://schemas.microsoft.com/office/powerpoint/2010/main" val="389027620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4E42E8-CEB7-931F-9B39-7C35C50DBD4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847D989-E9B1-B453-2EAD-E46546192326}"/>
              </a:ext>
            </a:extLst>
          </p:cNvPr>
          <p:cNvSpPr>
            <a:spLocks noGrp="1" noRot="1" noChangeAspect="1"/>
          </p:cNvSpPr>
          <p:nvPr>
            <p:ph type="sldImg"/>
          </p:nvPr>
        </p:nvSpPr>
        <p:spPr/>
        <p:txBody>
          <a:bodyPr/>
          <a:lstStyle/>
          <a:p>
            <a:endParaRPr lang="en-US" dirty="0"/>
          </a:p>
        </p:txBody>
      </p:sp>
      <p:sp>
        <p:nvSpPr>
          <p:cNvPr id="3" name="Notes Placeholder 2">
            <a:extLst>
              <a:ext uri="{FF2B5EF4-FFF2-40B4-BE49-F238E27FC236}">
                <a16:creationId xmlns:a16="http://schemas.microsoft.com/office/drawing/2014/main" id="{CBD383F4-1C66-E579-E5EE-BEB9F3C7CC4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EA71FE1-5951-A3C2-1BB0-731D2C1F2593}"/>
              </a:ext>
            </a:extLst>
          </p:cNvPr>
          <p:cNvSpPr>
            <a:spLocks noGrp="1"/>
          </p:cNvSpPr>
          <p:nvPr>
            <p:ph type="sldNum" sz="quarter" idx="10"/>
          </p:nvPr>
        </p:nvSpPr>
        <p:spPr/>
        <p:txBody>
          <a:bodyPr/>
          <a:lstStyle/>
          <a:p>
            <a:fld id="{F7021451-1387-4CA6-816F-3879F97B5CBC}" type="slidenum">
              <a:rPr lang="en-US"/>
              <a:t>25</a:t>
            </a:fld>
            <a:endParaRPr lang="en-US" dirty="0"/>
          </a:p>
        </p:txBody>
      </p:sp>
    </p:spTree>
    <p:extLst>
      <p:ext uri="{BB962C8B-B14F-4D97-AF65-F5344CB8AC3E}">
        <p14:creationId xmlns:p14="http://schemas.microsoft.com/office/powerpoint/2010/main" val="342533633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1B3E81-F539-8804-05F2-BC3B750FBFD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21C195E-1C5D-D6A6-9693-38B8017CAF6C}"/>
              </a:ext>
            </a:extLst>
          </p:cNvPr>
          <p:cNvSpPr>
            <a:spLocks noGrp="1" noRot="1" noChangeAspect="1"/>
          </p:cNvSpPr>
          <p:nvPr>
            <p:ph type="sldImg"/>
          </p:nvPr>
        </p:nvSpPr>
        <p:spPr/>
        <p:txBody>
          <a:bodyPr/>
          <a:lstStyle/>
          <a:p>
            <a:endParaRPr lang="en-US" dirty="0"/>
          </a:p>
        </p:txBody>
      </p:sp>
      <p:sp>
        <p:nvSpPr>
          <p:cNvPr id="3" name="Notes Placeholder 2">
            <a:extLst>
              <a:ext uri="{FF2B5EF4-FFF2-40B4-BE49-F238E27FC236}">
                <a16:creationId xmlns:a16="http://schemas.microsoft.com/office/drawing/2014/main" id="{FF59A8B7-937C-5324-10A8-4817B9BCE96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2C4C79F-6E08-2F27-6412-4B27E02B4186}"/>
              </a:ext>
            </a:extLst>
          </p:cNvPr>
          <p:cNvSpPr>
            <a:spLocks noGrp="1"/>
          </p:cNvSpPr>
          <p:nvPr>
            <p:ph type="sldNum" sz="quarter" idx="10"/>
          </p:nvPr>
        </p:nvSpPr>
        <p:spPr/>
        <p:txBody>
          <a:bodyPr/>
          <a:lstStyle/>
          <a:p>
            <a:fld id="{F7021451-1387-4CA6-816F-3879F97B5CBC}" type="slidenum">
              <a:rPr lang="en-US"/>
              <a:t>26</a:t>
            </a:fld>
            <a:endParaRPr lang="en-US" dirty="0"/>
          </a:p>
        </p:txBody>
      </p:sp>
    </p:spTree>
    <p:extLst>
      <p:ext uri="{BB962C8B-B14F-4D97-AF65-F5344CB8AC3E}">
        <p14:creationId xmlns:p14="http://schemas.microsoft.com/office/powerpoint/2010/main" val="114848995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3F73C9-A47C-E8BC-ABA0-FDFD6800FE9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01549F-B461-CA86-ED55-98D46774F0E3}"/>
              </a:ext>
            </a:extLst>
          </p:cNvPr>
          <p:cNvSpPr>
            <a:spLocks noGrp="1" noRot="1" noChangeAspect="1"/>
          </p:cNvSpPr>
          <p:nvPr>
            <p:ph type="sldImg"/>
          </p:nvPr>
        </p:nvSpPr>
        <p:spPr/>
        <p:txBody>
          <a:bodyPr/>
          <a:lstStyle/>
          <a:p>
            <a:endParaRPr lang="en-US" dirty="0"/>
          </a:p>
        </p:txBody>
      </p:sp>
      <p:sp>
        <p:nvSpPr>
          <p:cNvPr id="3" name="Notes Placeholder 2">
            <a:extLst>
              <a:ext uri="{FF2B5EF4-FFF2-40B4-BE49-F238E27FC236}">
                <a16:creationId xmlns:a16="http://schemas.microsoft.com/office/drawing/2014/main" id="{7320A83B-3A15-12E5-022B-56F45142F47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8D89F19-7904-D438-CC82-646C4CEF4DBA}"/>
              </a:ext>
            </a:extLst>
          </p:cNvPr>
          <p:cNvSpPr>
            <a:spLocks noGrp="1"/>
          </p:cNvSpPr>
          <p:nvPr>
            <p:ph type="sldNum" sz="quarter" idx="10"/>
          </p:nvPr>
        </p:nvSpPr>
        <p:spPr/>
        <p:txBody>
          <a:bodyPr/>
          <a:lstStyle/>
          <a:p>
            <a:fld id="{F7021451-1387-4CA6-816F-3879F97B5CBC}" type="slidenum">
              <a:rPr lang="en-US"/>
              <a:t>27</a:t>
            </a:fld>
            <a:endParaRPr lang="en-US" dirty="0"/>
          </a:p>
        </p:txBody>
      </p:sp>
    </p:spTree>
    <p:extLst>
      <p:ext uri="{BB962C8B-B14F-4D97-AF65-F5344CB8AC3E}">
        <p14:creationId xmlns:p14="http://schemas.microsoft.com/office/powerpoint/2010/main" val="176190099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12DB94-1912-E4D6-3ADB-8B7215105A4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BA49C52-A687-DE6E-1815-D2AB45542755}"/>
              </a:ext>
            </a:extLst>
          </p:cNvPr>
          <p:cNvSpPr>
            <a:spLocks noGrp="1" noRot="1" noChangeAspect="1"/>
          </p:cNvSpPr>
          <p:nvPr>
            <p:ph type="sldImg"/>
          </p:nvPr>
        </p:nvSpPr>
        <p:spPr/>
        <p:txBody>
          <a:bodyPr/>
          <a:lstStyle/>
          <a:p>
            <a:endParaRPr lang="en-US" dirty="0"/>
          </a:p>
        </p:txBody>
      </p:sp>
      <p:sp>
        <p:nvSpPr>
          <p:cNvPr id="3" name="Notes Placeholder 2">
            <a:extLst>
              <a:ext uri="{FF2B5EF4-FFF2-40B4-BE49-F238E27FC236}">
                <a16:creationId xmlns:a16="http://schemas.microsoft.com/office/drawing/2014/main" id="{07E2CCC1-6E91-2EB0-5D40-FA5583CDDB5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EE05CB3-DFFC-19AA-AD9C-88E36B58EFBE}"/>
              </a:ext>
            </a:extLst>
          </p:cNvPr>
          <p:cNvSpPr>
            <a:spLocks noGrp="1"/>
          </p:cNvSpPr>
          <p:nvPr>
            <p:ph type="sldNum" sz="quarter" idx="10"/>
          </p:nvPr>
        </p:nvSpPr>
        <p:spPr/>
        <p:txBody>
          <a:bodyPr/>
          <a:lstStyle/>
          <a:p>
            <a:fld id="{F7021451-1387-4CA6-816F-3879F97B5CBC}" type="slidenum">
              <a:rPr lang="en-US"/>
              <a:t>28</a:t>
            </a:fld>
            <a:endParaRPr lang="en-US" dirty="0"/>
          </a:p>
        </p:txBody>
      </p:sp>
    </p:spTree>
    <p:extLst>
      <p:ext uri="{BB962C8B-B14F-4D97-AF65-F5344CB8AC3E}">
        <p14:creationId xmlns:p14="http://schemas.microsoft.com/office/powerpoint/2010/main" val="416987097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06CAB-2392-F0C5-A62A-8006C501508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9F14CD1-85A9-4CC9-81FA-75357A1C386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5D149624-FC93-68C1-D30A-68565D00BE0A}"/>
              </a:ext>
            </a:extLst>
          </p:cNvPr>
          <p:cNvSpPr>
            <a:spLocks noGrp="1"/>
          </p:cNvSpPr>
          <p:nvPr>
            <p:ph type="dt" sz="half" idx="10"/>
          </p:nvPr>
        </p:nvSpPr>
        <p:spPr/>
        <p:txBody>
          <a:bodyPr/>
          <a:lstStyle/>
          <a:p>
            <a:endParaRPr lang="en-US" dirty="0"/>
          </a:p>
        </p:txBody>
      </p:sp>
      <p:sp>
        <p:nvSpPr>
          <p:cNvPr id="5" name="Footer Placeholder 4">
            <a:extLst>
              <a:ext uri="{FF2B5EF4-FFF2-40B4-BE49-F238E27FC236}">
                <a16:creationId xmlns:a16="http://schemas.microsoft.com/office/drawing/2014/main" id="{41EDF2F8-93FC-8954-24EA-06EDC68846AC}"/>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CEC58C16-E36F-7150-C2E2-6551DEFC9B30}"/>
              </a:ext>
            </a:extLst>
          </p:cNvPr>
          <p:cNvSpPr>
            <a:spLocks noGrp="1"/>
          </p:cNvSpPr>
          <p:nvPr>
            <p:ph type="sldNum" sz="quarter" idx="12"/>
          </p:nvPr>
        </p:nvSpPr>
        <p:spPr/>
        <p:txBody>
          <a:bodyPr/>
          <a:lstStyle/>
          <a:p>
            <a:fld id="{A825A8CA-1635-46EA-9243-46AC60F2292D}" type="slidenum">
              <a:rPr lang="en-US" smtClean="0"/>
              <a:t>‹#›</a:t>
            </a:fld>
            <a:endParaRPr lang="en-US" dirty="0"/>
          </a:p>
        </p:txBody>
      </p:sp>
    </p:spTree>
    <p:extLst>
      <p:ext uri="{BB962C8B-B14F-4D97-AF65-F5344CB8AC3E}">
        <p14:creationId xmlns:p14="http://schemas.microsoft.com/office/powerpoint/2010/main" val="233362112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9A9C76-6BF0-6286-63A0-C273A184E06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467FA68-39DF-6C75-E7DB-CEF82A71B40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AAA0C8F-754D-56EB-4260-4F282E0BBEDC}"/>
              </a:ext>
            </a:extLst>
          </p:cNvPr>
          <p:cNvSpPr>
            <a:spLocks noGrp="1"/>
          </p:cNvSpPr>
          <p:nvPr>
            <p:ph type="dt" sz="half" idx="10"/>
          </p:nvPr>
        </p:nvSpPr>
        <p:spPr/>
        <p:txBody>
          <a:bodyPr/>
          <a:lstStyle/>
          <a:p>
            <a:endParaRPr lang="en-US" dirty="0"/>
          </a:p>
        </p:txBody>
      </p:sp>
      <p:sp>
        <p:nvSpPr>
          <p:cNvPr id="5" name="Footer Placeholder 4">
            <a:extLst>
              <a:ext uri="{FF2B5EF4-FFF2-40B4-BE49-F238E27FC236}">
                <a16:creationId xmlns:a16="http://schemas.microsoft.com/office/drawing/2014/main" id="{949AA536-67D7-7638-A235-6C18CA192FB6}"/>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2E754B1B-76E5-1C15-50A7-9A9934FED435}"/>
              </a:ext>
            </a:extLst>
          </p:cNvPr>
          <p:cNvSpPr>
            <a:spLocks noGrp="1"/>
          </p:cNvSpPr>
          <p:nvPr>
            <p:ph type="sldNum" sz="quarter" idx="12"/>
          </p:nvPr>
        </p:nvSpPr>
        <p:spPr/>
        <p:txBody>
          <a:bodyPr/>
          <a:lstStyle/>
          <a:p>
            <a:fld id="{A825A8CA-1635-46EA-9243-46AC60F2292D}" type="slidenum">
              <a:rPr lang="en-US" smtClean="0"/>
              <a:t>‹#›</a:t>
            </a:fld>
            <a:endParaRPr lang="en-US" dirty="0"/>
          </a:p>
        </p:txBody>
      </p:sp>
    </p:spTree>
    <p:extLst>
      <p:ext uri="{BB962C8B-B14F-4D97-AF65-F5344CB8AC3E}">
        <p14:creationId xmlns:p14="http://schemas.microsoft.com/office/powerpoint/2010/main" val="1769567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3B292A-B3D4-39FE-31AB-98418E53C6F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E3C4077-FF6B-4644-8551-A2B2BF006B4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0191C31-96F0-5492-A76E-96AADBB76E3E}"/>
              </a:ext>
            </a:extLst>
          </p:cNvPr>
          <p:cNvSpPr>
            <a:spLocks noGrp="1"/>
          </p:cNvSpPr>
          <p:nvPr>
            <p:ph type="dt" sz="half" idx="10"/>
          </p:nvPr>
        </p:nvSpPr>
        <p:spPr/>
        <p:txBody>
          <a:bodyPr/>
          <a:lstStyle/>
          <a:p>
            <a:endParaRPr lang="en-US" dirty="0"/>
          </a:p>
        </p:txBody>
      </p:sp>
      <p:sp>
        <p:nvSpPr>
          <p:cNvPr id="5" name="Footer Placeholder 4">
            <a:extLst>
              <a:ext uri="{FF2B5EF4-FFF2-40B4-BE49-F238E27FC236}">
                <a16:creationId xmlns:a16="http://schemas.microsoft.com/office/drawing/2014/main" id="{B000C738-25D8-DBD9-7FF3-74FA72EF22F1}"/>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9BB08E07-6387-FD4F-9E95-75239919BB62}"/>
              </a:ext>
            </a:extLst>
          </p:cNvPr>
          <p:cNvSpPr>
            <a:spLocks noGrp="1"/>
          </p:cNvSpPr>
          <p:nvPr>
            <p:ph type="sldNum" sz="quarter" idx="12"/>
          </p:nvPr>
        </p:nvSpPr>
        <p:spPr/>
        <p:txBody>
          <a:bodyPr/>
          <a:lstStyle/>
          <a:p>
            <a:fld id="{A825A8CA-1635-46EA-9243-46AC60F2292D}" type="slidenum">
              <a:rPr lang="en-US" smtClean="0"/>
              <a:t>‹#›</a:t>
            </a:fld>
            <a:endParaRPr lang="en-US" dirty="0"/>
          </a:p>
        </p:txBody>
      </p:sp>
    </p:spTree>
    <p:extLst>
      <p:ext uri="{BB962C8B-B14F-4D97-AF65-F5344CB8AC3E}">
        <p14:creationId xmlns:p14="http://schemas.microsoft.com/office/powerpoint/2010/main" val="77081436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8DFF9B-DF47-D6D7-8C3A-E9A79D53763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8E0B4C5-A1EC-C9A2-2509-673340B1C6C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A75AE832-06F3-26AC-2F34-F58499E883F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745A087-AF87-FF82-6D93-2995F234A38E}"/>
              </a:ext>
            </a:extLst>
          </p:cNvPr>
          <p:cNvSpPr>
            <a:spLocks noGrp="1"/>
          </p:cNvSpPr>
          <p:nvPr>
            <p:ph type="dt" sz="half" idx="10"/>
          </p:nvPr>
        </p:nvSpPr>
        <p:spPr/>
        <p:txBody>
          <a:bodyPr/>
          <a:lstStyle/>
          <a:p>
            <a:endParaRPr lang="en-US" dirty="0"/>
          </a:p>
        </p:txBody>
      </p:sp>
      <p:sp>
        <p:nvSpPr>
          <p:cNvPr id="6" name="Footer Placeholder 5">
            <a:extLst>
              <a:ext uri="{FF2B5EF4-FFF2-40B4-BE49-F238E27FC236}">
                <a16:creationId xmlns:a16="http://schemas.microsoft.com/office/drawing/2014/main" id="{7FE15029-94DB-EF9F-9822-0B4A6DBDD6E2}"/>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F8932DD5-FA4C-7EDC-468D-DF23D7EA7754}"/>
              </a:ext>
            </a:extLst>
          </p:cNvPr>
          <p:cNvSpPr>
            <a:spLocks noGrp="1"/>
          </p:cNvSpPr>
          <p:nvPr>
            <p:ph type="sldNum" sz="quarter" idx="12"/>
          </p:nvPr>
        </p:nvSpPr>
        <p:spPr/>
        <p:txBody>
          <a:bodyPr/>
          <a:lstStyle/>
          <a:p>
            <a:fld id="{A825A8CA-1635-46EA-9243-46AC60F2292D}" type="slidenum">
              <a:rPr lang="en-US" smtClean="0"/>
              <a:t>‹#›</a:t>
            </a:fld>
            <a:endParaRPr lang="en-US" dirty="0"/>
          </a:p>
        </p:txBody>
      </p:sp>
    </p:spTree>
    <p:extLst>
      <p:ext uri="{BB962C8B-B14F-4D97-AF65-F5344CB8AC3E}">
        <p14:creationId xmlns:p14="http://schemas.microsoft.com/office/powerpoint/2010/main" val="17692130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F8E4CE-FDA7-A3A8-A8CD-0DF6C646417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0FF8735-D338-71D5-BDF9-5C504B01639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F5531A3-EC28-EB15-E24F-DDFE61DF00BF}"/>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5ABBE3F-C5CF-FB5B-16B9-CC2FB8FD81E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2439D4F-A719-98BE-F9AA-E13F8C1C6A3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CBCAECF-2FCD-357A-716F-B585211448F8}"/>
              </a:ext>
            </a:extLst>
          </p:cNvPr>
          <p:cNvSpPr>
            <a:spLocks noGrp="1"/>
          </p:cNvSpPr>
          <p:nvPr>
            <p:ph type="dt" sz="half" idx="10"/>
          </p:nvPr>
        </p:nvSpPr>
        <p:spPr/>
        <p:txBody>
          <a:bodyPr/>
          <a:lstStyle/>
          <a:p>
            <a:endParaRPr lang="en-US" dirty="0"/>
          </a:p>
        </p:txBody>
      </p:sp>
      <p:sp>
        <p:nvSpPr>
          <p:cNvPr id="8" name="Footer Placeholder 7">
            <a:extLst>
              <a:ext uri="{FF2B5EF4-FFF2-40B4-BE49-F238E27FC236}">
                <a16:creationId xmlns:a16="http://schemas.microsoft.com/office/drawing/2014/main" id="{75BDACAB-21A9-7673-D876-B1A1691912C7}"/>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C4916458-B3BB-CE4E-8CEB-5C2B2CE0C680}"/>
              </a:ext>
            </a:extLst>
          </p:cNvPr>
          <p:cNvSpPr>
            <a:spLocks noGrp="1"/>
          </p:cNvSpPr>
          <p:nvPr>
            <p:ph type="sldNum" sz="quarter" idx="12"/>
          </p:nvPr>
        </p:nvSpPr>
        <p:spPr/>
        <p:txBody>
          <a:bodyPr/>
          <a:lstStyle/>
          <a:p>
            <a:fld id="{A825A8CA-1635-46EA-9243-46AC60F2292D}" type="slidenum">
              <a:rPr lang="en-US" smtClean="0"/>
              <a:t>‹#›</a:t>
            </a:fld>
            <a:endParaRPr lang="en-US" dirty="0"/>
          </a:p>
        </p:txBody>
      </p:sp>
    </p:spTree>
    <p:extLst>
      <p:ext uri="{BB962C8B-B14F-4D97-AF65-F5344CB8AC3E}">
        <p14:creationId xmlns:p14="http://schemas.microsoft.com/office/powerpoint/2010/main" val="248400782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68A1DC-9ADA-8155-1036-0106284306FE}"/>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E69AB49-D12A-DF62-8E18-7102D0D678EF}"/>
              </a:ext>
            </a:extLst>
          </p:cNvPr>
          <p:cNvSpPr>
            <a:spLocks noGrp="1"/>
          </p:cNvSpPr>
          <p:nvPr>
            <p:ph type="dt" sz="half" idx="10"/>
          </p:nvPr>
        </p:nvSpPr>
        <p:spPr/>
        <p:txBody>
          <a:bodyPr/>
          <a:lstStyle/>
          <a:p>
            <a:endParaRPr lang="en-US" dirty="0"/>
          </a:p>
        </p:txBody>
      </p:sp>
      <p:sp>
        <p:nvSpPr>
          <p:cNvPr id="4" name="Footer Placeholder 3">
            <a:extLst>
              <a:ext uri="{FF2B5EF4-FFF2-40B4-BE49-F238E27FC236}">
                <a16:creationId xmlns:a16="http://schemas.microsoft.com/office/drawing/2014/main" id="{45992904-C4AD-79A8-DD86-BE62ED9DD33A}"/>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ABF1DEFC-37C4-16B4-3578-993EB529F16E}"/>
              </a:ext>
            </a:extLst>
          </p:cNvPr>
          <p:cNvSpPr>
            <a:spLocks noGrp="1"/>
          </p:cNvSpPr>
          <p:nvPr>
            <p:ph type="sldNum" sz="quarter" idx="12"/>
          </p:nvPr>
        </p:nvSpPr>
        <p:spPr/>
        <p:txBody>
          <a:bodyPr/>
          <a:lstStyle/>
          <a:p>
            <a:fld id="{A825A8CA-1635-46EA-9243-46AC60F2292D}" type="slidenum">
              <a:rPr lang="en-US" smtClean="0"/>
              <a:t>‹#›</a:t>
            </a:fld>
            <a:endParaRPr lang="en-US" dirty="0"/>
          </a:p>
        </p:txBody>
      </p:sp>
    </p:spTree>
    <p:extLst>
      <p:ext uri="{BB962C8B-B14F-4D97-AF65-F5344CB8AC3E}">
        <p14:creationId xmlns:p14="http://schemas.microsoft.com/office/powerpoint/2010/main" val="177691978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6EB4747-E094-6BE0-C5A8-91E40A6D20AC}"/>
              </a:ext>
            </a:extLst>
          </p:cNvPr>
          <p:cNvSpPr>
            <a:spLocks noGrp="1"/>
          </p:cNvSpPr>
          <p:nvPr>
            <p:ph type="dt" sz="half" idx="10"/>
          </p:nvPr>
        </p:nvSpPr>
        <p:spPr/>
        <p:txBody>
          <a:bodyPr/>
          <a:lstStyle/>
          <a:p>
            <a:endParaRPr lang="en-US" dirty="0"/>
          </a:p>
        </p:txBody>
      </p:sp>
      <p:sp>
        <p:nvSpPr>
          <p:cNvPr id="3" name="Footer Placeholder 2">
            <a:extLst>
              <a:ext uri="{FF2B5EF4-FFF2-40B4-BE49-F238E27FC236}">
                <a16:creationId xmlns:a16="http://schemas.microsoft.com/office/drawing/2014/main" id="{5E6AE805-4E06-B52E-4AA7-E12292F43BFC}"/>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2CFD9565-5B28-4A72-D85B-76191BE9A2D7}"/>
              </a:ext>
            </a:extLst>
          </p:cNvPr>
          <p:cNvSpPr>
            <a:spLocks noGrp="1"/>
          </p:cNvSpPr>
          <p:nvPr>
            <p:ph type="sldNum" sz="quarter" idx="12"/>
          </p:nvPr>
        </p:nvSpPr>
        <p:spPr/>
        <p:txBody>
          <a:bodyPr/>
          <a:lstStyle/>
          <a:p>
            <a:fld id="{A825A8CA-1635-46EA-9243-46AC60F2292D}" type="slidenum">
              <a:rPr lang="en-US" smtClean="0"/>
              <a:t>‹#›</a:t>
            </a:fld>
            <a:endParaRPr lang="en-US" dirty="0"/>
          </a:p>
        </p:txBody>
      </p:sp>
    </p:spTree>
    <p:extLst>
      <p:ext uri="{BB962C8B-B14F-4D97-AF65-F5344CB8AC3E}">
        <p14:creationId xmlns:p14="http://schemas.microsoft.com/office/powerpoint/2010/main" val="28679691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DDA0FF-76A4-7D71-13CB-D2A5047B16B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A30E8495-1D2B-E698-531D-40098B0E0C6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6A4E649-00B5-E760-3874-FDF56D80B3F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1FD2E13-119E-10FA-BD70-D479F7E1A13D}"/>
              </a:ext>
            </a:extLst>
          </p:cNvPr>
          <p:cNvSpPr>
            <a:spLocks noGrp="1"/>
          </p:cNvSpPr>
          <p:nvPr>
            <p:ph type="dt" sz="half" idx="10"/>
          </p:nvPr>
        </p:nvSpPr>
        <p:spPr/>
        <p:txBody>
          <a:bodyPr/>
          <a:lstStyle/>
          <a:p>
            <a:endParaRPr lang="en-US" dirty="0"/>
          </a:p>
        </p:txBody>
      </p:sp>
      <p:sp>
        <p:nvSpPr>
          <p:cNvPr id="6" name="Footer Placeholder 5">
            <a:extLst>
              <a:ext uri="{FF2B5EF4-FFF2-40B4-BE49-F238E27FC236}">
                <a16:creationId xmlns:a16="http://schemas.microsoft.com/office/drawing/2014/main" id="{B8BB2C9B-502E-3347-3E01-4B09CA1A7826}"/>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4FCD18E4-48B6-569A-5106-75EC9A21C105}"/>
              </a:ext>
            </a:extLst>
          </p:cNvPr>
          <p:cNvSpPr>
            <a:spLocks noGrp="1"/>
          </p:cNvSpPr>
          <p:nvPr>
            <p:ph type="sldNum" sz="quarter" idx="12"/>
          </p:nvPr>
        </p:nvSpPr>
        <p:spPr/>
        <p:txBody>
          <a:bodyPr/>
          <a:lstStyle/>
          <a:p>
            <a:fld id="{A825A8CA-1635-46EA-9243-46AC60F2292D}" type="slidenum">
              <a:rPr lang="en-US" smtClean="0"/>
              <a:t>‹#›</a:t>
            </a:fld>
            <a:endParaRPr lang="en-US" dirty="0"/>
          </a:p>
        </p:txBody>
      </p:sp>
    </p:spTree>
    <p:extLst>
      <p:ext uri="{BB962C8B-B14F-4D97-AF65-F5344CB8AC3E}">
        <p14:creationId xmlns:p14="http://schemas.microsoft.com/office/powerpoint/2010/main" val="383937349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AB7782-6BB6-7E73-2AC3-E0AC996DA87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BE8499A-5705-A33C-D370-B13294FF9CE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a:extLst>
              <a:ext uri="{FF2B5EF4-FFF2-40B4-BE49-F238E27FC236}">
                <a16:creationId xmlns:a16="http://schemas.microsoft.com/office/drawing/2014/main" id="{DB6C9875-4EA1-87CC-1C39-1A42AEF401D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B261F31-D882-2E42-AF6C-EE34464E3998}"/>
              </a:ext>
            </a:extLst>
          </p:cNvPr>
          <p:cNvSpPr>
            <a:spLocks noGrp="1"/>
          </p:cNvSpPr>
          <p:nvPr>
            <p:ph type="dt" sz="half" idx="10"/>
          </p:nvPr>
        </p:nvSpPr>
        <p:spPr/>
        <p:txBody>
          <a:bodyPr/>
          <a:lstStyle/>
          <a:p>
            <a:endParaRPr lang="en-US" dirty="0"/>
          </a:p>
        </p:txBody>
      </p:sp>
      <p:sp>
        <p:nvSpPr>
          <p:cNvPr id="6" name="Footer Placeholder 5">
            <a:extLst>
              <a:ext uri="{FF2B5EF4-FFF2-40B4-BE49-F238E27FC236}">
                <a16:creationId xmlns:a16="http://schemas.microsoft.com/office/drawing/2014/main" id="{1824A4BB-D683-CE15-099B-6351A35915EF}"/>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274F4DB9-E8D3-6244-F113-2FC6E6FD7DE9}"/>
              </a:ext>
            </a:extLst>
          </p:cNvPr>
          <p:cNvSpPr>
            <a:spLocks noGrp="1"/>
          </p:cNvSpPr>
          <p:nvPr>
            <p:ph type="sldNum" sz="quarter" idx="12"/>
          </p:nvPr>
        </p:nvSpPr>
        <p:spPr/>
        <p:txBody>
          <a:bodyPr/>
          <a:lstStyle/>
          <a:p>
            <a:fld id="{A825A8CA-1635-46EA-9243-46AC60F2292D}" type="slidenum">
              <a:rPr lang="en-US" smtClean="0"/>
              <a:t>‹#›</a:t>
            </a:fld>
            <a:endParaRPr lang="en-US" dirty="0"/>
          </a:p>
        </p:txBody>
      </p:sp>
    </p:spTree>
    <p:extLst>
      <p:ext uri="{BB962C8B-B14F-4D97-AF65-F5344CB8AC3E}">
        <p14:creationId xmlns:p14="http://schemas.microsoft.com/office/powerpoint/2010/main" val="277274255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05760F-D9E7-D125-ADBC-57A80C04DD5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6DD216B-086D-D6C6-E7C5-19E59306E88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4075F6C-F8BF-42D2-92C7-88E56B81BBBF}"/>
              </a:ext>
            </a:extLst>
          </p:cNvPr>
          <p:cNvSpPr>
            <a:spLocks noGrp="1"/>
          </p:cNvSpPr>
          <p:nvPr>
            <p:ph type="dt" sz="half" idx="10"/>
          </p:nvPr>
        </p:nvSpPr>
        <p:spPr/>
        <p:txBody>
          <a:bodyPr/>
          <a:lstStyle/>
          <a:p>
            <a:endParaRPr lang="en-US" dirty="0"/>
          </a:p>
        </p:txBody>
      </p:sp>
      <p:sp>
        <p:nvSpPr>
          <p:cNvPr id="5" name="Footer Placeholder 4">
            <a:extLst>
              <a:ext uri="{FF2B5EF4-FFF2-40B4-BE49-F238E27FC236}">
                <a16:creationId xmlns:a16="http://schemas.microsoft.com/office/drawing/2014/main" id="{29B135CA-A0FE-4B27-A6D2-D39CC6CF81E4}"/>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2B3AD5D7-3E6D-7239-34CF-CA18884351A5}"/>
              </a:ext>
            </a:extLst>
          </p:cNvPr>
          <p:cNvSpPr>
            <a:spLocks noGrp="1"/>
          </p:cNvSpPr>
          <p:nvPr>
            <p:ph type="sldNum" sz="quarter" idx="12"/>
          </p:nvPr>
        </p:nvSpPr>
        <p:spPr/>
        <p:txBody>
          <a:bodyPr/>
          <a:lstStyle/>
          <a:p>
            <a:fld id="{A825A8CA-1635-46EA-9243-46AC60F2292D}" type="slidenum">
              <a:rPr lang="en-US" smtClean="0"/>
              <a:t>‹#›</a:t>
            </a:fld>
            <a:endParaRPr lang="en-US" dirty="0"/>
          </a:p>
        </p:txBody>
      </p:sp>
    </p:spTree>
    <p:extLst>
      <p:ext uri="{BB962C8B-B14F-4D97-AF65-F5344CB8AC3E}">
        <p14:creationId xmlns:p14="http://schemas.microsoft.com/office/powerpoint/2010/main" val="51337046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307D3AD-9453-123B-3BEF-00D0D90E6E91}"/>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8CD6F44-6F37-6536-CEC0-632928AD37A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15F43A7-5EAE-35E8-7320-C7861400E0A1}"/>
              </a:ext>
            </a:extLst>
          </p:cNvPr>
          <p:cNvSpPr>
            <a:spLocks noGrp="1"/>
          </p:cNvSpPr>
          <p:nvPr>
            <p:ph type="dt" sz="half" idx="10"/>
          </p:nvPr>
        </p:nvSpPr>
        <p:spPr/>
        <p:txBody>
          <a:bodyPr/>
          <a:lstStyle/>
          <a:p>
            <a:endParaRPr lang="en-US" dirty="0"/>
          </a:p>
        </p:txBody>
      </p:sp>
      <p:sp>
        <p:nvSpPr>
          <p:cNvPr id="5" name="Footer Placeholder 4">
            <a:extLst>
              <a:ext uri="{FF2B5EF4-FFF2-40B4-BE49-F238E27FC236}">
                <a16:creationId xmlns:a16="http://schemas.microsoft.com/office/drawing/2014/main" id="{BD713473-5614-B1FB-DE63-2D3A5342C5A3}"/>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1A3EC424-CBBC-043D-61C1-2F504D50B3F5}"/>
              </a:ext>
            </a:extLst>
          </p:cNvPr>
          <p:cNvSpPr>
            <a:spLocks noGrp="1"/>
          </p:cNvSpPr>
          <p:nvPr>
            <p:ph type="sldNum" sz="quarter" idx="12"/>
          </p:nvPr>
        </p:nvSpPr>
        <p:spPr/>
        <p:txBody>
          <a:bodyPr/>
          <a:lstStyle/>
          <a:p>
            <a:fld id="{A825A8CA-1635-46EA-9243-46AC60F2292D}" type="slidenum">
              <a:rPr lang="en-US" smtClean="0"/>
              <a:t>‹#›</a:t>
            </a:fld>
            <a:endParaRPr lang="en-US" dirty="0"/>
          </a:p>
        </p:txBody>
      </p:sp>
    </p:spTree>
    <p:extLst>
      <p:ext uri="{BB962C8B-B14F-4D97-AF65-F5344CB8AC3E}">
        <p14:creationId xmlns:p14="http://schemas.microsoft.com/office/powerpoint/2010/main" val="350804363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497921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E8B4C3E-779A-572F-969C-1D280A8F82B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543FECA7-7EB7-6E0A-70BB-FA505CDF431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B5C1EBD-FC5B-F664-4DC7-78F698AEA81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endParaRPr lang="en-US" dirty="0"/>
          </a:p>
        </p:txBody>
      </p:sp>
      <p:sp>
        <p:nvSpPr>
          <p:cNvPr id="5" name="Footer Placeholder 4">
            <a:extLst>
              <a:ext uri="{FF2B5EF4-FFF2-40B4-BE49-F238E27FC236}">
                <a16:creationId xmlns:a16="http://schemas.microsoft.com/office/drawing/2014/main" id="{07874F06-308A-2564-1416-F1F9BDEDFFC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dirty="0"/>
          </a:p>
        </p:txBody>
      </p:sp>
      <p:sp>
        <p:nvSpPr>
          <p:cNvPr id="6" name="Slide Number Placeholder 5">
            <a:extLst>
              <a:ext uri="{FF2B5EF4-FFF2-40B4-BE49-F238E27FC236}">
                <a16:creationId xmlns:a16="http://schemas.microsoft.com/office/drawing/2014/main" id="{5788D486-FDCB-1905-8B3B-37F2210A0FA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A825A8CA-1635-46EA-9243-46AC60F2292D}" type="slidenum">
              <a:rPr lang="en-US" smtClean="0"/>
              <a:t>‹#›</a:t>
            </a:fld>
            <a:endParaRPr lang="en-US" dirty="0"/>
          </a:p>
        </p:txBody>
      </p:sp>
    </p:spTree>
    <p:extLst>
      <p:ext uri="{BB962C8B-B14F-4D97-AF65-F5344CB8AC3E}">
        <p14:creationId xmlns:p14="http://schemas.microsoft.com/office/powerpoint/2010/main" val="371942647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2.xml"/><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12.xml"/><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12.xml"/><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12.xml"/><Relationship Id="rId5" Type="http://schemas.openxmlformats.org/officeDocument/2006/relationships/image" Target="../media/image13.png"/><Relationship Id="rId4" Type="http://schemas.openxmlformats.org/officeDocument/2006/relationships/image" Target="../media/image12.png"/></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1.xml"/><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2.xml"/><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3.xml"/><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4.xml"/><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5.xml"/><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6.xml"/><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7.xml"/><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9.xml"/><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0.xml"/><Relationship Id="rId1" Type="http://schemas.openxmlformats.org/officeDocument/2006/relationships/slideLayout" Target="../slideLayouts/slideLayout12.xml"/></Relationships>
</file>

<file path=ppt/slides/_rels/slide2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1.xml"/><Relationship Id="rId1" Type="http://schemas.openxmlformats.org/officeDocument/2006/relationships/slideLayout" Target="../slideLayouts/slideLayout12.xml"/><Relationship Id="rId4" Type="http://schemas.openxmlformats.org/officeDocument/2006/relationships/image" Target="../media/image20.png"/></Relationships>
</file>

<file path=ppt/slides/_rels/slide2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2.xml"/><Relationship Id="rId1" Type="http://schemas.openxmlformats.org/officeDocument/2006/relationships/slideLayout" Target="../slideLayouts/slideLayout12.xml"/><Relationship Id="rId4" Type="http://schemas.openxmlformats.org/officeDocument/2006/relationships/image" Target="../media/image22.png"/></Relationships>
</file>

<file path=ppt/slides/_rels/slide2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3.xml"/><Relationship Id="rId1" Type="http://schemas.openxmlformats.org/officeDocument/2006/relationships/slideLayout" Target="../slideLayouts/slideLayout12.xml"/><Relationship Id="rId4" Type="http://schemas.openxmlformats.org/officeDocument/2006/relationships/image" Target="../media/image23.png"/></Relationships>
</file>

<file path=ppt/slides/_rels/slide24.xml.rels><?xml version="1.0" encoding="UTF-8" standalone="yes"?>
<Relationships xmlns="http://schemas.openxmlformats.org/package/2006/relationships"><Relationship Id="rId3" Type="http://schemas.openxmlformats.org/officeDocument/2006/relationships/image" Target="../media/image24.TIF"/><Relationship Id="rId2" Type="http://schemas.openxmlformats.org/officeDocument/2006/relationships/notesSlide" Target="../notesSlides/notesSlide24.xml"/><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5.xml"/><Relationship Id="rId1" Type="http://schemas.openxmlformats.org/officeDocument/2006/relationships/slideLayout" Target="../slideLayouts/slideLayout12.xml"/></Relationships>
</file>

<file path=ppt/slides/_rels/slide2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6.xml"/><Relationship Id="rId1" Type="http://schemas.openxmlformats.org/officeDocument/2006/relationships/slideLayout" Target="../slideLayouts/slideLayout12.xml"/></Relationships>
</file>

<file path=ppt/slides/_rels/slide2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7.xml"/><Relationship Id="rId1" Type="http://schemas.openxmlformats.org/officeDocument/2006/relationships/slideLayout" Target="../slideLayouts/slideLayout12.xml"/></Relationships>
</file>

<file path=ppt/slides/_rels/slide28.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8.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61520" cy="109728"/>
          </a:xfrm>
          <a:prstGeom prst="rect">
            <a:avLst/>
          </a:prstGeom>
          <a:solidFill>
            <a:srgbClr val="C62828"/>
          </a:solidFill>
          <a:ln/>
        </p:spPr>
        <p:txBody>
          <a:bodyPr/>
          <a:lstStyle/>
          <a:p>
            <a:endParaRPr lang="en-US" dirty="0"/>
          </a:p>
        </p:txBody>
      </p:sp>
      <p:sp>
        <p:nvSpPr>
          <p:cNvPr id="3" name="Text 1">
            <a:extLst>
              <a:ext uri="{C183D7F6-B498-43B3-948B-1728B52AA6E4}">
                <adec:decorative xmlns:adec="http://schemas.microsoft.com/office/drawing/2017/decorative" val="0"/>
              </a:ext>
            </a:extLst>
          </p:cNvPr>
          <p:cNvSpPr/>
          <p:nvPr/>
        </p:nvSpPr>
        <p:spPr>
          <a:xfrm>
            <a:off x="548640" y="502920"/>
            <a:ext cx="7315200" cy="365760"/>
          </a:xfrm>
          <a:prstGeom prst="rect">
            <a:avLst/>
          </a:prstGeom>
          <a:noFill/>
          <a:ln/>
        </p:spPr>
        <p:txBody>
          <a:bodyPr wrap="square" lIns="0" tIns="0" rIns="0" bIns="0" rtlCol="0" anchor="ctr"/>
          <a:lstStyle/>
          <a:p>
            <a:pPr marL="0" indent="0">
              <a:buNone/>
            </a:pPr>
            <a:r>
              <a:rPr lang="en-US" sz="1400" b="1" kern="0" spc="100" dirty="0">
                <a:solidFill>
                  <a:srgbClr val="FF0000"/>
                </a:solidFill>
                <a:latin typeface="Arial" pitchFamily="34" charset="0"/>
                <a:ea typeface="Arial" pitchFamily="34" charset="-122"/>
                <a:cs typeface="Arial" pitchFamily="34" charset="-120"/>
              </a:rPr>
              <a:t>SMALL PRECISION TOOLS</a:t>
            </a:r>
            <a:endParaRPr lang="en-US" sz="1400" dirty="0">
              <a:solidFill>
                <a:srgbClr val="FF0000"/>
              </a:solidFill>
            </a:endParaRPr>
          </a:p>
        </p:txBody>
      </p:sp>
      <p:sp>
        <p:nvSpPr>
          <p:cNvPr id="5" name="Text 3">
            <a:extLst>
              <a:ext uri="{C183D7F6-B498-43B3-948B-1728B52AA6E4}">
                <adec:decorative xmlns:adec="http://schemas.microsoft.com/office/drawing/2017/decorative" val="0"/>
              </a:ext>
            </a:extLst>
          </p:cNvPr>
          <p:cNvSpPr/>
          <p:nvPr/>
        </p:nvSpPr>
        <p:spPr>
          <a:xfrm>
            <a:off x="548640" y="2651760"/>
            <a:ext cx="11064240" cy="1005840"/>
          </a:xfrm>
          <a:prstGeom prst="rect">
            <a:avLst/>
          </a:prstGeom>
          <a:noFill/>
          <a:ln/>
        </p:spPr>
        <p:txBody>
          <a:bodyPr wrap="square" lIns="0" tIns="0" rIns="0" bIns="0" rtlCol="0" anchor="ctr"/>
          <a:lstStyle/>
          <a:p>
            <a:r>
              <a:rPr lang="en-US" sz="4400" b="1" dirty="0">
                <a:solidFill>
                  <a:srgbClr val="FF0000"/>
                </a:solidFill>
                <a:latin typeface="Arial" pitchFamily="34" charset="0"/>
                <a:ea typeface="Arial" pitchFamily="34" charset="-122"/>
                <a:cs typeface="Arial" pitchFamily="34" charset="-120"/>
              </a:rPr>
              <a:t>Wedge Auto-Draw Rules</a:t>
            </a:r>
            <a:endParaRPr lang="en-US" sz="4400" dirty="0">
              <a:solidFill>
                <a:srgbClr val="FF0000"/>
              </a:solidFill>
            </a:endParaRPr>
          </a:p>
        </p:txBody>
      </p:sp>
      <p:sp>
        <p:nvSpPr>
          <p:cNvPr id="6" name="Text 4"/>
          <p:cNvSpPr/>
          <p:nvPr/>
        </p:nvSpPr>
        <p:spPr>
          <a:xfrm>
            <a:off x="548640" y="3611880"/>
            <a:ext cx="11064240" cy="457200"/>
          </a:xfrm>
          <a:prstGeom prst="rect">
            <a:avLst/>
          </a:prstGeom>
          <a:noFill/>
          <a:ln/>
        </p:spPr>
        <p:txBody>
          <a:bodyPr wrap="square" lIns="0" tIns="0" rIns="0" bIns="0" rtlCol="0" anchor="ctr"/>
          <a:lstStyle/>
          <a:p>
            <a:r>
              <a:rPr lang="en-US" dirty="0">
                <a:solidFill>
                  <a:srgbClr val="3A3A3A"/>
                </a:solidFill>
                <a:latin typeface="Arial" pitchFamily="34" charset="0"/>
                <a:ea typeface="Arial" pitchFamily="34" charset="-122"/>
                <a:cs typeface="Arial" pitchFamily="34" charset="-120"/>
              </a:rPr>
              <a:t>Small Wire (SW) Wedge Series – ABT Series – Rules</a:t>
            </a:r>
            <a:endParaRPr lang="en-US" sz="1800" dirty="0"/>
          </a:p>
        </p:txBody>
      </p:sp>
      <p:sp>
        <p:nvSpPr>
          <p:cNvPr id="7" name="Shape 5"/>
          <p:cNvSpPr/>
          <p:nvPr/>
        </p:nvSpPr>
        <p:spPr>
          <a:xfrm>
            <a:off x="548640" y="5577840"/>
            <a:ext cx="2560320" cy="685800"/>
          </a:xfrm>
          <a:prstGeom prst="rect">
            <a:avLst/>
          </a:prstGeom>
          <a:solidFill>
            <a:srgbClr val="F5F5F5"/>
          </a:solidFill>
          <a:ln/>
        </p:spPr>
        <p:txBody>
          <a:bodyPr/>
          <a:lstStyle/>
          <a:p>
            <a:endParaRPr lang="en-US" dirty="0"/>
          </a:p>
        </p:txBody>
      </p:sp>
      <p:sp>
        <p:nvSpPr>
          <p:cNvPr id="8" name="Text 6"/>
          <p:cNvSpPr/>
          <p:nvPr/>
        </p:nvSpPr>
        <p:spPr>
          <a:xfrm>
            <a:off x="685800" y="5650992"/>
            <a:ext cx="2286000" cy="228600"/>
          </a:xfrm>
          <a:prstGeom prst="rect">
            <a:avLst/>
          </a:prstGeom>
          <a:noFill/>
          <a:ln/>
        </p:spPr>
        <p:txBody>
          <a:bodyPr wrap="square" lIns="0" tIns="0" rIns="0" bIns="0" rtlCol="0" anchor="ctr"/>
          <a:lstStyle/>
          <a:p>
            <a:pPr marL="0" indent="0">
              <a:buNone/>
            </a:pPr>
            <a:r>
              <a:rPr lang="en-US" sz="900" b="1" dirty="0">
                <a:solidFill>
                  <a:srgbClr val="6E6E6E"/>
                </a:solidFill>
                <a:latin typeface="Arial" pitchFamily="34" charset="0"/>
                <a:ea typeface="Arial" pitchFamily="34" charset="-122"/>
                <a:cs typeface="Arial" pitchFamily="34" charset="-120"/>
              </a:rPr>
              <a:t>DOCUMENT NO.</a:t>
            </a:r>
            <a:endParaRPr lang="en-US" sz="900" dirty="0"/>
          </a:p>
        </p:txBody>
      </p:sp>
      <p:sp>
        <p:nvSpPr>
          <p:cNvPr id="9" name="Text 7"/>
          <p:cNvSpPr/>
          <p:nvPr/>
        </p:nvSpPr>
        <p:spPr>
          <a:xfrm>
            <a:off x="685800" y="5897880"/>
            <a:ext cx="2286000" cy="292608"/>
          </a:xfrm>
          <a:prstGeom prst="rect">
            <a:avLst/>
          </a:prstGeom>
          <a:noFill/>
          <a:ln/>
        </p:spPr>
        <p:txBody>
          <a:bodyPr wrap="square" lIns="0" tIns="0" rIns="0" bIns="0" rtlCol="0" anchor="ctr"/>
          <a:lstStyle/>
          <a:p>
            <a:r>
              <a:rPr lang="en-US" sz="1300" dirty="0">
                <a:solidFill>
                  <a:srgbClr val="3A3A3A"/>
                </a:solidFill>
                <a:latin typeface="Arial" pitchFamily="34" charset="0"/>
                <a:ea typeface="Arial" pitchFamily="34" charset="-122"/>
                <a:cs typeface="Arial" pitchFamily="34" charset="-120"/>
              </a:rPr>
              <a:t>ABT_REL_Rev1_08042026</a:t>
            </a:r>
            <a:endParaRPr lang="en-US" sz="1300" dirty="0"/>
          </a:p>
        </p:txBody>
      </p:sp>
      <p:sp>
        <p:nvSpPr>
          <p:cNvPr id="10" name="Shape 8"/>
          <p:cNvSpPr/>
          <p:nvPr/>
        </p:nvSpPr>
        <p:spPr>
          <a:xfrm>
            <a:off x="3383280" y="5577840"/>
            <a:ext cx="2560320" cy="685800"/>
          </a:xfrm>
          <a:prstGeom prst="rect">
            <a:avLst/>
          </a:prstGeom>
          <a:solidFill>
            <a:srgbClr val="F5F5F5"/>
          </a:solidFill>
          <a:ln/>
        </p:spPr>
        <p:txBody>
          <a:bodyPr/>
          <a:lstStyle/>
          <a:p>
            <a:endParaRPr lang="en-US" dirty="0"/>
          </a:p>
        </p:txBody>
      </p:sp>
      <p:sp>
        <p:nvSpPr>
          <p:cNvPr id="11" name="Text 9"/>
          <p:cNvSpPr/>
          <p:nvPr/>
        </p:nvSpPr>
        <p:spPr>
          <a:xfrm>
            <a:off x="3520440" y="5650992"/>
            <a:ext cx="2286000" cy="228600"/>
          </a:xfrm>
          <a:prstGeom prst="rect">
            <a:avLst/>
          </a:prstGeom>
          <a:noFill/>
          <a:ln/>
        </p:spPr>
        <p:txBody>
          <a:bodyPr wrap="square" lIns="0" tIns="0" rIns="0" bIns="0" rtlCol="0" anchor="ctr"/>
          <a:lstStyle/>
          <a:p>
            <a:pPr marL="0" indent="0">
              <a:buNone/>
            </a:pPr>
            <a:r>
              <a:rPr lang="en-US" sz="900" b="1" dirty="0">
                <a:solidFill>
                  <a:srgbClr val="6E6E6E"/>
                </a:solidFill>
                <a:latin typeface="Arial" pitchFamily="34" charset="0"/>
                <a:ea typeface="Arial" pitchFamily="34" charset="-122"/>
                <a:cs typeface="Arial" pitchFamily="34" charset="-120"/>
              </a:rPr>
              <a:t>DATE</a:t>
            </a:r>
            <a:endParaRPr lang="en-US" sz="900" dirty="0"/>
          </a:p>
        </p:txBody>
      </p:sp>
      <p:sp>
        <p:nvSpPr>
          <p:cNvPr id="12" name="Text 10"/>
          <p:cNvSpPr/>
          <p:nvPr/>
        </p:nvSpPr>
        <p:spPr>
          <a:xfrm>
            <a:off x="3520440" y="5897880"/>
            <a:ext cx="2286000" cy="292608"/>
          </a:xfrm>
          <a:prstGeom prst="rect">
            <a:avLst/>
          </a:prstGeom>
          <a:noFill/>
          <a:ln/>
        </p:spPr>
        <p:txBody>
          <a:bodyPr wrap="square" lIns="0" tIns="0" rIns="0" bIns="0" rtlCol="0" anchor="ctr"/>
          <a:lstStyle/>
          <a:p>
            <a:pPr marL="0" indent="0">
              <a:buNone/>
            </a:pPr>
            <a:r>
              <a:rPr lang="en-US" sz="1300" dirty="0">
                <a:solidFill>
                  <a:srgbClr val="3A3A3A"/>
                </a:solidFill>
                <a:latin typeface="Arial" pitchFamily="34" charset="0"/>
                <a:ea typeface="Arial" pitchFamily="34" charset="-122"/>
                <a:cs typeface="Arial" pitchFamily="34" charset="-120"/>
              </a:rPr>
              <a:t>2026-04-08</a:t>
            </a:r>
          </a:p>
        </p:txBody>
      </p:sp>
      <p:sp>
        <p:nvSpPr>
          <p:cNvPr id="13" name="Shape 11"/>
          <p:cNvSpPr/>
          <p:nvPr/>
        </p:nvSpPr>
        <p:spPr>
          <a:xfrm>
            <a:off x="6217920" y="5577840"/>
            <a:ext cx="2560320" cy="685800"/>
          </a:xfrm>
          <a:prstGeom prst="rect">
            <a:avLst/>
          </a:prstGeom>
          <a:solidFill>
            <a:srgbClr val="F5F5F5"/>
          </a:solidFill>
          <a:ln/>
        </p:spPr>
        <p:txBody>
          <a:bodyPr/>
          <a:lstStyle/>
          <a:p>
            <a:endParaRPr lang="en-US" dirty="0"/>
          </a:p>
        </p:txBody>
      </p:sp>
      <p:sp>
        <p:nvSpPr>
          <p:cNvPr id="14" name="Text 12"/>
          <p:cNvSpPr/>
          <p:nvPr/>
        </p:nvSpPr>
        <p:spPr>
          <a:xfrm>
            <a:off x="6355080" y="5650992"/>
            <a:ext cx="2286000" cy="228600"/>
          </a:xfrm>
          <a:prstGeom prst="rect">
            <a:avLst/>
          </a:prstGeom>
          <a:noFill/>
          <a:ln/>
        </p:spPr>
        <p:txBody>
          <a:bodyPr wrap="square" lIns="0" tIns="0" rIns="0" bIns="0" rtlCol="0" anchor="ctr"/>
          <a:lstStyle/>
          <a:p>
            <a:pPr marL="0" indent="0">
              <a:buNone/>
            </a:pPr>
            <a:r>
              <a:rPr lang="en-US" sz="900" b="1" dirty="0">
                <a:solidFill>
                  <a:srgbClr val="6E6E6E"/>
                </a:solidFill>
                <a:latin typeface="Arial" pitchFamily="34" charset="0"/>
                <a:ea typeface="Arial" pitchFamily="34" charset="-122"/>
                <a:cs typeface="Arial" pitchFamily="34" charset="-120"/>
              </a:rPr>
              <a:t>PREPARED BY</a:t>
            </a:r>
            <a:endParaRPr lang="en-US" sz="900" dirty="0"/>
          </a:p>
        </p:txBody>
      </p:sp>
      <p:sp>
        <p:nvSpPr>
          <p:cNvPr id="15" name="Text 13"/>
          <p:cNvSpPr/>
          <p:nvPr/>
        </p:nvSpPr>
        <p:spPr>
          <a:xfrm>
            <a:off x="6355080" y="5897880"/>
            <a:ext cx="2286000" cy="292608"/>
          </a:xfrm>
          <a:prstGeom prst="rect">
            <a:avLst/>
          </a:prstGeom>
          <a:noFill/>
          <a:ln/>
        </p:spPr>
        <p:txBody>
          <a:bodyPr wrap="square" lIns="0" tIns="0" rIns="0" bIns="0" rtlCol="0" anchor="ctr"/>
          <a:lstStyle/>
          <a:p>
            <a:pPr marL="0" indent="0">
              <a:buNone/>
            </a:pPr>
            <a:r>
              <a:rPr lang="en-US" sz="1300" dirty="0">
                <a:solidFill>
                  <a:srgbClr val="3A3A3A"/>
                </a:solidFill>
                <a:latin typeface="Arial" pitchFamily="34" charset="0"/>
                <a:ea typeface="Arial" pitchFamily="34" charset="-122"/>
                <a:cs typeface="Arial" pitchFamily="34" charset="-120"/>
              </a:rPr>
              <a:t>Youssef</a:t>
            </a:r>
            <a:endParaRPr lang="en-US" sz="1300" dirty="0"/>
          </a:p>
        </p:txBody>
      </p:sp>
      <p:sp>
        <p:nvSpPr>
          <p:cNvPr id="16" name="Shape 14"/>
          <p:cNvSpPr/>
          <p:nvPr/>
        </p:nvSpPr>
        <p:spPr>
          <a:xfrm>
            <a:off x="9052560" y="5577840"/>
            <a:ext cx="2560320" cy="685800"/>
          </a:xfrm>
          <a:prstGeom prst="rect">
            <a:avLst/>
          </a:prstGeom>
          <a:solidFill>
            <a:srgbClr val="F5F5F5"/>
          </a:solidFill>
          <a:ln/>
        </p:spPr>
        <p:txBody>
          <a:bodyPr/>
          <a:lstStyle/>
          <a:p>
            <a:endParaRPr lang="en-US" dirty="0"/>
          </a:p>
        </p:txBody>
      </p:sp>
      <p:sp>
        <p:nvSpPr>
          <p:cNvPr id="17" name="Text 15"/>
          <p:cNvSpPr/>
          <p:nvPr/>
        </p:nvSpPr>
        <p:spPr>
          <a:xfrm>
            <a:off x="9189720" y="5650992"/>
            <a:ext cx="2286000" cy="228600"/>
          </a:xfrm>
          <a:prstGeom prst="rect">
            <a:avLst/>
          </a:prstGeom>
          <a:noFill/>
          <a:ln/>
        </p:spPr>
        <p:txBody>
          <a:bodyPr wrap="square" lIns="0" tIns="0" rIns="0" bIns="0" rtlCol="0" anchor="ctr"/>
          <a:lstStyle/>
          <a:p>
            <a:pPr marL="0" indent="0">
              <a:buNone/>
            </a:pPr>
            <a:r>
              <a:rPr lang="en-US" sz="900" b="1" dirty="0">
                <a:solidFill>
                  <a:srgbClr val="6E6E6E"/>
                </a:solidFill>
                <a:latin typeface="Arial" pitchFamily="34" charset="0"/>
                <a:ea typeface="Arial" pitchFamily="34" charset="-122"/>
                <a:cs typeface="Arial" pitchFamily="34" charset="-120"/>
              </a:rPr>
              <a:t>STATUS</a:t>
            </a:r>
            <a:endParaRPr lang="en-US" sz="900" dirty="0"/>
          </a:p>
        </p:txBody>
      </p:sp>
      <p:sp>
        <p:nvSpPr>
          <p:cNvPr id="18" name="Text 16"/>
          <p:cNvSpPr/>
          <p:nvPr/>
        </p:nvSpPr>
        <p:spPr>
          <a:xfrm>
            <a:off x="9189720" y="5897880"/>
            <a:ext cx="2286000" cy="292608"/>
          </a:xfrm>
          <a:prstGeom prst="rect">
            <a:avLst/>
          </a:prstGeom>
          <a:noFill/>
          <a:ln/>
        </p:spPr>
        <p:txBody>
          <a:bodyPr wrap="square" lIns="0" tIns="0" rIns="0" bIns="0" rtlCol="0" anchor="ctr"/>
          <a:lstStyle/>
          <a:p>
            <a:pPr marL="0" indent="0">
              <a:buNone/>
            </a:pPr>
            <a:r>
              <a:rPr lang="en-US" sz="1300" dirty="0">
                <a:solidFill>
                  <a:srgbClr val="3A3A3A"/>
                </a:solidFill>
                <a:latin typeface="Arial" pitchFamily="34" charset="0"/>
                <a:ea typeface="Arial" pitchFamily="34" charset="-122"/>
                <a:cs typeface="Arial" pitchFamily="34" charset="-120"/>
              </a:rPr>
              <a:t>Draft</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B94097-8B9A-7511-E12E-8B255D7FA206}"/>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3CBBC017-DF26-1ACC-82B3-3BE21E451F88}"/>
              </a:ext>
            </a:extLst>
          </p:cNvPr>
          <p:cNvSpPr/>
          <p:nvPr/>
        </p:nvSpPr>
        <p:spPr>
          <a:xfrm>
            <a:off x="548640" y="119802"/>
            <a:ext cx="11064240" cy="640080"/>
          </a:xfrm>
          <a:prstGeom prst="rect">
            <a:avLst/>
          </a:prstGeom>
          <a:noFill/>
          <a:ln/>
        </p:spPr>
        <p:txBody>
          <a:bodyPr wrap="square" lIns="0" tIns="0" rIns="0" bIns="0" rtlCol="0" anchor="ctr"/>
          <a:lstStyle/>
          <a:p>
            <a:pPr marL="0" indent="0">
              <a:buNone/>
            </a:pPr>
            <a:r>
              <a:rPr lang="en-US" sz="2800" b="1" dirty="0">
                <a:solidFill>
                  <a:srgbClr val="FF0000"/>
                </a:solidFill>
                <a:latin typeface="Arial" pitchFamily="34" charset="0"/>
                <a:ea typeface="Arial" pitchFamily="34" charset="-122"/>
                <a:cs typeface="Arial" pitchFamily="34" charset="-120"/>
              </a:rPr>
              <a:t>Rules</a:t>
            </a:r>
            <a:endParaRPr lang="en-US" sz="2800" dirty="0">
              <a:solidFill>
                <a:srgbClr val="FF0000"/>
              </a:solidFill>
            </a:endParaRPr>
          </a:p>
        </p:txBody>
      </p:sp>
      <p:sp>
        <p:nvSpPr>
          <p:cNvPr id="13" name="Shape 11">
            <a:extLst>
              <a:ext uri="{FF2B5EF4-FFF2-40B4-BE49-F238E27FC236}">
                <a16:creationId xmlns:a16="http://schemas.microsoft.com/office/drawing/2014/main" id="{CDE9FAFA-5182-9D6B-3E40-F5E3BF003F00}"/>
              </a:ext>
            </a:extLst>
          </p:cNvPr>
          <p:cNvSpPr/>
          <p:nvPr/>
        </p:nvSpPr>
        <p:spPr>
          <a:xfrm>
            <a:off x="548640" y="6419088"/>
            <a:ext cx="11064240" cy="0"/>
          </a:xfrm>
          <a:prstGeom prst="line">
            <a:avLst/>
          </a:prstGeom>
          <a:noFill/>
          <a:ln w="9525">
            <a:solidFill>
              <a:srgbClr val="E4E4E4"/>
            </a:solidFill>
            <a:prstDash val="solid"/>
          </a:ln>
        </p:spPr>
        <p:txBody>
          <a:bodyPr/>
          <a:lstStyle/>
          <a:p>
            <a:endParaRPr lang="en-US" dirty="0"/>
          </a:p>
        </p:txBody>
      </p:sp>
      <p:sp>
        <p:nvSpPr>
          <p:cNvPr id="14" name="Text 12">
            <a:extLst>
              <a:ext uri="{FF2B5EF4-FFF2-40B4-BE49-F238E27FC236}">
                <a16:creationId xmlns:a16="http://schemas.microsoft.com/office/drawing/2014/main" id="{F0D1788D-29DB-3089-CE57-C5DE5684F5DD}"/>
              </a:ext>
            </a:extLst>
          </p:cNvPr>
          <p:cNvSpPr/>
          <p:nvPr/>
        </p:nvSpPr>
        <p:spPr>
          <a:xfrm>
            <a:off x="548640" y="6419088"/>
            <a:ext cx="4572000" cy="274320"/>
          </a:xfrm>
          <a:prstGeom prst="rect">
            <a:avLst/>
          </a:prstGeom>
          <a:noFill/>
          <a:ln/>
        </p:spPr>
        <p:txBody>
          <a:bodyPr wrap="square" lIns="0" tIns="0" rIns="0" bIns="0" rtlCol="0" anchor="ctr"/>
          <a:lstStyle/>
          <a:p>
            <a:pPr marL="0" indent="0">
              <a:buNone/>
            </a:pPr>
            <a:r>
              <a:rPr lang="en-US" sz="900" dirty="0">
                <a:solidFill>
                  <a:srgbClr val="6E6E6E"/>
                </a:solidFill>
                <a:latin typeface="Arial" pitchFamily="34" charset="0"/>
                <a:ea typeface="Arial" pitchFamily="34" charset="-122"/>
                <a:cs typeface="Arial" pitchFamily="34" charset="-120"/>
              </a:rPr>
              <a:t>SMALL PRECISION TOOLS</a:t>
            </a:r>
            <a:endParaRPr lang="en-US" sz="900" dirty="0"/>
          </a:p>
        </p:txBody>
      </p:sp>
      <p:sp>
        <p:nvSpPr>
          <p:cNvPr id="15" name="Text 13">
            <a:extLst>
              <a:ext uri="{FF2B5EF4-FFF2-40B4-BE49-F238E27FC236}">
                <a16:creationId xmlns:a16="http://schemas.microsoft.com/office/drawing/2014/main" id="{1185381B-10D5-EC72-5E58-97941602ACA9}"/>
              </a:ext>
            </a:extLst>
          </p:cNvPr>
          <p:cNvSpPr/>
          <p:nvPr/>
        </p:nvSpPr>
        <p:spPr>
          <a:xfrm>
            <a:off x="4709160" y="6419088"/>
            <a:ext cx="2743200" cy="274320"/>
          </a:xfrm>
          <a:prstGeom prst="rect">
            <a:avLst/>
          </a:prstGeom>
          <a:noFill/>
          <a:ln/>
        </p:spPr>
        <p:txBody>
          <a:bodyPr wrap="square" lIns="0" tIns="0" rIns="0" bIns="0" rtlCol="0" anchor="ctr"/>
          <a:lstStyle/>
          <a:p>
            <a:pPr marL="0" indent="0" algn="ctr">
              <a:buNone/>
            </a:pPr>
            <a:r>
              <a:rPr lang="en-US" sz="900" dirty="0">
                <a:solidFill>
                  <a:srgbClr val="6E6E6E"/>
                </a:solidFill>
                <a:latin typeface="Arial" pitchFamily="34" charset="0"/>
                <a:ea typeface="Arial" pitchFamily="34" charset="-122"/>
                <a:cs typeface="Arial" pitchFamily="34" charset="-120"/>
              </a:rPr>
              <a:t>Confidential</a:t>
            </a:r>
            <a:endParaRPr lang="en-US" sz="900" dirty="0"/>
          </a:p>
        </p:txBody>
      </p:sp>
      <p:sp>
        <p:nvSpPr>
          <p:cNvPr id="5" name="TextBox 4">
            <a:extLst>
              <a:ext uri="{FF2B5EF4-FFF2-40B4-BE49-F238E27FC236}">
                <a16:creationId xmlns:a16="http://schemas.microsoft.com/office/drawing/2014/main" id="{5F86FFB5-791C-9078-1C4B-BC50848B26AA}"/>
              </a:ext>
            </a:extLst>
          </p:cNvPr>
          <p:cNvSpPr txBox="1"/>
          <p:nvPr/>
        </p:nvSpPr>
        <p:spPr>
          <a:xfrm>
            <a:off x="760307" y="759882"/>
            <a:ext cx="10794384" cy="954107"/>
          </a:xfrm>
          <a:prstGeom prst="rect">
            <a:avLst/>
          </a:prstGeom>
          <a:noFill/>
        </p:spPr>
        <p:txBody>
          <a:bodyPr wrap="square" rtlCol="0">
            <a:spAutoFit/>
          </a:bodyPr>
          <a:lstStyle/>
          <a:p>
            <a:r>
              <a:rPr lang="en-US" sz="1400" b="1" dirty="0">
                <a:latin typeface="Tahoma" panose="020B0604030504040204" pitchFamily="34" charset="0"/>
                <a:ea typeface="Tahoma" panose="020B0604030504040204" pitchFamily="34" charset="0"/>
                <a:cs typeface="Tahoma" panose="020B0604030504040204" pitchFamily="34" charset="0"/>
              </a:rPr>
              <a:t>ABT Series – </a:t>
            </a:r>
            <a:r>
              <a:rPr lang="en-US" sz="1400" b="1" dirty="0" err="1">
                <a:latin typeface="Tahoma" panose="020B0604030504040204" pitchFamily="34" charset="0"/>
                <a:ea typeface="Tahoma" panose="020B0604030504040204" pitchFamily="34" charset="0"/>
                <a:cs typeface="Tahoma" panose="020B0604030504040204" pitchFamily="34" charset="0"/>
              </a:rPr>
              <a:t>Autobonding</a:t>
            </a:r>
            <a:r>
              <a:rPr lang="en-US" sz="1400" b="1" dirty="0">
                <a:latin typeface="Tahoma" panose="020B0604030504040204" pitchFamily="34" charset="0"/>
                <a:ea typeface="Tahoma" panose="020B0604030504040204" pitchFamily="34" charset="0"/>
                <a:cs typeface="Tahoma" panose="020B0604030504040204" pitchFamily="34" charset="0"/>
              </a:rPr>
              <a:t> : </a:t>
            </a:r>
            <a:br>
              <a:rPr lang="en-US" sz="1400" b="1" dirty="0">
                <a:latin typeface="Tahoma" panose="020B0604030504040204" pitchFamily="34" charset="0"/>
                <a:ea typeface="Tahoma" panose="020B0604030504040204" pitchFamily="34" charset="0"/>
                <a:cs typeface="Tahoma" panose="020B0604030504040204" pitchFamily="34" charset="0"/>
              </a:rPr>
            </a:br>
            <a:r>
              <a:rPr lang="en-US" sz="1400" dirty="0">
                <a:latin typeface="Tahoma" panose="020B0604030504040204" pitchFamily="34" charset="0"/>
                <a:ea typeface="Tahoma" panose="020B0604030504040204" pitchFamily="34" charset="0"/>
                <a:cs typeface="Tahoma" panose="020B0604030504040204" pitchFamily="34" charset="0"/>
              </a:rPr>
              <a:t>The ABT series incorporates all the common features of a wedge with the cavity guide design, which is widely used for small aluminum wire bonding. It comes with the elliptical back radius which keeps the wire in the center of the tool for better bond placement capability.</a:t>
            </a:r>
          </a:p>
        </p:txBody>
      </p:sp>
      <p:sp>
        <p:nvSpPr>
          <p:cNvPr id="7" name="Shape 1">
            <a:extLst>
              <a:ext uri="{FF2B5EF4-FFF2-40B4-BE49-F238E27FC236}">
                <a16:creationId xmlns:a16="http://schemas.microsoft.com/office/drawing/2014/main" id="{D5699266-FB61-438E-F3BA-CC32597DE3C4}"/>
              </a:ext>
            </a:extLst>
          </p:cNvPr>
          <p:cNvSpPr/>
          <p:nvPr/>
        </p:nvSpPr>
        <p:spPr>
          <a:xfrm>
            <a:off x="563880" y="889684"/>
            <a:ext cx="109728" cy="109728"/>
          </a:xfrm>
          <a:prstGeom prst="rect">
            <a:avLst/>
          </a:prstGeom>
          <a:solidFill>
            <a:srgbClr val="FF0000"/>
          </a:solidFill>
          <a:ln/>
        </p:spPr>
        <p:txBody>
          <a:bodyPr/>
          <a:lstStyle/>
          <a:p>
            <a:endParaRPr lang="en-US" dirty="0"/>
          </a:p>
        </p:txBody>
      </p:sp>
      <p:sp>
        <p:nvSpPr>
          <p:cNvPr id="9" name="TextBox 8">
            <a:extLst>
              <a:ext uri="{FF2B5EF4-FFF2-40B4-BE49-F238E27FC236}">
                <a16:creationId xmlns:a16="http://schemas.microsoft.com/office/drawing/2014/main" id="{C76CB1CF-9752-EA32-5A71-A8C9655209D8}"/>
              </a:ext>
            </a:extLst>
          </p:cNvPr>
          <p:cNvSpPr txBox="1"/>
          <p:nvPr/>
        </p:nvSpPr>
        <p:spPr>
          <a:xfrm>
            <a:off x="698808" y="1649633"/>
            <a:ext cx="10794384" cy="954107"/>
          </a:xfrm>
          <a:prstGeom prst="rect">
            <a:avLst/>
          </a:prstGeom>
          <a:noFill/>
        </p:spPr>
        <p:txBody>
          <a:bodyPr wrap="square" rtlCol="0">
            <a:spAutoFit/>
          </a:bodyPr>
          <a:lstStyle/>
          <a:p>
            <a:r>
              <a:rPr lang="en-US" sz="1400" b="1" dirty="0">
                <a:latin typeface="Tahoma" panose="020B0604030504040204" pitchFamily="34" charset="0"/>
                <a:ea typeface="Tahoma" panose="020B0604030504040204" pitchFamily="34" charset="0"/>
                <a:cs typeface="Tahoma" panose="020B0604030504040204" pitchFamily="34" charset="0"/>
              </a:rPr>
              <a:t>ABT Series – Construction : </a:t>
            </a:r>
            <a:br>
              <a:rPr lang="en-US" sz="1400" b="1" dirty="0">
                <a:latin typeface="Tahoma" panose="020B0604030504040204" pitchFamily="34" charset="0"/>
                <a:ea typeface="Tahoma" panose="020B0604030504040204" pitchFamily="34" charset="0"/>
                <a:cs typeface="Tahoma" panose="020B0604030504040204" pitchFamily="34" charset="0"/>
              </a:rPr>
            </a:br>
            <a:r>
              <a:rPr lang="en-US" sz="1400" dirty="0">
                <a:latin typeface="Tahoma" panose="020B0604030504040204" pitchFamily="34" charset="0"/>
                <a:ea typeface="Tahoma" panose="020B0604030504040204" pitchFamily="34" charset="0"/>
                <a:cs typeface="Tahoma" panose="020B0604030504040204" pitchFamily="34" charset="0"/>
              </a:rPr>
              <a:t>ABT has two shank style :  </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STYLE_STD </a:t>
            </a:r>
            <a:r>
              <a:rPr lang="en-US" sz="1400" dirty="0">
                <a:latin typeface="Tahoma" panose="020B0604030504040204" pitchFamily="34" charset="0"/>
                <a:ea typeface="Tahoma" panose="020B0604030504040204" pitchFamily="34" charset="0"/>
                <a:cs typeface="Tahoma" panose="020B0604030504040204" pitchFamily="34" charset="0"/>
              </a:rPr>
              <a:t>, with </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SLB</a:t>
            </a:r>
            <a:r>
              <a:rPr lang="en-US" sz="1400" dirty="0">
                <a:latin typeface="Tahoma" panose="020B0604030504040204" pitchFamily="34" charset="0"/>
                <a:ea typeface="Tahoma" panose="020B0604030504040204" pitchFamily="34" charset="0"/>
                <a:cs typeface="Tahoma" panose="020B0604030504040204" pitchFamily="34" charset="0"/>
              </a:rPr>
              <a:t> feature &amp; </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STYLE_180_REV</a:t>
            </a:r>
            <a:r>
              <a:rPr lang="en-US" sz="1400" dirty="0">
                <a:latin typeface="Tahoma" panose="020B0604030504040204" pitchFamily="34" charset="0"/>
                <a:ea typeface="Tahoma" panose="020B0604030504040204" pitchFamily="34" charset="0"/>
                <a:cs typeface="Tahoma" panose="020B0604030504040204" pitchFamily="34" charset="0"/>
              </a:rPr>
              <a:t>, with </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SLB</a:t>
            </a:r>
            <a:r>
              <a:rPr lang="en-US" sz="1400" dirty="0">
                <a:latin typeface="Tahoma" panose="020B0604030504040204" pitchFamily="34" charset="0"/>
                <a:ea typeface="Tahoma" panose="020B0604030504040204" pitchFamily="34" charset="0"/>
                <a:cs typeface="Tahoma" panose="020B0604030504040204" pitchFamily="34" charset="0"/>
              </a:rPr>
              <a:t> feature</a:t>
            </a:r>
            <a:b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br>
            <a:r>
              <a:rPr lang="en-US" sz="1400" dirty="0">
                <a:latin typeface="Tahoma" panose="020B0604030504040204" pitchFamily="34" charset="0"/>
                <a:ea typeface="Tahoma" panose="020B0604030504040204" pitchFamily="34" charset="0"/>
                <a:cs typeface="Tahoma" panose="020B0604030504040204" pitchFamily="34" charset="0"/>
              </a:rPr>
              <a:t>All the 3D models is based on the bellow sketches; these sketch has all the required dimension to construction the 3D models and drawings</a:t>
            </a:r>
          </a:p>
        </p:txBody>
      </p:sp>
      <p:sp>
        <p:nvSpPr>
          <p:cNvPr id="10" name="Shape 1">
            <a:extLst>
              <a:ext uri="{FF2B5EF4-FFF2-40B4-BE49-F238E27FC236}">
                <a16:creationId xmlns:a16="http://schemas.microsoft.com/office/drawing/2014/main" id="{927E8C01-A1A9-CF2D-F16B-7D37C77682BF}"/>
              </a:ext>
            </a:extLst>
          </p:cNvPr>
          <p:cNvSpPr/>
          <p:nvPr/>
        </p:nvSpPr>
        <p:spPr>
          <a:xfrm>
            <a:off x="569363" y="1762410"/>
            <a:ext cx="109728" cy="109728"/>
          </a:xfrm>
          <a:prstGeom prst="rect">
            <a:avLst/>
          </a:prstGeom>
          <a:solidFill>
            <a:srgbClr val="FF0000"/>
          </a:solidFill>
          <a:ln/>
        </p:spPr>
        <p:txBody>
          <a:bodyPr/>
          <a:lstStyle/>
          <a:p>
            <a:endParaRPr lang="en-US" dirty="0"/>
          </a:p>
        </p:txBody>
      </p:sp>
      <p:sp>
        <p:nvSpPr>
          <p:cNvPr id="27" name="TextBox 26">
            <a:extLst>
              <a:ext uri="{FF2B5EF4-FFF2-40B4-BE49-F238E27FC236}">
                <a16:creationId xmlns:a16="http://schemas.microsoft.com/office/drawing/2014/main" id="{B2230C8C-1D6F-2407-FA54-C2EACFEC147B}"/>
              </a:ext>
            </a:extLst>
          </p:cNvPr>
          <p:cNvSpPr txBox="1"/>
          <p:nvPr/>
        </p:nvSpPr>
        <p:spPr>
          <a:xfrm>
            <a:off x="5005065" y="3224728"/>
            <a:ext cx="3067449" cy="307777"/>
          </a:xfrm>
          <a:prstGeom prst="rect">
            <a:avLst/>
          </a:prstGeom>
          <a:noFill/>
        </p:spPr>
        <p:txBody>
          <a:bodyPr wrap="square" rtlCol="0">
            <a:spAutoFit/>
          </a:bodyPr>
          <a:lstStyle/>
          <a:p>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Never suppresses these features !  </a:t>
            </a:r>
          </a:p>
        </p:txBody>
      </p:sp>
      <p:pic>
        <p:nvPicPr>
          <p:cNvPr id="6" name="Picture 5">
            <a:extLst>
              <a:ext uri="{FF2B5EF4-FFF2-40B4-BE49-F238E27FC236}">
                <a16:creationId xmlns:a16="http://schemas.microsoft.com/office/drawing/2014/main" id="{C7D680B5-125A-998B-CDFB-CF665A69FE53}"/>
              </a:ext>
            </a:extLst>
          </p:cNvPr>
          <p:cNvPicPr>
            <a:picLocks noChangeAspect="1"/>
          </p:cNvPicPr>
          <p:nvPr/>
        </p:nvPicPr>
        <p:blipFill>
          <a:blip r:embed="rId3">
            <a:clrChange>
              <a:clrFrom>
                <a:srgbClr val="F7F7F7"/>
              </a:clrFrom>
              <a:clrTo>
                <a:srgbClr val="F7F7F7">
                  <a:alpha val="0"/>
                </a:srgbClr>
              </a:clrTo>
            </a:clrChange>
          </a:blip>
          <a:stretch>
            <a:fillRect/>
          </a:stretch>
        </p:blipFill>
        <p:spPr>
          <a:xfrm>
            <a:off x="618744" y="2647982"/>
            <a:ext cx="3265147" cy="1691018"/>
          </a:xfrm>
          <a:prstGeom prst="rect">
            <a:avLst/>
          </a:prstGeom>
          <a:ln>
            <a:solidFill>
              <a:srgbClr val="FF0000"/>
            </a:solidFill>
          </a:ln>
        </p:spPr>
      </p:pic>
      <p:sp>
        <p:nvSpPr>
          <p:cNvPr id="8" name="TextBox 7">
            <a:extLst>
              <a:ext uri="{FF2B5EF4-FFF2-40B4-BE49-F238E27FC236}">
                <a16:creationId xmlns:a16="http://schemas.microsoft.com/office/drawing/2014/main" id="{EB87FB23-55BD-EDD7-6F13-B60C6DE68AF5}"/>
              </a:ext>
            </a:extLst>
          </p:cNvPr>
          <p:cNvSpPr txBox="1"/>
          <p:nvPr/>
        </p:nvSpPr>
        <p:spPr>
          <a:xfrm>
            <a:off x="709645" y="4558352"/>
            <a:ext cx="10794384" cy="1384995"/>
          </a:xfrm>
          <a:prstGeom prst="rect">
            <a:avLst/>
          </a:prstGeom>
          <a:noFill/>
        </p:spPr>
        <p:txBody>
          <a:bodyPr wrap="square" rtlCol="0">
            <a:spAutoFit/>
          </a:bodyPr>
          <a:lstStyle/>
          <a:p>
            <a:r>
              <a:rPr lang="en-US" sz="1400" dirty="0">
                <a:latin typeface="Tahoma" panose="020B0604030504040204" pitchFamily="34" charset="0"/>
                <a:ea typeface="Tahoma" panose="020B0604030504040204" pitchFamily="34" charset="0"/>
                <a:cs typeface="Tahoma" panose="020B0604030504040204" pitchFamily="34" charset="0"/>
              </a:rPr>
              <a:t>For </a:t>
            </a:r>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foot_depth</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 </a:t>
            </a:r>
            <a:r>
              <a:rPr lang="en-US" sz="1400" dirty="0">
                <a:latin typeface="Tahoma" panose="020B0604030504040204" pitchFamily="34" charset="0"/>
                <a:ea typeface="Tahoma" panose="020B0604030504040204" pitchFamily="34" charset="0"/>
                <a:cs typeface="Tahoma" panose="020B0604030504040204" pitchFamily="34" charset="0"/>
              </a:rPr>
              <a:t>we need to calculate it based on with foot type we have  :</a:t>
            </a:r>
            <a:br>
              <a:rPr lang="en-US" sz="1400" dirty="0">
                <a:latin typeface="Tahoma" panose="020B0604030504040204" pitchFamily="34" charset="0"/>
                <a:ea typeface="Tahoma" panose="020B0604030504040204" pitchFamily="34" charset="0"/>
                <a:cs typeface="Tahoma" panose="020B0604030504040204" pitchFamily="34" charset="0"/>
              </a:rPr>
            </a:b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VG groove , </a:t>
            </a:r>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foot_depth</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 = GD</a:t>
            </a:r>
            <a:b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b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C groove , </a:t>
            </a:r>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foot_depth</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 = CD</a:t>
            </a:r>
            <a:b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b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G groove, </a:t>
            </a:r>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foot_depth</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 = GD</a:t>
            </a:r>
          </a:p>
          <a:p>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Flate</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 W, </a:t>
            </a:r>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foor</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 depth = 0 </a:t>
            </a:r>
          </a:p>
          <a:p>
            <a:r>
              <a:rPr lang="en-US" sz="1400" dirty="0">
                <a:latin typeface="Tahoma" panose="020B0604030504040204" pitchFamily="34" charset="0"/>
                <a:ea typeface="Tahoma" panose="020B0604030504040204" pitchFamily="34" charset="0"/>
                <a:cs typeface="Tahoma" panose="020B0604030504040204" pitchFamily="34" charset="0"/>
              </a:rPr>
              <a:t>For </a:t>
            </a:r>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funnel_gap</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 </a:t>
            </a:r>
            <a:r>
              <a:rPr lang="en-US" sz="1400" dirty="0">
                <a:latin typeface="Tahoma" panose="020B0604030504040204" pitchFamily="34" charset="0"/>
                <a:ea typeface="Tahoma" panose="020B0604030504040204" pitchFamily="34" charset="0"/>
                <a:cs typeface="Tahoma" panose="020B0604030504040204" pitchFamily="34" charset="0"/>
              </a:rPr>
              <a:t>we have the equation , just in case of SLB feature make in the equation that </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BA = 0deg</a:t>
            </a:r>
          </a:p>
        </p:txBody>
      </p:sp>
      <p:cxnSp>
        <p:nvCxnSpPr>
          <p:cNvPr id="4" name="Straight Arrow Connector 3">
            <a:extLst>
              <a:ext uri="{FF2B5EF4-FFF2-40B4-BE49-F238E27FC236}">
                <a16:creationId xmlns:a16="http://schemas.microsoft.com/office/drawing/2014/main" id="{35DA8E84-60FB-69E7-CE0C-40763AD2557B}"/>
              </a:ext>
            </a:extLst>
          </p:cNvPr>
          <p:cNvCxnSpPr>
            <a:cxnSpLocks/>
            <a:stCxn id="27" idx="1"/>
            <a:endCxn id="6" idx="3"/>
          </p:cNvCxnSpPr>
          <p:nvPr/>
        </p:nvCxnSpPr>
        <p:spPr>
          <a:xfrm flipH="1">
            <a:off x="3883891" y="3378617"/>
            <a:ext cx="1121174" cy="114874"/>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24116339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0575DE-9F19-528B-2C80-ABECE11669D4}"/>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44C7D087-87FC-9BB7-F45B-2C469CEAD051}"/>
              </a:ext>
            </a:extLst>
          </p:cNvPr>
          <p:cNvSpPr/>
          <p:nvPr/>
        </p:nvSpPr>
        <p:spPr>
          <a:xfrm>
            <a:off x="548640" y="119802"/>
            <a:ext cx="11064240" cy="640080"/>
          </a:xfrm>
          <a:prstGeom prst="rect">
            <a:avLst/>
          </a:prstGeom>
          <a:noFill/>
          <a:ln/>
        </p:spPr>
        <p:txBody>
          <a:bodyPr wrap="square" lIns="0" tIns="0" rIns="0" bIns="0" rtlCol="0" anchor="ctr"/>
          <a:lstStyle/>
          <a:p>
            <a:pPr marL="0" indent="0">
              <a:buNone/>
            </a:pPr>
            <a:r>
              <a:rPr lang="en-US" sz="2800" b="1" dirty="0">
                <a:solidFill>
                  <a:srgbClr val="FF0000"/>
                </a:solidFill>
                <a:latin typeface="Arial" pitchFamily="34" charset="0"/>
                <a:ea typeface="Arial" pitchFamily="34" charset="-122"/>
                <a:cs typeface="Arial" pitchFamily="34" charset="-120"/>
              </a:rPr>
              <a:t>Rules</a:t>
            </a:r>
            <a:endParaRPr lang="en-US" sz="2800" dirty="0">
              <a:solidFill>
                <a:srgbClr val="FF0000"/>
              </a:solidFill>
            </a:endParaRPr>
          </a:p>
        </p:txBody>
      </p:sp>
      <p:sp>
        <p:nvSpPr>
          <p:cNvPr id="13" name="Shape 11">
            <a:extLst>
              <a:ext uri="{FF2B5EF4-FFF2-40B4-BE49-F238E27FC236}">
                <a16:creationId xmlns:a16="http://schemas.microsoft.com/office/drawing/2014/main" id="{2FC69386-4328-D96E-6A33-AFB6C3D0FF9F}"/>
              </a:ext>
            </a:extLst>
          </p:cNvPr>
          <p:cNvSpPr/>
          <p:nvPr/>
        </p:nvSpPr>
        <p:spPr>
          <a:xfrm>
            <a:off x="548640" y="6419088"/>
            <a:ext cx="11064240" cy="0"/>
          </a:xfrm>
          <a:prstGeom prst="line">
            <a:avLst/>
          </a:prstGeom>
          <a:noFill/>
          <a:ln w="9525">
            <a:solidFill>
              <a:srgbClr val="E4E4E4"/>
            </a:solidFill>
            <a:prstDash val="solid"/>
          </a:ln>
        </p:spPr>
        <p:txBody>
          <a:bodyPr/>
          <a:lstStyle/>
          <a:p>
            <a:endParaRPr lang="en-US" dirty="0"/>
          </a:p>
        </p:txBody>
      </p:sp>
      <p:sp>
        <p:nvSpPr>
          <p:cNvPr id="14" name="Text 12">
            <a:extLst>
              <a:ext uri="{FF2B5EF4-FFF2-40B4-BE49-F238E27FC236}">
                <a16:creationId xmlns:a16="http://schemas.microsoft.com/office/drawing/2014/main" id="{5EA6CE21-EE56-4479-16C7-2CE3C2D509E5}"/>
              </a:ext>
            </a:extLst>
          </p:cNvPr>
          <p:cNvSpPr/>
          <p:nvPr/>
        </p:nvSpPr>
        <p:spPr>
          <a:xfrm>
            <a:off x="548640" y="6419088"/>
            <a:ext cx="4572000" cy="274320"/>
          </a:xfrm>
          <a:prstGeom prst="rect">
            <a:avLst/>
          </a:prstGeom>
          <a:noFill/>
          <a:ln/>
        </p:spPr>
        <p:txBody>
          <a:bodyPr wrap="square" lIns="0" tIns="0" rIns="0" bIns="0" rtlCol="0" anchor="ctr"/>
          <a:lstStyle/>
          <a:p>
            <a:pPr marL="0" indent="0">
              <a:buNone/>
            </a:pPr>
            <a:r>
              <a:rPr lang="en-US" sz="900" dirty="0">
                <a:solidFill>
                  <a:srgbClr val="6E6E6E"/>
                </a:solidFill>
                <a:latin typeface="Arial" pitchFamily="34" charset="0"/>
                <a:ea typeface="Arial" pitchFamily="34" charset="-122"/>
                <a:cs typeface="Arial" pitchFamily="34" charset="-120"/>
              </a:rPr>
              <a:t>SMALL PRECISION TOOLS</a:t>
            </a:r>
            <a:endParaRPr lang="en-US" sz="900" dirty="0"/>
          </a:p>
        </p:txBody>
      </p:sp>
      <p:sp>
        <p:nvSpPr>
          <p:cNvPr id="15" name="Text 13">
            <a:extLst>
              <a:ext uri="{FF2B5EF4-FFF2-40B4-BE49-F238E27FC236}">
                <a16:creationId xmlns:a16="http://schemas.microsoft.com/office/drawing/2014/main" id="{8557A4E5-0B05-E9A3-68B7-398154948ECC}"/>
              </a:ext>
            </a:extLst>
          </p:cNvPr>
          <p:cNvSpPr/>
          <p:nvPr/>
        </p:nvSpPr>
        <p:spPr>
          <a:xfrm>
            <a:off x="4709160" y="6419088"/>
            <a:ext cx="2743200" cy="274320"/>
          </a:xfrm>
          <a:prstGeom prst="rect">
            <a:avLst/>
          </a:prstGeom>
          <a:noFill/>
          <a:ln/>
        </p:spPr>
        <p:txBody>
          <a:bodyPr wrap="square" lIns="0" tIns="0" rIns="0" bIns="0" rtlCol="0" anchor="ctr"/>
          <a:lstStyle/>
          <a:p>
            <a:pPr marL="0" indent="0" algn="ctr">
              <a:buNone/>
            </a:pPr>
            <a:r>
              <a:rPr lang="en-US" sz="900" dirty="0">
                <a:solidFill>
                  <a:srgbClr val="6E6E6E"/>
                </a:solidFill>
                <a:latin typeface="Arial" pitchFamily="34" charset="0"/>
                <a:ea typeface="Arial" pitchFamily="34" charset="-122"/>
                <a:cs typeface="Arial" pitchFamily="34" charset="-120"/>
              </a:rPr>
              <a:t>Confidential</a:t>
            </a:r>
            <a:endParaRPr lang="en-US" sz="900" dirty="0"/>
          </a:p>
        </p:txBody>
      </p:sp>
      <p:sp>
        <p:nvSpPr>
          <p:cNvPr id="5" name="TextBox 4">
            <a:extLst>
              <a:ext uri="{FF2B5EF4-FFF2-40B4-BE49-F238E27FC236}">
                <a16:creationId xmlns:a16="http://schemas.microsoft.com/office/drawing/2014/main" id="{04BF64C6-CA5D-338D-A225-AFE95A673B25}"/>
              </a:ext>
            </a:extLst>
          </p:cNvPr>
          <p:cNvSpPr txBox="1"/>
          <p:nvPr/>
        </p:nvSpPr>
        <p:spPr>
          <a:xfrm>
            <a:off x="760306" y="759882"/>
            <a:ext cx="7012093" cy="523220"/>
          </a:xfrm>
          <a:prstGeom prst="rect">
            <a:avLst/>
          </a:prstGeom>
          <a:noFill/>
        </p:spPr>
        <p:txBody>
          <a:bodyPr wrap="square" rtlCol="0">
            <a:spAutoFit/>
          </a:bodyPr>
          <a:lstStyle/>
          <a:p>
            <a:r>
              <a:rPr lang="en-US" sz="1400" b="1" dirty="0">
                <a:latin typeface="Tahoma" panose="020B0604030504040204" pitchFamily="34" charset="0"/>
                <a:ea typeface="Tahoma" panose="020B0604030504040204" pitchFamily="34" charset="0"/>
                <a:cs typeface="Tahoma" panose="020B0604030504040204" pitchFamily="34" charset="0"/>
              </a:rPr>
              <a:t>ABT Series – PGB 3D for Customer / Production Drawings : </a:t>
            </a:r>
            <a:br>
              <a:rPr lang="en-US" sz="1400" b="1" dirty="0">
                <a:latin typeface="Tahoma" panose="020B0604030504040204" pitchFamily="34" charset="0"/>
                <a:ea typeface="Tahoma" panose="020B0604030504040204" pitchFamily="34" charset="0"/>
                <a:cs typeface="Tahoma" panose="020B0604030504040204" pitchFamily="34" charset="0"/>
              </a:rPr>
            </a:br>
            <a:r>
              <a:rPr lang="en-US" sz="1400" dirty="0">
                <a:latin typeface="Tahoma" panose="020B0604030504040204" pitchFamily="34" charset="0"/>
                <a:ea typeface="Tahoma" panose="020B0604030504040204" pitchFamily="34" charset="0"/>
                <a:cs typeface="Tahoma" panose="020B0604030504040204" pitchFamily="34" charset="0"/>
              </a:rPr>
              <a:t>PGB 3D has the following feature </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case std shank  </a:t>
            </a:r>
            <a:r>
              <a:rPr lang="en-US" sz="1400" dirty="0">
                <a:latin typeface="Tahoma" panose="020B0604030504040204" pitchFamily="34" charset="0"/>
                <a:ea typeface="Tahoma" panose="020B0604030504040204" pitchFamily="34" charset="0"/>
                <a:cs typeface="Tahoma" panose="020B0604030504040204" pitchFamily="34" charset="0"/>
              </a:rPr>
              <a:t>:</a:t>
            </a:r>
          </a:p>
        </p:txBody>
      </p:sp>
      <p:sp>
        <p:nvSpPr>
          <p:cNvPr id="7" name="Shape 1">
            <a:extLst>
              <a:ext uri="{FF2B5EF4-FFF2-40B4-BE49-F238E27FC236}">
                <a16:creationId xmlns:a16="http://schemas.microsoft.com/office/drawing/2014/main" id="{2A68F018-24F1-4006-A8C6-38A3D762E88A}"/>
              </a:ext>
            </a:extLst>
          </p:cNvPr>
          <p:cNvSpPr/>
          <p:nvPr/>
        </p:nvSpPr>
        <p:spPr>
          <a:xfrm>
            <a:off x="563880" y="889684"/>
            <a:ext cx="109728" cy="109728"/>
          </a:xfrm>
          <a:prstGeom prst="rect">
            <a:avLst/>
          </a:prstGeom>
          <a:solidFill>
            <a:srgbClr val="FF0000"/>
          </a:solidFill>
          <a:ln/>
        </p:spPr>
        <p:txBody>
          <a:bodyPr/>
          <a:lstStyle/>
          <a:p>
            <a:endParaRPr lang="en-US" dirty="0"/>
          </a:p>
        </p:txBody>
      </p:sp>
      <p:grpSp>
        <p:nvGrpSpPr>
          <p:cNvPr id="25" name="Group 24">
            <a:extLst>
              <a:ext uri="{FF2B5EF4-FFF2-40B4-BE49-F238E27FC236}">
                <a16:creationId xmlns:a16="http://schemas.microsoft.com/office/drawing/2014/main" id="{08EA9345-5308-8967-5FBD-6F412F591CC7}"/>
              </a:ext>
            </a:extLst>
          </p:cNvPr>
          <p:cNvGrpSpPr/>
          <p:nvPr/>
        </p:nvGrpSpPr>
        <p:grpSpPr>
          <a:xfrm>
            <a:off x="4029879" y="2484774"/>
            <a:ext cx="4925807" cy="307777"/>
            <a:chOff x="4092326" y="1688590"/>
            <a:chExt cx="4925807" cy="307777"/>
          </a:xfrm>
        </p:grpSpPr>
        <p:sp>
          <p:nvSpPr>
            <p:cNvPr id="28" name="TextBox 27">
              <a:extLst>
                <a:ext uri="{FF2B5EF4-FFF2-40B4-BE49-F238E27FC236}">
                  <a16:creationId xmlns:a16="http://schemas.microsoft.com/office/drawing/2014/main" id="{F02C8642-4956-DAD3-7027-E25090E217A9}"/>
                </a:ext>
              </a:extLst>
            </p:cNvPr>
            <p:cNvSpPr txBox="1"/>
            <p:nvPr/>
          </p:nvSpPr>
          <p:spPr>
            <a:xfrm>
              <a:off x="5198127" y="1688590"/>
              <a:ext cx="3820006" cy="307777"/>
            </a:xfrm>
            <a:prstGeom prst="rect">
              <a:avLst/>
            </a:prstGeom>
            <a:noFill/>
          </p:spPr>
          <p:txBody>
            <a:bodyPr wrap="square" rtlCol="0">
              <a:spAutoFit/>
            </a:bodyPr>
            <a:lstStyle/>
            <a:p>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Always ON : we need to have TD-TDF</a:t>
              </a:r>
            </a:p>
          </p:txBody>
        </p:sp>
        <p:cxnSp>
          <p:nvCxnSpPr>
            <p:cNvPr id="10" name="Straight Arrow Connector 9">
              <a:extLst>
                <a:ext uri="{FF2B5EF4-FFF2-40B4-BE49-F238E27FC236}">
                  <a16:creationId xmlns:a16="http://schemas.microsoft.com/office/drawing/2014/main" id="{C03A33F8-A12D-D217-A1E4-EF1378835049}"/>
                </a:ext>
              </a:extLst>
            </p:cNvPr>
            <p:cNvCxnSpPr>
              <a:cxnSpLocks/>
            </p:cNvCxnSpPr>
            <p:nvPr/>
          </p:nvCxnSpPr>
          <p:spPr>
            <a:xfrm flipH="1">
              <a:off x="4092326" y="1842479"/>
              <a:ext cx="1028314" cy="0"/>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grpSp>
      <p:pic>
        <p:nvPicPr>
          <p:cNvPr id="4" name="Picture 3">
            <a:extLst>
              <a:ext uri="{FF2B5EF4-FFF2-40B4-BE49-F238E27FC236}">
                <a16:creationId xmlns:a16="http://schemas.microsoft.com/office/drawing/2014/main" id="{21C4013F-F0C1-AC31-16B5-63228FF62538}"/>
              </a:ext>
            </a:extLst>
          </p:cNvPr>
          <p:cNvPicPr>
            <a:picLocks noChangeAspect="1"/>
          </p:cNvPicPr>
          <p:nvPr/>
        </p:nvPicPr>
        <p:blipFill>
          <a:blip r:embed="rId3">
            <a:clrChange>
              <a:clrFrom>
                <a:srgbClr val="F7F7F7"/>
              </a:clrFrom>
              <a:clrTo>
                <a:srgbClr val="F7F7F7">
                  <a:alpha val="0"/>
                </a:srgbClr>
              </a:clrTo>
            </a:clrChange>
          </a:blip>
          <a:stretch>
            <a:fillRect/>
          </a:stretch>
        </p:blipFill>
        <p:spPr>
          <a:xfrm>
            <a:off x="563880" y="1630965"/>
            <a:ext cx="3400900" cy="2886478"/>
          </a:xfrm>
          <a:prstGeom prst="rect">
            <a:avLst/>
          </a:prstGeom>
        </p:spPr>
      </p:pic>
      <p:grpSp>
        <p:nvGrpSpPr>
          <p:cNvPr id="6" name="Group 5">
            <a:extLst>
              <a:ext uri="{FF2B5EF4-FFF2-40B4-BE49-F238E27FC236}">
                <a16:creationId xmlns:a16="http://schemas.microsoft.com/office/drawing/2014/main" id="{79C82B15-55D8-B2D5-B6DF-C622B2237413}"/>
              </a:ext>
            </a:extLst>
          </p:cNvPr>
          <p:cNvGrpSpPr/>
          <p:nvPr/>
        </p:nvGrpSpPr>
        <p:grpSpPr>
          <a:xfrm>
            <a:off x="4029879" y="2941165"/>
            <a:ext cx="4925807" cy="307777"/>
            <a:chOff x="4092326" y="1688590"/>
            <a:chExt cx="4925807" cy="307777"/>
          </a:xfrm>
        </p:grpSpPr>
        <p:sp>
          <p:nvSpPr>
            <p:cNvPr id="8" name="TextBox 7">
              <a:extLst>
                <a:ext uri="{FF2B5EF4-FFF2-40B4-BE49-F238E27FC236}">
                  <a16:creationId xmlns:a16="http://schemas.microsoft.com/office/drawing/2014/main" id="{CAE7ABF0-AFFE-2C30-2C7A-0B166B6A4908}"/>
                </a:ext>
              </a:extLst>
            </p:cNvPr>
            <p:cNvSpPr txBox="1"/>
            <p:nvPr/>
          </p:nvSpPr>
          <p:spPr>
            <a:xfrm>
              <a:off x="5198127" y="1688590"/>
              <a:ext cx="3820006" cy="307777"/>
            </a:xfrm>
            <a:prstGeom prst="rect">
              <a:avLst/>
            </a:prstGeom>
            <a:noFill/>
          </p:spPr>
          <p:txBody>
            <a:bodyPr wrap="square" rtlCol="0">
              <a:spAutoFit/>
            </a:bodyPr>
            <a:lstStyle/>
            <a:p>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Always ON : we need to have  W-ISA</a:t>
              </a:r>
            </a:p>
          </p:txBody>
        </p:sp>
        <p:cxnSp>
          <p:nvCxnSpPr>
            <p:cNvPr id="9" name="Straight Arrow Connector 8">
              <a:extLst>
                <a:ext uri="{FF2B5EF4-FFF2-40B4-BE49-F238E27FC236}">
                  <a16:creationId xmlns:a16="http://schemas.microsoft.com/office/drawing/2014/main" id="{DF128356-4381-C35E-2FE3-7EA8604D9D3B}"/>
                </a:ext>
              </a:extLst>
            </p:cNvPr>
            <p:cNvCxnSpPr>
              <a:cxnSpLocks/>
            </p:cNvCxnSpPr>
            <p:nvPr/>
          </p:nvCxnSpPr>
          <p:spPr>
            <a:xfrm flipH="1">
              <a:off x="4092326" y="1842479"/>
              <a:ext cx="1028314" cy="0"/>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grpSp>
      <p:grpSp>
        <p:nvGrpSpPr>
          <p:cNvPr id="11" name="Group 10">
            <a:extLst>
              <a:ext uri="{FF2B5EF4-FFF2-40B4-BE49-F238E27FC236}">
                <a16:creationId xmlns:a16="http://schemas.microsoft.com/office/drawing/2014/main" id="{EF961025-9154-794E-16C1-DBC7BDC61B99}"/>
              </a:ext>
            </a:extLst>
          </p:cNvPr>
          <p:cNvGrpSpPr/>
          <p:nvPr/>
        </p:nvGrpSpPr>
        <p:grpSpPr>
          <a:xfrm>
            <a:off x="4029879" y="3369078"/>
            <a:ext cx="4925807" cy="307777"/>
            <a:chOff x="4092326" y="1688590"/>
            <a:chExt cx="4925807" cy="307777"/>
          </a:xfrm>
        </p:grpSpPr>
        <p:sp>
          <p:nvSpPr>
            <p:cNvPr id="12" name="TextBox 11">
              <a:extLst>
                <a:ext uri="{FF2B5EF4-FFF2-40B4-BE49-F238E27FC236}">
                  <a16:creationId xmlns:a16="http://schemas.microsoft.com/office/drawing/2014/main" id="{ECE3CE56-5F58-0BB1-E34E-8CF30DBFFC9D}"/>
                </a:ext>
              </a:extLst>
            </p:cNvPr>
            <p:cNvSpPr txBox="1"/>
            <p:nvPr/>
          </p:nvSpPr>
          <p:spPr>
            <a:xfrm>
              <a:off x="5198127" y="1688590"/>
              <a:ext cx="3820006" cy="307777"/>
            </a:xfrm>
            <a:prstGeom prst="rect">
              <a:avLst/>
            </a:prstGeom>
            <a:noFill/>
          </p:spPr>
          <p:txBody>
            <a:bodyPr wrap="square" rtlCol="0">
              <a:spAutoFit/>
            </a:bodyPr>
            <a:lstStyle/>
            <a:p>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Always ON : we need to have FD-T-RA-BA</a:t>
              </a:r>
            </a:p>
          </p:txBody>
        </p:sp>
        <p:cxnSp>
          <p:nvCxnSpPr>
            <p:cNvPr id="16" name="Straight Arrow Connector 15">
              <a:extLst>
                <a:ext uri="{FF2B5EF4-FFF2-40B4-BE49-F238E27FC236}">
                  <a16:creationId xmlns:a16="http://schemas.microsoft.com/office/drawing/2014/main" id="{53A128EC-17BF-65BB-409A-B7E3AFCD4EAB}"/>
                </a:ext>
              </a:extLst>
            </p:cNvPr>
            <p:cNvCxnSpPr>
              <a:cxnSpLocks/>
            </p:cNvCxnSpPr>
            <p:nvPr/>
          </p:nvCxnSpPr>
          <p:spPr>
            <a:xfrm flipH="1">
              <a:off x="4092326" y="1842479"/>
              <a:ext cx="1028314" cy="0"/>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grpSp>
      <p:grpSp>
        <p:nvGrpSpPr>
          <p:cNvPr id="17" name="Group 16">
            <a:extLst>
              <a:ext uri="{FF2B5EF4-FFF2-40B4-BE49-F238E27FC236}">
                <a16:creationId xmlns:a16="http://schemas.microsoft.com/office/drawing/2014/main" id="{74AB5003-A7DB-5076-C889-C13CD87F22BE}"/>
              </a:ext>
            </a:extLst>
          </p:cNvPr>
          <p:cNvGrpSpPr/>
          <p:nvPr/>
        </p:nvGrpSpPr>
        <p:grpSpPr>
          <a:xfrm>
            <a:off x="4029879" y="3789372"/>
            <a:ext cx="4925807" cy="307777"/>
            <a:chOff x="4092326" y="1688590"/>
            <a:chExt cx="4925807" cy="307777"/>
          </a:xfrm>
        </p:grpSpPr>
        <p:sp>
          <p:nvSpPr>
            <p:cNvPr id="18" name="TextBox 17">
              <a:extLst>
                <a:ext uri="{FF2B5EF4-FFF2-40B4-BE49-F238E27FC236}">
                  <a16:creationId xmlns:a16="http://schemas.microsoft.com/office/drawing/2014/main" id="{BC317F1B-F71A-6204-47A5-ABA629020C27}"/>
                </a:ext>
              </a:extLst>
            </p:cNvPr>
            <p:cNvSpPr txBox="1"/>
            <p:nvPr/>
          </p:nvSpPr>
          <p:spPr>
            <a:xfrm>
              <a:off x="5198127" y="1688590"/>
              <a:ext cx="3820006" cy="307777"/>
            </a:xfrm>
            <a:prstGeom prst="rect">
              <a:avLst/>
            </a:prstGeom>
            <a:noFill/>
          </p:spPr>
          <p:txBody>
            <a:bodyPr wrap="square" rtlCol="0">
              <a:spAutoFit/>
            </a:bodyPr>
            <a:lstStyle/>
            <a:p>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Optional : we need to have VR-VRA-VW-VRR</a:t>
              </a:r>
            </a:p>
          </p:txBody>
        </p:sp>
        <p:cxnSp>
          <p:nvCxnSpPr>
            <p:cNvPr id="19" name="Straight Arrow Connector 18">
              <a:extLst>
                <a:ext uri="{FF2B5EF4-FFF2-40B4-BE49-F238E27FC236}">
                  <a16:creationId xmlns:a16="http://schemas.microsoft.com/office/drawing/2014/main" id="{3FC50C98-1BEE-52C9-F0B6-78B42FDC3E6A}"/>
                </a:ext>
              </a:extLst>
            </p:cNvPr>
            <p:cNvCxnSpPr>
              <a:cxnSpLocks/>
            </p:cNvCxnSpPr>
            <p:nvPr/>
          </p:nvCxnSpPr>
          <p:spPr>
            <a:xfrm flipH="1">
              <a:off x="4092326" y="1842479"/>
              <a:ext cx="1028314" cy="0"/>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grpSp>
      <p:grpSp>
        <p:nvGrpSpPr>
          <p:cNvPr id="20" name="Group 19">
            <a:extLst>
              <a:ext uri="{FF2B5EF4-FFF2-40B4-BE49-F238E27FC236}">
                <a16:creationId xmlns:a16="http://schemas.microsoft.com/office/drawing/2014/main" id="{B5E8B009-00AD-1644-F1B9-030170609EC9}"/>
              </a:ext>
            </a:extLst>
          </p:cNvPr>
          <p:cNvGrpSpPr/>
          <p:nvPr/>
        </p:nvGrpSpPr>
        <p:grpSpPr>
          <a:xfrm>
            <a:off x="4029879" y="4232530"/>
            <a:ext cx="4925807" cy="307777"/>
            <a:chOff x="4092326" y="1688590"/>
            <a:chExt cx="4925807" cy="307777"/>
          </a:xfrm>
        </p:grpSpPr>
        <p:sp>
          <p:nvSpPr>
            <p:cNvPr id="21" name="TextBox 20">
              <a:extLst>
                <a:ext uri="{FF2B5EF4-FFF2-40B4-BE49-F238E27FC236}">
                  <a16:creationId xmlns:a16="http://schemas.microsoft.com/office/drawing/2014/main" id="{D26A2E95-5122-105A-971F-D8CE39512C05}"/>
                </a:ext>
              </a:extLst>
            </p:cNvPr>
            <p:cNvSpPr txBox="1"/>
            <p:nvPr/>
          </p:nvSpPr>
          <p:spPr>
            <a:xfrm>
              <a:off x="5198127" y="1688590"/>
              <a:ext cx="3820006" cy="307777"/>
            </a:xfrm>
            <a:prstGeom prst="rect">
              <a:avLst/>
            </a:prstGeom>
            <a:noFill/>
          </p:spPr>
          <p:txBody>
            <a:bodyPr wrap="square" rtlCol="0">
              <a:spAutoFit/>
            </a:bodyPr>
            <a:lstStyle/>
            <a:p>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Optional : we need to have VBL-VBLR-T</a:t>
              </a:r>
            </a:p>
          </p:txBody>
        </p:sp>
        <p:cxnSp>
          <p:nvCxnSpPr>
            <p:cNvPr id="22" name="Straight Arrow Connector 21">
              <a:extLst>
                <a:ext uri="{FF2B5EF4-FFF2-40B4-BE49-F238E27FC236}">
                  <a16:creationId xmlns:a16="http://schemas.microsoft.com/office/drawing/2014/main" id="{808F88B1-8F06-EF17-C44B-C16B82F61251}"/>
                </a:ext>
              </a:extLst>
            </p:cNvPr>
            <p:cNvCxnSpPr>
              <a:cxnSpLocks/>
            </p:cNvCxnSpPr>
            <p:nvPr/>
          </p:nvCxnSpPr>
          <p:spPr>
            <a:xfrm flipH="1">
              <a:off x="4092326" y="1842479"/>
              <a:ext cx="1028314" cy="0"/>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grpSp>
      <p:pic>
        <p:nvPicPr>
          <p:cNvPr id="23" name="Picture 22">
            <a:extLst>
              <a:ext uri="{FF2B5EF4-FFF2-40B4-BE49-F238E27FC236}">
                <a16:creationId xmlns:a16="http://schemas.microsoft.com/office/drawing/2014/main" id="{C58D79B0-ED0B-B1CA-FBE7-A088B4E92037}"/>
              </a:ext>
            </a:extLst>
          </p:cNvPr>
          <p:cNvPicPr>
            <a:picLocks noChangeAspect="1"/>
          </p:cNvPicPr>
          <p:nvPr/>
        </p:nvPicPr>
        <p:blipFill>
          <a:blip r:embed="rId4">
            <a:clrChange>
              <a:clrFrom>
                <a:srgbClr val="FFFFFF"/>
              </a:clrFrom>
              <a:clrTo>
                <a:srgbClr val="FFFFFF">
                  <a:alpha val="0"/>
                </a:srgbClr>
              </a:clrTo>
            </a:clrChange>
          </a:blip>
          <a:stretch>
            <a:fillRect/>
          </a:stretch>
        </p:blipFill>
        <p:spPr>
          <a:xfrm>
            <a:off x="10534801" y="1110400"/>
            <a:ext cx="896893" cy="4958170"/>
          </a:xfrm>
          <a:prstGeom prst="rect">
            <a:avLst/>
          </a:prstGeom>
        </p:spPr>
      </p:pic>
    </p:spTree>
    <p:extLst>
      <p:ext uri="{BB962C8B-B14F-4D97-AF65-F5344CB8AC3E}">
        <p14:creationId xmlns:p14="http://schemas.microsoft.com/office/powerpoint/2010/main" val="250124563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613E57-E590-FCF6-2DB1-DC6FAFE8743E}"/>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5DB765CF-E49B-5FB1-EA1A-39FEED21DE03}"/>
              </a:ext>
            </a:extLst>
          </p:cNvPr>
          <p:cNvSpPr/>
          <p:nvPr/>
        </p:nvSpPr>
        <p:spPr>
          <a:xfrm>
            <a:off x="548640" y="119802"/>
            <a:ext cx="11064240" cy="640080"/>
          </a:xfrm>
          <a:prstGeom prst="rect">
            <a:avLst/>
          </a:prstGeom>
          <a:noFill/>
          <a:ln/>
        </p:spPr>
        <p:txBody>
          <a:bodyPr wrap="square" lIns="0" tIns="0" rIns="0" bIns="0" rtlCol="0" anchor="ctr"/>
          <a:lstStyle/>
          <a:p>
            <a:pPr marL="0" indent="0">
              <a:buNone/>
            </a:pPr>
            <a:r>
              <a:rPr lang="en-US" sz="2800" b="1" dirty="0">
                <a:solidFill>
                  <a:srgbClr val="FF0000"/>
                </a:solidFill>
                <a:latin typeface="Arial" pitchFamily="34" charset="0"/>
                <a:ea typeface="Arial" pitchFamily="34" charset="-122"/>
                <a:cs typeface="Arial" pitchFamily="34" charset="-120"/>
              </a:rPr>
              <a:t>Rules</a:t>
            </a:r>
            <a:endParaRPr lang="en-US" sz="2800" dirty="0">
              <a:solidFill>
                <a:srgbClr val="FF0000"/>
              </a:solidFill>
            </a:endParaRPr>
          </a:p>
        </p:txBody>
      </p:sp>
      <p:sp>
        <p:nvSpPr>
          <p:cNvPr id="13" name="Shape 11">
            <a:extLst>
              <a:ext uri="{FF2B5EF4-FFF2-40B4-BE49-F238E27FC236}">
                <a16:creationId xmlns:a16="http://schemas.microsoft.com/office/drawing/2014/main" id="{BF317566-229A-4BA1-6885-347C6B03212A}"/>
              </a:ext>
            </a:extLst>
          </p:cNvPr>
          <p:cNvSpPr/>
          <p:nvPr/>
        </p:nvSpPr>
        <p:spPr>
          <a:xfrm>
            <a:off x="548640" y="6419088"/>
            <a:ext cx="11064240" cy="0"/>
          </a:xfrm>
          <a:prstGeom prst="line">
            <a:avLst/>
          </a:prstGeom>
          <a:noFill/>
          <a:ln w="9525">
            <a:solidFill>
              <a:srgbClr val="E4E4E4"/>
            </a:solidFill>
            <a:prstDash val="solid"/>
          </a:ln>
        </p:spPr>
        <p:txBody>
          <a:bodyPr/>
          <a:lstStyle/>
          <a:p>
            <a:endParaRPr lang="en-US" dirty="0"/>
          </a:p>
        </p:txBody>
      </p:sp>
      <p:sp>
        <p:nvSpPr>
          <p:cNvPr id="14" name="Text 12">
            <a:extLst>
              <a:ext uri="{FF2B5EF4-FFF2-40B4-BE49-F238E27FC236}">
                <a16:creationId xmlns:a16="http://schemas.microsoft.com/office/drawing/2014/main" id="{DC90BC3B-CA23-2204-0C23-8D81EB9B0A82}"/>
              </a:ext>
            </a:extLst>
          </p:cNvPr>
          <p:cNvSpPr/>
          <p:nvPr/>
        </p:nvSpPr>
        <p:spPr>
          <a:xfrm>
            <a:off x="548640" y="6419088"/>
            <a:ext cx="4572000" cy="274320"/>
          </a:xfrm>
          <a:prstGeom prst="rect">
            <a:avLst/>
          </a:prstGeom>
          <a:noFill/>
          <a:ln/>
        </p:spPr>
        <p:txBody>
          <a:bodyPr wrap="square" lIns="0" tIns="0" rIns="0" bIns="0" rtlCol="0" anchor="ctr"/>
          <a:lstStyle/>
          <a:p>
            <a:pPr marL="0" indent="0">
              <a:buNone/>
            </a:pPr>
            <a:r>
              <a:rPr lang="en-US" sz="900" dirty="0">
                <a:solidFill>
                  <a:srgbClr val="6E6E6E"/>
                </a:solidFill>
                <a:latin typeface="Arial" pitchFamily="34" charset="0"/>
                <a:ea typeface="Arial" pitchFamily="34" charset="-122"/>
                <a:cs typeface="Arial" pitchFamily="34" charset="-120"/>
              </a:rPr>
              <a:t>SMALL PRECISION TOOLS</a:t>
            </a:r>
            <a:endParaRPr lang="en-US" sz="900" dirty="0"/>
          </a:p>
        </p:txBody>
      </p:sp>
      <p:sp>
        <p:nvSpPr>
          <p:cNvPr id="15" name="Text 13">
            <a:extLst>
              <a:ext uri="{FF2B5EF4-FFF2-40B4-BE49-F238E27FC236}">
                <a16:creationId xmlns:a16="http://schemas.microsoft.com/office/drawing/2014/main" id="{82A08585-DA24-97DF-4E43-3FE056356FFE}"/>
              </a:ext>
            </a:extLst>
          </p:cNvPr>
          <p:cNvSpPr/>
          <p:nvPr/>
        </p:nvSpPr>
        <p:spPr>
          <a:xfrm>
            <a:off x="4709160" y="6419088"/>
            <a:ext cx="2743200" cy="274320"/>
          </a:xfrm>
          <a:prstGeom prst="rect">
            <a:avLst/>
          </a:prstGeom>
          <a:noFill/>
          <a:ln/>
        </p:spPr>
        <p:txBody>
          <a:bodyPr wrap="square" lIns="0" tIns="0" rIns="0" bIns="0" rtlCol="0" anchor="ctr"/>
          <a:lstStyle/>
          <a:p>
            <a:pPr marL="0" indent="0" algn="ctr">
              <a:buNone/>
            </a:pPr>
            <a:r>
              <a:rPr lang="en-US" sz="900" dirty="0">
                <a:solidFill>
                  <a:srgbClr val="6E6E6E"/>
                </a:solidFill>
                <a:latin typeface="Arial" pitchFamily="34" charset="0"/>
                <a:ea typeface="Arial" pitchFamily="34" charset="-122"/>
                <a:cs typeface="Arial" pitchFamily="34" charset="-120"/>
              </a:rPr>
              <a:t>Confidential</a:t>
            </a:r>
            <a:endParaRPr lang="en-US" sz="900" dirty="0"/>
          </a:p>
        </p:txBody>
      </p:sp>
      <p:sp>
        <p:nvSpPr>
          <p:cNvPr id="5" name="TextBox 4">
            <a:extLst>
              <a:ext uri="{FF2B5EF4-FFF2-40B4-BE49-F238E27FC236}">
                <a16:creationId xmlns:a16="http://schemas.microsoft.com/office/drawing/2014/main" id="{F10405CA-DAF3-83A8-191E-FB63AA40DB74}"/>
              </a:ext>
            </a:extLst>
          </p:cNvPr>
          <p:cNvSpPr txBox="1"/>
          <p:nvPr/>
        </p:nvSpPr>
        <p:spPr>
          <a:xfrm>
            <a:off x="760306" y="759882"/>
            <a:ext cx="7012093" cy="523220"/>
          </a:xfrm>
          <a:prstGeom prst="rect">
            <a:avLst/>
          </a:prstGeom>
          <a:noFill/>
        </p:spPr>
        <p:txBody>
          <a:bodyPr wrap="square" rtlCol="0">
            <a:spAutoFit/>
          </a:bodyPr>
          <a:lstStyle/>
          <a:p>
            <a:r>
              <a:rPr lang="en-US" sz="1400" b="1" dirty="0">
                <a:latin typeface="Tahoma" panose="020B0604030504040204" pitchFamily="34" charset="0"/>
                <a:ea typeface="Tahoma" panose="020B0604030504040204" pitchFamily="34" charset="0"/>
                <a:cs typeface="Tahoma" panose="020B0604030504040204" pitchFamily="34" charset="0"/>
              </a:rPr>
              <a:t>ABT Series – PGB 3D for Customer / Production Drawings : </a:t>
            </a:r>
            <a:br>
              <a:rPr lang="en-US" sz="1400" b="1" dirty="0">
                <a:latin typeface="Tahoma" panose="020B0604030504040204" pitchFamily="34" charset="0"/>
                <a:ea typeface="Tahoma" panose="020B0604030504040204" pitchFamily="34" charset="0"/>
                <a:cs typeface="Tahoma" panose="020B0604030504040204" pitchFamily="34" charset="0"/>
              </a:rPr>
            </a:br>
            <a:r>
              <a:rPr lang="en-US" sz="1400" dirty="0">
                <a:latin typeface="Tahoma" panose="020B0604030504040204" pitchFamily="34" charset="0"/>
                <a:ea typeface="Tahoma" panose="020B0604030504040204" pitchFamily="34" charset="0"/>
                <a:cs typeface="Tahoma" panose="020B0604030504040204" pitchFamily="34" charset="0"/>
              </a:rPr>
              <a:t>PGB 3D has the following feature </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case rev shank  </a:t>
            </a:r>
            <a:r>
              <a:rPr lang="en-US" sz="1400" dirty="0">
                <a:latin typeface="Tahoma" panose="020B0604030504040204" pitchFamily="34" charset="0"/>
                <a:ea typeface="Tahoma" panose="020B0604030504040204" pitchFamily="34" charset="0"/>
                <a:cs typeface="Tahoma" panose="020B0604030504040204" pitchFamily="34" charset="0"/>
              </a:rPr>
              <a:t>:</a:t>
            </a:r>
          </a:p>
        </p:txBody>
      </p:sp>
      <p:sp>
        <p:nvSpPr>
          <p:cNvPr id="7" name="Shape 1">
            <a:extLst>
              <a:ext uri="{FF2B5EF4-FFF2-40B4-BE49-F238E27FC236}">
                <a16:creationId xmlns:a16="http://schemas.microsoft.com/office/drawing/2014/main" id="{8540319B-611C-E51C-2961-7020C837C205}"/>
              </a:ext>
            </a:extLst>
          </p:cNvPr>
          <p:cNvSpPr/>
          <p:nvPr/>
        </p:nvSpPr>
        <p:spPr>
          <a:xfrm>
            <a:off x="563880" y="889684"/>
            <a:ext cx="109728" cy="109728"/>
          </a:xfrm>
          <a:prstGeom prst="rect">
            <a:avLst/>
          </a:prstGeom>
          <a:solidFill>
            <a:srgbClr val="FF0000"/>
          </a:solidFill>
          <a:ln/>
        </p:spPr>
        <p:txBody>
          <a:bodyPr/>
          <a:lstStyle/>
          <a:p>
            <a:endParaRPr lang="en-US" dirty="0"/>
          </a:p>
        </p:txBody>
      </p:sp>
      <p:grpSp>
        <p:nvGrpSpPr>
          <p:cNvPr id="25" name="Group 24">
            <a:extLst>
              <a:ext uri="{FF2B5EF4-FFF2-40B4-BE49-F238E27FC236}">
                <a16:creationId xmlns:a16="http://schemas.microsoft.com/office/drawing/2014/main" id="{2DB14DAE-FF62-09BC-9E2C-9905D7D3F9C9}"/>
              </a:ext>
            </a:extLst>
          </p:cNvPr>
          <p:cNvGrpSpPr/>
          <p:nvPr/>
        </p:nvGrpSpPr>
        <p:grpSpPr>
          <a:xfrm>
            <a:off x="4029879" y="2484774"/>
            <a:ext cx="4925807" cy="307777"/>
            <a:chOff x="4092326" y="1688590"/>
            <a:chExt cx="4925807" cy="307777"/>
          </a:xfrm>
        </p:grpSpPr>
        <p:sp>
          <p:nvSpPr>
            <p:cNvPr id="28" name="TextBox 27">
              <a:extLst>
                <a:ext uri="{FF2B5EF4-FFF2-40B4-BE49-F238E27FC236}">
                  <a16:creationId xmlns:a16="http://schemas.microsoft.com/office/drawing/2014/main" id="{090ED303-1A3E-C666-80E5-2B71B8BCBC6B}"/>
                </a:ext>
              </a:extLst>
            </p:cNvPr>
            <p:cNvSpPr txBox="1"/>
            <p:nvPr/>
          </p:nvSpPr>
          <p:spPr>
            <a:xfrm>
              <a:off x="5198127" y="1688590"/>
              <a:ext cx="3820006" cy="307777"/>
            </a:xfrm>
            <a:prstGeom prst="rect">
              <a:avLst/>
            </a:prstGeom>
            <a:noFill/>
          </p:spPr>
          <p:txBody>
            <a:bodyPr wrap="square" rtlCol="0">
              <a:spAutoFit/>
            </a:bodyPr>
            <a:lstStyle/>
            <a:p>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Always ON : we need to have TD-TDF</a:t>
              </a:r>
            </a:p>
          </p:txBody>
        </p:sp>
        <p:cxnSp>
          <p:nvCxnSpPr>
            <p:cNvPr id="10" name="Straight Arrow Connector 9">
              <a:extLst>
                <a:ext uri="{FF2B5EF4-FFF2-40B4-BE49-F238E27FC236}">
                  <a16:creationId xmlns:a16="http://schemas.microsoft.com/office/drawing/2014/main" id="{CF5EA464-E03B-06DD-C05D-31F810CEBE92}"/>
                </a:ext>
              </a:extLst>
            </p:cNvPr>
            <p:cNvCxnSpPr>
              <a:cxnSpLocks/>
            </p:cNvCxnSpPr>
            <p:nvPr/>
          </p:nvCxnSpPr>
          <p:spPr>
            <a:xfrm flipH="1">
              <a:off x="4092326" y="1842479"/>
              <a:ext cx="1028314" cy="0"/>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grpSp>
      <p:grpSp>
        <p:nvGrpSpPr>
          <p:cNvPr id="6" name="Group 5">
            <a:extLst>
              <a:ext uri="{FF2B5EF4-FFF2-40B4-BE49-F238E27FC236}">
                <a16:creationId xmlns:a16="http://schemas.microsoft.com/office/drawing/2014/main" id="{D9BA09E6-1785-5491-6B1D-2C206BD3D11E}"/>
              </a:ext>
            </a:extLst>
          </p:cNvPr>
          <p:cNvGrpSpPr/>
          <p:nvPr/>
        </p:nvGrpSpPr>
        <p:grpSpPr>
          <a:xfrm>
            <a:off x="4029879" y="2941165"/>
            <a:ext cx="4925807" cy="307777"/>
            <a:chOff x="4092326" y="1688590"/>
            <a:chExt cx="4925807" cy="307777"/>
          </a:xfrm>
        </p:grpSpPr>
        <p:sp>
          <p:nvSpPr>
            <p:cNvPr id="8" name="TextBox 7">
              <a:extLst>
                <a:ext uri="{FF2B5EF4-FFF2-40B4-BE49-F238E27FC236}">
                  <a16:creationId xmlns:a16="http://schemas.microsoft.com/office/drawing/2014/main" id="{EB1CD3C8-2D95-8E20-80E4-8DA8D30A519D}"/>
                </a:ext>
              </a:extLst>
            </p:cNvPr>
            <p:cNvSpPr txBox="1"/>
            <p:nvPr/>
          </p:nvSpPr>
          <p:spPr>
            <a:xfrm>
              <a:off x="5198127" y="1688590"/>
              <a:ext cx="3820006" cy="307777"/>
            </a:xfrm>
            <a:prstGeom prst="rect">
              <a:avLst/>
            </a:prstGeom>
            <a:noFill/>
          </p:spPr>
          <p:txBody>
            <a:bodyPr wrap="square" rtlCol="0">
              <a:spAutoFit/>
            </a:bodyPr>
            <a:lstStyle/>
            <a:p>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Always ON : we need to have  W-ISA</a:t>
              </a:r>
            </a:p>
          </p:txBody>
        </p:sp>
        <p:cxnSp>
          <p:nvCxnSpPr>
            <p:cNvPr id="9" name="Straight Arrow Connector 8">
              <a:extLst>
                <a:ext uri="{FF2B5EF4-FFF2-40B4-BE49-F238E27FC236}">
                  <a16:creationId xmlns:a16="http://schemas.microsoft.com/office/drawing/2014/main" id="{167F1D62-394B-57C9-7AA7-92BD89381DA2}"/>
                </a:ext>
              </a:extLst>
            </p:cNvPr>
            <p:cNvCxnSpPr>
              <a:cxnSpLocks/>
            </p:cNvCxnSpPr>
            <p:nvPr/>
          </p:nvCxnSpPr>
          <p:spPr>
            <a:xfrm flipH="1">
              <a:off x="4092326" y="1842479"/>
              <a:ext cx="1028314" cy="0"/>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grpSp>
      <p:grpSp>
        <p:nvGrpSpPr>
          <p:cNvPr id="11" name="Group 10">
            <a:extLst>
              <a:ext uri="{FF2B5EF4-FFF2-40B4-BE49-F238E27FC236}">
                <a16:creationId xmlns:a16="http://schemas.microsoft.com/office/drawing/2014/main" id="{964A0392-9915-0FF6-4BBB-AC28600644FB}"/>
              </a:ext>
            </a:extLst>
          </p:cNvPr>
          <p:cNvGrpSpPr/>
          <p:nvPr/>
        </p:nvGrpSpPr>
        <p:grpSpPr>
          <a:xfrm>
            <a:off x="4029879" y="3369078"/>
            <a:ext cx="4925807" cy="307777"/>
            <a:chOff x="4092326" y="1688590"/>
            <a:chExt cx="4925807" cy="307777"/>
          </a:xfrm>
        </p:grpSpPr>
        <p:sp>
          <p:nvSpPr>
            <p:cNvPr id="12" name="TextBox 11">
              <a:extLst>
                <a:ext uri="{FF2B5EF4-FFF2-40B4-BE49-F238E27FC236}">
                  <a16:creationId xmlns:a16="http://schemas.microsoft.com/office/drawing/2014/main" id="{A0BA70AF-0A59-F0FF-9B0A-60C8DD86AE3F}"/>
                </a:ext>
              </a:extLst>
            </p:cNvPr>
            <p:cNvSpPr txBox="1"/>
            <p:nvPr/>
          </p:nvSpPr>
          <p:spPr>
            <a:xfrm>
              <a:off x="5198127" y="1688590"/>
              <a:ext cx="3820006" cy="307777"/>
            </a:xfrm>
            <a:prstGeom prst="rect">
              <a:avLst/>
            </a:prstGeom>
            <a:noFill/>
          </p:spPr>
          <p:txBody>
            <a:bodyPr wrap="square" rtlCol="0">
              <a:spAutoFit/>
            </a:bodyPr>
            <a:lstStyle/>
            <a:p>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Always ON : we need to have FD-T-RA-BA</a:t>
              </a:r>
            </a:p>
          </p:txBody>
        </p:sp>
        <p:cxnSp>
          <p:nvCxnSpPr>
            <p:cNvPr id="16" name="Straight Arrow Connector 15">
              <a:extLst>
                <a:ext uri="{FF2B5EF4-FFF2-40B4-BE49-F238E27FC236}">
                  <a16:creationId xmlns:a16="http://schemas.microsoft.com/office/drawing/2014/main" id="{60624312-6A41-7898-19D5-EAB29E18B357}"/>
                </a:ext>
              </a:extLst>
            </p:cNvPr>
            <p:cNvCxnSpPr>
              <a:cxnSpLocks/>
            </p:cNvCxnSpPr>
            <p:nvPr/>
          </p:nvCxnSpPr>
          <p:spPr>
            <a:xfrm flipH="1">
              <a:off x="4092326" y="1842479"/>
              <a:ext cx="1028314" cy="0"/>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grpSp>
      <p:grpSp>
        <p:nvGrpSpPr>
          <p:cNvPr id="17" name="Group 16">
            <a:extLst>
              <a:ext uri="{FF2B5EF4-FFF2-40B4-BE49-F238E27FC236}">
                <a16:creationId xmlns:a16="http://schemas.microsoft.com/office/drawing/2014/main" id="{55B0A8DA-A253-429F-FF9A-E481D8796885}"/>
              </a:ext>
            </a:extLst>
          </p:cNvPr>
          <p:cNvGrpSpPr/>
          <p:nvPr/>
        </p:nvGrpSpPr>
        <p:grpSpPr>
          <a:xfrm>
            <a:off x="4029879" y="3789372"/>
            <a:ext cx="4925807" cy="307777"/>
            <a:chOff x="4092326" y="1688590"/>
            <a:chExt cx="4925807" cy="307777"/>
          </a:xfrm>
        </p:grpSpPr>
        <p:sp>
          <p:nvSpPr>
            <p:cNvPr id="18" name="TextBox 17">
              <a:extLst>
                <a:ext uri="{FF2B5EF4-FFF2-40B4-BE49-F238E27FC236}">
                  <a16:creationId xmlns:a16="http://schemas.microsoft.com/office/drawing/2014/main" id="{47002DF9-94BF-EA48-03B6-C62D3B4533F4}"/>
                </a:ext>
              </a:extLst>
            </p:cNvPr>
            <p:cNvSpPr txBox="1"/>
            <p:nvPr/>
          </p:nvSpPr>
          <p:spPr>
            <a:xfrm>
              <a:off x="5198127" y="1688590"/>
              <a:ext cx="3820006" cy="307777"/>
            </a:xfrm>
            <a:prstGeom prst="rect">
              <a:avLst/>
            </a:prstGeom>
            <a:noFill/>
          </p:spPr>
          <p:txBody>
            <a:bodyPr wrap="square" rtlCol="0">
              <a:spAutoFit/>
            </a:bodyPr>
            <a:lstStyle/>
            <a:p>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Optional : we need to have VR-VRA-VW-VRR</a:t>
              </a:r>
            </a:p>
          </p:txBody>
        </p:sp>
        <p:cxnSp>
          <p:nvCxnSpPr>
            <p:cNvPr id="19" name="Straight Arrow Connector 18">
              <a:extLst>
                <a:ext uri="{FF2B5EF4-FFF2-40B4-BE49-F238E27FC236}">
                  <a16:creationId xmlns:a16="http://schemas.microsoft.com/office/drawing/2014/main" id="{A31A27D6-3430-3C6D-7311-AD6D52168D45}"/>
                </a:ext>
              </a:extLst>
            </p:cNvPr>
            <p:cNvCxnSpPr>
              <a:cxnSpLocks/>
            </p:cNvCxnSpPr>
            <p:nvPr/>
          </p:nvCxnSpPr>
          <p:spPr>
            <a:xfrm flipH="1">
              <a:off x="4092326" y="1842479"/>
              <a:ext cx="1028314" cy="0"/>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grpSp>
      <p:grpSp>
        <p:nvGrpSpPr>
          <p:cNvPr id="20" name="Group 19">
            <a:extLst>
              <a:ext uri="{FF2B5EF4-FFF2-40B4-BE49-F238E27FC236}">
                <a16:creationId xmlns:a16="http://schemas.microsoft.com/office/drawing/2014/main" id="{74ECB748-003D-5F61-F5C6-5C6DFCBA14F7}"/>
              </a:ext>
            </a:extLst>
          </p:cNvPr>
          <p:cNvGrpSpPr/>
          <p:nvPr/>
        </p:nvGrpSpPr>
        <p:grpSpPr>
          <a:xfrm>
            <a:off x="4029879" y="4209666"/>
            <a:ext cx="4925807" cy="307777"/>
            <a:chOff x="4092326" y="1688590"/>
            <a:chExt cx="4925807" cy="307777"/>
          </a:xfrm>
        </p:grpSpPr>
        <p:sp>
          <p:nvSpPr>
            <p:cNvPr id="21" name="TextBox 20">
              <a:extLst>
                <a:ext uri="{FF2B5EF4-FFF2-40B4-BE49-F238E27FC236}">
                  <a16:creationId xmlns:a16="http://schemas.microsoft.com/office/drawing/2014/main" id="{B3243490-67A5-4D38-A3CF-4D0868DD1907}"/>
                </a:ext>
              </a:extLst>
            </p:cNvPr>
            <p:cNvSpPr txBox="1"/>
            <p:nvPr/>
          </p:nvSpPr>
          <p:spPr>
            <a:xfrm>
              <a:off x="5198127" y="1688590"/>
              <a:ext cx="3820006" cy="307777"/>
            </a:xfrm>
            <a:prstGeom prst="rect">
              <a:avLst/>
            </a:prstGeom>
            <a:noFill/>
          </p:spPr>
          <p:txBody>
            <a:bodyPr wrap="square" rtlCol="0">
              <a:spAutoFit/>
            </a:bodyPr>
            <a:lstStyle/>
            <a:p>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Optional : we need to have VBL-VBLR-T</a:t>
              </a:r>
            </a:p>
          </p:txBody>
        </p:sp>
        <p:cxnSp>
          <p:nvCxnSpPr>
            <p:cNvPr id="22" name="Straight Arrow Connector 21">
              <a:extLst>
                <a:ext uri="{FF2B5EF4-FFF2-40B4-BE49-F238E27FC236}">
                  <a16:creationId xmlns:a16="http://schemas.microsoft.com/office/drawing/2014/main" id="{E3F45F80-8BC1-F1D2-FE1D-6E548BC4B4CA}"/>
                </a:ext>
              </a:extLst>
            </p:cNvPr>
            <p:cNvCxnSpPr>
              <a:cxnSpLocks/>
            </p:cNvCxnSpPr>
            <p:nvPr/>
          </p:nvCxnSpPr>
          <p:spPr>
            <a:xfrm flipH="1">
              <a:off x="4092326" y="1842479"/>
              <a:ext cx="1028314" cy="0"/>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grpSp>
      <p:pic>
        <p:nvPicPr>
          <p:cNvPr id="4" name="Picture 3">
            <a:extLst>
              <a:ext uri="{FF2B5EF4-FFF2-40B4-BE49-F238E27FC236}">
                <a16:creationId xmlns:a16="http://schemas.microsoft.com/office/drawing/2014/main" id="{99589C12-DF4D-FCF5-5A3F-30A412BF7751}"/>
              </a:ext>
            </a:extLst>
          </p:cNvPr>
          <p:cNvPicPr>
            <a:picLocks noChangeAspect="1"/>
          </p:cNvPicPr>
          <p:nvPr/>
        </p:nvPicPr>
        <p:blipFill>
          <a:blip r:embed="rId3">
            <a:clrChange>
              <a:clrFrom>
                <a:srgbClr val="F7F7F7"/>
              </a:clrFrom>
              <a:clrTo>
                <a:srgbClr val="F7F7F7">
                  <a:alpha val="0"/>
                </a:srgbClr>
              </a:clrTo>
            </a:clrChange>
          </a:blip>
          <a:stretch>
            <a:fillRect/>
          </a:stretch>
        </p:blipFill>
        <p:spPr>
          <a:xfrm>
            <a:off x="833971" y="1681815"/>
            <a:ext cx="4001337" cy="2800012"/>
          </a:xfrm>
          <a:prstGeom prst="rect">
            <a:avLst/>
          </a:prstGeom>
        </p:spPr>
      </p:pic>
      <p:pic>
        <p:nvPicPr>
          <p:cNvPr id="26" name="Picture 25">
            <a:extLst>
              <a:ext uri="{FF2B5EF4-FFF2-40B4-BE49-F238E27FC236}">
                <a16:creationId xmlns:a16="http://schemas.microsoft.com/office/drawing/2014/main" id="{9D921E0C-2EAB-B048-F6A1-0ED75809FFC7}"/>
              </a:ext>
            </a:extLst>
          </p:cNvPr>
          <p:cNvPicPr>
            <a:picLocks noChangeAspect="1"/>
          </p:cNvPicPr>
          <p:nvPr/>
        </p:nvPicPr>
        <p:blipFill>
          <a:blip r:embed="rId4">
            <a:clrChange>
              <a:clrFrom>
                <a:srgbClr val="FFFFFF"/>
              </a:clrFrom>
              <a:clrTo>
                <a:srgbClr val="FFFFFF">
                  <a:alpha val="0"/>
                </a:srgbClr>
              </a:clrTo>
            </a:clrChange>
          </a:blip>
          <a:stretch>
            <a:fillRect/>
          </a:stretch>
        </p:blipFill>
        <p:spPr>
          <a:xfrm>
            <a:off x="10069470" y="271567"/>
            <a:ext cx="1899205" cy="5954750"/>
          </a:xfrm>
          <a:prstGeom prst="rect">
            <a:avLst/>
          </a:prstGeom>
        </p:spPr>
      </p:pic>
    </p:spTree>
    <p:extLst>
      <p:ext uri="{BB962C8B-B14F-4D97-AF65-F5344CB8AC3E}">
        <p14:creationId xmlns:p14="http://schemas.microsoft.com/office/powerpoint/2010/main" val="7665559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357E4-1B73-52D4-9ACF-52B58AFE91AD}"/>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AF2647C7-9B9F-3B8E-2056-F741A65ED241}"/>
              </a:ext>
            </a:extLst>
          </p:cNvPr>
          <p:cNvSpPr/>
          <p:nvPr/>
        </p:nvSpPr>
        <p:spPr>
          <a:xfrm>
            <a:off x="548640" y="119802"/>
            <a:ext cx="11064240" cy="640080"/>
          </a:xfrm>
          <a:prstGeom prst="rect">
            <a:avLst/>
          </a:prstGeom>
          <a:noFill/>
          <a:ln/>
        </p:spPr>
        <p:txBody>
          <a:bodyPr wrap="square" lIns="0" tIns="0" rIns="0" bIns="0" rtlCol="0" anchor="ctr"/>
          <a:lstStyle/>
          <a:p>
            <a:pPr marL="0" indent="0">
              <a:buNone/>
            </a:pPr>
            <a:r>
              <a:rPr lang="en-US" sz="2800" b="1" dirty="0">
                <a:solidFill>
                  <a:srgbClr val="FF0000"/>
                </a:solidFill>
                <a:latin typeface="Arial" pitchFamily="34" charset="0"/>
                <a:ea typeface="Arial" pitchFamily="34" charset="-122"/>
                <a:cs typeface="Arial" pitchFamily="34" charset="-120"/>
              </a:rPr>
              <a:t>Rules</a:t>
            </a:r>
            <a:endParaRPr lang="en-US" sz="2800" dirty="0">
              <a:solidFill>
                <a:srgbClr val="FF0000"/>
              </a:solidFill>
            </a:endParaRPr>
          </a:p>
        </p:txBody>
      </p:sp>
      <p:sp>
        <p:nvSpPr>
          <p:cNvPr id="13" name="Shape 11">
            <a:extLst>
              <a:ext uri="{FF2B5EF4-FFF2-40B4-BE49-F238E27FC236}">
                <a16:creationId xmlns:a16="http://schemas.microsoft.com/office/drawing/2014/main" id="{622A6522-4086-41FE-30AF-C398A9A7F03C}"/>
              </a:ext>
            </a:extLst>
          </p:cNvPr>
          <p:cNvSpPr/>
          <p:nvPr/>
        </p:nvSpPr>
        <p:spPr>
          <a:xfrm>
            <a:off x="548640" y="6419088"/>
            <a:ext cx="11064240" cy="0"/>
          </a:xfrm>
          <a:prstGeom prst="line">
            <a:avLst/>
          </a:prstGeom>
          <a:noFill/>
          <a:ln w="9525">
            <a:solidFill>
              <a:srgbClr val="E4E4E4"/>
            </a:solidFill>
            <a:prstDash val="solid"/>
          </a:ln>
        </p:spPr>
        <p:txBody>
          <a:bodyPr/>
          <a:lstStyle/>
          <a:p>
            <a:endParaRPr lang="en-US" dirty="0"/>
          </a:p>
        </p:txBody>
      </p:sp>
      <p:sp>
        <p:nvSpPr>
          <p:cNvPr id="14" name="Text 12">
            <a:extLst>
              <a:ext uri="{FF2B5EF4-FFF2-40B4-BE49-F238E27FC236}">
                <a16:creationId xmlns:a16="http://schemas.microsoft.com/office/drawing/2014/main" id="{C28A9FDE-DC58-F77C-4834-B69259327AB3}"/>
              </a:ext>
            </a:extLst>
          </p:cNvPr>
          <p:cNvSpPr/>
          <p:nvPr/>
        </p:nvSpPr>
        <p:spPr>
          <a:xfrm>
            <a:off x="548640" y="6419088"/>
            <a:ext cx="4572000" cy="274320"/>
          </a:xfrm>
          <a:prstGeom prst="rect">
            <a:avLst/>
          </a:prstGeom>
          <a:noFill/>
          <a:ln/>
        </p:spPr>
        <p:txBody>
          <a:bodyPr wrap="square" lIns="0" tIns="0" rIns="0" bIns="0" rtlCol="0" anchor="ctr"/>
          <a:lstStyle/>
          <a:p>
            <a:pPr marL="0" indent="0">
              <a:buNone/>
            </a:pPr>
            <a:r>
              <a:rPr lang="en-US" sz="900" dirty="0">
                <a:solidFill>
                  <a:srgbClr val="6E6E6E"/>
                </a:solidFill>
                <a:latin typeface="Arial" pitchFamily="34" charset="0"/>
                <a:ea typeface="Arial" pitchFamily="34" charset="-122"/>
                <a:cs typeface="Arial" pitchFamily="34" charset="-120"/>
              </a:rPr>
              <a:t>SMALL PRECISION TOOLS</a:t>
            </a:r>
            <a:endParaRPr lang="en-US" sz="900" dirty="0"/>
          </a:p>
        </p:txBody>
      </p:sp>
      <p:sp>
        <p:nvSpPr>
          <p:cNvPr id="15" name="Text 13">
            <a:extLst>
              <a:ext uri="{FF2B5EF4-FFF2-40B4-BE49-F238E27FC236}">
                <a16:creationId xmlns:a16="http://schemas.microsoft.com/office/drawing/2014/main" id="{D3CE063E-485C-3543-C2E3-330644AAB519}"/>
              </a:ext>
            </a:extLst>
          </p:cNvPr>
          <p:cNvSpPr/>
          <p:nvPr/>
        </p:nvSpPr>
        <p:spPr>
          <a:xfrm>
            <a:off x="4709160" y="6419088"/>
            <a:ext cx="2743200" cy="274320"/>
          </a:xfrm>
          <a:prstGeom prst="rect">
            <a:avLst/>
          </a:prstGeom>
          <a:noFill/>
          <a:ln/>
        </p:spPr>
        <p:txBody>
          <a:bodyPr wrap="square" lIns="0" tIns="0" rIns="0" bIns="0" rtlCol="0" anchor="ctr"/>
          <a:lstStyle/>
          <a:p>
            <a:pPr marL="0" indent="0" algn="ctr">
              <a:buNone/>
            </a:pPr>
            <a:r>
              <a:rPr lang="en-US" sz="900" dirty="0">
                <a:solidFill>
                  <a:srgbClr val="6E6E6E"/>
                </a:solidFill>
                <a:latin typeface="Arial" pitchFamily="34" charset="0"/>
                <a:ea typeface="Arial" pitchFamily="34" charset="-122"/>
                <a:cs typeface="Arial" pitchFamily="34" charset="-120"/>
              </a:rPr>
              <a:t>Confidential</a:t>
            </a:r>
            <a:endParaRPr lang="en-US" sz="900" dirty="0"/>
          </a:p>
        </p:txBody>
      </p:sp>
      <p:sp>
        <p:nvSpPr>
          <p:cNvPr id="5" name="TextBox 4">
            <a:extLst>
              <a:ext uri="{FF2B5EF4-FFF2-40B4-BE49-F238E27FC236}">
                <a16:creationId xmlns:a16="http://schemas.microsoft.com/office/drawing/2014/main" id="{2F25C349-8834-781B-A271-9C893A398A84}"/>
              </a:ext>
            </a:extLst>
          </p:cNvPr>
          <p:cNvSpPr txBox="1"/>
          <p:nvPr/>
        </p:nvSpPr>
        <p:spPr>
          <a:xfrm>
            <a:off x="760306" y="759882"/>
            <a:ext cx="8536093" cy="523220"/>
          </a:xfrm>
          <a:prstGeom prst="rect">
            <a:avLst/>
          </a:prstGeom>
          <a:noFill/>
        </p:spPr>
        <p:txBody>
          <a:bodyPr wrap="square" rtlCol="0">
            <a:spAutoFit/>
          </a:bodyPr>
          <a:lstStyle/>
          <a:p>
            <a:r>
              <a:rPr lang="en-US" sz="1400" b="1" dirty="0">
                <a:latin typeface="Tahoma" panose="020B0604030504040204" pitchFamily="34" charset="0"/>
                <a:ea typeface="Tahoma" panose="020B0604030504040204" pitchFamily="34" charset="0"/>
                <a:cs typeface="Tahoma" panose="020B0604030504040204" pitchFamily="34" charset="0"/>
              </a:rPr>
              <a:t>ABT Series – FG 3D for Customer / Production Drawings: </a:t>
            </a:r>
            <a:br>
              <a:rPr lang="en-US" sz="1400" b="1" dirty="0">
                <a:latin typeface="Tahoma" panose="020B0604030504040204" pitchFamily="34" charset="0"/>
                <a:ea typeface="Tahoma" panose="020B0604030504040204" pitchFamily="34" charset="0"/>
                <a:cs typeface="Tahoma" panose="020B0604030504040204" pitchFamily="34" charset="0"/>
              </a:rPr>
            </a:br>
            <a:r>
              <a:rPr lang="en-US" sz="1400" dirty="0">
                <a:latin typeface="Tahoma" panose="020B0604030504040204" pitchFamily="34" charset="0"/>
                <a:ea typeface="Tahoma" panose="020B0604030504040204" pitchFamily="34" charset="0"/>
                <a:cs typeface="Tahoma" panose="020B0604030504040204" pitchFamily="34" charset="0"/>
              </a:rPr>
              <a:t>FG 3D has the following feature </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case std shank  </a:t>
            </a:r>
            <a:r>
              <a:rPr lang="en-US" sz="1400" dirty="0">
                <a:latin typeface="Tahoma" panose="020B0604030504040204" pitchFamily="34" charset="0"/>
                <a:ea typeface="Tahoma" panose="020B0604030504040204" pitchFamily="34" charset="0"/>
                <a:cs typeface="Tahoma" panose="020B0604030504040204" pitchFamily="34" charset="0"/>
              </a:rPr>
              <a:t>:</a:t>
            </a:r>
          </a:p>
        </p:txBody>
      </p:sp>
      <p:sp>
        <p:nvSpPr>
          <p:cNvPr id="7" name="Shape 1">
            <a:extLst>
              <a:ext uri="{FF2B5EF4-FFF2-40B4-BE49-F238E27FC236}">
                <a16:creationId xmlns:a16="http://schemas.microsoft.com/office/drawing/2014/main" id="{CE093B4A-ACB1-8139-6FC2-7EDDDEFCDA10}"/>
              </a:ext>
            </a:extLst>
          </p:cNvPr>
          <p:cNvSpPr/>
          <p:nvPr/>
        </p:nvSpPr>
        <p:spPr>
          <a:xfrm>
            <a:off x="563880" y="889684"/>
            <a:ext cx="109728" cy="109728"/>
          </a:xfrm>
          <a:prstGeom prst="rect">
            <a:avLst/>
          </a:prstGeom>
          <a:solidFill>
            <a:srgbClr val="FF0000"/>
          </a:solidFill>
          <a:ln/>
        </p:spPr>
        <p:txBody>
          <a:bodyPr/>
          <a:lstStyle/>
          <a:p>
            <a:endParaRPr lang="en-US" dirty="0"/>
          </a:p>
        </p:txBody>
      </p:sp>
      <p:grpSp>
        <p:nvGrpSpPr>
          <p:cNvPr id="9" name="Group 8">
            <a:extLst>
              <a:ext uri="{FF2B5EF4-FFF2-40B4-BE49-F238E27FC236}">
                <a16:creationId xmlns:a16="http://schemas.microsoft.com/office/drawing/2014/main" id="{540048DF-E43E-F2BA-BEF7-8A185F6BB81B}"/>
              </a:ext>
            </a:extLst>
          </p:cNvPr>
          <p:cNvGrpSpPr/>
          <p:nvPr/>
        </p:nvGrpSpPr>
        <p:grpSpPr>
          <a:xfrm>
            <a:off x="2063004" y="1628380"/>
            <a:ext cx="4925807" cy="261610"/>
            <a:chOff x="4092326" y="1688590"/>
            <a:chExt cx="4925807" cy="261610"/>
          </a:xfrm>
        </p:grpSpPr>
        <p:sp>
          <p:nvSpPr>
            <p:cNvPr id="10" name="TextBox 9">
              <a:extLst>
                <a:ext uri="{FF2B5EF4-FFF2-40B4-BE49-F238E27FC236}">
                  <a16:creationId xmlns:a16="http://schemas.microsoft.com/office/drawing/2014/main" id="{A9F1FCD8-5CB0-7F15-EC01-879CD6A9B554}"/>
                </a:ext>
              </a:extLst>
            </p:cNvPr>
            <p:cNvSpPr txBox="1"/>
            <p:nvPr/>
          </p:nvSpPr>
          <p:spPr>
            <a:xfrm>
              <a:off x="5198127" y="1688590"/>
              <a:ext cx="3820006" cy="261610"/>
            </a:xfrm>
            <a:prstGeom prst="rect">
              <a:avLst/>
            </a:prstGeom>
            <a:noFill/>
          </p:spPr>
          <p:txBody>
            <a:bodyPr wrap="square" rtlCol="0">
              <a:spAutoFit/>
            </a:bodyPr>
            <a:lstStyle/>
            <a:p>
              <a:r>
                <a:rPr lang="en-US" sz="1100" dirty="0">
                  <a:solidFill>
                    <a:srgbClr val="FF0000"/>
                  </a:solidFill>
                  <a:latin typeface="Tahoma" panose="020B0604030504040204" pitchFamily="34" charset="0"/>
                  <a:ea typeface="Tahoma" panose="020B0604030504040204" pitchFamily="34" charset="0"/>
                  <a:cs typeface="Tahoma" panose="020B0604030504040204" pitchFamily="34" charset="0"/>
                </a:rPr>
                <a:t>Optional : we need to have W2</a:t>
              </a:r>
            </a:p>
          </p:txBody>
        </p:sp>
        <p:cxnSp>
          <p:nvCxnSpPr>
            <p:cNvPr id="16" name="Straight Arrow Connector 15">
              <a:extLst>
                <a:ext uri="{FF2B5EF4-FFF2-40B4-BE49-F238E27FC236}">
                  <a16:creationId xmlns:a16="http://schemas.microsoft.com/office/drawing/2014/main" id="{F02FA1E4-E93E-A347-823F-BF6F88F7377B}"/>
                </a:ext>
              </a:extLst>
            </p:cNvPr>
            <p:cNvCxnSpPr>
              <a:cxnSpLocks/>
            </p:cNvCxnSpPr>
            <p:nvPr/>
          </p:nvCxnSpPr>
          <p:spPr>
            <a:xfrm flipH="1">
              <a:off x="4092326" y="1842479"/>
              <a:ext cx="1028314" cy="0"/>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grpSp>
      <p:pic>
        <p:nvPicPr>
          <p:cNvPr id="4" name="Picture 3">
            <a:extLst>
              <a:ext uri="{FF2B5EF4-FFF2-40B4-BE49-F238E27FC236}">
                <a16:creationId xmlns:a16="http://schemas.microsoft.com/office/drawing/2014/main" id="{2339ED36-75C4-26EA-3E72-49AEE46918DC}"/>
              </a:ext>
            </a:extLst>
          </p:cNvPr>
          <p:cNvPicPr>
            <a:picLocks noChangeAspect="1"/>
          </p:cNvPicPr>
          <p:nvPr/>
        </p:nvPicPr>
        <p:blipFill>
          <a:blip r:embed="rId3">
            <a:clrChange>
              <a:clrFrom>
                <a:srgbClr val="F7F7F7"/>
              </a:clrFrom>
              <a:clrTo>
                <a:srgbClr val="F7F7F7">
                  <a:alpha val="0"/>
                </a:srgbClr>
              </a:clrTo>
            </a:clrChange>
          </a:blip>
          <a:stretch>
            <a:fillRect/>
          </a:stretch>
        </p:blipFill>
        <p:spPr>
          <a:xfrm>
            <a:off x="504347" y="1337145"/>
            <a:ext cx="2265710" cy="1869820"/>
          </a:xfrm>
          <a:prstGeom prst="rect">
            <a:avLst/>
          </a:prstGeom>
        </p:spPr>
      </p:pic>
      <p:grpSp>
        <p:nvGrpSpPr>
          <p:cNvPr id="6" name="Group 5">
            <a:extLst>
              <a:ext uri="{FF2B5EF4-FFF2-40B4-BE49-F238E27FC236}">
                <a16:creationId xmlns:a16="http://schemas.microsoft.com/office/drawing/2014/main" id="{EF2271E0-9ACD-975D-9541-CE6577DF3AB3}"/>
              </a:ext>
            </a:extLst>
          </p:cNvPr>
          <p:cNvGrpSpPr/>
          <p:nvPr/>
        </p:nvGrpSpPr>
        <p:grpSpPr>
          <a:xfrm>
            <a:off x="2116529" y="1904598"/>
            <a:ext cx="4925807" cy="261610"/>
            <a:chOff x="4092326" y="1688590"/>
            <a:chExt cx="4925807" cy="261610"/>
          </a:xfrm>
        </p:grpSpPr>
        <p:sp>
          <p:nvSpPr>
            <p:cNvPr id="8" name="TextBox 7">
              <a:extLst>
                <a:ext uri="{FF2B5EF4-FFF2-40B4-BE49-F238E27FC236}">
                  <a16:creationId xmlns:a16="http://schemas.microsoft.com/office/drawing/2014/main" id="{150011E2-24E9-84F8-80DE-3D66058CDC17}"/>
                </a:ext>
              </a:extLst>
            </p:cNvPr>
            <p:cNvSpPr txBox="1"/>
            <p:nvPr/>
          </p:nvSpPr>
          <p:spPr>
            <a:xfrm>
              <a:off x="5198127" y="1688590"/>
              <a:ext cx="3820006" cy="261610"/>
            </a:xfrm>
            <a:prstGeom prst="rect">
              <a:avLst/>
            </a:prstGeom>
            <a:noFill/>
          </p:spPr>
          <p:txBody>
            <a:bodyPr wrap="square" rtlCol="0">
              <a:spAutoFit/>
            </a:bodyPr>
            <a:lstStyle/>
            <a:p>
              <a:r>
                <a:rPr lang="en-US" sz="1100" dirty="0">
                  <a:solidFill>
                    <a:srgbClr val="FF0000"/>
                  </a:solidFill>
                  <a:latin typeface="Tahoma" panose="020B0604030504040204" pitchFamily="34" charset="0"/>
                  <a:ea typeface="Tahoma" panose="020B0604030504040204" pitchFamily="34" charset="0"/>
                  <a:cs typeface="Tahoma" panose="020B0604030504040204" pitchFamily="34" charset="0"/>
                </a:rPr>
                <a:t>Optional : we need to have RA2-RA2H</a:t>
              </a:r>
            </a:p>
          </p:txBody>
        </p:sp>
        <p:cxnSp>
          <p:nvCxnSpPr>
            <p:cNvPr id="11" name="Straight Arrow Connector 10">
              <a:extLst>
                <a:ext uri="{FF2B5EF4-FFF2-40B4-BE49-F238E27FC236}">
                  <a16:creationId xmlns:a16="http://schemas.microsoft.com/office/drawing/2014/main" id="{151537CF-46F2-1368-2678-3235C3E17FC6}"/>
                </a:ext>
              </a:extLst>
            </p:cNvPr>
            <p:cNvCxnSpPr>
              <a:cxnSpLocks/>
            </p:cNvCxnSpPr>
            <p:nvPr/>
          </p:nvCxnSpPr>
          <p:spPr>
            <a:xfrm flipH="1">
              <a:off x="4092326" y="1842479"/>
              <a:ext cx="1028314" cy="0"/>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grpSp>
      <p:grpSp>
        <p:nvGrpSpPr>
          <p:cNvPr id="12" name="Group 11">
            <a:extLst>
              <a:ext uri="{FF2B5EF4-FFF2-40B4-BE49-F238E27FC236}">
                <a16:creationId xmlns:a16="http://schemas.microsoft.com/office/drawing/2014/main" id="{E68A303F-003B-5070-76ED-E024E2229F74}"/>
              </a:ext>
            </a:extLst>
          </p:cNvPr>
          <p:cNvGrpSpPr/>
          <p:nvPr/>
        </p:nvGrpSpPr>
        <p:grpSpPr>
          <a:xfrm>
            <a:off x="2118387" y="2426850"/>
            <a:ext cx="4925807" cy="261610"/>
            <a:chOff x="4092326" y="1688590"/>
            <a:chExt cx="4925807" cy="261610"/>
          </a:xfrm>
        </p:grpSpPr>
        <p:sp>
          <p:nvSpPr>
            <p:cNvPr id="17" name="TextBox 16">
              <a:extLst>
                <a:ext uri="{FF2B5EF4-FFF2-40B4-BE49-F238E27FC236}">
                  <a16:creationId xmlns:a16="http://schemas.microsoft.com/office/drawing/2014/main" id="{5D3FEFE0-A6E5-D981-085D-A6D0FFB0DB97}"/>
                </a:ext>
              </a:extLst>
            </p:cNvPr>
            <p:cNvSpPr txBox="1"/>
            <p:nvPr/>
          </p:nvSpPr>
          <p:spPr>
            <a:xfrm>
              <a:off x="5198127" y="1688590"/>
              <a:ext cx="3820006" cy="261610"/>
            </a:xfrm>
            <a:prstGeom prst="rect">
              <a:avLst/>
            </a:prstGeom>
            <a:noFill/>
          </p:spPr>
          <p:txBody>
            <a:bodyPr wrap="square" rtlCol="0">
              <a:spAutoFit/>
            </a:bodyPr>
            <a:lstStyle/>
            <a:p>
              <a:r>
                <a:rPr lang="en-US" sz="1100" dirty="0">
                  <a:solidFill>
                    <a:srgbClr val="FF0000"/>
                  </a:solidFill>
                  <a:latin typeface="Tahoma" panose="020B0604030504040204" pitchFamily="34" charset="0"/>
                  <a:ea typeface="Tahoma" panose="020B0604030504040204" pitchFamily="34" charset="0"/>
                  <a:cs typeface="Tahoma" panose="020B0604030504040204" pitchFamily="34" charset="0"/>
                </a:rPr>
                <a:t>Always ON :  we need to have ERL-ERD-ERW-CA-FL</a:t>
              </a:r>
            </a:p>
          </p:txBody>
        </p:sp>
        <p:cxnSp>
          <p:nvCxnSpPr>
            <p:cNvPr id="18" name="Straight Arrow Connector 17">
              <a:extLst>
                <a:ext uri="{FF2B5EF4-FFF2-40B4-BE49-F238E27FC236}">
                  <a16:creationId xmlns:a16="http://schemas.microsoft.com/office/drawing/2014/main" id="{07CDE4B3-89F8-8F6C-4ED9-ADAFB36B8A62}"/>
                </a:ext>
              </a:extLst>
            </p:cNvPr>
            <p:cNvCxnSpPr>
              <a:cxnSpLocks/>
            </p:cNvCxnSpPr>
            <p:nvPr/>
          </p:nvCxnSpPr>
          <p:spPr>
            <a:xfrm flipH="1">
              <a:off x="4092326" y="1842479"/>
              <a:ext cx="1028314" cy="0"/>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grpSp>
      <p:grpSp>
        <p:nvGrpSpPr>
          <p:cNvPr id="19" name="Group 18">
            <a:extLst>
              <a:ext uri="{FF2B5EF4-FFF2-40B4-BE49-F238E27FC236}">
                <a16:creationId xmlns:a16="http://schemas.microsoft.com/office/drawing/2014/main" id="{ADA6D6AF-E6DC-7A44-EC99-E4CF46633343}"/>
              </a:ext>
            </a:extLst>
          </p:cNvPr>
          <p:cNvGrpSpPr/>
          <p:nvPr/>
        </p:nvGrpSpPr>
        <p:grpSpPr>
          <a:xfrm>
            <a:off x="2116529" y="2177276"/>
            <a:ext cx="4925807" cy="261610"/>
            <a:chOff x="4092326" y="1688590"/>
            <a:chExt cx="4925807" cy="261610"/>
          </a:xfrm>
        </p:grpSpPr>
        <p:sp>
          <p:nvSpPr>
            <p:cNvPr id="20" name="TextBox 19">
              <a:extLst>
                <a:ext uri="{FF2B5EF4-FFF2-40B4-BE49-F238E27FC236}">
                  <a16:creationId xmlns:a16="http://schemas.microsoft.com/office/drawing/2014/main" id="{D33020C6-3096-9989-1ADD-BB0C29CCA8A5}"/>
                </a:ext>
              </a:extLst>
            </p:cNvPr>
            <p:cNvSpPr txBox="1"/>
            <p:nvPr/>
          </p:nvSpPr>
          <p:spPr>
            <a:xfrm>
              <a:off x="5198127" y="1688590"/>
              <a:ext cx="3820006" cy="261610"/>
            </a:xfrm>
            <a:prstGeom prst="rect">
              <a:avLst/>
            </a:prstGeom>
            <a:noFill/>
          </p:spPr>
          <p:txBody>
            <a:bodyPr wrap="square" rtlCol="0">
              <a:spAutoFit/>
            </a:bodyPr>
            <a:lstStyle/>
            <a:p>
              <a:r>
                <a:rPr lang="en-US" sz="1100" dirty="0">
                  <a:solidFill>
                    <a:srgbClr val="FF0000"/>
                  </a:solidFill>
                  <a:latin typeface="Tahoma" panose="020B0604030504040204" pitchFamily="34" charset="0"/>
                  <a:ea typeface="Tahoma" panose="020B0604030504040204" pitchFamily="34" charset="0"/>
                  <a:cs typeface="Tahoma" panose="020B0604030504040204" pitchFamily="34" charset="0"/>
                </a:rPr>
                <a:t>Always ON : we need FRO </a:t>
              </a:r>
            </a:p>
          </p:txBody>
        </p:sp>
        <p:cxnSp>
          <p:nvCxnSpPr>
            <p:cNvPr id="21" name="Straight Arrow Connector 20">
              <a:extLst>
                <a:ext uri="{FF2B5EF4-FFF2-40B4-BE49-F238E27FC236}">
                  <a16:creationId xmlns:a16="http://schemas.microsoft.com/office/drawing/2014/main" id="{FC0912C6-B855-FB55-D1F1-8D15D1EDCC23}"/>
                </a:ext>
              </a:extLst>
            </p:cNvPr>
            <p:cNvCxnSpPr>
              <a:cxnSpLocks/>
            </p:cNvCxnSpPr>
            <p:nvPr/>
          </p:nvCxnSpPr>
          <p:spPr>
            <a:xfrm flipH="1">
              <a:off x="4092326" y="1842479"/>
              <a:ext cx="1028314" cy="0"/>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grpSp>
      <p:grpSp>
        <p:nvGrpSpPr>
          <p:cNvPr id="22" name="Group 21">
            <a:extLst>
              <a:ext uri="{FF2B5EF4-FFF2-40B4-BE49-F238E27FC236}">
                <a16:creationId xmlns:a16="http://schemas.microsoft.com/office/drawing/2014/main" id="{964D47E1-C53A-8541-B15D-A02FC69C4524}"/>
              </a:ext>
            </a:extLst>
          </p:cNvPr>
          <p:cNvGrpSpPr/>
          <p:nvPr/>
        </p:nvGrpSpPr>
        <p:grpSpPr>
          <a:xfrm>
            <a:off x="2510626" y="2675724"/>
            <a:ext cx="4903504" cy="261610"/>
            <a:chOff x="4092326" y="1670013"/>
            <a:chExt cx="4903504" cy="261610"/>
          </a:xfrm>
        </p:grpSpPr>
        <p:sp>
          <p:nvSpPr>
            <p:cNvPr id="23" name="TextBox 22">
              <a:extLst>
                <a:ext uri="{FF2B5EF4-FFF2-40B4-BE49-F238E27FC236}">
                  <a16:creationId xmlns:a16="http://schemas.microsoft.com/office/drawing/2014/main" id="{E1C765B9-E3F0-C593-CFEB-60402BC679B8}"/>
                </a:ext>
              </a:extLst>
            </p:cNvPr>
            <p:cNvSpPr txBox="1"/>
            <p:nvPr/>
          </p:nvSpPr>
          <p:spPr>
            <a:xfrm>
              <a:off x="5175824" y="1670013"/>
              <a:ext cx="3820006" cy="261610"/>
            </a:xfrm>
            <a:prstGeom prst="rect">
              <a:avLst/>
            </a:prstGeom>
            <a:noFill/>
          </p:spPr>
          <p:txBody>
            <a:bodyPr wrap="square" rtlCol="0">
              <a:spAutoFit/>
            </a:bodyPr>
            <a:lstStyle/>
            <a:p>
              <a:r>
                <a:rPr lang="en-US" sz="1100" dirty="0">
                  <a:solidFill>
                    <a:srgbClr val="FF0000"/>
                  </a:solidFill>
                  <a:latin typeface="Tahoma" panose="020B0604030504040204" pitchFamily="34" charset="0"/>
                  <a:ea typeface="Tahoma" panose="020B0604030504040204" pitchFamily="34" charset="0"/>
                  <a:cs typeface="Tahoma" panose="020B0604030504040204" pitchFamily="34" charset="0"/>
                </a:rPr>
                <a:t>Always ON : default values defined by SPT 0.0004”</a:t>
              </a:r>
            </a:p>
          </p:txBody>
        </p:sp>
        <p:cxnSp>
          <p:nvCxnSpPr>
            <p:cNvPr id="24" name="Straight Arrow Connector 23">
              <a:extLst>
                <a:ext uri="{FF2B5EF4-FFF2-40B4-BE49-F238E27FC236}">
                  <a16:creationId xmlns:a16="http://schemas.microsoft.com/office/drawing/2014/main" id="{D81962B9-92D2-7509-1A3D-E05D9D69FE48}"/>
                </a:ext>
              </a:extLst>
            </p:cNvPr>
            <p:cNvCxnSpPr>
              <a:cxnSpLocks/>
            </p:cNvCxnSpPr>
            <p:nvPr/>
          </p:nvCxnSpPr>
          <p:spPr>
            <a:xfrm flipH="1">
              <a:off x="4092326" y="1842479"/>
              <a:ext cx="1028314" cy="0"/>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grpSp>
      <p:grpSp>
        <p:nvGrpSpPr>
          <p:cNvPr id="25" name="Group 24">
            <a:extLst>
              <a:ext uri="{FF2B5EF4-FFF2-40B4-BE49-F238E27FC236}">
                <a16:creationId xmlns:a16="http://schemas.microsoft.com/office/drawing/2014/main" id="{941D9F9A-BC76-B22B-B7A6-476E0582962D}"/>
              </a:ext>
            </a:extLst>
          </p:cNvPr>
          <p:cNvGrpSpPr/>
          <p:nvPr/>
        </p:nvGrpSpPr>
        <p:grpSpPr>
          <a:xfrm>
            <a:off x="1996469" y="2982119"/>
            <a:ext cx="4925807" cy="430887"/>
            <a:chOff x="4092326" y="1688590"/>
            <a:chExt cx="4925807" cy="430887"/>
          </a:xfrm>
        </p:grpSpPr>
        <p:sp>
          <p:nvSpPr>
            <p:cNvPr id="26" name="TextBox 25">
              <a:extLst>
                <a:ext uri="{FF2B5EF4-FFF2-40B4-BE49-F238E27FC236}">
                  <a16:creationId xmlns:a16="http://schemas.microsoft.com/office/drawing/2014/main" id="{9FCF4EBE-6313-8EFB-1BDE-5DE49C32DBAA}"/>
                </a:ext>
              </a:extLst>
            </p:cNvPr>
            <p:cNvSpPr txBox="1"/>
            <p:nvPr/>
          </p:nvSpPr>
          <p:spPr>
            <a:xfrm>
              <a:off x="5198127" y="1688590"/>
              <a:ext cx="3820006" cy="430887"/>
            </a:xfrm>
            <a:prstGeom prst="rect">
              <a:avLst/>
            </a:prstGeom>
            <a:noFill/>
          </p:spPr>
          <p:txBody>
            <a:bodyPr wrap="square" rtlCol="0">
              <a:spAutoFit/>
            </a:bodyPr>
            <a:lstStyle/>
            <a:p>
              <a:r>
                <a:rPr lang="en-US" sz="1100" dirty="0">
                  <a:solidFill>
                    <a:srgbClr val="FF0000"/>
                  </a:solidFill>
                  <a:latin typeface="Tahoma" panose="020B0604030504040204" pitchFamily="34" charset="0"/>
                  <a:ea typeface="Tahoma" panose="020B0604030504040204" pitchFamily="34" charset="0"/>
                  <a:cs typeface="Tahoma" panose="020B0604030504040204" pitchFamily="34" charset="0"/>
                </a:rPr>
                <a:t>Should be ON most of the cases , but for C groove should be Off </a:t>
              </a:r>
            </a:p>
          </p:txBody>
        </p:sp>
        <p:cxnSp>
          <p:nvCxnSpPr>
            <p:cNvPr id="27" name="Straight Arrow Connector 26">
              <a:extLst>
                <a:ext uri="{FF2B5EF4-FFF2-40B4-BE49-F238E27FC236}">
                  <a16:creationId xmlns:a16="http://schemas.microsoft.com/office/drawing/2014/main" id="{D7E9B737-A7F7-D437-0799-2D142A226F30}"/>
                </a:ext>
              </a:extLst>
            </p:cNvPr>
            <p:cNvCxnSpPr>
              <a:cxnSpLocks/>
            </p:cNvCxnSpPr>
            <p:nvPr/>
          </p:nvCxnSpPr>
          <p:spPr>
            <a:xfrm flipH="1">
              <a:off x="4092326" y="1842479"/>
              <a:ext cx="1028314" cy="0"/>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grpSp>
      <p:pic>
        <p:nvPicPr>
          <p:cNvPr id="31" name="Picture 30">
            <a:extLst>
              <a:ext uri="{FF2B5EF4-FFF2-40B4-BE49-F238E27FC236}">
                <a16:creationId xmlns:a16="http://schemas.microsoft.com/office/drawing/2014/main" id="{47BBB5CC-17F5-A9F8-BA89-C97C5DD8AC3A}"/>
              </a:ext>
            </a:extLst>
          </p:cNvPr>
          <p:cNvPicPr>
            <a:picLocks noChangeAspect="1"/>
          </p:cNvPicPr>
          <p:nvPr/>
        </p:nvPicPr>
        <p:blipFill>
          <a:blip r:embed="rId4">
            <a:clrChange>
              <a:clrFrom>
                <a:srgbClr val="F7F7F7"/>
              </a:clrFrom>
              <a:clrTo>
                <a:srgbClr val="F7F7F7">
                  <a:alpha val="0"/>
                </a:srgbClr>
              </a:clrTo>
            </a:clrChange>
          </a:blip>
          <a:stretch>
            <a:fillRect/>
          </a:stretch>
        </p:blipFill>
        <p:spPr>
          <a:xfrm>
            <a:off x="672876" y="3333003"/>
            <a:ext cx="1751427" cy="2848759"/>
          </a:xfrm>
          <a:prstGeom prst="rect">
            <a:avLst/>
          </a:prstGeom>
        </p:spPr>
      </p:pic>
      <p:sp>
        <p:nvSpPr>
          <p:cNvPr id="32" name="Rectangle 31">
            <a:extLst>
              <a:ext uri="{FF2B5EF4-FFF2-40B4-BE49-F238E27FC236}">
                <a16:creationId xmlns:a16="http://schemas.microsoft.com/office/drawing/2014/main" id="{6EA90A11-9B28-2946-FA9D-687CA781FF3C}"/>
              </a:ext>
            </a:extLst>
          </p:cNvPr>
          <p:cNvSpPr/>
          <p:nvPr/>
        </p:nvSpPr>
        <p:spPr>
          <a:xfrm>
            <a:off x="959005" y="3723989"/>
            <a:ext cx="1551621" cy="560496"/>
          </a:xfrm>
          <a:prstGeom prst="rect">
            <a:avLst/>
          </a:prstGeom>
          <a:noFill/>
          <a:ln>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9C26E32E-29DC-30B5-8C04-68FCBA80B739}"/>
              </a:ext>
            </a:extLst>
          </p:cNvPr>
          <p:cNvSpPr/>
          <p:nvPr/>
        </p:nvSpPr>
        <p:spPr>
          <a:xfrm>
            <a:off x="959005" y="4489747"/>
            <a:ext cx="1551621" cy="774276"/>
          </a:xfrm>
          <a:prstGeom prst="rect">
            <a:avLst/>
          </a:prstGeom>
          <a:noFill/>
          <a:ln>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227792C6-91AB-F30D-F32A-5635293F40B4}"/>
              </a:ext>
            </a:extLst>
          </p:cNvPr>
          <p:cNvSpPr/>
          <p:nvPr/>
        </p:nvSpPr>
        <p:spPr>
          <a:xfrm>
            <a:off x="959005" y="5437998"/>
            <a:ext cx="1551621" cy="805563"/>
          </a:xfrm>
          <a:prstGeom prst="rect">
            <a:avLst/>
          </a:prstGeom>
          <a:noFill/>
          <a:ln>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5" name="Group 34">
            <a:extLst>
              <a:ext uri="{FF2B5EF4-FFF2-40B4-BE49-F238E27FC236}">
                <a16:creationId xmlns:a16="http://schemas.microsoft.com/office/drawing/2014/main" id="{978F0746-C413-3D61-63F5-33B8E7374477}"/>
              </a:ext>
            </a:extLst>
          </p:cNvPr>
          <p:cNvGrpSpPr/>
          <p:nvPr/>
        </p:nvGrpSpPr>
        <p:grpSpPr>
          <a:xfrm>
            <a:off x="2510626" y="3879005"/>
            <a:ext cx="8952827" cy="261610"/>
            <a:chOff x="4092326" y="1688590"/>
            <a:chExt cx="6917993" cy="261610"/>
          </a:xfrm>
        </p:grpSpPr>
        <p:sp>
          <p:nvSpPr>
            <p:cNvPr id="36" name="TextBox 35">
              <a:extLst>
                <a:ext uri="{FF2B5EF4-FFF2-40B4-BE49-F238E27FC236}">
                  <a16:creationId xmlns:a16="http://schemas.microsoft.com/office/drawing/2014/main" id="{B134C2A7-EEE4-5398-2174-C1C9E8E37577}"/>
                </a:ext>
              </a:extLst>
            </p:cNvPr>
            <p:cNvSpPr txBox="1"/>
            <p:nvPr/>
          </p:nvSpPr>
          <p:spPr>
            <a:xfrm>
              <a:off x="5198126" y="1688590"/>
              <a:ext cx="5812193" cy="261610"/>
            </a:xfrm>
            <a:prstGeom prst="rect">
              <a:avLst/>
            </a:prstGeom>
            <a:noFill/>
          </p:spPr>
          <p:txBody>
            <a:bodyPr wrap="square" rtlCol="0">
              <a:spAutoFit/>
            </a:bodyPr>
            <a:lstStyle/>
            <a:p>
              <a:r>
                <a:rPr lang="en-US" sz="1100" dirty="0">
                  <a:solidFill>
                    <a:srgbClr val="FF0000"/>
                  </a:solidFill>
                  <a:latin typeface="Tahoma" panose="020B0604030504040204" pitchFamily="34" charset="0"/>
                  <a:ea typeface="Tahoma" panose="020B0604030504040204" pitchFamily="34" charset="0"/>
                  <a:cs typeface="Tahoma" panose="020B0604030504040204" pitchFamily="34" charset="0"/>
                </a:rPr>
                <a:t>Optional if we have std hole wire exit : Activate all these features, we need to have H-HA-Y-FNA-</a:t>
              </a:r>
              <a:r>
                <a:rPr lang="en-US" sz="1100" dirty="0" err="1">
                  <a:solidFill>
                    <a:srgbClr val="FF0000"/>
                  </a:solidFill>
                  <a:latin typeface="Tahoma" panose="020B0604030504040204" pitchFamily="34" charset="0"/>
                  <a:ea typeface="Tahoma" panose="020B0604030504040204" pitchFamily="34" charset="0"/>
                  <a:cs typeface="Tahoma" panose="020B0604030504040204" pitchFamily="34" charset="0"/>
                </a:rPr>
                <a:t>funnel_gap</a:t>
              </a:r>
              <a:r>
                <a:rPr lang="en-US" sz="1100" dirty="0">
                  <a:solidFill>
                    <a:srgbClr val="FF0000"/>
                  </a:solidFill>
                  <a:latin typeface="Tahoma" panose="020B0604030504040204" pitchFamily="34" charset="0"/>
                  <a:ea typeface="Tahoma" panose="020B0604030504040204" pitchFamily="34" charset="0"/>
                  <a:cs typeface="Tahoma" panose="020B0604030504040204" pitchFamily="34" charset="0"/>
                </a:rPr>
                <a:t> </a:t>
              </a:r>
            </a:p>
          </p:txBody>
        </p:sp>
        <p:cxnSp>
          <p:nvCxnSpPr>
            <p:cNvPr id="37" name="Straight Arrow Connector 36">
              <a:extLst>
                <a:ext uri="{FF2B5EF4-FFF2-40B4-BE49-F238E27FC236}">
                  <a16:creationId xmlns:a16="http://schemas.microsoft.com/office/drawing/2014/main" id="{6CF61C12-ACA8-90FF-2228-2FFB2D98BF93}"/>
                </a:ext>
              </a:extLst>
            </p:cNvPr>
            <p:cNvCxnSpPr>
              <a:cxnSpLocks/>
            </p:cNvCxnSpPr>
            <p:nvPr/>
          </p:nvCxnSpPr>
          <p:spPr>
            <a:xfrm flipH="1">
              <a:off x="4092326" y="1842479"/>
              <a:ext cx="1028314" cy="0"/>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grpSp>
      <p:grpSp>
        <p:nvGrpSpPr>
          <p:cNvPr id="38" name="Group 37">
            <a:extLst>
              <a:ext uri="{FF2B5EF4-FFF2-40B4-BE49-F238E27FC236}">
                <a16:creationId xmlns:a16="http://schemas.microsoft.com/office/drawing/2014/main" id="{6D241A06-895E-3CBB-EB67-C7E24AB7AFC2}"/>
              </a:ext>
            </a:extLst>
          </p:cNvPr>
          <p:cNvGrpSpPr/>
          <p:nvPr/>
        </p:nvGrpSpPr>
        <p:grpSpPr>
          <a:xfrm>
            <a:off x="2526553" y="4696019"/>
            <a:ext cx="9405252" cy="261610"/>
            <a:chOff x="4092326" y="1688590"/>
            <a:chExt cx="7942211" cy="261610"/>
          </a:xfrm>
        </p:grpSpPr>
        <p:sp>
          <p:nvSpPr>
            <p:cNvPr id="39" name="TextBox 38">
              <a:extLst>
                <a:ext uri="{FF2B5EF4-FFF2-40B4-BE49-F238E27FC236}">
                  <a16:creationId xmlns:a16="http://schemas.microsoft.com/office/drawing/2014/main" id="{5B30D1F0-4F4C-20DB-CCE3-F6635D4272CF}"/>
                </a:ext>
              </a:extLst>
            </p:cNvPr>
            <p:cNvSpPr txBox="1"/>
            <p:nvPr/>
          </p:nvSpPr>
          <p:spPr>
            <a:xfrm>
              <a:off x="5198126" y="1688590"/>
              <a:ext cx="6836411" cy="261610"/>
            </a:xfrm>
            <a:prstGeom prst="rect">
              <a:avLst/>
            </a:prstGeom>
            <a:noFill/>
          </p:spPr>
          <p:txBody>
            <a:bodyPr wrap="square" rtlCol="0">
              <a:spAutoFit/>
            </a:bodyPr>
            <a:lstStyle/>
            <a:p>
              <a:r>
                <a:rPr lang="en-US" sz="1100" dirty="0">
                  <a:solidFill>
                    <a:srgbClr val="FF0000"/>
                  </a:solidFill>
                  <a:latin typeface="Tahoma" panose="020B0604030504040204" pitchFamily="34" charset="0"/>
                  <a:ea typeface="Tahoma" panose="020B0604030504040204" pitchFamily="34" charset="0"/>
                  <a:cs typeface="Tahoma" panose="020B0604030504040204" pitchFamily="34" charset="0"/>
                </a:rPr>
                <a:t>Optional if we have oval hole wire exit : Activate all these features, we need to have HW-HH-HA-Y-FNA-</a:t>
              </a:r>
              <a:r>
                <a:rPr lang="en-US" sz="1100" dirty="0" err="1">
                  <a:solidFill>
                    <a:srgbClr val="FF0000"/>
                  </a:solidFill>
                  <a:latin typeface="Tahoma" panose="020B0604030504040204" pitchFamily="34" charset="0"/>
                  <a:ea typeface="Tahoma" panose="020B0604030504040204" pitchFamily="34" charset="0"/>
                  <a:cs typeface="Tahoma" panose="020B0604030504040204" pitchFamily="34" charset="0"/>
                </a:rPr>
                <a:t>funnel_gap</a:t>
              </a:r>
              <a:r>
                <a:rPr lang="en-US" sz="1100" dirty="0">
                  <a:solidFill>
                    <a:srgbClr val="FF0000"/>
                  </a:solidFill>
                  <a:latin typeface="Tahoma" panose="020B0604030504040204" pitchFamily="34" charset="0"/>
                  <a:ea typeface="Tahoma" panose="020B0604030504040204" pitchFamily="34" charset="0"/>
                  <a:cs typeface="Tahoma" panose="020B0604030504040204" pitchFamily="34" charset="0"/>
                </a:rPr>
                <a:t> </a:t>
              </a:r>
            </a:p>
          </p:txBody>
        </p:sp>
        <p:cxnSp>
          <p:nvCxnSpPr>
            <p:cNvPr id="40" name="Straight Arrow Connector 39">
              <a:extLst>
                <a:ext uri="{FF2B5EF4-FFF2-40B4-BE49-F238E27FC236}">
                  <a16:creationId xmlns:a16="http://schemas.microsoft.com/office/drawing/2014/main" id="{B83CB1CF-5291-C0F5-91B7-66C999CF9884}"/>
                </a:ext>
              </a:extLst>
            </p:cNvPr>
            <p:cNvCxnSpPr>
              <a:cxnSpLocks/>
            </p:cNvCxnSpPr>
            <p:nvPr/>
          </p:nvCxnSpPr>
          <p:spPr>
            <a:xfrm flipH="1">
              <a:off x="4092326" y="1842479"/>
              <a:ext cx="1028314" cy="0"/>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grpSp>
      <p:grpSp>
        <p:nvGrpSpPr>
          <p:cNvPr id="44" name="Group 43">
            <a:extLst>
              <a:ext uri="{FF2B5EF4-FFF2-40B4-BE49-F238E27FC236}">
                <a16:creationId xmlns:a16="http://schemas.microsoft.com/office/drawing/2014/main" id="{EA589EB7-2607-A733-7E6B-8EE1D6CF245D}"/>
              </a:ext>
            </a:extLst>
          </p:cNvPr>
          <p:cNvGrpSpPr/>
          <p:nvPr/>
        </p:nvGrpSpPr>
        <p:grpSpPr>
          <a:xfrm>
            <a:off x="2510626" y="5625294"/>
            <a:ext cx="8841315" cy="261610"/>
            <a:chOff x="4092326" y="1688590"/>
            <a:chExt cx="8841315" cy="261610"/>
          </a:xfrm>
        </p:grpSpPr>
        <p:sp>
          <p:nvSpPr>
            <p:cNvPr id="45" name="TextBox 44">
              <a:extLst>
                <a:ext uri="{FF2B5EF4-FFF2-40B4-BE49-F238E27FC236}">
                  <a16:creationId xmlns:a16="http://schemas.microsoft.com/office/drawing/2014/main" id="{19C512D6-862E-B784-926B-413BE3661F8B}"/>
                </a:ext>
              </a:extLst>
            </p:cNvPr>
            <p:cNvSpPr txBox="1"/>
            <p:nvPr/>
          </p:nvSpPr>
          <p:spPr>
            <a:xfrm>
              <a:off x="5198127" y="1688590"/>
              <a:ext cx="7735514" cy="261610"/>
            </a:xfrm>
            <a:prstGeom prst="rect">
              <a:avLst/>
            </a:prstGeom>
            <a:noFill/>
          </p:spPr>
          <p:txBody>
            <a:bodyPr wrap="square" rtlCol="0">
              <a:spAutoFit/>
            </a:bodyPr>
            <a:lstStyle/>
            <a:p>
              <a:r>
                <a:rPr lang="en-US" sz="1100" dirty="0">
                  <a:solidFill>
                    <a:srgbClr val="FF0000"/>
                  </a:solidFill>
                  <a:latin typeface="Tahoma" panose="020B0604030504040204" pitchFamily="34" charset="0"/>
                  <a:ea typeface="Tahoma" panose="020B0604030504040204" pitchFamily="34" charset="0"/>
                  <a:cs typeface="Tahoma" panose="020B0604030504040204" pitchFamily="34" charset="0"/>
                </a:rPr>
                <a:t>Optional if we have slot  wire exit : Activate all these features, we need to have SW-ST-Y-FNA-</a:t>
              </a:r>
              <a:r>
                <a:rPr lang="en-US" sz="1100" dirty="0" err="1">
                  <a:solidFill>
                    <a:srgbClr val="FF0000"/>
                  </a:solidFill>
                  <a:latin typeface="Tahoma" panose="020B0604030504040204" pitchFamily="34" charset="0"/>
                  <a:ea typeface="Tahoma" panose="020B0604030504040204" pitchFamily="34" charset="0"/>
                  <a:cs typeface="Tahoma" panose="020B0604030504040204" pitchFamily="34" charset="0"/>
                </a:rPr>
                <a:t>funnel_gap</a:t>
              </a:r>
              <a:r>
                <a:rPr lang="en-US" sz="1100" dirty="0">
                  <a:solidFill>
                    <a:srgbClr val="FF0000"/>
                  </a:solidFill>
                  <a:latin typeface="Tahoma" panose="020B0604030504040204" pitchFamily="34" charset="0"/>
                  <a:ea typeface="Tahoma" panose="020B0604030504040204" pitchFamily="34" charset="0"/>
                  <a:cs typeface="Tahoma" panose="020B0604030504040204" pitchFamily="34" charset="0"/>
                </a:rPr>
                <a:t> </a:t>
              </a:r>
            </a:p>
          </p:txBody>
        </p:sp>
        <p:cxnSp>
          <p:nvCxnSpPr>
            <p:cNvPr id="46" name="Straight Arrow Connector 45">
              <a:extLst>
                <a:ext uri="{FF2B5EF4-FFF2-40B4-BE49-F238E27FC236}">
                  <a16:creationId xmlns:a16="http://schemas.microsoft.com/office/drawing/2014/main" id="{43852B33-7FB1-8FDF-C0E8-19F297F97588}"/>
                </a:ext>
              </a:extLst>
            </p:cNvPr>
            <p:cNvCxnSpPr>
              <a:cxnSpLocks/>
            </p:cNvCxnSpPr>
            <p:nvPr/>
          </p:nvCxnSpPr>
          <p:spPr>
            <a:xfrm flipH="1">
              <a:off x="4092326" y="1842479"/>
              <a:ext cx="1028314" cy="0"/>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168480581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D91D9E-BF4C-C1B7-B55C-C615599A8BA4}"/>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1EBD7A89-A886-FFEC-7EBE-FA1F9BFFB0FC}"/>
              </a:ext>
            </a:extLst>
          </p:cNvPr>
          <p:cNvPicPr>
            <a:picLocks noChangeAspect="1"/>
          </p:cNvPicPr>
          <p:nvPr/>
        </p:nvPicPr>
        <p:blipFill>
          <a:blip r:embed="rId3">
            <a:clrChange>
              <a:clrFrom>
                <a:srgbClr val="F7F7F7"/>
              </a:clrFrom>
              <a:clrTo>
                <a:srgbClr val="F7F7F7">
                  <a:alpha val="0"/>
                </a:srgbClr>
              </a:clrTo>
            </a:clrChange>
          </a:blip>
          <a:stretch>
            <a:fillRect/>
          </a:stretch>
        </p:blipFill>
        <p:spPr>
          <a:xfrm>
            <a:off x="378830" y="1480414"/>
            <a:ext cx="3037606" cy="4363726"/>
          </a:xfrm>
          <a:prstGeom prst="rect">
            <a:avLst/>
          </a:prstGeom>
        </p:spPr>
      </p:pic>
      <p:sp>
        <p:nvSpPr>
          <p:cNvPr id="2" name="Text 0">
            <a:extLst>
              <a:ext uri="{FF2B5EF4-FFF2-40B4-BE49-F238E27FC236}">
                <a16:creationId xmlns:a16="http://schemas.microsoft.com/office/drawing/2014/main" id="{1798107D-F072-9257-6B81-4004A1E3983E}"/>
              </a:ext>
            </a:extLst>
          </p:cNvPr>
          <p:cNvSpPr/>
          <p:nvPr/>
        </p:nvSpPr>
        <p:spPr>
          <a:xfrm>
            <a:off x="548640" y="119802"/>
            <a:ext cx="11064240" cy="640080"/>
          </a:xfrm>
          <a:prstGeom prst="rect">
            <a:avLst/>
          </a:prstGeom>
          <a:noFill/>
          <a:ln/>
        </p:spPr>
        <p:txBody>
          <a:bodyPr wrap="square" lIns="0" tIns="0" rIns="0" bIns="0" rtlCol="0" anchor="ctr"/>
          <a:lstStyle/>
          <a:p>
            <a:pPr marL="0" indent="0">
              <a:buNone/>
            </a:pPr>
            <a:r>
              <a:rPr lang="en-US" sz="2800" b="1" dirty="0">
                <a:solidFill>
                  <a:srgbClr val="FF0000"/>
                </a:solidFill>
                <a:latin typeface="Arial" pitchFamily="34" charset="0"/>
                <a:ea typeface="Arial" pitchFamily="34" charset="-122"/>
                <a:cs typeface="Arial" pitchFamily="34" charset="-120"/>
              </a:rPr>
              <a:t>Rules</a:t>
            </a:r>
            <a:endParaRPr lang="en-US" sz="2800" dirty="0">
              <a:solidFill>
                <a:srgbClr val="FF0000"/>
              </a:solidFill>
            </a:endParaRPr>
          </a:p>
        </p:txBody>
      </p:sp>
      <p:sp>
        <p:nvSpPr>
          <p:cNvPr id="13" name="Shape 11">
            <a:extLst>
              <a:ext uri="{FF2B5EF4-FFF2-40B4-BE49-F238E27FC236}">
                <a16:creationId xmlns:a16="http://schemas.microsoft.com/office/drawing/2014/main" id="{9ADD7219-97DC-2A81-73A2-DB85C9F0EB39}"/>
              </a:ext>
            </a:extLst>
          </p:cNvPr>
          <p:cNvSpPr/>
          <p:nvPr/>
        </p:nvSpPr>
        <p:spPr>
          <a:xfrm>
            <a:off x="548640" y="6419088"/>
            <a:ext cx="11064240" cy="0"/>
          </a:xfrm>
          <a:prstGeom prst="line">
            <a:avLst/>
          </a:prstGeom>
          <a:noFill/>
          <a:ln w="9525">
            <a:solidFill>
              <a:srgbClr val="E4E4E4"/>
            </a:solidFill>
            <a:prstDash val="solid"/>
          </a:ln>
        </p:spPr>
        <p:txBody>
          <a:bodyPr/>
          <a:lstStyle/>
          <a:p>
            <a:endParaRPr lang="en-US" dirty="0"/>
          </a:p>
        </p:txBody>
      </p:sp>
      <p:sp>
        <p:nvSpPr>
          <p:cNvPr id="14" name="Text 12">
            <a:extLst>
              <a:ext uri="{FF2B5EF4-FFF2-40B4-BE49-F238E27FC236}">
                <a16:creationId xmlns:a16="http://schemas.microsoft.com/office/drawing/2014/main" id="{540D980B-E7A2-B0E8-76AC-E752E0E0D6DC}"/>
              </a:ext>
            </a:extLst>
          </p:cNvPr>
          <p:cNvSpPr/>
          <p:nvPr/>
        </p:nvSpPr>
        <p:spPr>
          <a:xfrm>
            <a:off x="548640" y="6419088"/>
            <a:ext cx="4572000" cy="274320"/>
          </a:xfrm>
          <a:prstGeom prst="rect">
            <a:avLst/>
          </a:prstGeom>
          <a:noFill/>
          <a:ln/>
        </p:spPr>
        <p:txBody>
          <a:bodyPr wrap="square" lIns="0" tIns="0" rIns="0" bIns="0" rtlCol="0" anchor="ctr"/>
          <a:lstStyle/>
          <a:p>
            <a:pPr marL="0" indent="0">
              <a:buNone/>
            </a:pPr>
            <a:r>
              <a:rPr lang="en-US" sz="900" dirty="0">
                <a:solidFill>
                  <a:srgbClr val="6E6E6E"/>
                </a:solidFill>
                <a:latin typeface="Arial" pitchFamily="34" charset="0"/>
                <a:ea typeface="Arial" pitchFamily="34" charset="-122"/>
                <a:cs typeface="Arial" pitchFamily="34" charset="-120"/>
              </a:rPr>
              <a:t>SMALL PRECISION TOOLS</a:t>
            </a:r>
            <a:endParaRPr lang="en-US" sz="900" dirty="0"/>
          </a:p>
        </p:txBody>
      </p:sp>
      <p:sp>
        <p:nvSpPr>
          <p:cNvPr id="15" name="Text 13">
            <a:extLst>
              <a:ext uri="{FF2B5EF4-FFF2-40B4-BE49-F238E27FC236}">
                <a16:creationId xmlns:a16="http://schemas.microsoft.com/office/drawing/2014/main" id="{30A7F434-45CC-2641-17F2-CC88F5CBA6F0}"/>
              </a:ext>
            </a:extLst>
          </p:cNvPr>
          <p:cNvSpPr/>
          <p:nvPr/>
        </p:nvSpPr>
        <p:spPr>
          <a:xfrm>
            <a:off x="4709160" y="6419088"/>
            <a:ext cx="2743200" cy="274320"/>
          </a:xfrm>
          <a:prstGeom prst="rect">
            <a:avLst/>
          </a:prstGeom>
          <a:noFill/>
          <a:ln/>
        </p:spPr>
        <p:txBody>
          <a:bodyPr wrap="square" lIns="0" tIns="0" rIns="0" bIns="0" rtlCol="0" anchor="ctr"/>
          <a:lstStyle/>
          <a:p>
            <a:pPr marL="0" indent="0" algn="ctr">
              <a:buNone/>
            </a:pPr>
            <a:r>
              <a:rPr lang="en-US" sz="900" dirty="0">
                <a:solidFill>
                  <a:srgbClr val="6E6E6E"/>
                </a:solidFill>
                <a:latin typeface="Arial" pitchFamily="34" charset="0"/>
                <a:ea typeface="Arial" pitchFamily="34" charset="-122"/>
                <a:cs typeface="Arial" pitchFamily="34" charset="-120"/>
              </a:rPr>
              <a:t>Confidential</a:t>
            </a:r>
            <a:endParaRPr lang="en-US" sz="900" dirty="0"/>
          </a:p>
        </p:txBody>
      </p:sp>
      <p:sp>
        <p:nvSpPr>
          <p:cNvPr id="5" name="TextBox 4">
            <a:extLst>
              <a:ext uri="{FF2B5EF4-FFF2-40B4-BE49-F238E27FC236}">
                <a16:creationId xmlns:a16="http://schemas.microsoft.com/office/drawing/2014/main" id="{299D3604-DE8E-5B97-073D-159CF39CEB04}"/>
              </a:ext>
            </a:extLst>
          </p:cNvPr>
          <p:cNvSpPr txBox="1"/>
          <p:nvPr/>
        </p:nvSpPr>
        <p:spPr>
          <a:xfrm>
            <a:off x="760306" y="759882"/>
            <a:ext cx="8536093" cy="523220"/>
          </a:xfrm>
          <a:prstGeom prst="rect">
            <a:avLst/>
          </a:prstGeom>
          <a:noFill/>
        </p:spPr>
        <p:txBody>
          <a:bodyPr wrap="square" rtlCol="0">
            <a:spAutoFit/>
          </a:bodyPr>
          <a:lstStyle/>
          <a:p>
            <a:r>
              <a:rPr lang="en-US" sz="1400" b="1" dirty="0">
                <a:latin typeface="Tahoma" panose="020B0604030504040204" pitchFamily="34" charset="0"/>
                <a:ea typeface="Tahoma" panose="020B0604030504040204" pitchFamily="34" charset="0"/>
                <a:cs typeface="Tahoma" panose="020B0604030504040204" pitchFamily="34" charset="0"/>
              </a:rPr>
              <a:t>ABT Series – FG 3D for Customer / Production Drawings: </a:t>
            </a:r>
            <a:br>
              <a:rPr lang="en-US" sz="1400" b="1" dirty="0">
                <a:latin typeface="Tahoma" panose="020B0604030504040204" pitchFamily="34" charset="0"/>
                <a:ea typeface="Tahoma" panose="020B0604030504040204" pitchFamily="34" charset="0"/>
                <a:cs typeface="Tahoma" panose="020B0604030504040204" pitchFamily="34" charset="0"/>
              </a:rPr>
            </a:br>
            <a:r>
              <a:rPr lang="en-US" sz="1400" dirty="0">
                <a:latin typeface="Tahoma" panose="020B0604030504040204" pitchFamily="34" charset="0"/>
                <a:ea typeface="Tahoma" panose="020B0604030504040204" pitchFamily="34" charset="0"/>
                <a:cs typeface="Tahoma" panose="020B0604030504040204" pitchFamily="34" charset="0"/>
              </a:rPr>
              <a:t>FG 3D has the following feature </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case std shank  </a:t>
            </a:r>
            <a:r>
              <a:rPr lang="en-US" sz="1400" dirty="0">
                <a:latin typeface="Tahoma" panose="020B0604030504040204" pitchFamily="34" charset="0"/>
                <a:ea typeface="Tahoma" panose="020B0604030504040204" pitchFamily="34" charset="0"/>
                <a:cs typeface="Tahoma" panose="020B0604030504040204" pitchFamily="34" charset="0"/>
              </a:rPr>
              <a:t>:</a:t>
            </a:r>
          </a:p>
        </p:txBody>
      </p:sp>
      <p:sp>
        <p:nvSpPr>
          <p:cNvPr id="7" name="Shape 1">
            <a:extLst>
              <a:ext uri="{FF2B5EF4-FFF2-40B4-BE49-F238E27FC236}">
                <a16:creationId xmlns:a16="http://schemas.microsoft.com/office/drawing/2014/main" id="{D0A515BB-2D1D-8494-84AB-2F9D10170DC6}"/>
              </a:ext>
            </a:extLst>
          </p:cNvPr>
          <p:cNvSpPr/>
          <p:nvPr/>
        </p:nvSpPr>
        <p:spPr>
          <a:xfrm>
            <a:off x="563880" y="889684"/>
            <a:ext cx="109728" cy="109728"/>
          </a:xfrm>
          <a:prstGeom prst="rect">
            <a:avLst/>
          </a:prstGeom>
          <a:solidFill>
            <a:srgbClr val="FF0000"/>
          </a:solidFill>
          <a:ln/>
        </p:spPr>
        <p:txBody>
          <a:bodyPr/>
          <a:lstStyle/>
          <a:p>
            <a:endParaRPr lang="en-US" dirty="0"/>
          </a:p>
        </p:txBody>
      </p:sp>
      <p:sp>
        <p:nvSpPr>
          <p:cNvPr id="30" name="Rectangle 29">
            <a:extLst>
              <a:ext uri="{FF2B5EF4-FFF2-40B4-BE49-F238E27FC236}">
                <a16:creationId xmlns:a16="http://schemas.microsoft.com/office/drawing/2014/main" id="{DAB7EC5A-B6BD-1F96-0388-C3C2AA56DEE0}"/>
              </a:ext>
            </a:extLst>
          </p:cNvPr>
          <p:cNvSpPr/>
          <p:nvPr/>
        </p:nvSpPr>
        <p:spPr>
          <a:xfrm>
            <a:off x="1333686" y="3844941"/>
            <a:ext cx="1712827" cy="936702"/>
          </a:xfrm>
          <a:prstGeom prst="rect">
            <a:avLst/>
          </a:prstGeom>
          <a:noFill/>
          <a:ln>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1D80D102-03B9-BA11-9E92-367D2768781C}"/>
              </a:ext>
            </a:extLst>
          </p:cNvPr>
          <p:cNvSpPr/>
          <p:nvPr/>
        </p:nvSpPr>
        <p:spPr>
          <a:xfrm>
            <a:off x="1333686" y="5019583"/>
            <a:ext cx="1712827" cy="824557"/>
          </a:xfrm>
          <a:prstGeom prst="rect">
            <a:avLst/>
          </a:prstGeom>
          <a:noFill/>
          <a:ln>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Rectangle 41">
            <a:extLst>
              <a:ext uri="{FF2B5EF4-FFF2-40B4-BE49-F238E27FC236}">
                <a16:creationId xmlns:a16="http://schemas.microsoft.com/office/drawing/2014/main" id="{A1A2694C-CC5B-8933-6508-3CF1C6EEB907}"/>
              </a:ext>
            </a:extLst>
          </p:cNvPr>
          <p:cNvSpPr/>
          <p:nvPr/>
        </p:nvSpPr>
        <p:spPr>
          <a:xfrm>
            <a:off x="1270001" y="2003528"/>
            <a:ext cx="2186878" cy="1644096"/>
          </a:xfrm>
          <a:prstGeom prst="rect">
            <a:avLst/>
          </a:prstGeom>
          <a:noFill/>
          <a:ln>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7" name="Group 46">
            <a:extLst>
              <a:ext uri="{FF2B5EF4-FFF2-40B4-BE49-F238E27FC236}">
                <a16:creationId xmlns:a16="http://schemas.microsoft.com/office/drawing/2014/main" id="{6623BAB8-6E32-7B04-CBCF-4512CDA18C09}"/>
              </a:ext>
            </a:extLst>
          </p:cNvPr>
          <p:cNvGrpSpPr/>
          <p:nvPr/>
        </p:nvGrpSpPr>
        <p:grpSpPr>
          <a:xfrm>
            <a:off x="3046513" y="4146105"/>
            <a:ext cx="8952827" cy="261610"/>
            <a:chOff x="4092326" y="1688590"/>
            <a:chExt cx="6917993" cy="261610"/>
          </a:xfrm>
        </p:grpSpPr>
        <p:sp>
          <p:nvSpPr>
            <p:cNvPr id="48" name="TextBox 47">
              <a:extLst>
                <a:ext uri="{FF2B5EF4-FFF2-40B4-BE49-F238E27FC236}">
                  <a16:creationId xmlns:a16="http://schemas.microsoft.com/office/drawing/2014/main" id="{CDD195EC-FC07-317E-912B-71CF4286F408}"/>
                </a:ext>
              </a:extLst>
            </p:cNvPr>
            <p:cNvSpPr txBox="1"/>
            <p:nvPr/>
          </p:nvSpPr>
          <p:spPr>
            <a:xfrm>
              <a:off x="5198126" y="1688590"/>
              <a:ext cx="5812193" cy="261610"/>
            </a:xfrm>
            <a:prstGeom prst="rect">
              <a:avLst/>
            </a:prstGeom>
            <a:noFill/>
          </p:spPr>
          <p:txBody>
            <a:bodyPr wrap="square" rtlCol="0">
              <a:spAutoFit/>
            </a:bodyPr>
            <a:lstStyle/>
            <a:p>
              <a:r>
                <a:rPr lang="en-US" sz="1100" dirty="0">
                  <a:solidFill>
                    <a:srgbClr val="FF0000"/>
                  </a:solidFill>
                  <a:latin typeface="Tahoma" panose="020B0604030504040204" pitchFamily="34" charset="0"/>
                  <a:ea typeface="Tahoma" panose="020B0604030504040204" pitchFamily="34" charset="0"/>
                  <a:cs typeface="Tahoma" panose="020B0604030504040204" pitchFamily="34" charset="0"/>
                </a:rPr>
                <a:t>Optional if we have VG groove : Activate all these features, we need to GA-GD</a:t>
              </a:r>
            </a:p>
          </p:txBody>
        </p:sp>
        <p:cxnSp>
          <p:nvCxnSpPr>
            <p:cNvPr id="49" name="Straight Arrow Connector 48">
              <a:extLst>
                <a:ext uri="{FF2B5EF4-FFF2-40B4-BE49-F238E27FC236}">
                  <a16:creationId xmlns:a16="http://schemas.microsoft.com/office/drawing/2014/main" id="{1AA7AF94-0ADF-C262-9960-C63F72F0DF88}"/>
                </a:ext>
              </a:extLst>
            </p:cNvPr>
            <p:cNvCxnSpPr>
              <a:cxnSpLocks/>
            </p:cNvCxnSpPr>
            <p:nvPr/>
          </p:nvCxnSpPr>
          <p:spPr>
            <a:xfrm flipH="1">
              <a:off x="4092326" y="1842479"/>
              <a:ext cx="1028314" cy="0"/>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grpSp>
      <p:grpSp>
        <p:nvGrpSpPr>
          <p:cNvPr id="43" name="Group 42">
            <a:extLst>
              <a:ext uri="{FF2B5EF4-FFF2-40B4-BE49-F238E27FC236}">
                <a16:creationId xmlns:a16="http://schemas.microsoft.com/office/drawing/2014/main" id="{4D50477F-C438-2B71-F6EE-87D3D0327E1F}"/>
              </a:ext>
            </a:extLst>
          </p:cNvPr>
          <p:cNvGrpSpPr/>
          <p:nvPr/>
        </p:nvGrpSpPr>
        <p:grpSpPr>
          <a:xfrm>
            <a:off x="3046513" y="5348179"/>
            <a:ext cx="8952827" cy="261610"/>
            <a:chOff x="4092326" y="1688590"/>
            <a:chExt cx="6917993" cy="261610"/>
          </a:xfrm>
        </p:grpSpPr>
        <p:sp>
          <p:nvSpPr>
            <p:cNvPr id="50" name="TextBox 49">
              <a:extLst>
                <a:ext uri="{FF2B5EF4-FFF2-40B4-BE49-F238E27FC236}">
                  <a16:creationId xmlns:a16="http://schemas.microsoft.com/office/drawing/2014/main" id="{6EBE52F7-33B6-31EE-1CBE-BFE9D73B0A68}"/>
                </a:ext>
              </a:extLst>
            </p:cNvPr>
            <p:cNvSpPr txBox="1"/>
            <p:nvPr/>
          </p:nvSpPr>
          <p:spPr>
            <a:xfrm>
              <a:off x="5198126" y="1688590"/>
              <a:ext cx="5812193" cy="261610"/>
            </a:xfrm>
            <a:prstGeom prst="rect">
              <a:avLst/>
            </a:prstGeom>
            <a:noFill/>
          </p:spPr>
          <p:txBody>
            <a:bodyPr wrap="square" rtlCol="0">
              <a:spAutoFit/>
            </a:bodyPr>
            <a:lstStyle/>
            <a:p>
              <a:r>
                <a:rPr lang="en-US" sz="1100" dirty="0">
                  <a:solidFill>
                    <a:srgbClr val="FF0000"/>
                  </a:solidFill>
                  <a:latin typeface="Tahoma" panose="020B0604030504040204" pitchFamily="34" charset="0"/>
                  <a:ea typeface="Tahoma" panose="020B0604030504040204" pitchFamily="34" charset="0"/>
                  <a:cs typeface="Tahoma" panose="020B0604030504040204" pitchFamily="34" charset="0"/>
                </a:rPr>
                <a:t>Optional if we have G groove : Activate all these features, we need to GO-GD</a:t>
              </a:r>
            </a:p>
          </p:txBody>
        </p:sp>
        <p:cxnSp>
          <p:nvCxnSpPr>
            <p:cNvPr id="51" name="Straight Arrow Connector 50">
              <a:extLst>
                <a:ext uri="{FF2B5EF4-FFF2-40B4-BE49-F238E27FC236}">
                  <a16:creationId xmlns:a16="http://schemas.microsoft.com/office/drawing/2014/main" id="{7651EC1B-BC31-E23A-4413-D400E7EC7012}"/>
                </a:ext>
              </a:extLst>
            </p:cNvPr>
            <p:cNvCxnSpPr>
              <a:cxnSpLocks/>
            </p:cNvCxnSpPr>
            <p:nvPr/>
          </p:nvCxnSpPr>
          <p:spPr>
            <a:xfrm flipH="1">
              <a:off x="4092326" y="1842479"/>
              <a:ext cx="1028314" cy="0"/>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grpSp>
      <p:grpSp>
        <p:nvGrpSpPr>
          <p:cNvPr id="52" name="Group 51">
            <a:extLst>
              <a:ext uri="{FF2B5EF4-FFF2-40B4-BE49-F238E27FC236}">
                <a16:creationId xmlns:a16="http://schemas.microsoft.com/office/drawing/2014/main" id="{C0F025B1-AE9E-6C10-83F5-D16479F9E9D2}"/>
              </a:ext>
            </a:extLst>
          </p:cNvPr>
          <p:cNvGrpSpPr/>
          <p:nvPr/>
        </p:nvGrpSpPr>
        <p:grpSpPr>
          <a:xfrm>
            <a:off x="3516713" y="2137523"/>
            <a:ext cx="8482627" cy="1446550"/>
            <a:chOff x="4092326" y="1688590"/>
            <a:chExt cx="6554662" cy="1446550"/>
          </a:xfrm>
        </p:grpSpPr>
        <p:sp>
          <p:nvSpPr>
            <p:cNvPr id="53" name="TextBox 52">
              <a:extLst>
                <a:ext uri="{FF2B5EF4-FFF2-40B4-BE49-F238E27FC236}">
                  <a16:creationId xmlns:a16="http://schemas.microsoft.com/office/drawing/2014/main" id="{C08C47AB-756D-FF78-A0F4-4184BC2C0541}"/>
                </a:ext>
              </a:extLst>
            </p:cNvPr>
            <p:cNvSpPr txBox="1"/>
            <p:nvPr/>
          </p:nvSpPr>
          <p:spPr>
            <a:xfrm>
              <a:off x="5198126" y="1688590"/>
              <a:ext cx="5448862" cy="1446550"/>
            </a:xfrm>
            <a:prstGeom prst="rect">
              <a:avLst/>
            </a:prstGeom>
            <a:noFill/>
          </p:spPr>
          <p:txBody>
            <a:bodyPr wrap="square" rtlCol="0">
              <a:spAutoFit/>
            </a:bodyPr>
            <a:lstStyle/>
            <a:p>
              <a:r>
                <a:rPr lang="en-US" sz="1100" dirty="0">
                  <a:solidFill>
                    <a:srgbClr val="FF0000"/>
                  </a:solidFill>
                  <a:latin typeface="Tahoma" panose="020B0604030504040204" pitchFamily="34" charset="0"/>
                  <a:ea typeface="Tahoma" panose="020B0604030504040204" pitchFamily="34" charset="0"/>
                  <a:cs typeface="Tahoma" panose="020B0604030504040204" pitchFamily="34" charset="0"/>
                </a:rPr>
                <a:t>Optional if we have C groove : activate </a:t>
              </a:r>
              <a:r>
                <a:rPr lang="en-US" sz="1100" dirty="0" err="1">
                  <a:solidFill>
                    <a:srgbClr val="FF0000"/>
                  </a:solidFill>
                  <a:latin typeface="Tahoma" panose="020B0604030504040204" pitchFamily="34" charset="0"/>
                  <a:ea typeface="Tahoma" panose="020B0604030504040204" pitchFamily="34" charset="0"/>
                  <a:cs typeface="Tahoma" panose="020B0604030504040204" pitchFamily="34" charset="0"/>
                </a:rPr>
                <a:t>std_c_feature</a:t>
              </a:r>
              <a:r>
                <a:rPr lang="en-US" sz="1100" dirty="0">
                  <a:solidFill>
                    <a:srgbClr val="FF0000"/>
                  </a:solidFill>
                  <a:latin typeface="Tahoma" panose="020B0604030504040204" pitchFamily="34" charset="0"/>
                  <a:ea typeface="Tahoma" panose="020B0604030504040204" pitchFamily="34" charset="0"/>
                  <a:cs typeface="Tahoma" panose="020B0604030504040204" pitchFamily="34" charset="0"/>
                </a:rPr>
                <a:t> : </a:t>
              </a:r>
              <a:r>
                <a:rPr lang="en-US" sz="1100" dirty="0" err="1">
                  <a:solidFill>
                    <a:srgbClr val="FF0000"/>
                  </a:solidFill>
                  <a:latin typeface="Tahoma" panose="020B0604030504040204" pitchFamily="34" charset="0"/>
                  <a:ea typeface="Tahoma" panose="020B0604030504040204" pitchFamily="34" charset="0"/>
                  <a:cs typeface="Tahoma" panose="020B0604030504040204" pitchFamily="34" charset="0"/>
                </a:rPr>
                <a:t>std_round_br</a:t>
              </a:r>
              <a:r>
                <a:rPr lang="en-US" sz="1100" dirty="0">
                  <a:solidFill>
                    <a:srgbClr val="FF0000"/>
                  </a:solidFill>
                  <a:latin typeface="Tahoma" panose="020B0604030504040204" pitchFamily="34" charset="0"/>
                  <a:ea typeface="Tahoma" panose="020B0604030504040204" pitchFamily="34" charset="0"/>
                  <a:cs typeface="Tahoma" panose="020B0604030504040204" pitchFamily="34" charset="0"/>
                </a:rPr>
                <a:t> should be OFF</a:t>
              </a:r>
              <a:br>
                <a:rPr lang="en-US" sz="1100" dirty="0">
                  <a:solidFill>
                    <a:srgbClr val="FF0000"/>
                  </a:solidFill>
                  <a:latin typeface="Tahoma" panose="020B0604030504040204" pitchFamily="34" charset="0"/>
                  <a:ea typeface="Tahoma" panose="020B0604030504040204" pitchFamily="34" charset="0"/>
                  <a:cs typeface="Tahoma" panose="020B0604030504040204" pitchFamily="34" charset="0"/>
                </a:rPr>
              </a:br>
              <a:r>
                <a:rPr lang="en-US" sz="1100" dirty="0">
                  <a:solidFill>
                    <a:srgbClr val="FF0000"/>
                  </a:solidFill>
                  <a:latin typeface="Tahoma" panose="020B0604030504040204" pitchFamily="34" charset="0"/>
                  <a:ea typeface="Tahoma" panose="020B0604030504040204" pitchFamily="34" charset="0"/>
                  <a:cs typeface="Tahoma" panose="020B0604030504040204" pitchFamily="34" charset="0"/>
                </a:rPr>
                <a:t>We have cases : </a:t>
              </a:r>
              <a:br>
                <a:rPr lang="en-US" sz="1100" dirty="0">
                  <a:solidFill>
                    <a:srgbClr val="FF0000"/>
                  </a:solidFill>
                  <a:latin typeface="Tahoma" panose="020B0604030504040204" pitchFamily="34" charset="0"/>
                  <a:ea typeface="Tahoma" panose="020B0604030504040204" pitchFamily="34" charset="0"/>
                  <a:cs typeface="Tahoma" panose="020B0604030504040204" pitchFamily="34" charset="0"/>
                </a:rPr>
              </a:br>
              <a:r>
                <a:rPr lang="en-US" sz="1100" dirty="0">
                  <a:solidFill>
                    <a:srgbClr val="FF0000"/>
                  </a:solidFill>
                  <a:latin typeface="Tahoma" panose="020B0604030504040204" pitchFamily="34" charset="0"/>
                  <a:ea typeface="Tahoma" panose="020B0604030504040204" pitchFamily="34" charset="0"/>
                  <a:cs typeface="Tahoma" panose="020B0604030504040204" pitchFamily="34" charset="0"/>
                </a:rPr>
                <a:t>if FRO = FR : activate </a:t>
              </a:r>
              <a:r>
                <a:rPr lang="en-US" sz="1100" dirty="0" err="1">
                  <a:solidFill>
                    <a:srgbClr val="FF0000"/>
                  </a:solidFill>
                  <a:latin typeface="Tahoma" panose="020B0604030504040204" pitchFamily="34" charset="0"/>
                  <a:ea typeface="Tahoma" panose="020B0604030504040204" pitchFamily="34" charset="0"/>
                  <a:cs typeface="Tahoma" panose="020B0604030504040204" pitchFamily="34" charset="0"/>
                </a:rPr>
                <a:t>std_br_c_feature</a:t>
              </a:r>
              <a:r>
                <a:rPr lang="en-US" sz="1100" dirty="0">
                  <a:solidFill>
                    <a:srgbClr val="FF0000"/>
                  </a:solidFill>
                  <a:latin typeface="Tahoma" panose="020B0604030504040204" pitchFamily="34" charset="0"/>
                  <a:ea typeface="Tahoma" panose="020B0604030504040204" pitchFamily="34" charset="0"/>
                  <a:cs typeface="Tahoma" panose="020B0604030504040204" pitchFamily="34" charset="0"/>
                </a:rPr>
                <a:t> &amp; </a:t>
              </a:r>
              <a:r>
                <a:rPr lang="en-US" sz="1100" dirty="0" err="1">
                  <a:solidFill>
                    <a:srgbClr val="FF0000"/>
                  </a:solidFill>
                  <a:latin typeface="Tahoma" panose="020B0604030504040204" pitchFamily="34" charset="0"/>
                  <a:ea typeface="Tahoma" panose="020B0604030504040204" pitchFamily="34" charset="0"/>
                  <a:cs typeface="Tahoma" panose="020B0604030504040204" pitchFamily="34" charset="0"/>
                </a:rPr>
                <a:t>std_c_round_br_feature</a:t>
              </a:r>
              <a:br>
                <a:rPr lang="en-US" sz="1100" dirty="0">
                  <a:solidFill>
                    <a:srgbClr val="FF0000"/>
                  </a:solidFill>
                  <a:latin typeface="Tahoma" panose="020B0604030504040204" pitchFamily="34" charset="0"/>
                  <a:ea typeface="Tahoma" panose="020B0604030504040204" pitchFamily="34" charset="0"/>
                  <a:cs typeface="Tahoma" panose="020B0604030504040204" pitchFamily="34" charset="0"/>
                </a:rPr>
              </a:br>
              <a:r>
                <a:rPr lang="en-US" sz="1100" dirty="0">
                  <a:solidFill>
                    <a:srgbClr val="FF0000"/>
                  </a:solidFill>
                  <a:latin typeface="Tahoma" panose="020B0604030504040204" pitchFamily="34" charset="0"/>
                  <a:ea typeface="Tahoma" panose="020B0604030504040204" pitchFamily="34" charset="0"/>
                  <a:cs typeface="Tahoma" panose="020B0604030504040204" pitchFamily="34" charset="0"/>
                </a:rPr>
                <a:t>If FRO ≠ FR : activate </a:t>
              </a:r>
              <a:r>
                <a:rPr lang="en-US" sz="1100" dirty="0" err="1">
                  <a:solidFill>
                    <a:srgbClr val="FF0000"/>
                  </a:solidFill>
                  <a:latin typeface="Tahoma" panose="020B0604030504040204" pitchFamily="34" charset="0"/>
                  <a:ea typeface="Tahoma" panose="020B0604030504040204" pitchFamily="34" charset="0"/>
                  <a:cs typeface="Tahoma" panose="020B0604030504040204" pitchFamily="34" charset="0"/>
                </a:rPr>
                <a:t>std_br_c_feature</a:t>
              </a:r>
              <a:r>
                <a:rPr lang="en-US" sz="1100" dirty="0">
                  <a:solidFill>
                    <a:srgbClr val="FF0000"/>
                  </a:solidFill>
                  <a:latin typeface="Tahoma" panose="020B0604030504040204" pitchFamily="34" charset="0"/>
                  <a:ea typeface="Tahoma" panose="020B0604030504040204" pitchFamily="34" charset="0"/>
                  <a:cs typeface="Tahoma" panose="020B0604030504040204" pitchFamily="34" charset="0"/>
                </a:rPr>
                <a:t> &amp; </a:t>
              </a:r>
              <a:r>
                <a:rPr lang="en-US" sz="1100" dirty="0" err="1">
                  <a:solidFill>
                    <a:srgbClr val="FF0000"/>
                  </a:solidFill>
                  <a:latin typeface="Tahoma" panose="020B0604030504040204" pitchFamily="34" charset="0"/>
                  <a:ea typeface="Tahoma" panose="020B0604030504040204" pitchFamily="34" charset="0"/>
                  <a:cs typeface="Tahoma" panose="020B0604030504040204" pitchFamily="34" charset="0"/>
                </a:rPr>
                <a:t>std_c_round_br_feature</a:t>
              </a:r>
              <a:r>
                <a:rPr lang="en-US" sz="1100" dirty="0">
                  <a:solidFill>
                    <a:srgbClr val="FF0000"/>
                  </a:solidFill>
                  <a:latin typeface="Tahoma" panose="020B0604030504040204" pitchFamily="34" charset="0"/>
                  <a:ea typeface="Tahoma" panose="020B0604030504040204" pitchFamily="34" charset="0"/>
                  <a:cs typeface="Tahoma" panose="020B0604030504040204" pitchFamily="34" charset="0"/>
                </a:rPr>
                <a:t> &amp; </a:t>
              </a:r>
              <a:r>
                <a:rPr lang="en-US" sz="1100" dirty="0" err="1">
                  <a:solidFill>
                    <a:srgbClr val="FF0000"/>
                  </a:solidFill>
                  <a:latin typeface="Tahoma" panose="020B0604030504040204" pitchFamily="34" charset="0"/>
                  <a:ea typeface="Tahoma" panose="020B0604030504040204" pitchFamily="34" charset="0"/>
                  <a:cs typeface="Tahoma" panose="020B0604030504040204" pitchFamily="34" charset="0"/>
                </a:rPr>
                <a:t>std_c_fr_feature</a:t>
              </a:r>
              <a:br>
                <a:rPr lang="en-US" sz="1100" dirty="0">
                  <a:solidFill>
                    <a:srgbClr val="FF0000"/>
                  </a:solidFill>
                  <a:latin typeface="Tahoma" panose="020B0604030504040204" pitchFamily="34" charset="0"/>
                  <a:ea typeface="Tahoma" panose="020B0604030504040204" pitchFamily="34" charset="0"/>
                  <a:cs typeface="Tahoma" panose="020B0604030504040204" pitchFamily="34" charset="0"/>
                </a:rPr>
              </a:br>
              <a:r>
                <a:rPr lang="en-US" sz="1100" dirty="0">
                  <a:solidFill>
                    <a:srgbClr val="FF0000"/>
                  </a:solidFill>
                  <a:latin typeface="Tahoma" panose="020B0604030504040204" pitchFamily="34" charset="0"/>
                  <a:ea typeface="Tahoma" panose="020B0604030504040204" pitchFamily="34" charset="0"/>
                  <a:cs typeface="Tahoma" panose="020B0604030504040204" pitchFamily="34" charset="0"/>
                </a:rPr>
                <a:t>If we have C + CBR : activate </a:t>
              </a:r>
              <a:r>
                <a:rPr lang="en-US" sz="1100" dirty="0" err="1">
                  <a:solidFill>
                    <a:srgbClr val="FF0000"/>
                  </a:solidFill>
                  <a:latin typeface="Tahoma" panose="020B0604030504040204" pitchFamily="34" charset="0"/>
                  <a:ea typeface="Tahoma" panose="020B0604030504040204" pitchFamily="34" charset="0"/>
                  <a:cs typeface="Tahoma" panose="020B0604030504040204" pitchFamily="34" charset="0"/>
                </a:rPr>
                <a:t>std_cbr_c_feature</a:t>
              </a:r>
              <a:r>
                <a:rPr lang="en-US" sz="1100" dirty="0">
                  <a:solidFill>
                    <a:srgbClr val="FF0000"/>
                  </a:solidFill>
                  <a:latin typeface="Tahoma" panose="020B0604030504040204" pitchFamily="34" charset="0"/>
                  <a:ea typeface="Tahoma" panose="020B0604030504040204" pitchFamily="34" charset="0"/>
                  <a:cs typeface="Tahoma" panose="020B0604030504040204" pitchFamily="34" charset="0"/>
                </a:rPr>
                <a:t> &amp; </a:t>
              </a:r>
              <a:r>
                <a:rPr lang="en-US" sz="1100" dirty="0" err="1">
                  <a:solidFill>
                    <a:srgbClr val="FF0000"/>
                  </a:solidFill>
                  <a:latin typeface="Tahoma" panose="020B0604030504040204" pitchFamily="34" charset="0"/>
                  <a:ea typeface="Tahoma" panose="020B0604030504040204" pitchFamily="34" charset="0"/>
                  <a:cs typeface="Tahoma" panose="020B0604030504040204" pitchFamily="34" charset="0"/>
                </a:rPr>
                <a:t>std_cbr_c_core_feature</a:t>
              </a:r>
              <a:r>
                <a:rPr lang="en-US" sz="1100" dirty="0">
                  <a:solidFill>
                    <a:srgbClr val="FF0000"/>
                  </a:solidFill>
                  <a:latin typeface="Tahoma" panose="020B0604030504040204" pitchFamily="34" charset="0"/>
                  <a:ea typeface="Tahoma" panose="020B0604030504040204" pitchFamily="34" charset="0"/>
                  <a:cs typeface="Tahoma" panose="020B0604030504040204" pitchFamily="34" charset="0"/>
                </a:rPr>
                <a:t> &amp; </a:t>
              </a:r>
              <a:r>
                <a:rPr lang="en-US" sz="1100" dirty="0" err="1">
                  <a:solidFill>
                    <a:srgbClr val="FF0000"/>
                  </a:solidFill>
                  <a:latin typeface="Tahoma" panose="020B0604030504040204" pitchFamily="34" charset="0"/>
                  <a:ea typeface="Tahoma" panose="020B0604030504040204" pitchFamily="34" charset="0"/>
                  <a:cs typeface="Tahoma" panose="020B0604030504040204" pitchFamily="34" charset="0"/>
                </a:rPr>
                <a:t>std_c_round_br_feature</a:t>
              </a:r>
              <a:endParaRPr lang="en-US" sz="1100" dirty="0">
                <a:solidFill>
                  <a:srgbClr val="FF0000"/>
                </a:solidFill>
                <a:latin typeface="Tahoma" panose="020B0604030504040204" pitchFamily="34" charset="0"/>
                <a:ea typeface="Tahoma" panose="020B0604030504040204" pitchFamily="34" charset="0"/>
                <a:cs typeface="Tahoma" panose="020B0604030504040204" pitchFamily="34" charset="0"/>
              </a:endParaRPr>
            </a:p>
            <a:p>
              <a:r>
                <a:rPr lang="en-US" sz="1100" dirty="0">
                  <a:solidFill>
                    <a:srgbClr val="FF0000"/>
                  </a:solidFill>
                  <a:latin typeface="Tahoma" panose="020B0604030504040204" pitchFamily="34" charset="0"/>
                  <a:ea typeface="Tahoma" panose="020B0604030504040204" pitchFamily="34" charset="0"/>
                  <a:cs typeface="Tahoma" panose="020B0604030504040204" pitchFamily="34" charset="0"/>
                </a:rPr>
                <a:t>Or activate </a:t>
              </a:r>
              <a:r>
                <a:rPr lang="en-US" sz="1100" dirty="0" err="1">
                  <a:solidFill>
                    <a:srgbClr val="FF0000"/>
                  </a:solidFill>
                  <a:latin typeface="Tahoma" panose="020B0604030504040204" pitchFamily="34" charset="0"/>
                  <a:ea typeface="Tahoma" panose="020B0604030504040204" pitchFamily="34" charset="0"/>
                  <a:cs typeface="Tahoma" panose="020B0604030504040204" pitchFamily="34" charset="0"/>
                </a:rPr>
                <a:t>std_cbr_c_feature</a:t>
              </a:r>
              <a:r>
                <a:rPr lang="en-US" sz="1100" dirty="0">
                  <a:solidFill>
                    <a:srgbClr val="FF0000"/>
                  </a:solidFill>
                  <a:latin typeface="Tahoma" panose="020B0604030504040204" pitchFamily="34" charset="0"/>
                  <a:ea typeface="Tahoma" panose="020B0604030504040204" pitchFamily="34" charset="0"/>
                  <a:cs typeface="Tahoma" panose="020B0604030504040204" pitchFamily="34" charset="0"/>
                </a:rPr>
                <a:t> &amp; </a:t>
              </a:r>
              <a:r>
                <a:rPr lang="en-US" sz="1100" dirty="0" err="1">
                  <a:solidFill>
                    <a:srgbClr val="FF0000"/>
                  </a:solidFill>
                  <a:latin typeface="Tahoma" panose="020B0604030504040204" pitchFamily="34" charset="0"/>
                  <a:ea typeface="Tahoma" panose="020B0604030504040204" pitchFamily="34" charset="0"/>
                  <a:cs typeface="Tahoma" panose="020B0604030504040204" pitchFamily="34" charset="0"/>
                </a:rPr>
                <a:t>std_c_fr_feature</a:t>
              </a:r>
              <a:r>
                <a:rPr lang="en-US" sz="1100" dirty="0">
                  <a:solidFill>
                    <a:srgbClr val="FF0000"/>
                  </a:solidFill>
                  <a:latin typeface="Tahoma" panose="020B0604030504040204" pitchFamily="34" charset="0"/>
                  <a:ea typeface="Tahoma" panose="020B0604030504040204" pitchFamily="34" charset="0"/>
                  <a:cs typeface="Tahoma" panose="020B0604030504040204" pitchFamily="34" charset="0"/>
                </a:rPr>
                <a:t> &amp; </a:t>
              </a:r>
              <a:r>
                <a:rPr lang="en-US" sz="1100" dirty="0" err="1">
                  <a:solidFill>
                    <a:srgbClr val="FF0000"/>
                  </a:solidFill>
                  <a:latin typeface="Tahoma" panose="020B0604030504040204" pitchFamily="34" charset="0"/>
                  <a:ea typeface="Tahoma" panose="020B0604030504040204" pitchFamily="34" charset="0"/>
                  <a:cs typeface="Tahoma" panose="020B0604030504040204" pitchFamily="34" charset="0"/>
                </a:rPr>
                <a:t>std_cbr_c_core_feature</a:t>
              </a:r>
              <a:r>
                <a:rPr lang="en-US" sz="1100" dirty="0">
                  <a:solidFill>
                    <a:srgbClr val="FF0000"/>
                  </a:solidFill>
                  <a:latin typeface="Tahoma" panose="020B0604030504040204" pitchFamily="34" charset="0"/>
                  <a:ea typeface="Tahoma" panose="020B0604030504040204" pitchFamily="34" charset="0"/>
                  <a:cs typeface="Tahoma" panose="020B0604030504040204" pitchFamily="34" charset="0"/>
                </a:rPr>
                <a:t> &amp; </a:t>
              </a:r>
              <a:r>
                <a:rPr lang="en-US" sz="1100" dirty="0" err="1">
                  <a:solidFill>
                    <a:srgbClr val="FF0000"/>
                  </a:solidFill>
                  <a:latin typeface="Tahoma" panose="020B0604030504040204" pitchFamily="34" charset="0"/>
                  <a:ea typeface="Tahoma" panose="020B0604030504040204" pitchFamily="34" charset="0"/>
                  <a:cs typeface="Tahoma" panose="020B0604030504040204" pitchFamily="34" charset="0"/>
                </a:rPr>
                <a:t>std_c_round_br_feature</a:t>
              </a:r>
              <a:br>
                <a:rPr lang="en-US" sz="1100" dirty="0">
                  <a:solidFill>
                    <a:srgbClr val="FF0000"/>
                  </a:solidFill>
                  <a:latin typeface="Tahoma" panose="020B0604030504040204" pitchFamily="34" charset="0"/>
                  <a:ea typeface="Tahoma" panose="020B0604030504040204" pitchFamily="34" charset="0"/>
                  <a:cs typeface="Tahoma" panose="020B0604030504040204" pitchFamily="34" charset="0"/>
                </a:rPr>
              </a:br>
              <a:r>
                <a:rPr lang="en-US" sz="1100" dirty="0">
                  <a:solidFill>
                    <a:srgbClr val="FF0000"/>
                  </a:solidFill>
                  <a:latin typeface="Tahoma" panose="020B0604030504040204" pitchFamily="34" charset="0"/>
                  <a:ea typeface="Tahoma" panose="020B0604030504040204" pitchFamily="34" charset="0"/>
                  <a:cs typeface="Tahoma" panose="020B0604030504040204" pitchFamily="34" charset="0"/>
                </a:rPr>
                <a:t>Based on FRO and FR values , CBR needs CBRL &amp; CBRD</a:t>
              </a:r>
              <a:br>
                <a:rPr lang="en-US" sz="1100" dirty="0">
                  <a:solidFill>
                    <a:srgbClr val="FF0000"/>
                  </a:solidFill>
                  <a:latin typeface="Tahoma" panose="020B0604030504040204" pitchFamily="34" charset="0"/>
                  <a:ea typeface="Tahoma" panose="020B0604030504040204" pitchFamily="34" charset="0"/>
                  <a:cs typeface="Tahoma" panose="020B0604030504040204" pitchFamily="34" charset="0"/>
                </a:rPr>
              </a:br>
              <a:endParaRPr lang="en-US" sz="1100" dirty="0">
                <a:solidFill>
                  <a:srgbClr val="FF0000"/>
                </a:solidFill>
                <a:latin typeface="Tahoma" panose="020B0604030504040204" pitchFamily="34" charset="0"/>
                <a:ea typeface="Tahoma" panose="020B0604030504040204" pitchFamily="34" charset="0"/>
                <a:cs typeface="Tahoma" panose="020B0604030504040204" pitchFamily="34" charset="0"/>
              </a:endParaRPr>
            </a:p>
          </p:txBody>
        </p:sp>
        <p:cxnSp>
          <p:nvCxnSpPr>
            <p:cNvPr id="54" name="Straight Arrow Connector 53">
              <a:extLst>
                <a:ext uri="{FF2B5EF4-FFF2-40B4-BE49-F238E27FC236}">
                  <a16:creationId xmlns:a16="http://schemas.microsoft.com/office/drawing/2014/main" id="{0BA8BC30-C8D4-C738-CE77-95FC51B2533B}"/>
                </a:ext>
              </a:extLst>
            </p:cNvPr>
            <p:cNvCxnSpPr>
              <a:cxnSpLocks/>
            </p:cNvCxnSpPr>
            <p:nvPr/>
          </p:nvCxnSpPr>
          <p:spPr>
            <a:xfrm flipH="1">
              <a:off x="4092326" y="1842479"/>
              <a:ext cx="1028314" cy="0"/>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grpSp>
      <p:pic>
        <p:nvPicPr>
          <p:cNvPr id="59" name="Picture 58">
            <a:extLst>
              <a:ext uri="{FF2B5EF4-FFF2-40B4-BE49-F238E27FC236}">
                <a16:creationId xmlns:a16="http://schemas.microsoft.com/office/drawing/2014/main" id="{064DBEA3-1F34-30CD-B697-DDF8C162FD46}"/>
              </a:ext>
            </a:extLst>
          </p:cNvPr>
          <p:cNvPicPr>
            <a:picLocks noChangeAspect="1"/>
          </p:cNvPicPr>
          <p:nvPr/>
        </p:nvPicPr>
        <p:blipFill>
          <a:blip r:embed="rId4"/>
          <a:stretch>
            <a:fillRect/>
          </a:stretch>
        </p:blipFill>
        <p:spPr>
          <a:xfrm>
            <a:off x="4638890" y="4453883"/>
            <a:ext cx="4747813" cy="405083"/>
          </a:xfrm>
          <a:prstGeom prst="rect">
            <a:avLst/>
          </a:prstGeom>
        </p:spPr>
      </p:pic>
      <p:pic>
        <p:nvPicPr>
          <p:cNvPr id="60" name="Picture 59">
            <a:extLst>
              <a:ext uri="{FF2B5EF4-FFF2-40B4-BE49-F238E27FC236}">
                <a16:creationId xmlns:a16="http://schemas.microsoft.com/office/drawing/2014/main" id="{6DD0A811-A6C8-B2F8-5B73-DC8A643F9FDA}"/>
              </a:ext>
            </a:extLst>
          </p:cNvPr>
          <p:cNvPicPr>
            <a:picLocks noChangeAspect="1"/>
          </p:cNvPicPr>
          <p:nvPr/>
        </p:nvPicPr>
        <p:blipFill>
          <a:blip r:embed="rId4"/>
          <a:stretch>
            <a:fillRect/>
          </a:stretch>
        </p:blipFill>
        <p:spPr>
          <a:xfrm>
            <a:off x="4638890" y="5641599"/>
            <a:ext cx="4747813" cy="405083"/>
          </a:xfrm>
          <a:prstGeom prst="rect">
            <a:avLst/>
          </a:prstGeom>
        </p:spPr>
      </p:pic>
    </p:spTree>
    <p:extLst>
      <p:ext uri="{BB962C8B-B14F-4D97-AF65-F5344CB8AC3E}">
        <p14:creationId xmlns:p14="http://schemas.microsoft.com/office/powerpoint/2010/main" val="26536012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B8A435-E62C-E199-66BE-9F46B673C03E}"/>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B3D5EE94-19AF-684C-5703-CF5C812CCF39}"/>
              </a:ext>
            </a:extLst>
          </p:cNvPr>
          <p:cNvSpPr/>
          <p:nvPr/>
        </p:nvSpPr>
        <p:spPr>
          <a:xfrm>
            <a:off x="548640" y="119802"/>
            <a:ext cx="11064240" cy="640080"/>
          </a:xfrm>
          <a:prstGeom prst="rect">
            <a:avLst/>
          </a:prstGeom>
          <a:noFill/>
          <a:ln/>
        </p:spPr>
        <p:txBody>
          <a:bodyPr wrap="square" lIns="0" tIns="0" rIns="0" bIns="0" rtlCol="0" anchor="ctr"/>
          <a:lstStyle/>
          <a:p>
            <a:pPr marL="0" indent="0">
              <a:buNone/>
            </a:pPr>
            <a:r>
              <a:rPr lang="en-US" sz="2800" b="1" dirty="0">
                <a:solidFill>
                  <a:srgbClr val="FF0000"/>
                </a:solidFill>
                <a:latin typeface="Arial" pitchFamily="34" charset="0"/>
                <a:ea typeface="Arial" pitchFamily="34" charset="-122"/>
                <a:cs typeface="Arial" pitchFamily="34" charset="-120"/>
              </a:rPr>
              <a:t>Rules</a:t>
            </a:r>
            <a:endParaRPr lang="en-US" sz="2800" dirty="0">
              <a:solidFill>
                <a:srgbClr val="FF0000"/>
              </a:solidFill>
            </a:endParaRPr>
          </a:p>
        </p:txBody>
      </p:sp>
      <p:sp>
        <p:nvSpPr>
          <p:cNvPr id="13" name="Shape 11">
            <a:extLst>
              <a:ext uri="{FF2B5EF4-FFF2-40B4-BE49-F238E27FC236}">
                <a16:creationId xmlns:a16="http://schemas.microsoft.com/office/drawing/2014/main" id="{1D150BCC-68B2-967F-4D6C-B4B6EE656740}"/>
              </a:ext>
            </a:extLst>
          </p:cNvPr>
          <p:cNvSpPr/>
          <p:nvPr/>
        </p:nvSpPr>
        <p:spPr>
          <a:xfrm>
            <a:off x="548640" y="6419088"/>
            <a:ext cx="11064240" cy="0"/>
          </a:xfrm>
          <a:prstGeom prst="line">
            <a:avLst/>
          </a:prstGeom>
          <a:noFill/>
          <a:ln w="9525">
            <a:solidFill>
              <a:srgbClr val="E4E4E4"/>
            </a:solidFill>
            <a:prstDash val="solid"/>
          </a:ln>
        </p:spPr>
        <p:txBody>
          <a:bodyPr/>
          <a:lstStyle/>
          <a:p>
            <a:endParaRPr lang="en-US" dirty="0"/>
          </a:p>
        </p:txBody>
      </p:sp>
      <p:sp>
        <p:nvSpPr>
          <p:cNvPr id="14" name="Text 12">
            <a:extLst>
              <a:ext uri="{FF2B5EF4-FFF2-40B4-BE49-F238E27FC236}">
                <a16:creationId xmlns:a16="http://schemas.microsoft.com/office/drawing/2014/main" id="{C1E90E8C-4517-B647-86B6-24008590374D}"/>
              </a:ext>
            </a:extLst>
          </p:cNvPr>
          <p:cNvSpPr/>
          <p:nvPr/>
        </p:nvSpPr>
        <p:spPr>
          <a:xfrm>
            <a:off x="548640" y="6419088"/>
            <a:ext cx="4572000" cy="274320"/>
          </a:xfrm>
          <a:prstGeom prst="rect">
            <a:avLst/>
          </a:prstGeom>
          <a:noFill/>
          <a:ln/>
        </p:spPr>
        <p:txBody>
          <a:bodyPr wrap="square" lIns="0" tIns="0" rIns="0" bIns="0" rtlCol="0" anchor="ctr"/>
          <a:lstStyle/>
          <a:p>
            <a:pPr marL="0" indent="0">
              <a:buNone/>
            </a:pPr>
            <a:r>
              <a:rPr lang="en-US" sz="900" dirty="0">
                <a:solidFill>
                  <a:srgbClr val="6E6E6E"/>
                </a:solidFill>
                <a:latin typeface="Arial" pitchFamily="34" charset="0"/>
                <a:ea typeface="Arial" pitchFamily="34" charset="-122"/>
                <a:cs typeface="Arial" pitchFamily="34" charset="-120"/>
              </a:rPr>
              <a:t>SMALL PRECISION TOOLS</a:t>
            </a:r>
            <a:endParaRPr lang="en-US" sz="900" dirty="0"/>
          </a:p>
        </p:txBody>
      </p:sp>
      <p:sp>
        <p:nvSpPr>
          <p:cNvPr id="15" name="Text 13">
            <a:extLst>
              <a:ext uri="{FF2B5EF4-FFF2-40B4-BE49-F238E27FC236}">
                <a16:creationId xmlns:a16="http://schemas.microsoft.com/office/drawing/2014/main" id="{8ACC564F-25BE-42FB-5F87-2EB82A20CC36}"/>
              </a:ext>
            </a:extLst>
          </p:cNvPr>
          <p:cNvSpPr/>
          <p:nvPr/>
        </p:nvSpPr>
        <p:spPr>
          <a:xfrm>
            <a:off x="4709160" y="6419088"/>
            <a:ext cx="2743200" cy="274320"/>
          </a:xfrm>
          <a:prstGeom prst="rect">
            <a:avLst/>
          </a:prstGeom>
          <a:noFill/>
          <a:ln/>
        </p:spPr>
        <p:txBody>
          <a:bodyPr wrap="square" lIns="0" tIns="0" rIns="0" bIns="0" rtlCol="0" anchor="ctr"/>
          <a:lstStyle/>
          <a:p>
            <a:pPr marL="0" indent="0" algn="ctr">
              <a:buNone/>
            </a:pPr>
            <a:r>
              <a:rPr lang="en-US" sz="900" dirty="0">
                <a:solidFill>
                  <a:srgbClr val="6E6E6E"/>
                </a:solidFill>
                <a:latin typeface="Arial" pitchFamily="34" charset="0"/>
                <a:ea typeface="Arial" pitchFamily="34" charset="-122"/>
                <a:cs typeface="Arial" pitchFamily="34" charset="-120"/>
              </a:rPr>
              <a:t>Confidential</a:t>
            </a:r>
            <a:endParaRPr lang="en-US" sz="900" dirty="0"/>
          </a:p>
        </p:txBody>
      </p:sp>
      <p:sp>
        <p:nvSpPr>
          <p:cNvPr id="5" name="TextBox 4">
            <a:extLst>
              <a:ext uri="{FF2B5EF4-FFF2-40B4-BE49-F238E27FC236}">
                <a16:creationId xmlns:a16="http://schemas.microsoft.com/office/drawing/2014/main" id="{B59940C3-8943-ED2D-E326-AF88D1F32F07}"/>
              </a:ext>
            </a:extLst>
          </p:cNvPr>
          <p:cNvSpPr txBox="1"/>
          <p:nvPr/>
        </p:nvSpPr>
        <p:spPr>
          <a:xfrm>
            <a:off x="760306" y="759882"/>
            <a:ext cx="8536093" cy="523220"/>
          </a:xfrm>
          <a:prstGeom prst="rect">
            <a:avLst/>
          </a:prstGeom>
          <a:noFill/>
        </p:spPr>
        <p:txBody>
          <a:bodyPr wrap="square" rtlCol="0">
            <a:spAutoFit/>
          </a:bodyPr>
          <a:lstStyle/>
          <a:p>
            <a:r>
              <a:rPr lang="en-US" sz="1400" b="1" dirty="0">
                <a:latin typeface="Tahoma" panose="020B0604030504040204" pitchFamily="34" charset="0"/>
                <a:ea typeface="Tahoma" panose="020B0604030504040204" pitchFamily="34" charset="0"/>
                <a:cs typeface="Tahoma" panose="020B0604030504040204" pitchFamily="34" charset="0"/>
              </a:rPr>
              <a:t>ABT Series – FG 3D for Customer / Production Drawings: </a:t>
            </a:r>
            <a:br>
              <a:rPr lang="en-US" sz="1400" b="1" dirty="0">
                <a:latin typeface="Tahoma" panose="020B0604030504040204" pitchFamily="34" charset="0"/>
                <a:ea typeface="Tahoma" panose="020B0604030504040204" pitchFamily="34" charset="0"/>
                <a:cs typeface="Tahoma" panose="020B0604030504040204" pitchFamily="34" charset="0"/>
              </a:rPr>
            </a:br>
            <a:r>
              <a:rPr lang="en-US" sz="1400" dirty="0">
                <a:latin typeface="Tahoma" panose="020B0604030504040204" pitchFamily="34" charset="0"/>
                <a:ea typeface="Tahoma" panose="020B0604030504040204" pitchFamily="34" charset="0"/>
                <a:cs typeface="Tahoma" panose="020B0604030504040204" pitchFamily="34" charset="0"/>
              </a:rPr>
              <a:t>FG 3D has the following feature </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case rev shank   </a:t>
            </a:r>
            <a:r>
              <a:rPr lang="en-US" sz="1400" dirty="0">
                <a:latin typeface="Tahoma" panose="020B0604030504040204" pitchFamily="34" charset="0"/>
                <a:ea typeface="Tahoma" panose="020B0604030504040204" pitchFamily="34" charset="0"/>
                <a:cs typeface="Tahoma" panose="020B0604030504040204" pitchFamily="34" charset="0"/>
              </a:rPr>
              <a:t>:</a:t>
            </a:r>
          </a:p>
        </p:txBody>
      </p:sp>
      <p:sp>
        <p:nvSpPr>
          <p:cNvPr id="7" name="Shape 1">
            <a:extLst>
              <a:ext uri="{FF2B5EF4-FFF2-40B4-BE49-F238E27FC236}">
                <a16:creationId xmlns:a16="http://schemas.microsoft.com/office/drawing/2014/main" id="{93FE6C76-EA6B-E409-3CF3-E243C6B2B0B5}"/>
              </a:ext>
            </a:extLst>
          </p:cNvPr>
          <p:cNvSpPr/>
          <p:nvPr/>
        </p:nvSpPr>
        <p:spPr>
          <a:xfrm>
            <a:off x="563880" y="889684"/>
            <a:ext cx="109728" cy="109728"/>
          </a:xfrm>
          <a:prstGeom prst="rect">
            <a:avLst/>
          </a:prstGeom>
          <a:solidFill>
            <a:srgbClr val="FF0000"/>
          </a:solidFill>
          <a:ln/>
        </p:spPr>
        <p:txBody>
          <a:bodyPr/>
          <a:lstStyle/>
          <a:p>
            <a:endParaRPr lang="en-US" dirty="0"/>
          </a:p>
        </p:txBody>
      </p:sp>
      <p:pic>
        <p:nvPicPr>
          <p:cNvPr id="9" name="Picture 8">
            <a:extLst>
              <a:ext uri="{FF2B5EF4-FFF2-40B4-BE49-F238E27FC236}">
                <a16:creationId xmlns:a16="http://schemas.microsoft.com/office/drawing/2014/main" id="{1F5B9EFB-4F91-DBC3-EA07-C97148EC8F22}"/>
              </a:ext>
            </a:extLst>
          </p:cNvPr>
          <p:cNvPicPr>
            <a:picLocks noChangeAspect="1"/>
          </p:cNvPicPr>
          <p:nvPr/>
        </p:nvPicPr>
        <p:blipFill>
          <a:blip r:embed="rId3">
            <a:clrChange>
              <a:clrFrom>
                <a:srgbClr val="F7F7F7"/>
              </a:clrFrom>
              <a:clrTo>
                <a:srgbClr val="F7F7F7">
                  <a:alpha val="0"/>
                </a:srgbClr>
              </a:clrTo>
            </a:clrChange>
          </a:blip>
          <a:stretch>
            <a:fillRect/>
          </a:stretch>
        </p:blipFill>
        <p:spPr>
          <a:xfrm>
            <a:off x="673608" y="1453262"/>
            <a:ext cx="2707113" cy="4795665"/>
          </a:xfrm>
          <a:prstGeom prst="rect">
            <a:avLst/>
          </a:prstGeom>
        </p:spPr>
      </p:pic>
      <p:sp>
        <p:nvSpPr>
          <p:cNvPr id="19" name="TextBox 18">
            <a:extLst>
              <a:ext uri="{FF2B5EF4-FFF2-40B4-BE49-F238E27FC236}">
                <a16:creationId xmlns:a16="http://schemas.microsoft.com/office/drawing/2014/main" id="{26FBE416-FF1F-1617-8984-92CB7526CAAC}"/>
              </a:ext>
            </a:extLst>
          </p:cNvPr>
          <p:cNvSpPr txBox="1"/>
          <p:nvPr/>
        </p:nvSpPr>
        <p:spPr>
          <a:xfrm>
            <a:off x="3946771" y="3807107"/>
            <a:ext cx="7521771" cy="261610"/>
          </a:xfrm>
          <a:prstGeom prst="rect">
            <a:avLst/>
          </a:prstGeom>
          <a:noFill/>
        </p:spPr>
        <p:txBody>
          <a:bodyPr wrap="square" rtlCol="0">
            <a:spAutoFit/>
          </a:bodyPr>
          <a:lstStyle/>
          <a:p>
            <a:r>
              <a:rPr lang="en-US" sz="1100" dirty="0">
                <a:latin typeface="Tahoma" panose="020B0604030504040204" pitchFamily="34" charset="0"/>
                <a:ea typeface="Tahoma" panose="020B0604030504040204" pitchFamily="34" charset="0"/>
                <a:cs typeface="Tahoma" panose="020B0604030504040204" pitchFamily="34" charset="0"/>
              </a:rPr>
              <a:t>The same rules as std shank , main difference is the name of feature have  </a:t>
            </a:r>
            <a:r>
              <a:rPr lang="en-US" sz="1100" dirty="0">
                <a:solidFill>
                  <a:srgbClr val="FF0000"/>
                </a:solidFill>
                <a:latin typeface="Tahoma" panose="020B0604030504040204" pitchFamily="34" charset="0"/>
                <a:ea typeface="Tahoma" panose="020B0604030504040204" pitchFamily="34" charset="0"/>
                <a:cs typeface="Tahoma" panose="020B0604030504040204" pitchFamily="34" charset="0"/>
              </a:rPr>
              <a:t>rev</a:t>
            </a:r>
            <a:r>
              <a:rPr lang="en-US" sz="1100" dirty="0">
                <a:latin typeface="Tahoma" panose="020B0604030504040204" pitchFamily="34" charset="0"/>
                <a:ea typeface="Tahoma" panose="020B0604030504040204" pitchFamily="34" charset="0"/>
                <a:cs typeface="Tahoma" panose="020B0604030504040204" pitchFamily="34" charset="0"/>
              </a:rPr>
              <a:t> rather then </a:t>
            </a:r>
            <a:r>
              <a:rPr lang="en-US" sz="1100" dirty="0">
                <a:solidFill>
                  <a:srgbClr val="FF0000"/>
                </a:solidFill>
                <a:latin typeface="Tahoma" panose="020B0604030504040204" pitchFamily="34" charset="0"/>
                <a:ea typeface="Tahoma" panose="020B0604030504040204" pitchFamily="34" charset="0"/>
                <a:cs typeface="Tahoma" panose="020B0604030504040204" pitchFamily="34" charset="0"/>
              </a:rPr>
              <a:t>std</a:t>
            </a:r>
            <a:r>
              <a:rPr lang="en-US" sz="1100" dirty="0">
                <a:latin typeface="Tahoma" panose="020B0604030504040204" pitchFamily="34" charset="0"/>
                <a:ea typeface="Tahoma" panose="020B0604030504040204" pitchFamily="34" charset="0"/>
                <a:cs typeface="Tahoma" panose="020B0604030504040204" pitchFamily="34" charset="0"/>
              </a:rPr>
              <a:t> </a:t>
            </a:r>
          </a:p>
        </p:txBody>
      </p:sp>
    </p:spTree>
    <p:extLst>
      <p:ext uri="{BB962C8B-B14F-4D97-AF65-F5344CB8AC3E}">
        <p14:creationId xmlns:p14="http://schemas.microsoft.com/office/powerpoint/2010/main" val="134024632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4E8EB8-F7D4-6227-4262-2CA84B7D1E89}"/>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0BF55641-9BE6-8749-9156-732E89978D39}"/>
              </a:ext>
            </a:extLst>
          </p:cNvPr>
          <p:cNvSpPr/>
          <p:nvPr/>
        </p:nvSpPr>
        <p:spPr>
          <a:xfrm>
            <a:off x="548640" y="119802"/>
            <a:ext cx="11064240" cy="640080"/>
          </a:xfrm>
          <a:prstGeom prst="rect">
            <a:avLst/>
          </a:prstGeom>
          <a:noFill/>
          <a:ln/>
        </p:spPr>
        <p:txBody>
          <a:bodyPr wrap="square" lIns="0" tIns="0" rIns="0" bIns="0" rtlCol="0" anchor="ctr"/>
          <a:lstStyle/>
          <a:p>
            <a:pPr marL="0" indent="0">
              <a:buNone/>
            </a:pPr>
            <a:r>
              <a:rPr lang="en-US" sz="2800" b="1" dirty="0">
                <a:solidFill>
                  <a:srgbClr val="FF0000"/>
                </a:solidFill>
                <a:latin typeface="Arial" pitchFamily="34" charset="0"/>
                <a:ea typeface="Arial" pitchFamily="34" charset="-122"/>
                <a:cs typeface="Arial" pitchFamily="34" charset="-120"/>
              </a:rPr>
              <a:t>Rules</a:t>
            </a:r>
            <a:endParaRPr lang="en-US" sz="2800" dirty="0">
              <a:solidFill>
                <a:srgbClr val="FF0000"/>
              </a:solidFill>
            </a:endParaRPr>
          </a:p>
        </p:txBody>
      </p:sp>
      <p:sp>
        <p:nvSpPr>
          <p:cNvPr id="13" name="Shape 11">
            <a:extLst>
              <a:ext uri="{FF2B5EF4-FFF2-40B4-BE49-F238E27FC236}">
                <a16:creationId xmlns:a16="http://schemas.microsoft.com/office/drawing/2014/main" id="{183B6D9B-BE56-507A-CD31-4F4DD36FF053}"/>
              </a:ext>
            </a:extLst>
          </p:cNvPr>
          <p:cNvSpPr/>
          <p:nvPr/>
        </p:nvSpPr>
        <p:spPr>
          <a:xfrm>
            <a:off x="548640" y="6419088"/>
            <a:ext cx="11064240" cy="0"/>
          </a:xfrm>
          <a:prstGeom prst="line">
            <a:avLst/>
          </a:prstGeom>
          <a:noFill/>
          <a:ln w="9525">
            <a:solidFill>
              <a:srgbClr val="E4E4E4"/>
            </a:solidFill>
            <a:prstDash val="solid"/>
          </a:ln>
        </p:spPr>
        <p:txBody>
          <a:bodyPr/>
          <a:lstStyle/>
          <a:p>
            <a:endParaRPr lang="en-US" dirty="0"/>
          </a:p>
        </p:txBody>
      </p:sp>
      <p:sp>
        <p:nvSpPr>
          <p:cNvPr id="14" name="Text 12">
            <a:extLst>
              <a:ext uri="{FF2B5EF4-FFF2-40B4-BE49-F238E27FC236}">
                <a16:creationId xmlns:a16="http://schemas.microsoft.com/office/drawing/2014/main" id="{EF19C887-C1C7-0998-75A6-949782BA6CBE}"/>
              </a:ext>
            </a:extLst>
          </p:cNvPr>
          <p:cNvSpPr/>
          <p:nvPr/>
        </p:nvSpPr>
        <p:spPr>
          <a:xfrm>
            <a:off x="548640" y="6419088"/>
            <a:ext cx="4572000" cy="274320"/>
          </a:xfrm>
          <a:prstGeom prst="rect">
            <a:avLst/>
          </a:prstGeom>
          <a:noFill/>
          <a:ln/>
        </p:spPr>
        <p:txBody>
          <a:bodyPr wrap="square" lIns="0" tIns="0" rIns="0" bIns="0" rtlCol="0" anchor="ctr"/>
          <a:lstStyle/>
          <a:p>
            <a:pPr marL="0" indent="0">
              <a:buNone/>
            </a:pPr>
            <a:r>
              <a:rPr lang="en-US" sz="900" dirty="0">
                <a:solidFill>
                  <a:srgbClr val="6E6E6E"/>
                </a:solidFill>
                <a:latin typeface="Arial" pitchFamily="34" charset="0"/>
                <a:ea typeface="Arial" pitchFamily="34" charset="-122"/>
                <a:cs typeface="Arial" pitchFamily="34" charset="-120"/>
              </a:rPr>
              <a:t>SMALL PRECISION TOOLS</a:t>
            </a:r>
            <a:endParaRPr lang="en-US" sz="900" dirty="0"/>
          </a:p>
        </p:txBody>
      </p:sp>
      <p:sp>
        <p:nvSpPr>
          <p:cNvPr id="15" name="Text 13">
            <a:extLst>
              <a:ext uri="{FF2B5EF4-FFF2-40B4-BE49-F238E27FC236}">
                <a16:creationId xmlns:a16="http://schemas.microsoft.com/office/drawing/2014/main" id="{302ED3D0-81D2-8D95-1BD1-5D02194BA96F}"/>
              </a:ext>
            </a:extLst>
          </p:cNvPr>
          <p:cNvSpPr/>
          <p:nvPr/>
        </p:nvSpPr>
        <p:spPr>
          <a:xfrm>
            <a:off x="4709160" y="6419088"/>
            <a:ext cx="2743200" cy="274320"/>
          </a:xfrm>
          <a:prstGeom prst="rect">
            <a:avLst/>
          </a:prstGeom>
          <a:noFill/>
          <a:ln/>
        </p:spPr>
        <p:txBody>
          <a:bodyPr wrap="square" lIns="0" tIns="0" rIns="0" bIns="0" rtlCol="0" anchor="ctr"/>
          <a:lstStyle/>
          <a:p>
            <a:pPr marL="0" indent="0" algn="ctr">
              <a:buNone/>
            </a:pPr>
            <a:r>
              <a:rPr lang="en-US" sz="900" dirty="0">
                <a:solidFill>
                  <a:srgbClr val="6E6E6E"/>
                </a:solidFill>
                <a:latin typeface="Arial" pitchFamily="34" charset="0"/>
                <a:ea typeface="Arial" pitchFamily="34" charset="-122"/>
                <a:cs typeface="Arial" pitchFamily="34" charset="-120"/>
              </a:rPr>
              <a:t>Confidential</a:t>
            </a:r>
            <a:endParaRPr lang="en-US" sz="900" dirty="0"/>
          </a:p>
        </p:txBody>
      </p:sp>
      <p:sp>
        <p:nvSpPr>
          <p:cNvPr id="5" name="TextBox 4">
            <a:extLst>
              <a:ext uri="{FF2B5EF4-FFF2-40B4-BE49-F238E27FC236}">
                <a16:creationId xmlns:a16="http://schemas.microsoft.com/office/drawing/2014/main" id="{73C804B2-6720-7CAC-EB3E-2AA1F7EB862F}"/>
              </a:ext>
            </a:extLst>
          </p:cNvPr>
          <p:cNvSpPr txBox="1"/>
          <p:nvPr/>
        </p:nvSpPr>
        <p:spPr>
          <a:xfrm>
            <a:off x="760306" y="759882"/>
            <a:ext cx="8536093" cy="523220"/>
          </a:xfrm>
          <a:prstGeom prst="rect">
            <a:avLst/>
          </a:prstGeom>
          <a:noFill/>
        </p:spPr>
        <p:txBody>
          <a:bodyPr wrap="square" rtlCol="0">
            <a:spAutoFit/>
          </a:bodyPr>
          <a:lstStyle/>
          <a:p>
            <a:r>
              <a:rPr lang="en-US" sz="1400" b="1" dirty="0">
                <a:latin typeface="Tahoma" panose="020B0604030504040204" pitchFamily="34" charset="0"/>
                <a:ea typeface="Tahoma" panose="020B0604030504040204" pitchFamily="34" charset="0"/>
                <a:cs typeface="Tahoma" panose="020B0604030504040204" pitchFamily="34" charset="0"/>
              </a:rPr>
              <a:t>ABT Series – Customer / Production Drawings: </a:t>
            </a:r>
            <a:br>
              <a:rPr lang="en-US" sz="1400" b="1" dirty="0">
                <a:latin typeface="Tahoma" panose="020B0604030504040204" pitchFamily="34" charset="0"/>
                <a:ea typeface="Tahoma" panose="020B0604030504040204" pitchFamily="34" charset="0"/>
                <a:cs typeface="Tahoma" panose="020B0604030504040204" pitchFamily="34" charset="0"/>
              </a:rPr>
            </a:br>
            <a:r>
              <a:rPr lang="en-US" sz="1400" dirty="0">
                <a:latin typeface="Tahoma" panose="020B0604030504040204" pitchFamily="34" charset="0"/>
                <a:ea typeface="Tahoma" panose="020B0604030504040204" pitchFamily="34" charset="0"/>
                <a:cs typeface="Tahoma" panose="020B0604030504040204" pitchFamily="34" charset="0"/>
              </a:rPr>
              <a:t>We can select the type of drawing from drawings properties manager, PGB no need to fill these properties</a:t>
            </a:r>
          </a:p>
        </p:txBody>
      </p:sp>
      <p:sp>
        <p:nvSpPr>
          <p:cNvPr id="7" name="Shape 1">
            <a:extLst>
              <a:ext uri="{FF2B5EF4-FFF2-40B4-BE49-F238E27FC236}">
                <a16:creationId xmlns:a16="http://schemas.microsoft.com/office/drawing/2014/main" id="{3C662E84-5CAB-1395-6B6A-9D9DEBC9698E}"/>
              </a:ext>
            </a:extLst>
          </p:cNvPr>
          <p:cNvSpPr/>
          <p:nvPr/>
        </p:nvSpPr>
        <p:spPr>
          <a:xfrm>
            <a:off x="563880" y="889684"/>
            <a:ext cx="109728" cy="109728"/>
          </a:xfrm>
          <a:prstGeom prst="rect">
            <a:avLst/>
          </a:prstGeom>
          <a:solidFill>
            <a:srgbClr val="FF0000"/>
          </a:solidFill>
          <a:ln/>
        </p:spPr>
        <p:txBody>
          <a:bodyPr/>
          <a:lstStyle/>
          <a:p>
            <a:endParaRPr lang="en-US" dirty="0"/>
          </a:p>
        </p:txBody>
      </p:sp>
      <p:pic>
        <p:nvPicPr>
          <p:cNvPr id="6" name="Picture 5">
            <a:extLst>
              <a:ext uri="{FF2B5EF4-FFF2-40B4-BE49-F238E27FC236}">
                <a16:creationId xmlns:a16="http://schemas.microsoft.com/office/drawing/2014/main" id="{2346C58D-5A46-2C2A-EC3C-C273A9A7FEAF}"/>
              </a:ext>
            </a:extLst>
          </p:cNvPr>
          <p:cNvPicPr>
            <a:picLocks noChangeAspect="1"/>
          </p:cNvPicPr>
          <p:nvPr/>
        </p:nvPicPr>
        <p:blipFill>
          <a:blip r:embed="rId3">
            <a:clrChange>
              <a:clrFrom>
                <a:srgbClr val="E6E6DB"/>
              </a:clrFrom>
              <a:clrTo>
                <a:srgbClr val="E6E6DB">
                  <a:alpha val="0"/>
                </a:srgbClr>
              </a:clrTo>
            </a:clrChange>
          </a:blip>
          <a:stretch>
            <a:fillRect/>
          </a:stretch>
        </p:blipFill>
        <p:spPr>
          <a:xfrm>
            <a:off x="8353892" y="1283102"/>
            <a:ext cx="3205479" cy="806712"/>
          </a:xfrm>
          <a:prstGeom prst="rect">
            <a:avLst/>
          </a:prstGeom>
        </p:spPr>
      </p:pic>
      <p:pic>
        <p:nvPicPr>
          <p:cNvPr id="10" name="Picture 9">
            <a:extLst>
              <a:ext uri="{FF2B5EF4-FFF2-40B4-BE49-F238E27FC236}">
                <a16:creationId xmlns:a16="http://schemas.microsoft.com/office/drawing/2014/main" id="{58B67CDB-CC10-C895-DF70-FA6DFD2A443B}"/>
              </a:ext>
            </a:extLst>
          </p:cNvPr>
          <p:cNvPicPr>
            <a:picLocks noChangeAspect="1"/>
          </p:cNvPicPr>
          <p:nvPr/>
        </p:nvPicPr>
        <p:blipFill>
          <a:blip r:embed="rId4"/>
          <a:stretch>
            <a:fillRect/>
          </a:stretch>
        </p:blipFill>
        <p:spPr>
          <a:xfrm>
            <a:off x="632629" y="1373892"/>
            <a:ext cx="6292427" cy="737805"/>
          </a:xfrm>
          <a:prstGeom prst="rect">
            <a:avLst/>
          </a:prstGeom>
        </p:spPr>
      </p:pic>
      <p:pic>
        <p:nvPicPr>
          <p:cNvPr id="25" name="Picture 24">
            <a:extLst>
              <a:ext uri="{FF2B5EF4-FFF2-40B4-BE49-F238E27FC236}">
                <a16:creationId xmlns:a16="http://schemas.microsoft.com/office/drawing/2014/main" id="{C48E2560-C7CC-D68B-ACAC-6DC0129CE5C0}"/>
              </a:ext>
            </a:extLst>
          </p:cNvPr>
          <p:cNvPicPr>
            <a:picLocks noChangeAspect="1"/>
          </p:cNvPicPr>
          <p:nvPr/>
        </p:nvPicPr>
        <p:blipFill>
          <a:blip r:embed="rId5">
            <a:clrChange>
              <a:clrFrom>
                <a:srgbClr val="F7F7F7"/>
              </a:clrFrom>
              <a:clrTo>
                <a:srgbClr val="F7F7F7">
                  <a:alpha val="0"/>
                </a:srgbClr>
              </a:clrTo>
            </a:clrChange>
          </a:blip>
          <a:stretch>
            <a:fillRect/>
          </a:stretch>
        </p:blipFill>
        <p:spPr>
          <a:xfrm>
            <a:off x="632629" y="2734174"/>
            <a:ext cx="3909591" cy="2864786"/>
          </a:xfrm>
          <a:prstGeom prst="rect">
            <a:avLst/>
          </a:prstGeom>
        </p:spPr>
      </p:pic>
      <p:cxnSp>
        <p:nvCxnSpPr>
          <p:cNvPr id="26" name="Straight Arrow Connector 25">
            <a:extLst>
              <a:ext uri="{FF2B5EF4-FFF2-40B4-BE49-F238E27FC236}">
                <a16:creationId xmlns:a16="http://schemas.microsoft.com/office/drawing/2014/main" id="{96F48ABA-AD16-5C35-F9CE-3591F77A21CB}"/>
              </a:ext>
            </a:extLst>
          </p:cNvPr>
          <p:cNvCxnSpPr/>
          <p:nvPr/>
        </p:nvCxnSpPr>
        <p:spPr>
          <a:xfrm flipH="1">
            <a:off x="3578629" y="3729182"/>
            <a:ext cx="1130531" cy="0"/>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cxnSp>
        <p:nvCxnSpPr>
          <p:cNvPr id="27" name="Straight Arrow Connector 26">
            <a:extLst>
              <a:ext uri="{FF2B5EF4-FFF2-40B4-BE49-F238E27FC236}">
                <a16:creationId xmlns:a16="http://schemas.microsoft.com/office/drawing/2014/main" id="{12BE992F-507D-04FD-DBA9-2BF209B98ADE}"/>
              </a:ext>
            </a:extLst>
          </p:cNvPr>
          <p:cNvCxnSpPr/>
          <p:nvPr/>
        </p:nvCxnSpPr>
        <p:spPr>
          <a:xfrm flipH="1">
            <a:off x="3663296" y="4127116"/>
            <a:ext cx="1130531" cy="0"/>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cxnSp>
        <p:nvCxnSpPr>
          <p:cNvPr id="29" name="Straight Arrow Connector 28">
            <a:extLst>
              <a:ext uri="{FF2B5EF4-FFF2-40B4-BE49-F238E27FC236}">
                <a16:creationId xmlns:a16="http://schemas.microsoft.com/office/drawing/2014/main" id="{38251517-D9F7-47A6-5DEB-A6ED95D0B940}"/>
              </a:ext>
            </a:extLst>
          </p:cNvPr>
          <p:cNvCxnSpPr/>
          <p:nvPr/>
        </p:nvCxnSpPr>
        <p:spPr>
          <a:xfrm flipH="1">
            <a:off x="3663296" y="4499650"/>
            <a:ext cx="1130531" cy="0"/>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cxnSp>
        <p:nvCxnSpPr>
          <p:cNvPr id="30" name="Straight Arrow Connector 29">
            <a:extLst>
              <a:ext uri="{FF2B5EF4-FFF2-40B4-BE49-F238E27FC236}">
                <a16:creationId xmlns:a16="http://schemas.microsoft.com/office/drawing/2014/main" id="{EE565820-1759-84BD-E452-93F74E4C09D4}"/>
              </a:ext>
            </a:extLst>
          </p:cNvPr>
          <p:cNvCxnSpPr/>
          <p:nvPr/>
        </p:nvCxnSpPr>
        <p:spPr>
          <a:xfrm flipH="1">
            <a:off x="3663296" y="4872184"/>
            <a:ext cx="1130531" cy="0"/>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cxnSp>
        <p:nvCxnSpPr>
          <p:cNvPr id="31" name="Straight Arrow Connector 30">
            <a:extLst>
              <a:ext uri="{FF2B5EF4-FFF2-40B4-BE49-F238E27FC236}">
                <a16:creationId xmlns:a16="http://schemas.microsoft.com/office/drawing/2014/main" id="{E2C9A2F9-49F6-5398-A1B6-4E1335DD792B}"/>
              </a:ext>
            </a:extLst>
          </p:cNvPr>
          <p:cNvCxnSpPr/>
          <p:nvPr/>
        </p:nvCxnSpPr>
        <p:spPr>
          <a:xfrm flipH="1">
            <a:off x="4143894" y="5312451"/>
            <a:ext cx="1130531" cy="0"/>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50" name="TextBox 49">
            <a:extLst>
              <a:ext uri="{FF2B5EF4-FFF2-40B4-BE49-F238E27FC236}">
                <a16:creationId xmlns:a16="http://schemas.microsoft.com/office/drawing/2014/main" id="{8400264D-9FF9-329D-2D30-EC8268EB42BB}"/>
              </a:ext>
            </a:extLst>
          </p:cNvPr>
          <p:cNvSpPr txBox="1"/>
          <p:nvPr/>
        </p:nvSpPr>
        <p:spPr>
          <a:xfrm>
            <a:off x="4793827" y="3555362"/>
            <a:ext cx="3820006" cy="307777"/>
          </a:xfrm>
          <a:prstGeom prst="rect">
            <a:avLst/>
          </a:prstGeom>
          <a:noFill/>
        </p:spPr>
        <p:txBody>
          <a:bodyPr wrap="square" rtlCol="0">
            <a:spAutoFit/>
          </a:bodyPr>
          <a:lstStyle/>
          <a:p>
            <a:r>
              <a:rPr lang="en-US" sz="1400" dirty="0">
                <a:latin typeface="Tahoma" panose="020B0604030504040204" pitchFamily="34" charset="0"/>
                <a:ea typeface="Tahoma" panose="020B0604030504040204" pitchFamily="34" charset="0"/>
                <a:cs typeface="Tahoma" panose="020B0604030504040204" pitchFamily="34" charset="0"/>
              </a:rPr>
              <a:t>Front view</a:t>
            </a:r>
          </a:p>
        </p:txBody>
      </p:sp>
      <p:sp>
        <p:nvSpPr>
          <p:cNvPr id="51" name="TextBox 50">
            <a:extLst>
              <a:ext uri="{FF2B5EF4-FFF2-40B4-BE49-F238E27FC236}">
                <a16:creationId xmlns:a16="http://schemas.microsoft.com/office/drawing/2014/main" id="{19DC1CF5-C23F-1076-39E6-8AE09AECF5CC}"/>
              </a:ext>
            </a:extLst>
          </p:cNvPr>
          <p:cNvSpPr txBox="1"/>
          <p:nvPr/>
        </p:nvSpPr>
        <p:spPr>
          <a:xfrm>
            <a:off x="4793827" y="3984666"/>
            <a:ext cx="3820006" cy="307777"/>
          </a:xfrm>
          <a:prstGeom prst="rect">
            <a:avLst/>
          </a:prstGeom>
          <a:noFill/>
        </p:spPr>
        <p:txBody>
          <a:bodyPr wrap="square" rtlCol="0">
            <a:spAutoFit/>
          </a:bodyPr>
          <a:lstStyle/>
          <a:p>
            <a:r>
              <a:rPr lang="en-US" sz="1400" dirty="0">
                <a:latin typeface="Tahoma" panose="020B0604030504040204" pitchFamily="34" charset="0"/>
                <a:ea typeface="Tahoma" panose="020B0604030504040204" pitchFamily="34" charset="0"/>
                <a:cs typeface="Tahoma" panose="020B0604030504040204" pitchFamily="34" charset="0"/>
              </a:rPr>
              <a:t>Right view</a:t>
            </a:r>
          </a:p>
        </p:txBody>
      </p:sp>
      <p:sp>
        <p:nvSpPr>
          <p:cNvPr id="52" name="TextBox 51">
            <a:extLst>
              <a:ext uri="{FF2B5EF4-FFF2-40B4-BE49-F238E27FC236}">
                <a16:creationId xmlns:a16="http://schemas.microsoft.com/office/drawing/2014/main" id="{2A703EDA-FB36-8F77-DBDF-B80C15B424A8}"/>
              </a:ext>
            </a:extLst>
          </p:cNvPr>
          <p:cNvSpPr txBox="1"/>
          <p:nvPr/>
        </p:nvSpPr>
        <p:spPr>
          <a:xfrm>
            <a:off x="4878494" y="4340781"/>
            <a:ext cx="3820006" cy="307777"/>
          </a:xfrm>
          <a:prstGeom prst="rect">
            <a:avLst/>
          </a:prstGeom>
          <a:noFill/>
        </p:spPr>
        <p:txBody>
          <a:bodyPr wrap="square" rtlCol="0">
            <a:spAutoFit/>
          </a:bodyPr>
          <a:lstStyle/>
          <a:p>
            <a:r>
              <a:rPr lang="en-US" sz="1400" dirty="0">
                <a:latin typeface="Tahoma" panose="020B0604030504040204" pitchFamily="34" charset="0"/>
                <a:ea typeface="Tahoma" panose="020B0604030504040204" pitchFamily="34" charset="0"/>
                <a:cs typeface="Tahoma" panose="020B0604030504040204" pitchFamily="34" charset="0"/>
              </a:rPr>
              <a:t>Top view</a:t>
            </a:r>
          </a:p>
        </p:txBody>
      </p:sp>
      <p:sp>
        <p:nvSpPr>
          <p:cNvPr id="53" name="TextBox 52">
            <a:extLst>
              <a:ext uri="{FF2B5EF4-FFF2-40B4-BE49-F238E27FC236}">
                <a16:creationId xmlns:a16="http://schemas.microsoft.com/office/drawing/2014/main" id="{D4FD8218-B1DA-7B9E-1E12-FB7F2E4E7743}"/>
              </a:ext>
            </a:extLst>
          </p:cNvPr>
          <p:cNvSpPr txBox="1"/>
          <p:nvPr/>
        </p:nvSpPr>
        <p:spPr>
          <a:xfrm>
            <a:off x="4793827" y="4713314"/>
            <a:ext cx="3820006" cy="307777"/>
          </a:xfrm>
          <a:prstGeom prst="rect">
            <a:avLst/>
          </a:prstGeom>
          <a:noFill/>
        </p:spPr>
        <p:txBody>
          <a:bodyPr wrap="square" rtlCol="0">
            <a:spAutoFit/>
          </a:bodyPr>
          <a:lstStyle/>
          <a:p>
            <a:r>
              <a:rPr lang="en-US" sz="1400" dirty="0">
                <a:latin typeface="Tahoma" panose="020B0604030504040204" pitchFamily="34" charset="0"/>
                <a:ea typeface="Tahoma" panose="020B0604030504040204" pitchFamily="34" charset="0"/>
                <a:cs typeface="Tahoma" panose="020B0604030504040204" pitchFamily="34" charset="0"/>
              </a:rPr>
              <a:t>Detail view</a:t>
            </a:r>
          </a:p>
        </p:txBody>
      </p:sp>
      <p:sp>
        <p:nvSpPr>
          <p:cNvPr id="54" name="TextBox 53">
            <a:extLst>
              <a:ext uri="{FF2B5EF4-FFF2-40B4-BE49-F238E27FC236}">
                <a16:creationId xmlns:a16="http://schemas.microsoft.com/office/drawing/2014/main" id="{91C54A75-1906-7456-9E48-8F226686B8FD}"/>
              </a:ext>
            </a:extLst>
          </p:cNvPr>
          <p:cNvSpPr txBox="1"/>
          <p:nvPr/>
        </p:nvSpPr>
        <p:spPr>
          <a:xfrm>
            <a:off x="5361093" y="5134185"/>
            <a:ext cx="3820006" cy="307777"/>
          </a:xfrm>
          <a:prstGeom prst="rect">
            <a:avLst/>
          </a:prstGeom>
          <a:noFill/>
        </p:spPr>
        <p:txBody>
          <a:bodyPr wrap="square" rtlCol="0">
            <a:spAutoFit/>
          </a:bodyPr>
          <a:lstStyle/>
          <a:p>
            <a:r>
              <a:rPr lang="en-US" sz="1400" dirty="0">
                <a:latin typeface="Tahoma" panose="020B0604030504040204" pitchFamily="34" charset="0"/>
                <a:ea typeface="Tahoma" panose="020B0604030504040204" pitchFamily="34" charset="0"/>
                <a:cs typeface="Tahoma" panose="020B0604030504040204" pitchFamily="34" charset="0"/>
              </a:rPr>
              <a:t>Section view</a:t>
            </a:r>
          </a:p>
        </p:txBody>
      </p:sp>
    </p:spTree>
    <p:extLst>
      <p:ext uri="{BB962C8B-B14F-4D97-AF65-F5344CB8AC3E}">
        <p14:creationId xmlns:p14="http://schemas.microsoft.com/office/powerpoint/2010/main" val="367862678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9EA1BF-31C1-7B25-6FF2-6F606D2596C9}"/>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0DF8A08D-E5A6-C228-C3AD-F320F18C14A3}"/>
              </a:ext>
            </a:extLst>
          </p:cNvPr>
          <p:cNvSpPr/>
          <p:nvPr/>
        </p:nvSpPr>
        <p:spPr>
          <a:xfrm>
            <a:off x="548640" y="119802"/>
            <a:ext cx="11064240" cy="640080"/>
          </a:xfrm>
          <a:prstGeom prst="rect">
            <a:avLst/>
          </a:prstGeom>
          <a:noFill/>
          <a:ln/>
        </p:spPr>
        <p:txBody>
          <a:bodyPr wrap="square" lIns="0" tIns="0" rIns="0" bIns="0" rtlCol="0" anchor="ctr"/>
          <a:lstStyle/>
          <a:p>
            <a:pPr marL="0" indent="0">
              <a:buNone/>
            </a:pPr>
            <a:r>
              <a:rPr lang="en-US" sz="2800" b="1" dirty="0">
                <a:solidFill>
                  <a:srgbClr val="FF0000"/>
                </a:solidFill>
                <a:latin typeface="Arial" pitchFamily="34" charset="0"/>
                <a:ea typeface="Arial" pitchFamily="34" charset="-122"/>
                <a:cs typeface="Arial" pitchFamily="34" charset="-120"/>
              </a:rPr>
              <a:t>Rules</a:t>
            </a:r>
            <a:endParaRPr lang="en-US" sz="2800" dirty="0">
              <a:solidFill>
                <a:srgbClr val="FF0000"/>
              </a:solidFill>
            </a:endParaRPr>
          </a:p>
        </p:txBody>
      </p:sp>
      <p:sp>
        <p:nvSpPr>
          <p:cNvPr id="13" name="Shape 11">
            <a:extLst>
              <a:ext uri="{FF2B5EF4-FFF2-40B4-BE49-F238E27FC236}">
                <a16:creationId xmlns:a16="http://schemas.microsoft.com/office/drawing/2014/main" id="{B2675C3B-F1F2-C296-5E88-F1EE2FDBDEAF}"/>
              </a:ext>
            </a:extLst>
          </p:cNvPr>
          <p:cNvSpPr/>
          <p:nvPr/>
        </p:nvSpPr>
        <p:spPr>
          <a:xfrm>
            <a:off x="548640" y="6419088"/>
            <a:ext cx="11064240" cy="0"/>
          </a:xfrm>
          <a:prstGeom prst="line">
            <a:avLst/>
          </a:prstGeom>
          <a:noFill/>
          <a:ln w="9525">
            <a:solidFill>
              <a:srgbClr val="E4E4E4"/>
            </a:solidFill>
            <a:prstDash val="solid"/>
          </a:ln>
        </p:spPr>
        <p:txBody>
          <a:bodyPr/>
          <a:lstStyle/>
          <a:p>
            <a:endParaRPr lang="en-US" dirty="0"/>
          </a:p>
        </p:txBody>
      </p:sp>
      <p:sp>
        <p:nvSpPr>
          <p:cNvPr id="14" name="Text 12">
            <a:extLst>
              <a:ext uri="{FF2B5EF4-FFF2-40B4-BE49-F238E27FC236}">
                <a16:creationId xmlns:a16="http://schemas.microsoft.com/office/drawing/2014/main" id="{35B277A0-AA3B-B3BE-C49C-002D7B264A20}"/>
              </a:ext>
            </a:extLst>
          </p:cNvPr>
          <p:cNvSpPr/>
          <p:nvPr/>
        </p:nvSpPr>
        <p:spPr>
          <a:xfrm>
            <a:off x="548640" y="6419088"/>
            <a:ext cx="4572000" cy="274320"/>
          </a:xfrm>
          <a:prstGeom prst="rect">
            <a:avLst/>
          </a:prstGeom>
          <a:noFill/>
          <a:ln/>
        </p:spPr>
        <p:txBody>
          <a:bodyPr wrap="square" lIns="0" tIns="0" rIns="0" bIns="0" rtlCol="0" anchor="ctr"/>
          <a:lstStyle/>
          <a:p>
            <a:pPr marL="0" indent="0">
              <a:buNone/>
            </a:pPr>
            <a:r>
              <a:rPr lang="en-US" sz="900" dirty="0">
                <a:solidFill>
                  <a:srgbClr val="6E6E6E"/>
                </a:solidFill>
                <a:latin typeface="Arial" pitchFamily="34" charset="0"/>
                <a:ea typeface="Arial" pitchFamily="34" charset="-122"/>
                <a:cs typeface="Arial" pitchFamily="34" charset="-120"/>
              </a:rPr>
              <a:t>SMALL PRECISION TOOLS</a:t>
            </a:r>
            <a:endParaRPr lang="en-US" sz="900" dirty="0"/>
          </a:p>
        </p:txBody>
      </p:sp>
      <p:sp>
        <p:nvSpPr>
          <p:cNvPr id="15" name="Text 13">
            <a:extLst>
              <a:ext uri="{FF2B5EF4-FFF2-40B4-BE49-F238E27FC236}">
                <a16:creationId xmlns:a16="http://schemas.microsoft.com/office/drawing/2014/main" id="{4B49AAA6-072F-6C2E-5008-1B82E815B120}"/>
              </a:ext>
            </a:extLst>
          </p:cNvPr>
          <p:cNvSpPr/>
          <p:nvPr/>
        </p:nvSpPr>
        <p:spPr>
          <a:xfrm>
            <a:off x="4709160" y="6419088"/>
            <a:ext cx="2743200" cy="274320"/>
          </a:xfrm>
          <a:prstGeom prst="rect">
            <a:avLst/>
          </a:prstGeom>
          <a:noFill/>
          <a:ln/>
        </p:spPr>
        <p:txBody>
          <a:bodyPr wrap="square" lIns="0" tIns="0" rIns="0" bIns="0" rtlCol="0" anchor="ctr"/>
          <a:lstStyle/>
          <a:p>
            <a:pPr marL="0" indent="0" algn="ctr">
              <a:buNone/>
            </a:pPr>
            <a:r>
              <a:rPr lang="en-US" sz="900" dirty="0">
                <a:solidFill>
                  <a:srgbClr val="6E6E6E"/>
                </a:solidFill>
                <a:latin typeface="Arial" pitchFamily="34" charset="0"/>
                <a:ea typeface="Arial" pitchFamily="34" charset="-122"/>
                <a:cs typeface="Arial" pitchFamily="34" charset="-120"/>
              </a:rPr>
              <a:t>Confidential</a:t>
            </a:r>
            <a:endParaRPr lang="en-US" sz="900" dirty="0"/>
          </a:p>
        </p:txBody>
      </p:sp>
      <p:sp>
        <p:nvSpPr>
          <p:cNvPr id="5" name="TextBox 4">
            <a:extLst>
              <a:ext uri="{FF2B5EF4-FFF2-40B4-BE49-F238E27FC236}">
                <a16:creationId xmlns:a16="http://schemas.microsoft.com/office/drawing/2014/main" id="{6F3B6541-6274-159A-3CAB-82F09A4BA857}"/>
              </a:ext>
            </a:extLst>
          </p:cNvPr>
          <p:cNvSpPr txBox="1"/>
          <p:nvPr/>
        </p:nvSpPr>
        <p:spPr>
          <a:xfrm>
            <a:off x="760306" y="759882"/>
            <a:ext cx="8536093" cy="523220"/>
          </a:xfrm>
          <a:prstGeom prst="rect">
            <a:avLst/>
          </a:prstGeom>
          <a:noFill/>
        </p:spPr>
        <p:txBody>
          <a:bodyPr wrap="square" rtlCol="0">
            <a:spAutoFit/>
          </a:bodyPr>
          <a:lstStyle/>
          <a:p>
            <a:r>
              <a:rPr lang="en-US" sz="1400" b="1" dirty="0">
                <a:latin typeface="Tahoma" panose="020B0604030504040204" pitchFamily="34" charset="0"/>
                <a:ea typeface="Tahoma" panose="020B0604030504040204" pitchFamily="34" charset="0"/>
                <a:cs typeface="Tahoma" panose="020B0604030504040204" pitchFamily="34" charset="0"/>
              </a:rPr>
              <a:t>ABT Series – PGB Customer / Production Drawings: </a:t>
            </a:r>
            <a:br>
              <a:rPr lang="en-US" sz="1400" b="1" dirty="0">
                <a:latin typeface="Tahoma" panose="020B0604030504040204" pitchFamily="34" charset="0"/>
                <a:ea typeface="Tahoma" panose="020B0604030504040204" pitchFamily="34" charset="0"/>
                <a:cs typeface="Tahoma" panose="020B0604030504040204" pitchFamily="34" charset="0"/>
              </a:rPr>
            </a:br>
            <a:r>
              <a:rPr lang="en-US" sz="1400" dirty="0">
                <a:latin typeface="Tahoma" panose="020B0604030504040204" pitchFamily="34" charset="0"/>
                <a:ea typeface="Tahoma" panose="020B0604030504040204" pitchFamily="34" charset="0"/>
                <a:cs typeface="Tahoma" panose="020B0604030504040204" pitchFamily="34" charset="0"/>
              </a:rPr>
              <a:t>Front view in case of PGB : </a:t>
            </a:r>
          </a:p>
        </p:txBody>
      </p:sp>
      <p:sp>
        <p:nvSpPr>
          <p:cNvPr id="7" name="Shape 1">
            <a:extLst>
              <a:ext uri="{FF2B5EF4-FFF2-40B4-BE49-F238E27FC236}">
                <a16:creationId xmlns:a16="http://schemas.microsoft.com/office/drawing/2014/main" id="{BBBDCF79-76FA-6CBE-AB8F-5183D4E43A37}"/>
              </a:ext>
            </a:extLst>
          </p:cNvPr>
          <p:cNvSpPr/>
          <p:nvPr/>
        </p:nvSpPr>
        <p:spPr>
          <a:xfrm>
            <a:off x="563880" y="889684"/>
            <a:ext cx="109728" cy="109728"/>
          </a:xfrm>
          <a:prstGeom prst="rect">
            <a:avLst/>
          </a:prstGeom>
          <a:solidFill>
            <a:srgbClr val="FF0000"/>
          </a:solidFill>
          <a:ln/>
        </p:spPr>
        <p:txBody>
          <a:bodyPr/>
          <a:lstStyle/>
          <a:p>
            <a:endParaRPr lang="en-US" dirty="0"/>
          </a:p>
        </p:txBody>
      </p:sp>
      <p:sp>
        <p:nvSpPr>
          <p:cNvPr id="11" name="TextBox 10">
            <a:extLst>
              <a:ext uri="{FF2B5EF4-FFF2-40B4-BE49-F238E27FC236}">
                <a16:creationId xmlns:a16="http://schemas.microsoft.com/office/drawing/2014/main" id="{5EEEE67C-7218-F389-D3AF-3812F519A5E3}"/>
              </a:ext>
            </a:extLst>
          </p:cNvPr>
          <p:cNvSpPr txBox="1"/>
          <p:nvPr/>
        </p:nvSpPr>
        <p:spPr>
          <a:xfrm>
            <a:off x="3076787" y="1434729"/>
            <a:ext cx="8536093" cy="3108543"/>
          </a:xfrm>
          <a:prstGeom prst="rect">
            <a:avLst/>
          </a:prstGeom>
          <a:noFill/>
        </p:spPr>
        <p:txBody>
          <a:bodyPr wrap="square" rtlCol="0">
            <a:spAutoFit/>
          </a:bodyPr>
          <a:lstStyle/>
          <a:p>
            <a:r>
              <a:rPr lang="en-US" sz="1400" dirty="0">
                <a:latin typeface="Tahoma" panose="020B0604030504040204" pitchFamily="34" charset="0"/>
                <a:ea typeface="Tahoma" panose="020B0604030504040204" pitchFamily="34" charset="0"/>
                <a:cs typeface="Tahoma" panose="020B0604030504040204" pitchFamily="34" charset="0"/>
              </a:rPr>
              <a:t>Front view have many annotation, all the annotation are from </a:t>
            </a:r>
            <a:br>
              <a:rPr lang="en-US" sz="1400" dirty="0">
                <a:latin typeface="Tahoma" panose="020B0604030504040204" pitchFamily="34" charset="0"/>
                <a:ea typeface="Tahoma" panose="020B0604030504040204" pitchFamily="34" charset="0"/>
                <a:cs typeface="Tahoma" panose="020B0604030504040204" pitchFamily="34" charset="0"/>
              </a:rPr>
            </a:br>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annotation_std_front_plan</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 &amp; </a:t>
            </a:r>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annotation_rev_front_plan</a:t>
            </a:r>
            <a:b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br>
            <a:b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br>
            <a:r>
              <a:rPr lang="en-US" sz="1400" dirty="0">
                <a:latin typeface="Tahoma" panose="020B0604030504040204" pitchFamily="34" charset="0"/>
                <a:ea typeface="Tahoma" panose="020B0604030504040204" pitchFamily="34" charset="0"/>
                <a:cs typeface="Tahoma" panose="020B0604030504040204" pitchFamily="34" charset="0"/>
              </a:rPr>
              <a:t>In case of </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SYLE_STD </a:t>
            </a:r>
            <a:r>
              <a:rPr lang="en-US" sz="1400" dirty="0">
                <a:latin typeface="Tahoma" panose="020B0604030504040204" pitchFamily="34" charset="0"/>
                <a:ea typeface="Tahoma" panose="020B0604030504040204" pitchFamily="34" charset="0"/>
                <a:cs typeface="Tahoma" panose="020B0604030504040204" pitchFamily="34" charset="0"/>
              </a:rPr>
              <a:t>we show only : </a:t>
            </a:r>
            <a:br>
              <a:rPr lang="en-US" sz="1400" dirty="0">
                <a:latin typeface="Tahoma" panose="020B0604030504040204" pitchFamily="34" charset="0"/>
                <a:ea typeface="Tahoma" panose="020B0604030504040204" pitchFamily="34" charset="0"/>
                <a:cs typeface="Tahoma" panose="020B0604030504040204" pitchFamily="34" charset="0"/>
              </a:rPr>
            </a:br>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BA@annotation_std_front_plan</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 </a:t>
            </a:r>
            <a:b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br>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VBL@annotation_std_front_plan</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 </a:t>
            </a:r>
            <a:r>
              <a:rPr lang="en-US" sz="1400" dirty="0">
                <a:latin typeface="Tahoma" panose="020B0604030504040204" pitchFamily="34" charset="0"/>
                <a:ea typeface="Tahoma" panose="020B0604030504040204" pitchFamily="34" charset="0"/>
                <a:cs typeface="Tahoma" panose="020B0604030504040204" pitchFamily="34" charset="0"/>
              </a:rPr>
              <a:t>in case we have SLB feature</a:t>
            </a:r>
            <a:br>
              <a:rPr lang="en-US" sz="1400" dirty="0">
                <a:latin typeface="Tahoma" panose="020B0604030504040204" pitchFamily="34" charset="0"/>
                <a:ea typeface="Tahoma" panose="020B0604030504040204" pitchFamily="34" charset="0"/>
                <a:cs typeface="Tahoma" panose="020B0604030504040204" pitchFamily="34" charset="0"/>
              </a:rPr>
            </a:br>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BA_SLB@annotation_std_front_plan</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 </a:t>
            </a:r>
            <a:r>
              <a:rPr lang="en-US" sz="1400" dirty="0">
                <a:latin typeface="Tahoma" panose="020B0604030504040204" pitchFamily="34" charset="0"/>
                <a:ea typeface="Tahoma" panose="020B0604030504040204" pitchFamily="34" charset="0"/>
                <a:cs typeface="Tahoma" panose="020B0604030504040204" pitchFamily="34" charset="0"/>
              </a:rPr>
              <a:t>in case we have SLB feature</a:t>
            </a:r>
            <a:br>
              <a:rPr lang="en-US" sz="1400" dirty="0">
                <a:latin typeface="Tahoma" panose="020B0604030504040204" pitchFamily="34" charset="0"/>
                <a:ea typeface="Tahoma" panose="020B0604030504040204" pitchFamily="34" charset="0"/>
                <a:cs typeface="Tahoma" panose="020B0604030504040204" pitchFamily="34" charset="0"/>
              </a:rPr>
            </a:br>
            <a:br>
              <a:rPr lang="en-US" sz="1400" dirty="0">
                <a:latin typeface="Tahoma" panose="020B0604030504040204" pitchFamily="34" charset="0"/>
                <a:ea typeface="Tahoma" panose="020B0604030504040204" pitchFamily="34" charset="0"/>
                <a:cs typeface="Tahoma" panose="020B0604030504040204" pitchFamily="34" charset="0"/>
              </a:rPr>
            </a:br>
            <a:r>
              <a:rPr lang="en-US" sz="1400" dirty="0">
                <a:latin typeface="Tahoma" panose="020B0604030504040204" pitchFamily="34" charset="0"/>
                <a:ea typeface="Tahoma" panose="020B0604030504040204" pitchFamily="34" charset="0"/>
                <a:cs typeface="Tahoma" panose="020B0604030504040204" pitchFamily="34" charset="0"/>
              </a:rPr>
              <a:t>In case of </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SYLE_180_DEG_REV </a:t>
            </a:r>
            <a:r>
              <a:rPr lang="en-US" sz="1400" dirty="0">
                <a:latin typeface="Tahoma" panose="020B0604030504040204" pitchFamily="34" charset="0"/>
                <a:ea typeface="Tahoma" panose="020B0604030504040204" pitchFamily="34" charset="0"/>
                <a:cs typeface="Tahoma" panose="020B0604030504040204" pitchFamily="34" charset="0"/>
              </a:rPr>
              <a:t>we show only : </a:t>
            </a:r>
            <a:br>
              <a:rPr lang="en-US" sz="1400" dirty="0">
                <a:latin typeface="Tahoma" panose="020B0604030504040204" pitchFamily="34" charset="0"/>
                <a:ea typeface="Tahoma" panose="020B0604030504040204" pitchFamily="34" charset="0"/>
                <a:cs typeface="Tahoma" panose="020B0604030504040204" pitchFamily="34" charset="0"/>
              </a:rPr>
            </a:br>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BA@annotation_rev_front_plan</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 </a:t>
            </a:r>
            <a:b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br>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VBL@annotation_rev_front_plan</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 </a:t>
            </a:r>
            <a:r>
              <a:rPr lang="en-US" sz="1400" dirty="0">
                <a:latin typeface="Tahoma" panose="020B0604030504040204" pitchFamily="34" charset="0"/>
                <a:ea typeface="Tahoma" panose="020B0604030504040204" pitchFamily="34" charset="0"/>
                <a:cs typeface="Tahoma" panose="020B0604030504040204" pitchFamily="34" charset="0"/>
              </a:rPr>
              <a:t>in case we have SLB feature</a:t>
            </a:r>
            <a:br>
              <a:rPr lang="en-US" sz="1400" dirty="0">
                <a:latin typeface="Tahoma" panose="020B0604030504040204" pitchFamily="34" charset="0"/>
                <a:ea typeface="Tahoma" panose="020B0604030504040204" pitchFamily="34" charset="0"/>
                <a:cs typeface="Tahoma" panose="020B0604030504040204" pitchFamily="34" charset="0"/>
              </a:rPr>
            </a:br>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BA_SLB@annotation_rev_front_plan</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 </a:t>
            </a:r>
            <a:r>
              <a:rPr lang="en-US" sz="1400" dirty="0">
                <a:latin typeface="Tahoma" panose="020B0604030504040204" pitchFamily="34" charset="0"/>
                <a:ea typeface="Tahoma" panose="020B0604030504040204" pitchFamily="34" charset="0"/>
                <a:cs typeface="Tahoma" panose="020B0604030504040204" pitchFamily="34" charset="0"/>
              </a:rPr>
              <a:t>in case we have SLB feature</a:t>
            </a:r>
            <a:br>
              <a:rPr lang="en-US" sz="1400" dirty="0">
                <a:latin typeface="Tahoma" panose="020B0604030504040204" pitchFamily="34" charset="0"/>
                <a:ea typeface="Tahoma" panose="020B0604030504040204" pitchFamily="34" charset="0"/>
                <a:cs typeface="Tahoma" panose="020B0604030504040204" pitchFamily="34" charset="0"/>
              </a:rPr>
            </a:br>
            <a:b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br>
            <a:r>
              <a:rPr lang="en-US" sz="1400" dirty="0">
                <a:latin typeface="Tahoma" panose="020B0604030504040204" pitchFamily="34" charset="0"/>
                <a:ea typeface="Tahoma" panose="020B0604030504040204" pitchFamily="34" charset="0"/>
                <a:cs typeface="Tahoma" panose="020B0604030504040204" pitchFamily="34" charset="0"/>
              </a:rPr>
              <a:t>The view can be positioned based on your preference</a:t>
            </a:r>
            <a:endPar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endParaRPr>
          </a:p>
        </p:txBody>
      </p:sp>
      <p:pic>
        <p:nvPicPr>
          <p:cNvPr id="6" name="Picture 5">
            <a:extLst>
              <a:ext uri="{FF2B5EF4-FFF2-40B4-BE49-F238E27FC236}">
                <a16:creationId xmlns:a16="http://schemas.microsoft.com/office/drawing/2014/main" id="{525BB85E-64BC-A557-5D10-7CE2D60C764D}"/>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760306" y="1150025"/>
            <a:ext cx="1356013" cy="4878919"/>
          </a:xfrm>
          <a:prstGeom prst="rect">
            <a:avLst/>
          </a:prstGeom>
        </p:spPr>
      </p:pic>
    </p:spTree>
    <p:extLst>
      <p:ext uri="{BB962C8B-B14F-4D97-AF65-F5344CB8AC3E}">
        <p14:creationId xmlns:p14="http://schemas.microsoft.com/office/powerpoint/2010/main" val="196631134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A8996A-A23C-C0CC-B99D-8F0E1A2704EB}"/>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AFEF634B-A3B5-955D-DC97-22F9C27F6C47}"/>
              </a:ext>
            </a:extLst>
          </p:cNvPr>
          <p:cNvSpPr/>
          <p:nvPr/>
        </p:nvSpPr>
        <p:spPr>
          <a:xfrm>
            <a:off x="548640" y="119802"/>
            <a:ext cx="11064240" cy="640080"/>
          </a:xfrm>
          <a:prstGeom prst="rect">
            <a:avLst/>
          </a:prstGeom>
          <a:noFill/>
          <a:ln/>
        </p:spPr>
        <p:txBody>
          <a:bodyPr wrap="square" lIns="0" tIns="0" rIns="0" bIns="0" rtlCol="0" anchor="ctr"/>
          <a:lstStyle/>
          <a:p>
            <a:pPr marL="0" indent="0">
              <a:buNone/>
            </a:pPr>
            <a:r>
              <a:rPr lang="en-US" sz="2800" b="1" dirty="0">
                <a:solidFill>
                  <a:srgbClr val="FF0000"/>
                </a:solidFill>
                <a:latin typeface="Arial" pitchFamily="34" charset="0"/>
                <a:ea typeface="Arial" pitchFamily="34" charset="-122"/>
                <a:cs typeface="Arial" pitchFamily="34" charset="-120"/>
              </a:rPr>
              <a:t>Rules</a:t>
            </a:r>
            <a:endParaRPr lang="en-US" sz="2800" dirty="0">
              <a:solidFill>
                <a:srgbClr val="FF0000"/>
              </a:solidFill>
            </a:endParaRPr>
          </a:p>
        </p:txBody>
      </p:sp>
      <p:sp>
        <p:nvSpPr>
          <p:cNvPr id="13" name="Shape 11">
            <a:extLst>
              <a:ext uri="{FF2B5EF4-FFF2-40B4-BE49-F238E27FC236}">
                <a16:creationId xmlns:a16="http://schemas.microsoft.com/office/drawing/2014/main" id="{E2607851-E2BC-87E1-17DF-6CE383ACB689}"/>
              </a:ext>
            </a:extLst>
          </p:cNvPr>
          <p:cNvSpPr/>
          <p:nvPr/>
        </p:nvSpPr>
        <p:spPr>
          <a:xfrm>
            <a:off x="548640" y="6419088"/>
            <a:ext cx="11064240" cy="0"/>
          </a:xfrm>
          <a:prstGeom prst="line">
            <a:avLst/>
          </a:prstGeom>
          <a:noFill/>
          <a:ln w="9525">
            <a:solidFill>
              <a:srgbClr val="E4E4E4"/>
            </a:solidFill>
            <a:prstDash val="solid"/>
          </a:ln>
        </p:spPr>
        <p:txBody>
          <a:bodyPr/>
          <a:lstStyle/>
          <a:p>
            <a:endParaRPr lang="en-US" dirty="0"/>
          </a:p>
        </p:txBody>
      </p:sp>
      <p:sp>
        <p:nvSpPr>
          <p:cNvPr id="14" name="Text 12">
            <a:extLst>
              <a:ext uri="{FF2B5EF4-FFF2-40B4-BE49-F238E27FC236}">
                <a16:creationId xmlns:a16="http://schemas.microsoft.com/office/drawing/2014/main" id="{22D3EA2E-992A-66C3-7B82-00188E43FE3B}"/>
              </a:ext>
            </a:extLst>
          </p:cNvPr>
          <p:cNvSpPr/>
          <p:nvPr/>
        </p:nvSpPr>
        <p:spPr>
          <a:xfrm>
            <a:off x="548640" y="6419088"/>
            <a:ext cx="4572000" cy="274320"/>
          </a:xfrm>
          <a:prstGeom prst="rect">
            <a:avLst/>
          </a:prstGeom>
          <a:noFill/>
          <a:ln/>
        </p:spPr>
        <p:txBody>
          <a:bodyPr wrap="square" lIns="0" tIns="0" rIns="0" bIns="0" rtlCol="0" anchor="ctr"/>
          <a:lstStyle/>
          <a:p>
            <a:pPr marL="0" indent="0">
              <a:buNone/>
            </a:pPr>
            <a:r>
              <a:rPr lang="en-US" sz="900" dirty="0">
                <a:solidFill>
                  <a:srgbClr val="6E6E6E"/>
                </a:solidFill>
                <a:latin typeface="Arial" pitchFamily="34" charset="0"/>
                <a:ea typeface="Arial" pitchFamily="34" charset="-122"/>
                <a:cs typeface="Arial" pitchFamily="34" charset="-120"/>
              </a:rPr>
              <a:t>SMALL PRECISION TOOLS</a:t>
            </a:r>
            <a:endParaRPr lang="en-US" sz="900" dirty="0"/>
          </a:p>
        </p:txBody>
      </p:sp>
      <p:sp>
        <p:nvSpPr>
          <p:cNvPr id="15" name="Text 13">
            <a:extLst>
              <a:ext uri="{FF2B5EF4-FFF2-40B4-BE49-F238E27FC236}">
                <a16:creationId xmlns:a16="http://schemas.microsoft.com/office/drawing/2014/main" id="{2A8C881D-F063-4595-4C17-312E93D9AD4C}"/>
              </a:ext>
            </a:extLst>
          </p:cNvPr>
          <p:cNvSpPr/>
          <p:nvPr/>
        </p:nvSpPr>
        <p:spPr>
          <a:xfrm>
            <a:off x="4709160" y="6419088"/>
            <a:ext cx="2743200" cy="274320"/>
          </a:xfrm>
          <a:prstGeom prst="rect">
            <a:avLst/>
          </a:prstGeom>
          <a:noFill/>
          <a:ln/>
        </p:spPr>
        <p:txBody>
          <a:bodyPr wrap="square" lIns="0" tIns="0" rIns="0" bIns="0" rtlCol="0" anchor="ctr"/>
          <a:lstStyle/>
          <a:p>
            <a:pPr marL="0" indent="0" algn="ctr">
              <a:buNone/>
            </a:pPr>
            <a:r>
              <a:rPr lang="en-US" sz="900" dirty="0">
                <a:solidFill>
                  <a:srgbClr val="6E6E6E"/>
                </a:solidFill>
                <a:latin typeface="Arial" pitchFamily="34" charset="0"/>
                <a:ea typeface="Arial" pitchFamily="34" charset="-122"/>
                <a:cs typeface="Arial" pitchFamily="34" charset="-120"/>
              </a:rPr>
              <a:t>Confidential</a:t>
            </a:r>
            <a:endParaRPr lang="en-US" sz="900" dirty="0"/>
          </a:p>
        </p:txBody>
      </p:sp>
      <p:sp>
        <p:nvSpPr>
          <p:cNvPr id="5" name="TextBox 4">
            <a:extLst>
              <a:ext uri="{FF2B5EF4-FFF2-40B4-BE49-F238E27FC236}">
                <a16:creationId xmlns:a16="http://schemas.microsoft.com/office/drawing/2014/main" id="{0EAAB318-9BFE-EC28-96F0-3A70C6CEC338}"/>
              </a:ext>
            </a:extLst>
          </p:cNvPr>
          <p:cNvSpPr txBox="1"/>
          <p:nvPr/>
        </p:nvSpPr>
        <p:spPr>
          <a:xfrm>
            <a:off x="760306" y="759882"/>
            <a:ext cx="8536093" cy="523220"/>
          </a:xfrm>
          <a:prstGeom prst="rect">
            <a:avLst/>
          </a:prstGeom>
          <a:noFill/>
        </p:spPr>
        <p:txBody>
          <a:bodyPr wrap="square" rtlCol="0">
            <a:spAutoFit/>
          </a:bodyPr>
          <a:lstStyle/>
          <a:p>
            <a:r>
              <a:rPr lang="en-US" sz="1400" b="1" dirty="0">
                <a:latin typeface="Tahoma" panose="020B0604030504040204" pitchFamily="34" charset="0"/>
                <a:ea typeface="Tahoma" panose="020B0604030504040204" pitchFamily="34" charset="0"/>
                <a:cs typeface="Tahoma" panose="020B0604030504040204" pitchFamily="34" charset="0"/>
              </a:rPr>
              <a:t>ABT Series – PGB Customer / Production Drawings: </a:t>
            </a:r>
            <a:br>
              <a:rPr lang="en-US" sz="1400" b="1" dirty="0">
                <a:latin typeface="Tahoma" panose="020B0604030504040204" pitchFamily="34" charset="0"/>
                <a:ea typeface="Tahoma" panose="020B0604030504040204" pitchFamily="34" charset="0"/>
                <a:cs typeface="Tahoma" panose="020B0604030504040204" pitchFamily="34" charset="0"/>
              </a:rPr>
            </a:br>
            <a:r>
              <a:rPr lang="en-US" sz="1400" dirty="0">
                <a:latin typeface="Tahoma" panose="020B0604030504040204" pitchFamily="34" charset="0"/>
                <a:ea typeface="Tahoma" panose="020B0604030504040204" pitchFamily="34" charset="0"/>
                <a:cs typeface="Tahoma" panose="020B0604030504040204" pitchFamily="34" charset="0"/>
              </a:rPr>
              <a:t>Right view in case of PGB : </a:t>
            </a:r>
          </a:p>
        </p:txBody>
      </p:sp>
      <p:sp>
        <p:nvSpPr>
          <p:cNvPr id="7" name="Shape 1">
            <a:extLst>
              <a:ext uri="{FF2B5EF4-FFF2-40B4-BE49-F238E27FC236}">
                <a16:creationId xmlns:a16="http://schemas.microsoft.com/office/drawing/2014/main" id="{4203DA58-8CAF-7155-3C61-0B38E0710922}"/>
              </a:ext>
            </a:extLst>
          </p:cNvPr>
          <p:cNvSpPr/>
          <p:nvPr/>
        </p:nvSpPr>
        <p:spPr>
          <a:xfrm>
            <a:off x="563880" y="889684"/>
            <a:ext cx="109728" cy="109728"/>
          </a:xfrm>
          <a:prstGeom prst="rect">
            <a:avLst/>
          </a:prstGeom>
          <a:solidFill>
            <a:srgbClr val="FF0000"/>
          </a:solidFill>
          <a:ln/>
        </p:spPr>
        <p:txBody>
          <a:bodyPr/>
          <a:lstStyle/>
          <a:p>
            <a:endParaRPr lang="en-US" dirty="0"/>
          </a:p>
        </p:txBody>
      </p:sp>
      <p:sp>
        <p:nvSpPr>
          <p:cNvPr id="11" name="TextBox 10">
            <a:extLst>
              <a:ext uri="{FF2B5EF4-FFF2-40B4-BE49-F238E27FC236}">
                <a16:creationId xmlns:a16="http://schemas.microsoft.com/office/drawing/2014/main" id="{24E6CE23-5ED8-82E5-0D44-48B6FB2B22DB}"/>
              </a:ext>
            </a:extLst>
          </p:cNvPr>
          <p:cNvSpPr txBox="1"/>
          <p:nvPr/>
        </p:nvSpPr>
        <p:spPr>
          <a:xfrm>
            <a:off x="3076787" y="1434729"/>
            <a:ext cx="8536093" cy="2246769"/>
          </a:xfrm>
          <a:prstGeom prst="rect">
            <a:avLst/>
          </a:prstGeom>
          <a:noFill/>
        </p:spPr>
        <p:txBody>
          <a:bodyPr wrap="square" rtlCol="0">
            <a:spAutoFit/>
          </a:bodyPr>
          <a:lstStyle/>
          <a:p>
            <a:r>
              <a:rPr lang="en-US" sz="1400" dirty="0">
                <a:latin typeface="Tahoma" panose="020B0604030504040204" pitchFamily="34" charset="0"/>
                <a:ea typeface="Tahoma" panose="020B0604030504040204" pitchFamily="34" charset="0"/>
                <a:cs typeface="Tahoma" panose="020B0604030504040204" pitchFamily="34" charset="0"/>
              </a:rPr>
              <a:t>Right view have many annotation, all the annotation are from </a:t>
            </a:r>
            <a:br>
              <a:rPr lang="en-US" sz="1400" dirty="0">
                <a:latin typeface="Tahoma" panose="020B0604030504040204" pitchFamily="34" charset="0"/>
                <a:ea typeface="Tahoma" panose="020B0604030504040204" pitchFamily="34" charset="0"/>
                <a:cs typeface="Tahoma" panose="020B0604030504040204" pitchFamily="34" charset="0"/>
              </a:rPr>
            </a:b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annotation_right_plan</a:t>
            </a:r>
          </a:p>
          <a:p>
            <a:b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br>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TL@annotation_right_plan</a:t>
            </a:r>
            <a:endPar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endParaRPr>
          </a:p>
          <a:p>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VR@annotation_right_plan</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 </a:t>
            </a:r>
            <a:r>
              <a:rPr lang="en-US" sz="1400" dirty="0">
                <a:latin typeface="Tahoma" panose="020B0604030504040204" pitchFamily="34" charset="0"/>
                <a:ea typeface="Tahoma" panose="020B0604030504040204" pitchFamily="34" charset="0"/>
                <a:cs typeface="Tahoma" panose="020B0604030504040204" pitchFamily="34" charset="0"/>
              </a:rPr>
              <a:t>Optional</a:t>
            </a:r>
          </a:p>
          <a:p>
            <a:br>
              <a:rPr lang="en-US" sz="1400" dirty="0">
                <a:latin typeface="Tahoma" panose="020B0604030504040204" pitchFamily="34" charset="0"/>
                <a:ea typeface="Tahoma" panose="020B0604030504040204" pitchFamily="34" charset="0"/>
                <a:cs typeface="Tahoma" panose="020B0604030504040204" pitchFamily="34" charset="0"/>
              </a:rPr>
            </a:br>
            <a:b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br>
            <a:b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br>
            <a:b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br>
            <a:r>
              <a:rPr lang="en-US" sz="1400" dirty="0">
                <a:latin typeface="Tahoma" panose="020B0604030504040204" pitchFamily="34" charset="0"/>
                <a:ea typeface="Tahoma" panose="020B0604030504040204" pitchFamily="34" charset="0"/>
                <a:cs typeface="Tahoma" panose="020B0604030504040204" pitchFamily="34" charset="0"/>
              </a:rPr>
              <a:t>The view can be positioned based on your preference</a:t>
            </a:r>
            <a:endPar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endParaRPr>
          </a:p>
        </p:txBody>
      </p:sp>
      <p:pic>
        <p:nvPicPr>
          <p:cNvPr id="4" name="Picture 3">
            <a:extLst>
              <a:ext uri="{FF2B5EF4-FFF2-40B4-BE49-F238E27FC236}">
                <a16:creationId xmlns:a16="http://schemas.microsoft.com/office/drawing/2014/main" id="{97C952C4-28C7-E5D1-36C2-84E7ED7201D3}"/>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760306" y="1310668"/>
            <a:ext cx="1242681" cy="4797165"/>
          </a:xfrm>
          <a:prstGeom prst="rect">
            <a:avLst/>
          </a:prstGeom>
        </p:spPr>
      </p:pic>
    </p:spTree>
    <p:extLst>
      <p:ext uri="{BB962C8B-B14F-4D97-AF65-F5344CB8AC3E}">
        <p14:creationId xmlns:p14="http://schemas.microsoft.com/office/powerpoint/2010/main" val="85786442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B98B38-17B1-5284-916B-7E9AD3EC97BF}"/>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F4BC1789-4D6E-046C-A6BA-AF9376169940}"/>
              </a:ext>
            </a:extLst>
          </p:cNvPr>
          <p:cNvSpPr/>
          <p:nvPr/>
        </p:nvSpPr>
        <p:spPr>
          <a:xfrm>
            <a:off x="548640" y="119802"/>
            <a:ext cx="11064240" cy="640080"/>
          </a:xfrm>
          <a:prstGeom prst="rect">
            <a:avLst/>
          </a:prstGeom>
          <a:noFill/>
          <a:ln/>
        </p:spPr>
        <p:txBody>
          <a:bodyPr wrap="square" lIns="0" tIns="0" rIns="0" bIns="0" rtlCol="0" anchor="ctr"/>
          <a:lstStyle/>
          <a:p>
            <a:pPr marL="0" indent="0">
              <a:buNone/>
            </a:pPr>
            <a:r>
              <a:rPr lang="en-US" sz="2800" b="1" dirty="0">
                <a:solidFill>
                  <a:srgbClr val="FF0000"/>
                </a:solidFill>
                <a:latin typeface="Arial" pitchFamily="34" charset="0"/>
                <a:ea typeface="Arial" pitchFamily="34" charset="-122"/>
                <a:cs typeface="Arial" pitchFamily="34" charset="-120"/>
              </a:rPr>
              <a:t>Rules</a:t>
            </a:r>
            <a:endParaRPr lang="en-US" sz="2800" dirty="0">
              <a:solidFill>
                <a:srgbClr val="FF0000"/>
              </a:solidFill>
            </a:endParaRPr>
          </a:p>
        </p:txBody>
      </p:sp>
      <p:sp>
        <p:nvSpPr>
          <p:cNvPr id="13" name="Shape 11">
            <a:extLst>
              <a:ext uri="{FF2B5EF4-FFF2-40B4-BE49-F238E27FC236}">
                <a16:creationId xmlns:a16="http://schemas.microsoft.com/office/drawing/2014/main" id="{580465AB-FBE1-1C9B-28DE-557E6E99ADC4}"/>
              </a:ext>
            </a:extLst>
          </p:cNvPr>
          <p:cNvSpPr/>
          <p:nvPr/>
        </p:nvSpPr>
        <p:spPr>
          <a:xfrm>
            <a:off x="548640" y="6419088"/>
            <a:ext cx="11064240" cy="0"/>
          </a:xfrm>
          <a:prstGeom prst="line">
            <a:avLst/>
          </a:prstGeom>
          <a:noFill/>
          <a:ln w="9525">
            <a:solidFill>
              <a:srgbClr val="E4E4E4"/>
            </a:solidFill>
            <a:prstDash val="solid"/>
          </a:ln>
        </p:spPr>
        <p:txBody>
          <a:bodyPr/>
          <a:lstStyle/>
          <a:p>
            <a:endParaRPr lang="en-US" dirty="0"/>
          </a:p>
        </p:txBody>
      </p:sp>
      <p:sp>
        <p:nvSpPr>
          <p:cNvPr id="14" name="Text 12">
            <a:extLst>
              <a:ext uri="{FF2B5EF4-FFF2-40B4-BE49-F238E27FC236}">
                <a16:creationId xmlns:a16="http://schemas.microsoft.com/office/drawing/2014/main" id="{47EA5D5C-4840-47B1-8ACF-09C2240126DC}"/>
              </a:ext>
            </a:extLst>
          </p:cNvPr>
          <p:cNvSpPr/>
          <p:nvPr/>
        </p:nvSpPr>
        <p:spPr>
          <a:xfrm>
            <a:off x="548640" y="6419088"/>
            <a:ext cx="4572000" cy="274320"/>
          </a:xfrm>
          <a:prstGeom prst="rect">
            <a:avLst/>
          </a:prstGeom>
          <a:noFill/>
          <a:ln/>
        </p:spPr>
        <p:txBody>
          <a:bodyPr wrap="square" lIns="0" tIns="0" rIns="0" bIns="0" rtlCol="0" anchor="ctr"/>
          <a:lstStyle/>
          <a:p>
            <a:pPr marL="0" indent="0">
              <a:buNone/>
            </a:pPr>
            <a:r>
              <a:rPr lang="en-US" sz="900" dirty="0">
                <a:solidFill>
                  <a:srgbClr val="6E6E6E"/>
                </a:solidFill>
                <a:latin typeface="Arial" pitchFamily="34" charset="0"/>
                <a:ea typeface="Arial" pitchFamily="34" charset="-122"/>
                <a:cs typeface="Arial" pitchFamily="34" charset="-120"/>
              </a:rPr>
              <a:t>SMALL PRECISION TOOLS</a:t>
            </a:r>
            <a:endParaRPr lang="en-US" sz="900" dirty="0"/>
          </a:p>
        </p:txBody>
      </p:sp>
      <p:sp>
        <p:nvSpPr>
          <p:cNvPr id="15" name="Text 13">
            <a:extLst>
              <a:ext uri="{FF2B5EF4-FFF2-40B4-BE49-F238E27FC236}">
                <a16:creationId xmlns:a16="http://schemas.microsoft.com/office/drawing/2014/main" id="{19F09029-98F2-79D7-1065-B313FFD24F70}"/>
              </a:ext>
            </a:extLst>
          </p:cNvPr>
          <p:cNvSpPr/>
          <p:nvPr/>
        </p:nvSpPr>
        <p:spPr>
          <a:xfrm>
            <a:off x="4709160" y="6419088"/>
            <a:ext cx="2743200" cy="274320"/>
          </a:xfrm>
          <a:prstGeom prst="rect">
            <a:avLst/>
          </a:prstGeom>
          <a:noFill/>
          <a:ln/>
        </p:spPr>
        <p:txBody>
          <a:bodyPr wrap="square" lIns="0" tIns="0" rIns="0" bIns="0" rtlCol="0" anchor="ctr"/>
          <a:lstStyle/>
          <a:p>
            <a:pPr marL="0" indent="0" algn="ctr">
              <a:buNone/>
            </a:pPr>
            <a:r>
              <a:rPr lang="en-US" sz="900" dirty="0">
                <a:solidFill>
                  <a:srgbClr val="6E6E6E"/>
                </a:solidFill>
                <a:latin typeface="Arial" pitchFamily="34" charset="0"/>
                <a:ea typeface="Arial" pitchFamily="34" charset="-122"/>
                <a:cs typeface="Arial" pitchFamily="34" charset="-120"/>
              </a:rPr>
              <a:t>Confidential</a:t>
            </a:r>
            <a:endParaRPr lang="en-US" sz="900" dirty="0"/>
          </a:p>
        </p:txBody>
      </p:sp>
      <p:sp>
        <p:nvSpPr>
          <p:cNvPr id="5" name="TextBox 4">
            <a:extLst>
              <a:ext uri="{FF2B5EF4-FFF2-40B4-BE49-F238E27FC236}">
                <a16:creationId xmlns:a16="http://schemas.microsoft.com/office/drawing/2014/main" id="{33861FEA-84E8-C5D3-E431-6624FE5A11BB}"/>
              </a:ext>
            </a:extLst>
          </p:cNvPr>
          <p:cNvSpPr txBox="1"/>
          <p:nvPr/>
        </p:nvSpPr>
        <p:spPr>
          <a:xfrm>
            <a:off x="760306" y="759882"/>
            <a:ext cx="8536093" cy="523220"/>
          </a:xfrm>
          <a:prstGeom prst="rect">
            <a:avLst/>
          </a:prstGeom>
          <a:noFill/>
        </p:spPr>
        <p:txBody>
          <a:bodyPr wrap="square" rtlCol="0">
            <a:spAutoFit/>
          </a:bodyPr>
          <a:lstStyle/>
          <a:p>
            <a:r>
              <a:rPr lang="en-US" sz="1400" b="1" dirty="0">
                <a:latin typeface="Tahoma" panose="020B0604030504040204" pitchFamily="34" charset="0"/>
                <a:ea typeface="Tahoma" panose="020B0604030504040204" pitchFamily="34" charset="0"/>
                <a:cs typeface="Tahoma" panose="020B0604030504040204" pitchFamily="34" charset="0"/>
              </a:rPr>
              <a:t>ABT Series – PGB Customer / Production Drawings: </a:t>
            </a:r>
            <a:br>
              <a:rPr lang="en-US" sz="1400" b="1" dirty="0">
                <a:latin typeface="Tahoma" panose="020B0604030504040204" pitchFamily="34" charset="0"/>
                <a:ea typeface="Tahoma" panose="020B0604030504040204" pitchFamily="34" charset="0"/>
                <a:cs typeface="Tahoma" panose="020B0604030504040204" pitchFamily="34" charset="0"/>
              </a:rPr>
            </a:br>
            <a:r>
              <a:rPr lang="en-US" sz="1400" dirty="0">
                <a:latin typeface="Tahoma" panose="020B0604030504040204" pitchFamily="34" charset="0"/>
                <a:ea typeface="Tahoma" panose="020B0604030504040204" pitchFamily="34" charset="0"/>
                <a:cs typeface="Tahoma" panose="020B0604030504040204" pitchFamily="34" charset="0"/>
              </a:rPr>
              <a:t>Top view in case of PGB : </a:t>
            </a:r>
          </a:p>
        </p:txBody>
      </p:sp>
      <p:sp>
        <p:nvSpPr>
          <p:cNvPr id="7" name="Shape 1">
            <a:extLst>
              <a:ext uri="{FF2B5EF4-FFF2-40B4-BE49-F238E27FC236}">
                <a16:creationId xmlns:a16="http://schemas.microsoft.com/office/drawing/2014/main" id="{B9A6701E-F6B4-0873-B47D-5FB1A9E96763}"/>
              </a:ext>
            </a:extLst>
          </p:cNvPr>
          <p:cNvSpPr/>
          <p:nvPr/>
        </p:nvSpPr>
        <p:spPr>
          <a:xfrm>
            <a:off x="563880" y="889684"/>
            <a:ext cx="109728" cy="109728"/>
          </a:xfrm>
          <a:prstGeom prst="rect">
            <a:avLst/>
          </a:prstGeom>
          <a:solidFill>
            <a:srgbClr val="FF0000"/>
          </a:solidFill>
          <a:ln/>
        </p:spPr>
        <p:txBody>
          <a:bodyPr/>
          <a:lstStyle/>
          <a:p>
            <a:endParaRPr lang="en-US" dirty="0"/>
          </a:p>
        </p:txBody>
      </p:sp>
      <p:sp>
        <p:nvSpPr>
          <p:cNvPr id="11" name="TextBox 10">
            <a:extLst>
              <a:ext uri="{FF2B5EF4-FFF2-40B4-BE49-F238E27FC236}">
                <a16:creationId xmlns:a16="http://schemas.microsoft.com/office/drawing/2014/main" id="{6A82505D-D05D-44AA-DE27-812BF114644A}"/>
              </a:ext>
            </a:extLst>
          </p:cNvPr>
          <p:cNvSpPr txBox="1"/>
          <p:nvPr/>
        </p:nvSpPr>
        <p:spPr>
          <a:xfrm>
            <a:off x="3271521" y="1399962"/>
            <a:ext cx="8536093" cy="1815882"/>
          </a:xfrm>
          <a:prstGeom prst="rect">
            <a:avLst/>
          </a:prstGeom>
          <a:noFill/>
        </p:spPr>
        <p:txBody>
          <a:bodyPr wrap="square" rtlCol="0">
            <a:spAutoFit/>
          </a:bodyPr>
          <a:lstStyle/>
          <a:p>
            <a:r>
              <a:rPr lang="en-US" sz="1400" dirty="0">
                <a:latin typeface="Tahoma" panose="020B0604030504040204" pitchFamily="34" charset="0"/>
                <a:ea typeface="Tahoma" panose="020B0604030504040204" pitchFamily="34" charset="0"/>
                <a:cs typeface="Tahoma" panose="020B0604030504040204" pitchFamily="34" charset="0"/>
              </a:rPr>
              <a:t>Top view have many annotation, all the annotation are from </a:t>
            </a:r>
            <a:br>
              <a:rPr lang="en-US" sz="1400" dirty="0">
                <a:latin typeface="Tahoma" panose="020B0604030504040204" pitchFamily="34" charset="0"/>
                <a:ea typeface="Tahoma" panose="020B0604030504040204" pitchFamily="34" charset="0"/>
                <a:cs typeface="Tahoma" panose="020B0604030504040204" pitchFamily="34" charset="0"/>
              </a:rPr>
            </a:b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annotation_top_plan</a:t>
            </a:r>
            <a:b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br>
            <a:b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br>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TD@annotation_top_plan</a:t>
            </a:r>
            <a:b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br>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TDF_STD@annotation_top_plan</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 in case std shank</a:t>
            </a:r>
            <a:b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br>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TDF_REV@annotation_top_plan</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 in case rev shank </a:t>
            </a:r>
            <a:b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br>
            <a:b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br>
            <a:r>
              <a:rPr lang="en-US" sz="1400" dirty="0">
                <a:latin typeface="Tahoma" panose="020B0604030504040204" pitchFamily="34" charset="0"/>
                <a:ea typeface="Tahoma" panose="020B0604030504040204" pitchFamily="34" charset="0"/>
                <a:cs typeface="Tahoma" panose="020B0604030504040204" pitchFamily="34" charset="0"/>
              </a:rPr>
              <a:t>The view can be positioned based on your preference</a:t>
            </a:r>
            <a:endPar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endParaRPr>
          </a:p>
        </p:txBody>
      </p:sp>
      <p:pic>
        <p:nvPicPr>
          <p:cNvPr id="4" name="Picture 3">
            <a:extLst>
              <a:ext uri="{FF2B5EF4-FFF2-40B4-BE49-F238E27FC236}">
                <a16:creationId xmlns:a16="http://schemas.microsoft.com/office/drawing/2014/main" id="{34F79B4B-E548-66BB-C48E-D32315E60678}"/>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76558" y="2635214"/>
            <a:ext cx="3227136" cy="2655824"/>
          </a:xfrm>
          <a:prstGeom prst="rect">
            <a:avLst/>
          </a:prstGeom>
        </p:spPr>
      </p:pic>
    </p:spTree>
    <p:extLst>
      <p:ext uri="{BB962C8B-B14F-4D97-AF65-F5344CB8AC3E}">
        <p14:creationId xmlns:p14="http://schemas.microsoft.com/office/powerpoint/2010/main" val="10345053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0C2002-2E58-C585-8688-90E2054FF6FB}"/>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7FC32FE1-6868-89DF-25C1-3F8DC0323435}"/>
              </a:ext>
            </a:extLst>
          </p:cNvPr>
          <p:cNvSpPr/>
          <p:nvPr/>
        </p:nvSpPr>
        <p:spPr>
          <a:xfrm>
            <a:off x="548640" y="119802"/>
            <a:ext cx="11064240" cy="640080"/>
          </a:xfrm>
          <a:prstGeom prst="rect">
            <a:avLst/>
          </a:prstGeom>
          <a:noFill/>
          <a:ln/>
        </p:spPr>
        <p:txBody>
          <a:bodyPr wrap="square" lIns="0" tIns="0" rIns="0" bIns="0" rtlCol="0" anchor="ctr"/>
          <a:lstStyle/>
          <a:p>
            <a:pPr marL="0" indent="0">
              <a:buNone/>
            </a:pPr>
            <a:r>
              <a:rPr lang="en-US" sz="2800" b="1" dirty="0">
                <a:solidFill>
                  <a:srgbClr val="FF0000"/>
                </a:solidFill>
                <a:latin typeface="Arial" pitchFamily="34" charset="0"/>
                <a:ea typeface="Arial" pitchFamily="34" charset="-122"/>
                <a:cs typeface="Arial" pitchFamily="34" charset="-120"/>
              </a:rPr>
              <a:t>Rules</a:t>
            </a:r>
            <a:endParaRPr lang="en-US" sz="2800" dirty="0">
              <a:solidFill>
                <a:srgbClr val="FF0000"/>
              </a:solidFill>
            </a:endParaRPr>
          </a:p>
        </p:txBody>
      </p:sp>
      <p:sp>
        <p:nvSpPr>
          <p:cNvPr id="13" name="Shape 11">
            <a:extLst>
              <a:ext uri="{FF2B5EF4-FFF2-40B4-BE49-F238E27FC236}">
                <a16:creationId xmlns:a16="http://schemas.microsoft.com/office/drawing/2014/main" id="{D253B30C-4714-2134-20FD-30462CD9D272}"/>
              </a:ext>
            </a:extLst>
          </p:cNvPr>
          <p:cNvSpPr/>
          <p:nvPr/>
        </p:nvSpPr>
        <p:spPr>
          <a:xfrm>
            <a:off x="548640" y="6419088"/>
            <a:ext cx="11064240" cy="0"/>
          </a:xfrm>
          <a:prstGeom prst="line">
            <a:avLst/>
          </a:prstGeom>
          <a:noFill/>
          <a:ln w="9525">
            <a:solidFill>
              <a:srgbClr val="E4E4E4"/>
            </a:solidFill>
            <a:prstDash val="solid"/>
          </a:ln>
        </p:spPr>
        <p:txBody>
          <a:bodyPr/>
          <a:lstStyle/>
          <a:p>
            <a:endParaRPr lang="en-US" dirty="0"/>
          </a:p>
        </p:txBody>
      </p:sp>
      <p:sp>
        <p:nvSpPr>
          <p:cNvPr id="14" name="Text 12">
            <a:extLst>
              <a:ext uri="{FF2B5EF4-FFF2-40B4-BE49-F238E27FC236}">
                <a16:creationId xmlns:a16="http://schemas.microsoft.com/office/drawing/2014/main" id="{370ED5EA-0E1C-CEB4-6F34-BE12564AA41C}"/>
              </a:ext>
            </a:extLst>
          </p:cNvPr>
          <p:cNvSpPr/>
          <p:nvPr/>
        </p:nvSpPr>
        <p:spPr>
          <a:xfrm>
            <a:off x="548640" y="6419088"/>
            <a:ext cx="4572000" cy="274320"/>
          </a:xfrm>
          <a:prstGeom prst="rect">
            <a:avLst/>
          </a:prstGeom>
          <a:noFill/>
          <a:ln/>
        </p:spPr>
        <p:txBody>
          <a:bodyPr wrap="square" lIns="0" tIns="0" rIns="0" bIns="0" rtlCol="0" anchor="ctr"/>
          <a:lstStyle/>
          <a:p>
            <a:pPr marL="0" indent="0">
              <a:buNone/>
            </a:pPr>
            <a:r>
              <a:rPr lang="en-US" sz="900" dirty="0">
                <a:solidFill>
                  <a:srgbClr val="6E6E6E"/>
                </a:solidFill>
                <a:latin typeface="Arial" pitchFamily="34" charset="0"/>
                <a:ea typeface="Arial" pitchFamily="34" charset="-122"/>
                <a:cs typeface="Arial" pitchFamily="34" charset="-120"/>
              </a:rPr>
              <a:t>SMALL PRECISION TOOLS</a:t>
            </a:r>
            <a:endParaRPr lang="en-US" sz="900" dirty="0"/>
          </a:p>
        </p:txBody>
      </p:sp>
      <p:sp>
        <p:nvSpPr>
          <p:cNvPr id="15" name="Text 13">
            <a:extLst>
              <a:ext uri="{FF2B5EF4-FFF2-40B4-BE49-F238E27FC236}">
                <a16:creationId xmlns:a16="http://schemas.microsoft.com/office/drawing/2014/main" id="{00AB46B0-0639-A9A7-35D6-A0ADE9B2E2ED}"/>
              </a:ext>
            </a:extLst>
          </p:cNvPr>
          <p:cNvSpPr/>
          <p:nvPr/>
        </p:nvSpPr>
        <p:spPr>
          <a:xfrm>
            <a:off x="4709160" y="6419088"/>
            <a:ext cx="2743200" cy="274320"/>
          </a:xfrm>
          <a:prstGeom prst="rect">
            <a:avLst/>
          </a:prstGeom>
          <a:noFill/>
          <a:ln/>
        </p:spPr>
        <p:txBody>
          <a:bodyPr wrap="square" lIns="0" tIns="0" rIns="0" bIns="0" rtlCol="0" anchor="ctr"/>
          <a:lstStyle/>
          <a:p>
            <a:pPr marL="0" indent="0" algn="ctr">
              <a:buNone/>
            </a:pPr>
            <a:r>
              <a:rPr lang="en-US" sz="900" dirty="0">
                <a:solidFill>
                  <a:srgbClr val="6E6E6E"/>
                </a:solidFill>
                <a:latin typeface="Arial" pitchFamily="34" charset="0"/>
                <a:ea typeface="Arial" pitchFamily="34" charset="-122"/>
                <a:cs typeface="Arial" pitchFamily="34" charset="-120"/>
              </a:rPr>
              <a:t>Confidential</a:t>
            </a:r>
            <a:endParaRPr lang="en-US" sz="900" dirty="0"/>
          </a:p>
        </p:txBody>
      </p:sp>
      <p:sp>
        <p:nvSpPr>
          <p:cNvPr id="5" name="TextBox 4">
            <a:extLst>
              <a:ext uri="{FF2B5EF4-FFF2-40B4-BE49-F238E27FC236}">
                <a16:creationId xmlns:a16="http://schemas.microsoft.com/office/drawing/2014/main" id="{063D8AF6-1B7B-5DE1-8C47-E3A01FBD01C3}"/>
              </a:ext>
            </a:extLst>
          </p:cNvPr>
          <p:cNvSpPr txBox="1"/>
          <p:nvPr/>
        </p:nvSpPr>
        <p:spPr>
          <a:xfrm>
            <a:off x="760306" y="759882"/>
            <a:ext cx="8536093" cy="523220"/>
          </a:xfrm>
          <a:prstGeom prst="rect">
            <a:avLst/>
          </a:prstGeom>
          <a:noFill/>
        </p:spPr>
        <p:txBody>
          <a:bodyPr wrap="square" rtlCol="0">
            <a:spAutoFit/>
          </a:bodyPr>
          <a:lstStyle/>
          <a:p>
            <a:r>
              <a:rPr lang="en-US" sz="1400" b="1" dirty="0">
                <a:latin typeface="Tahoma" panose="020B0604030504040204" pitchFamily="34" charset="0"/>
                <a:ea typeface="Tahoma" panose="020B0604030504040204" pitchFamily="34" charset="0"/>
                <a:cs typeface="Tahoma" panose="020B0604030504040204" pitchFamily="34" charset="0"/>
              </a:rPr>
              <a:t>ABT Series – PGB Customer / Production Drawings: </a:t>
            </a:r>
            <a:br>
              <a:rPr lang="en-US" sz="1400" b="1" dirty="0">
                <a:latin typeface="Tahoma" panose="020B0604030504040204" pitchFamily="34" charset="0"/>
                <a:ea typeface="Tahoma" panose="020B0604030504040204" pitchFamily="34" charset="0"/>
                <a:cs typeface="Tahoma" panose="020B0604030504040204" pitchFamily="34" charset="0"/>
              </a:rPr>
            </a:br>
            <a:r>
              <a:rPr lang="en-US" sz="1400" dirty="0">
                <a:latin typeface="Tahoma" panose="020B0604030504040204" pitchFamily="34" charset="0"/>
                <a:ea typeface="Tahoma" panose="020B0604030504040204" pitchFamily="34" charset="0"/>
                <a:cs typeface="Tahoma" panose="020B0604030504040204" pitchFamily="34" charset="0"/>
              </a:rPr>
              <a:t>Detail view in case of PGB : </a:t>
            </a:r>
          </a:p>
        </p:txBody>
      </p:sp>
      <p:sp>
        <p:nvSpPr>
          <p:cNvPr id="7" name="Shape 1">
            <a:extLst>
              <a:ext uri="{FF2B5EF4-FFF2-40B4-BE49-F238E27FC236}">
                <a16:creationId xmlns:a16="http://schemas.microsoft.com/office/drawing/2014/main" id="{D99A5E2E-1BFC-7074-614D-AC6E8EC7CF60}"/>
              </a:ext>
            </a:extLst>
          </p:cNvPr>
          <p:cNvSpPr/>
          <p:nvPr/>
        </p:nvSpPr>
        <p:spPr>
          <a:xfrm>
            <a:off x="563880" y="889684"/>
            <a:ext cx="109728" cy="109728"/>
          </a:xfrm>
          <a:prstGeom prst="rect">
            <a:avLst/>
          </a:prstGeom>
          <a:solidFill>
            <a:srgbClr val="FF0000"/>
          </a:solidFill>
          <a:ln/>
        </p:spPr>
        <p:txBody>
          <a:bodyPr/>
          <a:lstStyle/>
          <a:p>
            <a:endParaRPr lang="en-US" dirty="0"/>
          </a:p>
        </p:txBody>
      </p:sp>
      <p:sp>
        <p:nvSpPr>
          <p:cNvPr id="11" name="TextBox 10">
            <a:extLst>
              <a:ext uri="{FF2B5EF4-FFF2-40B4-BE49-F238E27FC236}">
                <a16:creationId xmlns:a16="http://schemas.microsoft.com/office/drawing/2014/main" id="{6887F4D4-34A1-70EE-DE4C-498CD24C2DA0}"/>
              </a:ext>
            </a:extLst>
          </p:cNvPr>
          <p:cNvSpPr txBox="1"/>
          <p:nvPr/>
        </p:nvSpPr>
        <p:spPr>
          <a:xfrm>
            <a:off x="3076787" y="1434729"/>
            <a:ext cx="8536093" cy="2031325"/>
          </a:xfrm>
          <a:prstGeom prst="rect">
            <a:avLst/>
          </a:prstGeom>
          <a:noFill/>
        </p:spPr>
        <p:txBody>
          <a:bodyPr wrap="square" rtlCol="0">
            <a:spAutoFit/>
          </a:bodyPr>
          <a:lstStyle/>
          <a:p>
            <a:r>
              <a:rPr lang="en-US" sz="1400" dirty="0">
                <a:latin typeface="Tahoma" panose="020B0604030504040204" pitchFamily="34" charset="0"/>
                <a:ea typeface="Tahoma" panose="020B0604030504040204" pitchFamily="34" charset="0"/>
                <a:cs typeface="Tahoma" panose="020B0604030504040204" pitchFamily="34" charset="0"/>
              </a:rPr>
              <a:t>Detail view have many annotation, all the annotation are from </a:t>
            </a:r>
            <a:br>
              <a:rPr lang="en-US" sz="1400" dirty="0">
                <a:latin typeface="Tahoma" panose="020B0604030504040204" pitchFamily="34" charset="0"/>
                <a:ea typeface="Tahoma" panose="020B0604030504040204" pitchFamily="34" charset="0"/>
                <a:cs typeface="Tahoma" panose="020B0604030504040204" pitchFamily="34" charset="0"/>
              </a:rPr>
            </a:b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annotation_right_plan</a:t>
            </a:r>
            <a:b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br>
            <a:b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br>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W@annotation_right_plan</a:t>
            </a:r>
            <a:b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br>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ISA@annotation_right_plan</a:t>
            </a:r>
            <a:b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br>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VW@annotation_right_plan</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 </a:t>
            </a:r>
            <a:r>
              <a:rPr lang="en-US" sz="1400" dirty="0">
                <a:latin typeface="Tahoma" panose="020B0604030504040204" pitchFamily="34" charset="0"/>
                <a:ea typeface="Tahoma" panose="020B0604030504040204" pitchFamily="34" charset="0"/>
                <a:cs typeface="Tahoma" panose="020B0604030504040204" pitchFamily="34" charset="0"/>
              </a:rPr>
              <a:t>Optional</a:t>
            </a:r>
            <a:b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br>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VRA@annotation_right_plan</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 </a:t>
            </a:r>
            <a:r>
              <a:rPr lang="en-US" sz="1400" dirty="0">
                <a:latin typeface="Tahoma" panose="020B0604030504040204" pitchFamily="34" charset="0"/>
                <a:ea typeface="Tahoma" panose="020B0604030504040204" pitchFamily="34" charset="0"/>
                <a:cs typeface="Tahoma" panose="020B0604030504040204" pitchFamily="34" charset="0"/>
              </a:rPr>
              <a:t>Optional</a:t>
            </a:r>
            <a:b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br>
            <a:b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br>
            <a:r>
              <a:rPr lang="en-US" sz="1400" dirty="0">
                <a:latin typeface="Tahoma" panose="020B0604030504040204" pitchFamily="34" charset="0"/>
                <a:ea typeface="Tahoma" panose="020B0604030504040204" pitchFamily="34" charset="0"/>
                <a:cs typeface="Tahoma" panose="020B0604030504040204" pitchFamily="34" charset="0"/>
              </a:rPr>
              <a:t>The view can be positioned based on your preference</a:t>
            </a:r>
            <a:endPar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endParaRPr>
          </a:p>
        </p:txBody>
      </p:sp>
      <p:pic>
        <p:nvPicPr>
          <p:cNvPr id="4" name="Picture 3">
            <a:extLst>
              <a:ext uri="{FF2B5EF4-FFF2-40B4-BE49-F238E27FC236}">
                <a16:creationId xmlns:a16="http://schemas.microsoft.com/office/drawing/2014/main" id="{9CAF9653-F7C5-E629-0F46-34E110F961A6}"/>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760306" y="1399962"/>
            <a:ext cx="1901903" cy="4861667"/>
          </a:xfrm>
          <a:prstGeom prst="rect">
            <a:avLst/>
          </a:prstGeom>
        </p:spPr>
      </p:pic>
    </p:spTree>
    <p:extLst>
      <p:ext uri="{BB962C8B-B14F-4D97-AF65-F5344CB8AC3E}">
        <p14:creationId xmlns:p14="http://schemas.microsoft.com/office/powerpoint/2010/main" val="70871660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99C701-A8E9-9248-DE75-CAAD20E53FD3}"/>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9D051164-A092-A691-A55B-E13EA2215F74}"/>
              </a:ext>
            </a:extLst>
          </p:cNvPr>
          <p:cNvSpPr/>
          <p:nvPr/>
        </p:nvSpPr>
        <p:spPr>
          <a:xfrm>
            <a:off x="548640" y="119802"/>
            <a:ext cx="11064240" cy="640080"/>
          </a:xfrm>
          <a:prstGeom prst="rect">
            <a:avLst/>
          </a:prstGeom>
          <a:noFill/>
          <a:ln/>
        </p:spPr>
        <p:txBody>
          <a:bodyPr wrap="square" lIns="0" tIns="0" rIns="0" bIns="0" rtlCol="0" anchor="ctr"/>
          <a:lstStyle/>
          <a:p>
            <a:pPr marL="0" indent="0">
              <a:buNone/>
            </a:pPr>
            <a:r>
              <a:rPr lang="en-US" sz="2800" b="1" dirty="0">
                <a:solidFill>
                  <a:srgbClr val="FF0000"/>
                </a:solidFill>
                <a:latin typeface="Arial" pitchFamily="34" charset="0"/>
                <a:ea typeface="Arial" pitchFamily="34" charset="-122"/>
                <a:cs typeface="Arial" pitchFamily="34" charset="-120"/>
              </a:rPr>
              <a:t>Rules</a:t>
            </a:r>
            <a:endParaRPr lang="en-US" sz="2800" dirty="0">
              <a:solidFill>
                <a:srgbClr val="FF0000"/>
              </a:solidFill>
            </a:endParaRPr>
          </a:p>
        </p:txBody>
      </p:sp>
      <p:sp>
        <p:nvSpPr>
          <p:cNvPr id="13" name="Shape 11">
            <a:extLst>
              <a:ext uri="{FF2B5EF4-FFF2-40B4-BE49-F238E27FC236}">
                <a16:creationId xmlns:a16="http://schemas.microsoft.com/office/drawing/2014/main" id="{1F6A13CD-6DB3-A2C0-AB27-1935DE34FFE8}"/>
              </a:ext>
            </a:extLst>
          </p:cNvPr>
          <p:cNvSpPr/>
          <p:nvPr/>
        </p:nvSpPr>
        <p:spPr>
          <a:xfrm>
            <a:off x="548640" y="6419088"/>
            <a:ext cx="11064240" cy="0"/>
          </a:xfrm>
          <a:prstGeom prst="line">
            <a:avLst/>
          </a:prstGeom>
          <a:noFill/>
          <a:ln w="9525">
            <a:solidFill>
              <a:srgbClr val="E4E4E4"/>
            </a:solidFill>
            <a:prstDash val="solid"/>
          </a:ln>
        </p:spPr>
        <p:txBody>
          <a:bodyPr/>
          <a:lstStyle/>
          <a:p>
            <a:endParaRPr lang="en-US" dirty="0"/>
          </a:p>
        </p:txBody>
      </p:sp>
      <p:sp>
        <p:nvSpPr>
          <p:cNvPr id="14" name="Text 12">
            <a:extLst>
              <a:ext uri="{FF2B5EF4-FFF2-40B4-BE49-F238E27FC236}">
                <a16:creationId xmlns:a16="http://schemas.microsoft.com/office/drawing/2014/main" id="{64AF092E-3203-FC5C-F927-855ECEF0BA7F}"/>
              </a:ext>
            </a:extLst>
          </p:cNvPr>
          <p:cNvSpPr/>
          <p:nvPr/>
        </p:nvSpPr>
        <p:spPr>
          <a:xfrm>
            <a:off x="548640" y="6419088"/>
            <a:ext cx="4572000" cy="274320"/>
          </a:xfrm>
          <a:prstGeom prst="rect">
            <a:avLst/>
          </a:prstGeom>
          <a:noFill/>
          <a:ln/>
        </p:spPr>
        <p:txBody>
          <a:bodyPr wrap="square" lIns="0" tIns="0" rIns="0" bIns="0" rtlCol="0" anchor="ctr"/>
          <a:lstStyle/>
          <a:p>
            <a:pPr marL="0" indent="0">
              <a:buNone/>
            </a:pPr>
            <a:r>
              <a:rPr lang="en-US" sz="900" dirty="0">
                <a:solidFill>
                  <a:srgbClr val="6E6E6E"/>
                </a:solidFill>
                <a:latin typeface="Arial" pitchFamily="34" charset="0"/>
                <a:ea typeface="Arial" pitchFamily="34" charset="-122"/>
                <a:cs typeface="Arial" pitchFamily="34" charset="-120"/>
              </a:rPr>
              <a:t>SMALL PRECISION TOOLS</a:t>
            </a:r>
            <a:endParaRPr lang="en-US" sz="900" dirty="0"/>
          </a:p>
        </p:txBody>
      </p:sp>
      <p:sp>
        <p:nvSpPr>
          <p:cNvPr id="15" name="Text 13">
            <a:extLst>
              <a:ext uri="{FF2B5EF4-FFF2-40B4-BE49-F238E27FC236}">
                <a16:creationId xmlns:a16="http://schemas.microsoft.com/office/drawing/2014/main" id="{14B0EE9B-42E4-2F90-DB5C-7BDB7B2AF356}"/>
              </a:ext>
            </a:extLst>
          </p:cNvPr>
          <p:cNvSpPr/>
          <p:nvPr/>
        </p:nvSpPr>
        <p:spPr>
          <a:xfrm>
            <a:off x="4709160" y="6419088"/>
            <a:ext cx="2743200" cy="274320"/>
          </a:xfrm>
          <a:prstGeom prst="rect">
            <a:avLst/>
          </a:prstGeom>
          <a:noFill/>
          <a:ln/>
        </p:spPr>
        <p:txBody>
          <a:bodyPr wrap="square" lIns="0" tIns="0" rIns="0" bIns="0" rtlCol="0" anchor="ctr"/>
          <a:lstStyle/>
          <a:p>
            <a:pPr marL="0" indent="0" algn="ctr">
              <a:buNone/>
            </a:pPr>
            <a:r>
              <a:rPr lang="en-US" sz="900" dirty="0">
                <a:solidFill>
                  <a:srgbClr val="6E6E6E"/>
                </a:solidFill>
                <a:latin typeface="Arial" pitchFamily="34" charset="0"/>
                <a:ea typeface="Arial" pitchFamily="34" charset="-122"/>
                <a:cs typeface="Arial" pitchFamily="34" charset="-120"/>
              </a:rPr>
              <a:t>Confidential</a:t>
            </a:r>
            <a:endParaRPr lang="en-US" sz="900" dirty="0"/>
          </a:p>
        </p:txBody>
      </p:sp>
      <p:sp>
        <p:nvSpPr>
          <p:cNvPr id="5" name="TextBox 4">
            <a:extLst>
              <a:ext uri="{FF2B5EF4-FFF2-40B4-BE49-F238E27FC236}">
                <a16:creationId xmlns:a16="http://schemas.microsoft.com/office/drawing/2014/main" id="{4A3A856D-CE2E-8F25-486A-442C16EA5A2B}"/>
              </a:ext>
            </a:extLst>
          </p:cNvPr>
          <p:cNvSpPr txBox="1"/>
          <p:nvPr/>
        </p:nvSpPr>
        <p:spPr>
          <a:xfrm>
            <a:off x="760306" y="759882"/>
            <a:ext cx="8536093" cy="523220"/>
          </a:xfrm>
          <a:prstGeom prst="rect">
            <a:avLst/>
          </a:prstGeom>
          <a:noFill/>
        </p:spPr>
        <p:txBody>
          <a:bodyPr wrap="square" rtlCol="0">
            <a:spAutoFit/>
          </a:bodyPr>
          <a:lstStyle/>
          <a:p>
            <a:r>
              <a:rPr lang="en-US" sz="1400" b="1" dirty="0">
                <a:latin typeface="Tahoma" panose="020B0604030504040204" pitchFamily="34" charset="0"/>
                <a:ea typeface="Tahoma" panose="020B0604030504040204" pitchFamily="34" charset="0"/>
                <a:cs typeface="Tahoma" panose="020B0604030504040204" pitchFamily="34" charset="0"/>
              </a:rPr>
              <a:t>ABT Series – PGB Customer / Production Drawings: </a:t>
            </a:r>
            <a:br>
              <a:rPr lang="en-US" sz="1400" b="1" dirty="0">
                <a:latin typeface="Tahoma" panose="020B0604030504040204" pitchFamily="34" charset="0"/>
                <a:ea typeface="Tahoma" panose="020B0604030504040204" pitchFamily="34" charset="0"/>
                <a:cs typeface="Tahoma" panose="020B0604030504040204" pitchFamily="34" charset="0"/>
              </a:rPr>
            </a:br>
            <a:r>
              <a:rPr lang="en-US" sz="1400" dirty="0">
                <a:latin typeface="Tahoma" panose="020B0604030504040204" pitchFamily="34" charset="0"/>
                <a:ea typeface="Tahoma" panose="020B0604030504040204" pitchFamily="34" charset="0"/>
                <a:cs typeface="Tahoma" panose="020B0604030504040204" pitchFamily="34" charset="0"/>
              </a:rPr>
              <a:t>Section</a:t>
            </a:r>
            <a:r>
              <a:rPr lang="en-US" sz="1400" b="1" dirty="0">
                <a:latin typeface="Tahoma" panose="020B0604030504040204" pitchFamily="34" charset="0"/>
                <a:ea typeface="Tahoma" panose="020B0604030504040204" pitchFamily="34" charset="0"/>
                <a:cs typeface="Tahoma" panose="020B0604030504040204" pitchFamily="34" charset="0"/>
              </a:rPr>
              <a:t> </a:t>
            </a:r>
            <a:r>
              <a:rPr lang="en-US" sz="1400" dirty="0">
                <a:latin typeface="Tahoma" panose="020B0604030504040204" pitchFamily="34" charset="0"/>
                <a:ea typeface="Tahoma" panose="020B0604030504040204" pitchFamily="34" charset="0"/>
                <a:cs typeface="Tahoma" panose="020B0604030504040204" pitchFamily="34" charset="0"/>
              </a:rPr>
              <a:t>view in case of PGB : </a:t>
            </a:r>
          </a:p>
        </p:txBody>
      </p:sp>
      <p:sp>
        <p:nvSpPr>
          <p:cNvPr id="7" name="Shape 1">
            <a:extLst>
              <a:ext uri="{FF2B5EF4-FFF2-40B4-BE49-F238E27FC236}">
                <a16:creationId xmlns:a16="http://schemas.microsoft.com/office/drawing/2014/main" id="{FD5D9B35-A524-50A1-5985-FA827409932F}"/>
              </a:ext>
            </a:extLst>
          </p:cNvPr>
          <p:cNvSpPr/>
          <p:nvPr/>
        </p:nvSpPr>
        <p:spPr>
          <a:xfrm>
            <a:off x="563880" y="889684"/>
            <a:ext cx="109728" cy="109728"/>
          </a:xfrm>
          <a:prstGeom prst="rect">
            <a:avLst/>
          </a:prstGeom>
          <a:solidFill>
            <a:srgbClr val="FF0000"/>
          </a:solidFill>
          <a:ln/>
        </p:spPr>
        <p:txBody>
          <a:bodyPr/>
          <a:lstStyle/>
          <a:p>
            <a:endParaRPr lang="en-US" dirty="0"/>
          </a:p>
        </p:txBody>
      </p:sp>
      <p:sp>
        <p:nvSpPr>
          <p:cNvPr id="11" name="TextBox 10">
            <a:extLst>
              <a:ext uri="{FF2B5EF4-FFF2-40B4-BE49-F238E27FC236}">
                <a16:creationId xmlns:a16="http://schemas.microsoft.com/office/drawing/2014/main" id="{9A9D794A-7617-1F5F-EE50-E3440B78B657}"/>
              </a:ext>
            </a:extLst>
          </p:cNvPr>
          <p:cNvSpPr txBox="1"/>
          <p:nvPr/>
        </p:nvSpPr>
        <p:spPr>
          <a:xfrm>
            <a:off x="3655907" y="1399962"/>
            <a:ext cx="8536093" cy="2893100"/>
          </a:xfrm>
          <a:prstGeom prst="rect">
            <a:avLst/>
          </a:prstGeom>
          <a:noFill/>
        </p:spPr>
        <p:txBody>
          <a:bodyPr wrap="square" rtlCol="0">
            <a:spAutoFit/>
          </a:bodyPr>
          <a:lstStyle/>
          <a:p>
            <a:r>
              <a:rPr lang="en-US" sz="1400" dirty="0">
                <a:latin typeface="Tahoma" panose="020B0604030504040204" pitchFamily="34" charset="0"/>
                <a:ea typeface="Tahoma" panose="020B0604030504040204" pitchFamily="34" charset="0"/>
                <a:cs typeface="Tahoma" panose="020B0604030504040204" pitchFamily="34" charset="0"/>
              </a:rPr>
              <a:t>Section view have many annotation, all the annotation are from </a:t>
            </a:r>
            <a:br>
              <a:rPr lang="en-US" sz="1400" dirty="0">
                <a:latin typeface="Tahoma" panose="020B0604030504040204" pitchFamily="34" charset="0"/>
                <a:ea typeface="Tahoma" panose="020B0604030504040204" pitchFamily="34" charset="0"/>
                <a:cs typeface="Tahoma" panose="020B0604030504040204" pitchFamily="34" charset="0"/>
              </a:rPr>
            </a:br>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annotation_std_front_plan</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 &amp; </a:t>
            </a:r>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annotation_rev_front_plan</a:t>
            </a:r>
            <a:b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br>
            <a:b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br>
            <a:r>
              <a:rPr lang="en-US" sz="1400" dirty="0">
                <a:latin typeface="Tahoma" panose="020B0604030504040204" pitchFamily="34" charset="0"/>
                <a:ea typeface="Tahoma" panose="020B0604030504040204" pitchFamily="34" charset="0"/>
                <a:cs typeface="Tahoma" panose="020B0604030504040204" pitchFamily="34" charset="0"/>
              </a:rPr>
              <a:t>In case of </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SYLE_STD </a:t>
            </a:r>
            <a:r>
              <a:rPr lang="en-US" sz="1400" dirty="0">
                <a:latin typeface="Tahoma" panose="020B0604030504040204" pitchFamily="34" charset="0"/>
                <a:ea typeface="Tahoma" panose="020B0604030504040204" pitchFamily="34" charset="0"/>
                <a:cs typeface="Tahoma" panose="020B0604030504040204" pitchFamily="34" charset="0"/>
              </a:rPr>
              <a:t>we show only : </a:t>
            </a:r>
            <a:br>
              <a:rPr lang="en-US" sz="1400" dirty="0">
                <a:latin typeface="Tahoma" panose="020B0604030504040204" pitchFamily="34" charset="0"/>
                <a:ea typeface="Tahoma" panose="020B0604030504040204" pitchFamily="34" charset="0"/>
                <a:cs typeface="Tahoma" panose="020B0604030504040204" pitchFamily="34" charset="0"/>
              </a:rPr>
            </a:b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FL@ </a:t>
            </a:r>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annotation_std_front_plan</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 </a:t>
            </a:r>
          </a:p>
          <a:p>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T@ </a:t>
            </a:r>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annotation_std_front_plan</a:t>
            </a:r>
            <a:b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br>
            <a:b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br>
            <a:r>
              <a:rPr lang="en-US" sz="1400" dirty="0">
                <a:latin typeface="Tahoma" panose="020B0604030504040204" pitchFamily="34" charset="0"/>
                <a:ea typeface="Tahoma" panose="020B0604030504040204" pitchFamily="34" charset="0"/>
                <a:cs typeface="Tahoma" panose="020B0604030504040204" pitchFamily="34" charset="0"/>
              </a:rPr>
              <a:t>In case of </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SYLE_180_DEG_REV </a:t>
            </a:r>
            <a:r>
              <a:rPr lang="en-US" sz="1400" dirty="0">
                <a:latin typeface="Tahoma" panose="020B0604030504040204" pitchFamily="34" charset="0"/>
                <a:ea typeface="Tahoma" panose="020B0604030504040204" pitchFamily="34" charset="0"/>
                <a:cs typeface="Tahoma" panose="020B0604030504040204" pitchFamily="34" charset="0"/>
              </a:rPr>
              <a:t>we show only : </a:t>
            </a:r>
            <a:br>
              <a:rPr lang="en-US" sz="1400" dirty="0">
                <a:latin typeface="Tahoma" panose="020B0604030504040204" pitchFamily="34" charset="0"/>
                <a:ea typeface="Tahoma" panose="020B0604030504040204" pitchFamily="34" charset="0"/>
                <a:cs typeface="Tahoma" panose="020B0604030504040204" pitchFamily="34" charset="0"/>
              </a:rPr>
            </a:b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FL@ </a:t>
            </a:r>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annotation_rev_front_plan</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 </a:t>
            </a:r>
          </a:p>
          <a:p>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T@ </a:t>
            </a:r>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annotation_rev_front_plan</a:t>
            </a:r>
            <a:endPar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endParaRPr>
          </a:p>
          <a:p>
            <a:endPar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endParaRPr>
          </a:p>
          <a:p>
            <a:b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br>
            <a:r>
              <a:rPr lang="en-US" sz="1400" dirty="0">
                <a:latin typeface="Tahoma" panose="020B0604030504040204" pitchFamily="34" charset="0"/>
                <a:ea typeface="Tahoma" panose="020B0604030504040204" pitchFamily="34" charset="0"/>
                <a:cs typeface="Tahoma" panose="020B0604030504040204" pitchFamily="34" charset="0"/>
              </a:rPr>
              <a:t>The view can be positioned based on your preference</a:t>
            </a:r>
            <a:endPar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endParaRPr>
          </a:p>
        </p:txBody>
      </p:sp>
      <p:pic>
        <p:nvPicPr>
          <p:cNvPr id="6" name="Picture 5">
            <a:extLst>
              <a:ext uri="{FF2B5EF4-FFF2-40B4-BE49-F238E27FC236}">
                <a16:creationId xmlns:a16="http://schemas.microsoft.com/office/drawing/2014/main" id="{77178042-9BED-F7B9-0619-45D4A20CFEA8}"/>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93133" y="1491761"/>
            <a:ext cx="3218176" cy="3874477"/>
          </a:xfrm>
          <a:prstGeom prst="rect">
            <a:avLst/>
          </a:prstGeom>
        </p:spPr>
      </p:pic>
    </p:spTree>
    <p:extLst>
      <p:ext uri="{BB962C8B-B14F-4D97-AF65-F5344CB8AC3E}">
        <p14:creationId xmlns:p14="http://schemas.microsoft.com/office/powerpoint/2010/main" val="406633210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A0C650-6AF3-56A0-9FC6-0E9234840806}"/>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295F943C-D517-DC64-4A24-1FA144B2FDC6}"/>
              </a:ext>
            </a:extLst>
          </p:cNvPr>
          <p:cNvSpPr/>
          <p:nvPr/>
        </p:nvSpPr>
        <p:spPr>
          <a:xfrm>
            <a:off x="548640" y="119802"/>
            <a:ext cx="11064240" cy="640080"/>
          </a:xfrm>
          <a:prstGeom prst="rect">
            <a:avLst/>
          </a:prstGeom>
          <a:noFill/>
          <a:ln/>
        </p:spPr>
        <p:txBody>
          <a:bodyPr wrap="square" lIns="0" tIns="0" rIns="0" bIns="0" rtlCol="0" anchor="ctr"/>
          <a:lstStyle/>
          <a:p>
            <a:pPr marL="0" indent="0">
              <a:buNone/>
            </a:pPr>
            <a:r>
              <a:rPr lang="en-US" sz="2800" b="1" dirty="0">
                <a:solidFill>
                  <a:srgbClr val="FF0000"/>
                </a:solidFill>
                <a:latin typeface="Arial" pitchFamily="34" charset="0"/>
                <a:ea typeface="Arial" pitchFamily="34" charset="-122"/>
                <a:cs typeface="Arial" pitchFamily="34" charset="-120"/>
              </a:rPr>
              <a:t>Rules</a:t>
            </a:r>
            <a:endParaRPr lang="en-US" sz="2800" dirty="0">
              <a:solidFill>
                <a:srgbClr val="FF0000"/>
              </a:solidFill>
            </a:endParaRPr>
          </a:p>
        </p:txBody>
      </p:sp>
      <p:sp>
        <p:nvSpPr>
          <p:cNvPr id="13" name="Shape 11">
            <a:extLst>
              <a:ext uri="{FF2B5EF4-FFF2-40B4-BE49-F238E27FC236}">
                <a16:creationId xmlns:a16="http://schemas.microsoft.com/office/drawing/2014/main" id="{230C8699-0E73-9D6D-70A5-0A86F11131C9}"/>
              </a:ext>
            </a:extLst>
          </p:cNvPr>
          <p:cNvSpPr/>
          <p:nvPr/>
        </p:nvSpPr>
        <p:spPr>
          <a:xfrm>
            <a:off x="548640" y="6419088"/>
            <a:ext cx="11064240" cy="0"/>
          </a:xfrm>
          <a:prstGeom prst="line">
            <a:avLst/>
          </a:prstGeom>
          <a:noFill/>
          <a:ln w="9525">
            <a:solidFill>
              <a:srgbClr val="E4E4E4"/>
            </a:solidFill>
            <a:prstDash val="solid"/>
          </a:ln>
        </p:spPr>
        <p:txBody>
          <a:bodyPr/>
          <a:lstStyle/>
          <a:p>
            <a:endParaRPr lang="en-US" dirty="0"/>
          </a:p>
        </p:txBody>
      </p:sp>
      <p:sp>
        <p:nvSpPr>
          <p:cNvPr id="14" name="Text 12">
            <a:extLst>
              <a:ext uri="{FF2B5EF4-FFF2-40B4-BE49-F238E27FC236}">
                <a16:creationId xmlns:a16="http://schemas.microsoft.com/office/drawing/2014/main" id="{EA9020F1-D766-F280-0D9A-28CCE2EE6E1A}"/>
              </a:ext>
            </a:extLst>
          </p:cNvPr>
          <p:cNvSpPr/>
          <p:nvPr/>
        </p:nvSpPr>
        <p:spPr>
          <a:xfrm>
            <a:off x="548640" y="6419088"/>
            <a:ext cx="4572000" cy="274320"/>
          </a:xfrm>
          <a:prstGeom prst="rect">
            <a:avLst/>
          </a:prstGeom>
          <a:noFill/>
          <a:ln/>
        </p:spPr>
        <p:txBody>
          <a:bodyPr wrap="square" lIns="0" tIns="0" rIns="0" bIns="0" rtlCol="0" anchor="ctr"/>
          <a:lstStyle/>
          <a:p>
            <a:pPr marL="0" indent="0">
              <a:buNone/>
            </a:pPr>
            <a:r>
              <a:rPr lang="en-US" sz="900" dirty="0">
                <a:solidFill>
                  <a:srgbClr val="6E6E6E"/>
                </a:solidFill>
                <a:latin typeface="Arial" pitchFamily="34" charset="0"/>
                <a:ea typeface="Arial" pitchFamily="34" charset="-122"/>
                <a:cs typeface="Arial" pitchFamily="34" charset="-120"/>
              </a:rPr>
              <a:t>SMALL PRECISION TOOLS</a:t>
            </a:r>
            <a:endParaRPr lang="en-US" sz="900" dirty="0"/>
          </a:p>
        </p:txBody>
      </p:sp>
      <p:sp>
        <p:nvSpPr>
          <p:cNvPr id="15" name="Text 13">
            <a:extLst>
              <a:ext uri="{FF2B5EF4-FFF2-40B4-BE49-F238E27FC236}">
                <a16:creationId xmlns:a16="http://schemas.microsoft.com/office/drawing/2014/main" id="{D3C7FCB0-8B4E-77DE-0530-960E748758CA}"/>
              </a:ext>
            </a:extLst>
          </p:cNvPr>
          <p:cNvSpPr/>
          <p:nvPr/>
        </p:nvSpPr>
        <p:spPr>
          <a:xfrm>
            <a:off x="4709160" y="6419088"/>
            <a:ext cx="2743200" cy="274320"/>
          </a:xfrm>
          <a:prstGeom prst="rect">
            <a:avLst/>
          </a:prstGeom>
          <a:noFill/>
          <a:ln/>
        </p:spPr>
        <p:txBody>
          <a:bodyPr wrap="square" lIns="0" tIns="0" rIns="0" bIns="0" rtlCol="0" anchor="ctr"/>
          <a:lstStyle/>
          <a:p>
            <a:pPr marL="0" indent="0" algn="ctr">
              <a:buNone/>
            </a:pPr>
            <a:r>
              <a:rPr lang="en-US" sz="900" dirty="0">
                <a:solidFill>
                  <a:srgbClr val="6E6E6E"/>
                </a:solidFill>
                <a:latin typeface="Arial" pitchFamily="34" charset="0"/>
                <a:ea typeface="Arial" pitchFamily="34" charset="-122"/>
                <a:cs typeface="Arial" pitchFamily="34" charset="-120"/>
              </a:rPr>
              <a:t>Confidential</a:t>
            </a:r>
            <a:endParaRPr lang="en-US" sz="900" dirty="0"/>
          </a:p>
        </p:txBody>
      </p:sp>
      <p:sp>
        <p:nvSpPr>
          <p:cNvPr id="5" name="TextBox 4">
            <a:extLst>
              <a:ext uri="{FF2B5EF4-FFF2-40B4-BE49-F238E27FC236}">
                <a16:creationId xmlns:a16="http://schemas.microsoft.com/office/drawing/2014/main" id="{879A5A2E-8F87-590A-755C-2C4B2BC8A404}"/>
              </a:ext>
            </a:extLst>
          </p:cNvPr>
          <p:cNvSpPr txBox="1"/>
          <p:nvPr/>
        </p:nvSpPr>
        <p:spPr>
          <a:xfrm>
            <a:off x="760306" y="759882"/>
            <a:ext cx="8536093" cy="523220"/>
          </a:xfrm>
          <a:prstGeom prst="rect">
            <a:avLst/>
          </a:prstGeom>
          <a:noFill/>
        </p:spPr>
        <p:txBody>
          <a:bodyPr wrap="square" rtlCol="0">
            <a:spAutoFit/>
          </a:bodyPr>
          <a:lstStyle/>
          <a:p>
            <a:r>
              <a:rPr lang="en-US" sz="1400" b="1" dirty="0">
                <a:latin typeface="Tahoma" panose="020B0604030504040204" pitchFamily="34" charset="0"/>
                <a:ea typeface="Tahoma" panose="020B0604030504040204" pitchFamily="34" charset="0"/>
                <a:cs typeface="Tahoma" panose="020B0604030504040204" pitchFamily="34" charset="0"/>
              </a:rPr>
              <a:t>ABT Series – FG Customer / Production Drawings: </a:t>
            </a:r>
            <a:br>
              <a:rPr lang="en-US" sz="1400" b="1" dirty="0">
                <a:latin typeface="Tahoma" panose="020B0604030504040204" pitchFamily="34" charset="0"/>
                <a:ea typeface="Tahoma" panose="020B0604030504040204" pitchFamily="34" charset="0"/>
                <a:cs typeface="Tahoma" panose="020B0604030504040204" pitchFamily="34" charset="0"/>
              </a:rPr>
            </a:br>
            <a:r>
              <a:rPr lang="en-US" sz="1400" dirty="0">
                <a:latin typeface="Tahoma" panose="020B0604030504040204" pitchFamily="34" charset="0"/>
                <a:ea typeface="Tahoma" panose="020B0604030504040204" pitchFamily="34" charset="0"/>
                <a:cs typeface="Tahoma" panose="020B0604030504040204" pitchFamily="34" charset="0"/>
              </a:rPr>
              <a:t>Front view in case of FG : </a:t>
            </a:r>
          </a:p>
        </p:txBody>
      </p:sp>
      <p:sp>
        <p:nvSpPr>
          <p:cNvPr id="7" name="Shape 1">
            <a:extLst>
              <a:ext uri="{FF2B5EF4-FFF2-40B4-BE49-F238E27FC236}">
                <a16:creationId xmlns:a16="http://schemas.microsoft.com/office/drawing/2014/main" id="{50BF857D-AA88-2E51-66F1-D5EF3D01DDC9}"/>
              </a:ext>
            </a:extLst>
          </p:cNvPr>
          <p:cNvSpPr/>
          <p:nvPr/>
        </p:nvSpPr>
        <p:spPr>
          <a:xfrm>
            <a:off x="563880" y="889684"/>
            <a:ext cx="109728" cy="109728"/>
          </a:xfrm>
          <a:prstGeom prst="rect">
            <a:avLst/>
          </a:prstGeom>
          <a:solidFill>
            <a:srgbClr val="FF0000"/>
          </a:solidFill>
          <a:ln/>
        </p:spPr>
        <p:txBody>
          <a:bodyPr/>
          <a:lstStyle/>
          <a:p>
            <a:endParaRPr lang="en-US" dirty="0"/>
          </a:p>
        </p:txBody>
      </p:sp>
      <p:sp>
        <p:nvSpPr>
          <p:cNvPr id="11" name="TextBox 10">
            <a:extLst>
              <a:ext uri="{FF2B5EF4-FFF2-40B4-BE49-F238E27FC236}">
                <a16:creationId xmlns:a16="http://schemas.microsoft.com/office/drawing/2014/main" id="{FAA378D2-0E38-FFF5-C397-3D92200D860F}"/>
              </a:ext>
            </a:extLst>
          </p:cNvPr>
          <p:cNvSpPr txBox="1"/>
          <p:nvPr/>
        </p:nvSpPr>
        <p:spPr>
          <a:xfrm>
            <a:off x="3076787" y="1434729"/>
            <a:ext cx="8536093" cy="3108543"/>
          </a:xfrm>
          <a:prstGeom prst="rect">
            <a:avLst/>
          </a:prstGeom>
          <a:noFill/>
        </p:spPr>
        <p:txBody>
          <a:bodyPr wrap="square" rtlCol="0">
            <a:spAutoFit/>
          </a:bodyPr>
          <a:lstStyle/>
          <a:p>
            <a:r>
              <a:rPr lang="en-US" sz="1400" dirty="0">
                <a:latin typeface="Tahoma" panose="020B0604030504040204" pitchFamily="34" charset="0"/>
                <a:ea typeface="Tahoma" panose="020B0604030504040204" pitchFamily="34" charset="0"/>
                <a:cs typeface="Tahoma" panose="020B0604030504040204" pitchFamily="34" charset="0"/>
              </a:rPr>
              <a:t>Front view have many annotation, all the annotation are from </a:t>
            </a:r>
            <a:br>
              <a:rPr lang="en-US" sz="1400" dirty="0">
                <a:latin typeface="Tahoma" panose="020B0604030504040204" pitchFamily="34" charset="0"/>
                <a:ea typeface="Tahoma" panose="020B0604030504040204" pitchFamily="34" charset="0"/>
                <a:cs typeface="Tahoma" panose="020B0604030504040204" pitchFamily="34" charset="0"/>
              </a:rPr>
            </a:br>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annotation_std_front_plan</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 &amp; </a:t>
            </a:r>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annotation_rev_front_plan</a:t>
            </a:r>
            <a:b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br>
            <a:b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br>
            <a:r>
              <a:rPr lang="en-US" sz="1400" dirty="0">
                <a:latin typeface="Tahoma" panose="020B0604030504040204" pitchFamily="34" charset="0"/>
                <a:ea typeface="Tahoma" panose="020B0604030504040204" pitchFamily="34" charset="0"/>
                <a:cs typeface="Tahoma" panose="020B0604030504040204" pitchFamily="34" charset="0"/>
              </a:rPr>
              <a:t>In case of </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SYLE_STD </a:t>
            </a:r>
            <a:r>
              <a:rPr lang="en-US" sz="1400" dirty="0">
                <a:latin typeface="Tahoma" panose="020B0604030504040204" pitchFamily="34" charset="0"/>
                <a:ea typeface="Tahoma" panose="020B0604030504040204" pitchFamily="34" charset="0"/>
                <a:cs typeface="Tahoma" panose="020B0604030504040204" pitchFamily="34" charset="0"/>
              </a:rPr>
              <a:t>we show only : </a:t>
            </a:r>
            <a:br>
              <a:rPr lang="en-US" sz="1400" dirty="0">
                <a:latin typeface="Tahoma" panose="020B0604030504040204" pitchFamily="34" charset="0"/>
                <a:ea typeface="Tahoma" panose="020B0604030504040204" pitchFamily="34" charset="0"/>
                <a:cs typeface="Tahoma" panose="020B0604030504040204" pitchFamily="34" charset="0"/>
              </a:rPr>
            </a:br>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BA@annotation_std_front_plan</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 </a:t>
            </a:r>
            <a:b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br>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VBL@annotation_std_front_plan</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 </a:t>
            </a:r>
            <a:r>
              <a:rPr lang="en-US" sz="1400" dirty="0">
                <a:latin typeface="Tahoma" panose="020B0604030504040204" pitchFamily="34" charset="0"/>
                <a:ea typeface="Tahoma" panose="020B0604030504040204" pitchFamily="34" charset="0"/>
                <a:cs typeface="Tahoma" panose="020B0604030504040204" pitchFamily="34" charset="0"/>
              </a:rPr>
              <a:t>in case we have SLB feature</a:t>
            </a:r>
            <a:br>
              <a:rPr lang="en-US" sz="1400" dirty="0">
                <a:latin typeface="Tahoma" panose="020B0604030504040204" pitchFamily="34" charset="0"/>
                <a:ea typeface="Tahoma" panose="020B0604030504040204" pitchFamily="34" charset="0"/>
                <a:cs typeface="Tahoma" panose="020B0604030504040204" pitchFamily="34" charset="0"/>
              </a:rPr>
            </a:br>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BA_SLB@annotation_std_front_plan</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 </a:t>
            </a:r>
            <a:r>
              <a:rPr lang="en-US" sz="1400" dirty="0">
                <a:latin typeface="Tahoma" panose="020B0604030504040204" pitchFamily="34" charset="0"/>
                <a:ea typeface="Tahoma" panose="020B0604030504040204" pitchFamily="34" charset="0"/>
                <a:cs typeface="Tahoma" panose="020B0604030504040204" pitchFamily="34" charset="0"/>
              </a:rPr>
              <a:t>in case we have SLB feature</a:t>
            </a:r>
            <a:br>
              <a:rPr lang="en-US" sz="1400" dirty="0">
                <a:latin typeface="Tahoma" panose="020B0604030504040204" pitchFamily="34" charset="0"/>
                <a:ea typeface="Tahoma" panose="020B0604030504040204" pitchFamily="34" charset="0"/>
                <a:cs typeface="Tahoma" panose="020B0604030504040204" pitchFamily="34" charset="0"/>
              </a:rPr>
            </a:br>
            <a:br>
              <a:rPr lang="en-US" sz="1400" dirty="0">
                <a:latin typeface="Tahoma" panose="020B0604030504040204" pitchFamily="34" charset="0"/>
                <a:ea typeface="Tahoma" panose="020B0604030504040204" pitchFamily="34" charset="0"/>
                <a:cs typeface="Tahoma" panose="020B0604030504040204" pitchFamily="34" charset="0"/>
              </a:rPr>
            </a:br>
            <a:r>
              <a:rPr lang="en-US" sz="1400" dirty="0">
                <a:latin typeface="Tahoma" panose="020B0604030504040204" pitchFamily="34" charset="0"/>
                <a:ea typeface="Tahoma" panose="020B0604030504040204" pitchFamily="34" charset="0"/>
                <a:cs typeface="Tahoma" panose="020B0604030504040204" pitchFamily="34" charset="0"/>
              </a:rPr>
              <a:t>In case of </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SYLE_180_DEG_REV </a:t>
            </a:r>
            <a:r>
              <a:rPr lang="en-US" sz="1400" dirty="0">
                <a:latin typeface="Tahoma" panose="020B0604030504040204" pitchFamily="34" charset="0"/>
                <a:ea typeface="Tahoma" panose="020B0604030504040204" pitchFamily="34" charset="0"/>
                <a:cs typeface="Tahoma" panose="020B0604030504040204" pitchFamily="34" charset="0"/>
              </a:rPr>
              <a:t>we show only : </a:t>
            </a:r>
            <a:br>
              <a:rPr lang="en-US" sz="1400" dirty="0">
                <a:latin typeface="Tahoma" panose="020B0604030504040204" pitchFamily="34" charset="0"/>
                <a:ea typeface="Tahoma" panose="020B0604030504040204" pitchFamily="34" charset="0"/>
                <a:cs typeface="Tahoma" panose="020B0604030504040204" pitchFamily="34" charset="0"/>
              </a:rPr>
            </a:br>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BA@annotation_rev_front_plan</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 </a:t>
            </a:r>
            <a:b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br>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VBL@annotation_rev_front_plan</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 </a:t>
            </a:r>
            <a:r>
              <a:rPr lang="en-US" sz="1400" dirty="0">
                <a:latin typeface="Tahoma" panose="020B0604030504040204" pitchFamily="34" charset="0"/>
                <a:ea typeface="Tahoma" panose="020B0604030504040204" pitchFamily="34" charset="0"/>
                <a:cs typeface="Tahoma" panose="020B0604030504040204" pitchFamily="34" charset="0"/>
              </a:rPr>
              <a:t>in case we have SLB feature</a:t>
            </a:r>
            <a:br>
              <a:rPr lang="en-US" sz="1400" dirty="0">
                <a:latin typeface="Tahoma" panose="020B0604030504040204" pitchFamily="34" charset="0"/>
                <a:ea typeface="Tahoma" panose="020B0604030504040204" pitchFamily="34" charset="0"/>
                <a:cs typeface="Tahoma" panose="020B0604030504040204" pitchFamily="34" charset="0"/>
              </a:rPr>
            </a:br>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BA_SLB@annotation_rev_front_plan</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 </a:t>
            </a:r>
            <a:r>
              <a:rPr lang="en-US" sz="1400" dirty="0">
                <a:latin typeface="Tahoma" panose="020B0604030504040204" pitchFamily="34" charset="0"/>
                <a:ea typeface="Tahoma" panose="020B0604030504040204" pitchFamily="34" charset="0"/>
                <a:cs typeface="Tahoma" panose="020B0604030504040204" pitchFamily="34" charset="0"/>
              </a:rPr>
              <a:t>in case we have SLB feature</a:t>
            </a:r>
            <a:br>
              <a:rPr lang="en-US" sz="1400" dirty="0">
                <a:latin typeface="Tahoma" panose="020B0604030504040204" pitchFamily="34" charset="0"/>
                <a:ea typeface="Tahoma" panose="020B0604030504040204" pitchFamily="34" charset="0"/>
                <a:cs typeface="Tahoma" panose="020B0604030504040204" pitchFamily="34" charset="0"/>
              </a:rPr>
            </a:br>
            <a:b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br>
            <a:r>
              <a:rPr lang="en-US" sz="1400" dirty="0">
                <a:latin typeface="Tahoma" panose="020B0604030504040204" pitchFamily="34" charset="0"/>
                <a:ea typeface="Tahoma" panose="020B0604030504040204" pitchFamily="34" charset="0"/>
                <a:cs typeface="Tahoma" panose="020B0604030504040204" pitchFamily="34" charset="0"/>
              </a:rPr>
              <a:t>The view can be positioned based on your preference</a:t>
            </a:r>
            <a:endPar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endParaRPr>
          </a:p>
        </p:txBody>
      </p:sp>
      <p:pic>
        <p:nvPicPr>
          <p:cNvPr id="6" name="Picture 5">
            <a:extLst>
              <a:ext uri="{FF2B5EF4-FFF2-40B4-BE49-F238E27FC236}">
                <a16:creationId xmlns:a16="http://schemas.microsoft.com/office/drawing/2014/main" id="{2F9E59BA-259F-55A3-49FD-8E124BCBB992}"/>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760306" y="1150025"/>
            <a:ext cx="1356013" cy="4878919"/>
          </a:xfrm>
          <a:prstGeom prst="rect">
            <a:avLst/>
          </a:prstGeom>
        </p:spPr>
      </p:pic>
    </p:spTree>
    <p:extLst>
      <p:ext uri="{BB962C8B-B14F-4D97-AF65-F5344CB8AC3E}">
        <p14:creationId xmlns:p14="http://schemas.microsoft.com/office/powerpoint/2010/main" val="582211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83FEF7-DF86-F9B3-54A8-6825C1F79ED9}"/>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193A9888-98BD-2FBE-BBDB-5D105438EB08}"/>
              </a:ext>
            </a:extLst>
          </p:cNvPr>
          <p:cNvSpPr/>
          <p:nvPr/>
        </p:nvSpPr>
        <p:spPr>
          <a:xfrm>
            <a:off x="548640" y="119802"/>
            <a:ext cx="11064240" cy="640080"/>
          </a:xfrm>
          <a:prstGeom prst="rect">
            <a:avLst/>
          </a:prstGeom>
          <a:noFill/>
          <a:ln/>
        </p:spPr>
        <p:txBody>
          <a:bodyPr wrap="square" lIns="0" tIns="0" rIns="0" bIns="0" rtlCol="0" anchor="ctr"/>
          <a:lstStyle/>
          <a:p>
            <a:pPr marL="0" indent="0">
              <a:buNone/>
            </a:pPr>
            <a:r>
              <a:rPr lang="en-US" sz="2800" b="1" dirty="0">
                <a:solidFill>
                  <a:srgbClr val="FF0000"/>
                </a:solidFill>
                <a:latin typeface="Arial" pitchFamily="34" charset="0"/>
                <a:ea typeface="Arial" pitchFamily="34" charset="-122"/>
                <a:cs typeface="Arial" pitchFamily="34" charset="-120"/>
              </a:rPr>
              <a:t>Rules</a:t>
            </a:r>
            <a:endParaRPr lang="en-US" sz="2800" dirty="0">
              <a:solidFill>
                <a:srgbClr val="FF0000"/>
              </a:solidFill>
            </a:endParaRPr>
          </a:p>
        </p:txBody>
      </p:sp>
      <p:sp>
        <p:nvSpPr>
          <p:cNvPr id="13" name="Shape 11">
            <a:extLst>
              <a:ext uri="{FF2B5EF4-FFF2-40B4-BE49-F238E27FC236}">
                <a16:creationId xmlns:a16="http://schemas.microsoft.com/office/drawing/2014/main" id="{DC9CB857-CA68-4AE0-7BE2-CB4904EB25B7}"/>
              </a:ext>
            </a:extLst>
          </p:cNvPr>
          <p:cNvSpPr/>
          <p:nvPr/>
        </p:nvSpPr>
        <p:spPr>
          <a:xfrm>
            <a:off x="548640" y="6419088"/>
            <a:ext cx="11064240" cy="0"/>
          </a:xfrm>
          <a:prstGeom prst="line">
            <a:avLst/>
          </a:prstGeom>
          <a:noFill/>
          <a:ln w="9525">
            <a:solidFill>
              <a:srgbClr val="E4E4E4"/>
            </a:solidFill>
            <a:prstDash val="solid"/>
          </a:ln>
        </p:spPr>
        <p:txBody>
          <a:bodyPr/>
          <a:lstStyle/>
          <a:p>
            <a:endParaRPr lang="en-US" dirty="0"/>
          </a:p>
        </p:txBody>
      </p:sp>
      <p:sp>
        <p:nvSpPr>
          <p:cNvPr id="14" name="Text 12">
            <a:extLst>
              <a:ext uri="{FF2B5EF4-FFF2-40B4-BE49-F238E27FC236}">
                <a16:creationId xmlns:a16="http://schemas.microsoft.com/office/drawing/2014/main" id="{FEDD8259-DF83-989B-6214-E9457594435E}"/>
              </a:ext>
            </a:extLst>
          </p:cNvPr>
          <p:cNvSpPr/>
          <p:nvPr/>
        </p:nvSpPr>
        <p:spPr>
          <a:xfrm>
            <a:off x="548640" y="6419088"/>
            <a:ext cx="4572000" cy="274320"/>
          </a:xfrm>
          <a:prstGeom prst="rect">
            <a:avLst/>
          </a:prstGeom>
          <a:noFill/>
          <a:ln/>
        </p:spPr>
        <p:txBody>
          <a:bodyPr wrap="square" lIns="0" tIns="0" rIns="0" bIns="0" rtlCol="0" anchor="ctr"/>
          <a:lstStyle/>
          <a:p>
            <a:pPr marL="0" indent="0">
              <a:buNone/>
            </a:pPr>
            <a:r>
              <a:rPr lang="en-US" sz="900" dirty="0">
                <a:solidFill>
                  <a:srgbClr val="6E6E6E"/>
                </a:solidFill>
                <a:latin typeface="Arial" pitchFamily="34" charset="0"/>
                <a:ea typeface="Arial" pitchFamily="34" charset="-122"/>
                <a:cs typeface="Arial" pitchFamily="34" charset="-120"/>
              </a:rPr>
              <a:t>SMALL PRECISION TOOLS</a:t>
            </a:r>
            <a:endParaRPr lang="en-US" sz="900" dirty="0"/>
          </a:p>
        </p:txBody>
      </p:sp>
      <p:sp>
        <p:nvSpPr>
          <p:cNvPr id="15" name="Text 13">
            <a:extLst>
              <a:ext uri="{FF2B5EF4-FFF2-40B4-BE49-F238E27FC236}">
                <a16:creationId xmlns:a16="http://schemas.microsoft.com/office/drawing/2014/main" id="{A155FEA9-5118-C85F-3BC3-BAD928326880}"/>
              </a:ext>
            </a:extLst>
          </p:cNvPr>
          <p:cNvSpPr/>
          <p:nvPr/>
        </p:nvSpPr>
        <p:spPr>
          <a:xfrm>
            <a:off x="4709160" y="6419088"/>
            <a:ext cx="2743200" cy="274320"/>
          </a:xfrm>
          <a:prstGeom prst="rect">
            <a:avLst/>
          </a:prstGeom>
          <a:noFill/>
          <a:ln/>
        </p:spPr>
        <p:txBody>
          <a:bodyPr wrap="square" lIns="0" tIns="0" rIns="0" bIns="0" rtlCol="0" anchor="ctr"/>
          <a:lstStyle/>
          <a:p>
            <a:pPr marL="0" indent="0" algn="ctr">
              <a:buNone/>
            </a:pPr>
            <a:r>
              <a:rPr lang="en-US" sz="900" dirty="0">
                <a:solidFill>
                  <a:srgbClr val="6E6E6E"/>
                </a:solidFill>
                <a:latin typeface="Arial" pitchFamily="34" charset="0"/>
                <a:ea typeface="Arial" pitchFamily="34" charset="-122"/>
                <a:cs typeface="Arial" pitchFamily="34" charset="-120"/>
              </a:rPr>
              <a:t>Confidential</a:t>
            </a:r>
            <a:endParaRPr lang="en-US" sz="900" dirty="0"/>
          </a:p>
        </p:txBody>
      </p:sp>
      <p:sp>
        <p:nvSpPr>
          <p:cNvPr id="5" name="TextBox 4">
            <a:extLst>
              <a:ext uri="{FF2B5EF4-FFF2-40B4-BE49-F238E27FC236}">
                <a16:creationId xmlns:a16="http://schemas.microsoft.com/office/drawing/2014/main" id="{FA0D3E26-CE3C-EC5E-ED97-F28AA46FD5F0}"/>
              </a:ext>
            </a:extLst>
          </p:cNvPr>
          <p:cNvSpPr txBox="1"/>
          <p:nvPr/>
        </p:nvSpPr>
        <p:spPr>
          <a:xfrm>
            <a:off x="760306" y="759882"/>
            <a:ext cx="8536093" cy="523220"/>
          </a:xfrm>
          <a:prstGeom prst="rect">
            <a:avLst/>
          </a:prstGeom>
          <a:noFill/>
        </p:spPr>
        <p:txBody>
          <a:bodyPr wrap="square" rtlCol="0">
            <a:spAutoFit/>
          </a:bodyPr>
          <a:lstStyle/>
          <a:p>
            <a:r>
              <a:rPr lang="en-US" sz="1400" b="1" dirty="0">
                <a:latin typeface="Tahoma" panose="020B0604030504040204" pitchFamily="34" charset="0"/>
                <a:ea typeface="Tahoma" panose="020B0604030504040204" pitchFamily="34" charset="0"/>
                <a:cs typeface="Tahoma" panose="020B0604030504040204" pitchFamily="34" charset="0"/>
              </a:rPr>
              <a:t>ABT Series – FG Customer / Production Drawings: </a:t>
            </a:r>
            <a:br>
              <a:rPr lang="en-US" sz="1400" b="1" dirty="0">
                <a:latin typeface="Tahoma" panose="020B0604030504040204" pitchFamily="34" charset="0"/>
                <a:ea typeface="Tahoma" panose="020B0604030504040204" pitchFamily="34" charset="0"/>
                <a:cs typeface="Tahoma" panose="020B0604030504040204" pitchFamily="34" charset="0"/>
              </a:rPr>
            </a:br>
            <a:r>
              <a:rPr lang="en-US" sz="1400" dirty="0">
                <a:latin typeface="Tahoma" panose="020B0604030504040204" pitchFamily="34" charset="0"/>
                <a:ea typeface="Tahoma" panose="020B0604030504040204" pitchFamily="34" charset="0"/>
                <a:cs typeface="Tahoma" panose="020B0604030504040204" pitchFamily="34" charset="0"/>
              </a:rPr>
              <a:t>Right view in case of FG : </a:t>
            </a:r>
          </a:p>
        </p:txBody>
      </p:sp>
      <p:sp>
        <p:nvSpPr>
          <p:cNvPr id="7" name="Shape 1">
            <a:extLst>
              <a:ext uri="{FF2B5EF4-FFF2-40B4-BE49-F238E27FC236}">
                <a16:creationId xmlns:a16="http://schemas.microsoft.com/office/drawing/2014/main" id="{5732D0AF-CD62-A074-658C-B2901198EA53}"/>
              </a:ext>
            </a:extLst>
          </p:cNvPr>
          <p:cNvSpPr/>
          <p:nvPr/>
        </p:nvSpPr>
        <p:spPr>
          <a:xfrm>
            <a:off x="563880" y="889684"/>
            <a:ext cx="109728" cy="109728"/>
          </a:xfrm>
          <a:prstGeom prst="rect">
            <a:avLst/>
          </a:prstGeom>
          <a:solidFill>
            <a:srgbClr val="FF0000"/>
          </a:solidFill>
          <a:ln/>
        </p:spPr>
        <p:txBody>
          <a:bodyPr/>
          <a:lstStyle/>
          <a:p>
            <a:endParaRPr lang="en-US" dirty="0"/>
          </a:p>
        </p:txBody>
      </p:sp>
      <p:sp>
        <p:nvSpPr>
          <p:cNvPr id="11" name="TextBox 10">
            <a:extLst>
              <a:ext uri="{FF2B5EF4-FFF2-40B4-BE49-F238E27FC236}">
                <a16:creationId xmlns:a16="http://schemas.microsoft.com/office/drawing/2014/main" id="{D4ECAC0F-E18A-0547-1908-385B1B3BCB4B}"/>
              </a:ext>
            </a:extLst>
          </p:cNvPr>
          <p:cNvSpPr txBox="1"/>
          <p:nvPr/>
        </p:nvSpPr>
        <p:spPr>
          <a:xfrm>
            <a:off x="3076787" y="1434729"/>
            <a:ext cx="8536093" cy="2246769"/>
          </a:xfrm>
          <a:prstGeom prst="rect">
            <a:avLst/>
          </a:prstGeom>
          <a:noFill/>
        </p:spPr>
        <p:txBody>
          <a:bodyPr wrap="square" rtlCol="0">
            <a:spAutoFit/>
          </a:bodyPr>
          <a:lstStyle/>
          <a:p>
            <a:r>
              <a:rPr lang="en-US" sz="1400" dirty="0">
                <a:latin typeface="Tahoma" panose="020B0604030504040204" pitchFamily="34" charset="0"/>
                <a:ea typeface="Tahoma" panose="020B0604030504040204" pitchFamily="34" charset="0"/>
                <a:cs typeface="Tahoma" panose="020B0604030504040204" pitchFamily="34" charset="0"/>
              </a:rPr>
              <a:t>Right view have many annotation, all the annotation are from </a:t>
            </a:r>
            <a:br>
              <a:rPr lang="en-US" sz="1400" dirty="0">
                <a:latin typeface="Tahoma" panose="020B0604030504040204" pitchFamily="34" charset="0"/>
                <a:ea typeface="Tahoma" panose="020B0604030504040204" pitchFamily="34" charset="0"/>
                <a:cs typeface="Tahoma" panose="020B0604030504040204" pitchFamily="34" charset="0"/>
              </a:rPr>
            </a:br>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annotation_right_plan</a:t>
            </a:r>
            <a:endPar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endParaRPr>
          </a:p>
          <a:p>
            <a:b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br>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TL@annotation_right_plan</a:t>
            </a:r>
            <a:endPar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endParaRPr>
          </a:p>
          <a:p>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VR@annotation_right_plan</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 </a:t>
            </a:r>
            <a:r>
              <a:rPr lang="en-US" sz="1400" dirty="0">
                <a:latin typeface="Tahoma" panose="020B0604030504040204" pitchFamily="34" charset="0"/>
                <a:ea typeface="Tahoma" panose="020B0604030504040204" pitchFamily="34" charset="0"/>
                <a:cs typeface="Tahoma" panose="020B0604030504040204" pitchFamily="34" charset="0"/>
              </a:rPr>
              <a:t>Optional</a:t>
            </a:r>
          </a:p>
          <a:p>
            <a:br>
              <a:rPr lang="en-US" sz="1400" dirty="0">
                <a:latin typeface="Tahoma" panose="020B0604030504040204" pitchFamily="34" charset="0"/>
                <a:ea typeface="Tahoma" panose="020B0604030504040204" pitchFamily="34" charset="0"/>
                <a:cs typeface="Tahoma" panose="020B0604030504040204" pitchFamily="34" charset="0"/>
              </a:rPr>
            </a:br>
            <a:b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br>
            <a:b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br>
            <a:b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br>
            <a:r>
              <a:rPr lang="en-US" sz="1400" dirty="0">
                <a:latin typeface="Tahoma" panose="020B0604030504040204" pitchFamily="34" charset="0"/>
                <a:ea typeface="Tahoma" panose="020B0604030504040204" pitchFamily="34" charset="0"/>
                <a:cs typeface="Tahoma" panose="020B0604030504040204" pitchFamily="34" charset="0"/>
              </a:rPr>
              <a:t>The view can be positioned based on your preference</a:t>
            </a:r>
            <a:endPar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endParaRPr>
          </a:p>
        </p:txBody>
      </p:sp>
      <p:pic>
        <p:nvPicPr>
          <p:cNvPr id="4" name="Picture 3">
            <a:extLst>
              <a:ext uri="{FF2B5EF4-FFF2-40B4-BE49-F238E27FC236}">
                <a16:creationId xmlns:a16="http://schemas.microsoft.com/office/drawing/2014/main" id="{B7005A51-92F0-DDCE-53AF-EC08ADF28795}"/>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760306" y="1310668"/>
            <a:ext cx="1242681" cy="4797165"/>
          </a:xfrm>
          <a:prstGeom prst="rect">
            <a:avLst/>
          </a:prstGeom>
        </p:spPr>
      </p:pic>
    </p:spTree>
    <p:extLst>
      <p:ext uri="{BB962C8B-B14F-4D97-AF65-F5344CB8AC3E}">
        <p14:creationId xmlns:p14="http://schemas.microsoft.com/office/powerpoint/2010/main" val="105100334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DECF35-EABE-29E3-B253-5C12DAD9AEB9}"/>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7BDDA985-ECD0-4093-50D6-64AF0FDEE652}"/>
              </a:ext>
            </a:extLst>
          </p:cNvPr>
          <p:cNvSpPr/>
          <p:nvPr/>
        </p:nvSpPr>
        <p:spPr>
          <a:xfrm>
            <a:off x="548640" y="119802"/>
            <a:ext cx="11064240" cy="640080"/>
          </a:xfrm>
          <a:prstGeom prst="rect">
            <a:avLst/>
          </a:prstGeom>
          <a:noFill/>
          <a:ln/>
        </p:spPr>
        <p:txBody>
          <a:bodyPr wrap="square" lIns="0" tIns="0" rIns="0" bIns="0" rtlCol="0" anchor="ctr"/>
          <a:lstStyle/>
          <a:p>
            <a:pPr marL="0" indent="0">
              <a:buNone/>
            </a:pPr>
            <a:r>
              <a:rPr lang="en-US" sz="2800" b="1" dirty="0">
                <a:solidFill>
                  <a:srgbClr val="FF0000"/>
                </a:solidFill>
                <a:latin typeface="Arial" pitchFamily="34" charset="0"/>
                <a:ea typeface="Arial" pitchFamily="34" charset="-122"/>
                <a:cs typeface="Arial" pitchFamily="34" charset="-120"/>
              </a:rPr>
              <a:t>Rules</a:t>
            </a:r>
            <a:endParaRPr lang="en-US" sz="2800" dirty="0">
              <a:solidFill>
                <a:srgbClr val="FF0000"/>
              </a:solidFill>
            </a:endParaRPr>
          </a:p>
        </p:txBody>
      </p:sp>
      <p:sp>
        <p:nvSpPr>
          <p:cNvPr id="13" name="Shape 11">
            <a:extLst>
              <a:ext uri="{FF2B5EF4-FFF2-40B4-BE49-F238E27FC236}">
                <a16:creationId xmlns:a16="http://schemas.microsoft.com/office/drawing/2014/main" id="{C0189745-9A60-5BAD-FDC8-1BD3915CD9D0}"/>
              </a:ext>
            </a:extLst>
          </p:cNvPr>
          <p:cNvSpPr/>
          <p:nvPr/>
        </p:nvSpPr>
        <p:spPr>
          <a:xfrm>
            <a:off x="548640" y="6419088"/>
            <a:ext cx="11064240" cy="0"/>
          </a:xfrm>
          <a:prstGeom prst="line">
            <a:avLst/>
          </a:prstGeom>
          <a:noFill/>
          <a:ln w="9525">
            <a:solidFill>
              <a:srgbClr val="E4E4E4"/>
            </a:solidFill>
            <a:prstDash val="solid"/>
          </a:ln>
        </p:spPr>
        <p:txBody>
          <a:bodyPr/>
          <a:lstStyle/>
          <a:p>
            <a:endParaRPr lang="en-US" dirty="0"/>
          </a:p>
        </p:txBody>
      </p:sp>
      <p:sp>
        <p:nvSpPr>
          <p:cNvPr id="14" name="Text 12">
            <a:extLst>
              <a:ext uri="{FF2B5EF4-FFF2-40B4-BE49-F238E27FC236}">
                <a16:creationId xmlns:a16="http://schemas.microsoft.com/office/drawing/2014/main" id="{69E853FC-CF59-EE3D-1507-7AD1B938D5E0}"/>
              </a:ext>
            </a:extLst>
          </p:cNvPr>
          <p:cNvSpPr/>
          <p:nvPr/>
        </p:nvSpPr>
        <p:spPr>
          <a:xfrm>
            <a:off x="548640" y="6419088"/>
            <a:ext cx="4572000" cy="274320"/>
          </a:xfrm>
          <a:prstGeom prst="rect">
            <a:avLst/>
          </a:prstGeom>
          <a:noFill/>
          <a:ln/>
        </p:spPr>
        <p:txBody>
          <a:bodyPr wrap="square" lIns="0" tIns="0" rIns="0" bIns="0" rtlCol="0" anchor="ctr"/>
          <a:lstStyle/>
          <a:p>
            <a:pPr marL="0" indent="0">
              <a:buNone/>
            </a:pPr>
            <a:r>
              <a:rPr lang="en-US" sz="900" dirty="0">
                <a:solidFill>
                  <a:srgbClr val="6E6E6E"/>
                </a:solidFill>
                <a:latin typeface="Arial" pitchFamily="34" charset="0"/>
                <a:ea typeface="Arial" pitchFamily="34" charset="-122"/>
                <a:cs typeface="Arial" pitchFamily="34" charset="-120"/>
              </a:rPr>
              <a:t>SMALL PRECISION TOOLS</a:t>
            </a:r>
            <a:endParaRPr lang="en-US" sz="900" dirty="0"/>
          </a:p>
        </p:txBody>
      </p:sp>
      <p:sp>
        <p:nvSpPr>
          <p:cNvPr id="15" name="Text 13">
            <a:extLst>
              <a:ext uri="{FF2B5EF4-FFF2-40B4-BE49-F238E27FC236}">
                <a16:creationId xmlns:a16="http://schemas.microsoft.com/office/drawing/2014/main" id="{81A6B69D-8CD5-54C3-953F-FBFAB04114CD}"/>
              </a:ext>
            </a:extLst>
          </p:cNvPr>
          <p:cNvSpPr/>
          <p:nvPr/>
        </p:nvSpPr>
        <p:spPr>
          <a:xfrm>
            <a:off x="4709160" y="6419088"/>
            <a:ext cx="2743200" cy="274320"/>
          </a:xfrm>
          <a:prstGeom prst="rect">
            <a:avLst/>
          </a:prstGeom>
          <a:noFill/>
          <a:ln/>
        </p:spPr>
        <p:txBody>
          <a:bodyPr wrap="square" lIns="0" tIns="0" rIns="0" bIns="0" rtlCol="0" anchor="ctr"/>
          <a:lstStyle/>
          <a:p>
            <a:pPr marL="0" indent="0" algn="ctr">
              <a:buNone/>
            </a:pPr>
            <a:r>
              <a:rPr lang="en-US" sz="900" dirty="0">
                <a:solidFill>
                  <a:srgbClr val="6E6E6E"/>
                </a:solidFill>
                <a:latin typeface="Arial" pitchFamily="34" charset="0"/>
                <a:ea typeface="Arial" pitchFamily="34" charset="-122"/>
                <a:cs typeface="Arial" pitchFamily="34" charset="-120"/>
              </a:rPr>
              <a:t>Confidential</a:t>
            </a:r>
            <a:endParaRPr lang="en-US" sz="900" dirty="0"/>
          </a:p>
        </p:txBody>
      </p:sp>
      <p:sp>
        <p:nvSpPr>
          <p:cNvPr id="5" name="TextBox 4">
            <a:extLst>
              <a:ext uri="{FF2B5EF4-FFF2-40B4-BE49-F238E27FC236}">
                <a16:creationId xmlns:a16="http://schemas.microsoft.com/office/drawing/2014/main" id="{D0537965-A36F-06F6-DB18-850B35FC6250}"/>
              </a:ext>
            </a:extLst>
          </p:cNvPr>
          <p:cNvSpPr txBox="1"/>
          <p:nvPr/>
        </p:nvSpPr>
        <p:spPr>
          <a:xfrm>
            <a:off x="760306" y="759882"/>
            <a:ext cx="8536093" cy="523220"/>
          </a:xfrm>
          <a:prstGeom prst="rect">
            <a:avLst/>
          </a:prstGeom>
          <a:noFill/>
        </p:spPr>
        <p:txBody>
          <a:bodyPr wrap="square" rtlCol="0">
            <a:spAutoFit/>
          </a:bodyPr>
          <a:lstStyle/>
          <a:p>
            <a:r>
              <a:rPr lang="en-US" sz="1400" b="1" dirty="0">
                <a:latin typeface="Tahoma" panose="020B0604030504040204" pitchFamily="34" charset="0"/>
                <a:ea typeface="Tahoma" panose="020B0604030504040204" pitchFamily="34" charset="0"/>
                <a:cs typeface="Tahoma" panose="020B0604030504040204" pitchFamily="34" charset="0"/>
              </a:rPr>
              <a:t>ABT Series – FG Customer / Production Drawings: </a:t>
            </a:r>
            <a:br>
              <a:rPr lang="en-US" sz="1400" b="1" dirty="0">
                <a:latin typeface="Tahoma" panose="020B0604030504040204" pitchFamily="34" charset="0"/>
                <a:ea typeface="Tahoma" panose="020B0604030504040204" pitchFamily="34" charset="0"/>
                <a:cs typeface="Tahoma" panose="020B0604030504040204" pitchFamily="34" charset="0"/>
              </a:rPr>
            </a:br>
            <a:r>
              <a:rPr lang="en-US" sz="1400" dirty="0">
                <a:latin typeface="Tahoma" panose="020B0604030504040204" pitchFamily="34" charset="0"/>
                <a:ea typeface="Tahoma" panose="020B0604030504040204" pitchFamily="34" charset="0"/>
                <a:cs typeface="Tahoma" panose="020B0604030504040204" pitchFamily="34" charset="0"/>
              </a:rPr>
              <a:t>Top view in case of FG : </a:t>
            </a:r>
          </a:p>
        </p:txBody>
      </p:sp>
      <p:sp>
        <p:nvSpPr>
          <p:cNvPr id="7" name="Shape 1">
            <a:extLst>
              <a:ext uri="{FF2B5EF4-FFF2-40B4-BE49-F238E27FC236}">
                <a16:creationId xmlns:a16="http://schemas.microsoft.com/office/drawing/2014/main" id="{29A32888-CEC5-77E0-FE63-EB84242F7C44}"/>
              </a:ext>
            </a:extLst>
          </p:cNvPr>
          <p:cNvSpPr/>
          <p:nvPr/>
        </p:nvSpPr>
        <p:spPr>
          <a:xfrm>
            <a:off x="563880" y="889684"/>
            <a:ext cx="109728" cy="109728"/>
          </a:xfrm>
          <a:prstGeom prst="rect">
            <a:avLst/>
          </a:prstGeom>
          <a:solidFill>
            <a:srgbClr val="FF0000"/>
          </a:solidFill>
          <a:ln/>
        </p:spPr>
        <p:txBody>
          <a:bodyPr/>
          <a:lstStyle/>
          <a:p>
            <a:endParaRPr lang="en-US" dirty="0"/>
          </a:p>
        </p:txBody>
      </p:sp>
      <p:sp>
        <p:nvSpPr>
          <p:cNvPr id="11" name="TextBox 10">
            <a:extLst>
              <a:ext uri="{FF2B5EF4-FFF2-40B4-BE49-F238E27FC236}">
                <a16:creationId xmlns:a16="http://schemas.microsoft.com/office/drawing/2014/main" id="{90C592A6-6EE4-B452-CBA5-B1EC7AA32A74}"/>
              </a:ext>
            </a:extLst>
          </p:cNvPr>
          <p:cNvSpPr txBox="1"/>
          <p:nvPr/>
        </p:nvSpPr>
        <p:spPr>
          <a:xfrm>
            <a:off x="3076787" y="1434729"/>
            <a:ext cx="8536093" cy="1815882"/>
          </a:xfrm>
          <a:prstGeom prst="rect">
            <a:avLst/>
          </a:prstGeom>
          <a:noFill/>
        </p:spPr>
        <p:txBody>
          <a:bodyPr wrap="square" rtlCol="0">
            <a:spAutoFit/>
          </a:bodyPr>
          <a:lstStyle/>
          <a:p>
            <a:r>
              <a:rPr lang="en-US" sz="1400" dirty="0">
                <a:latin typeface="Tahoma" panose="020B0604030504040204" pitchFamily="34" charset="0"/>
                <a:ea typeface="Tahoma" panose="020B0604030504040204" pitchFamily="34" charset="0"/>
                <a:cs typeface="Tahoma" panose="020B0604030504040204" pitchFamily="34" charset="0"/>
              </a:rPr>
              <a:t>Top view have many annotation, all the annotation are from </a:t>
            </a:r>
            <a:br>
              <a:rPr lang="en-US" sz="1400" dirty="0">
                <a:latin typeface="Tahoma" panose="020B0604030504040204" pitchFamily="34" charset="0"/>
                <a:ea typeface="Tahoma" panose="020B0604030504040204" pitchFamily="34" charset="0"/>
                <a:cs typeface="Tahoma" panose="020B0604030504040204" pitchFamily="34" charset="0"/>
              </a:rPr>
            </a:br>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annotation_top_plan</a:t>
            </a:r>
            <a:b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br>
            <a:b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br>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TD@annotation_top_plan</a:t>
            </a:r>
            <a:b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br>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TDF_STD@annotation_top_plan</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 in case std shank</a:t>
            </a:r>
            <a:b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br>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TDF_REV@annotation_top_plan</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 in case rev shank </a:t>
            </a:r>
            <a:b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br>
            <a:b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br>
            <a:r>
              <a:rPr lang="en-US" sz="1400" dirty="0">
                <a:latin typeface="Tahoma" panose="020B0604030504040204" pitchFamily="34" charset="0"/>
                <a:ea typeface="Tahoma" panose="020B0604030504040204" pitchFamily="34" charset="0"/>
                <a:cs typeface="Tahoma" panose="020B0604030504040204" pitchFamily="34" charset="0"/>
              </a:rPr>
              <a:t>The view can be positioned based on your preference</a:t>
            </a:r>
            <a:endPar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endParaRPr>
          </a:p>
        </p:txBody>
      </p:sp>
      <p:pic>
        <p:nvPicPr>
          <p:cNvPr id="4" name="Picture 3">
            <a:extLst>
              <a:ext uri="{FF2B5EF4-FFF2-40B4-BE49-F238E27FC236}">
                <a16:creationId xmlns:a16="http://schemas.microsoft.com/office/drawing/2014/main" id="{D6EFC334-6D04-7C63-A4F6-893EE4FDDD86}"/>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84308" y="1957949"/>
            <a:ext cx="3227136" cy="2655824"/>
          </a:xfrm>
          <a:prstGeom prst="rect">
            <a:avLst/>
          </a:prstGeom>
        </p:spPr>
      </p:pic>
    </p:spTree>
    <p:extLst>
      <p:ext uri="{BB962C8B-B14F-4D97-AF65-F5344CB8AC3E}">
        <p14:creationId xmlns:p14="http://schemas.microsoft.com/office/powerpoint/2010/main" val="385764719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2DA3AC-F8A1-7801-6F46-8A67710B593B}"/>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BB6D0AE2-23EC-D749-4062-CF3CCA94AA3F}"/>
              </a:ext>
            </a:extLst>
          </p:cNvPr>
          <p:cNvSpPr/>
          <p:nvPr/>
        </p:nvSpPr>
        <p:spPr>
          <a:xfrm>
            <a:off x="548640" y="119802"/>
            <a:ext cx="11064240" cy="640080"/>
          </a:xfrm>
          <a:prstGeom prst="rect">
            <a:avLst/>
          </a:prstGeom>
          <a:noFill/>
          <a:ln/>
        </p:spPr>
        <p:txBody>
          <a:bodyPr wrap="square" lIns="0" tIns="0" rIns="0" bIns="0" rtlCol="0" anchor="ctr"/>
          <a:lstStyle/>
          <a:p>
            <a:pPr marL="0" indent="0">
              <a:buNone/>
            </a:pPr>
            <a:r>
              <a:rPr lang="en-US" sz="2800" b="1" dirty="0">
                <a:solidFill>
                  <a:srgbClr val="FF0000"/>
                </a:solidFill>
                <a:latin typeface="Arial" pitchFamily="34" charset="0"/>
                <a:ea typeface="Arial" pitchFamily="34" charset="-122"/>
                <a:cs typeface="Arial" pitchFamily="34" charset="-120"/>
              </a:rPr>
              <a:t>Rules</a:t>
            </a:r>
            <a:endParaRPr lang="en-US" sz="2800" dirty="0">
              <a:solidFill>
                <a:srgbClr val="FF0000"/>
              </a:solidFill>
            </a:endParaRPr>
          </a:p>
        </p:txBody>
      </p:sp>
      <p:sp>
        <p:nvSpPr>
          <p:cNvPr id="13" name="Shape 11">
            <a:extLst>
              <a:ext uri="{FF2B5EF4-FFF2-40B4-BE49-F238E27FC236}">
                <a16:creationId xmlns:a16="http://schemas.microsoft.com/office/drawing/2014/main" id="{717D8DAC-5036-60C1-5040-75C920427269}"/>
              </a:ext>
            </a:extLst>
          </p:cNvPr>
          <p:cNvSpPr/>
          <p:nvPr/>
        </p:nvSpPr>
        <p:spPr>
          <a:xfrm>
            <a:off x="548640" y="6419088"/>
            <a:ext cx="11064240" cy="0"/>
          </a:xfrm>
          <a:prstGeom prst="line">
            <a:avLst/>
          </a:prstGeom>
          <a:noFill/>
          <a:ln w="9525">
            <a:solidFill>
              <a:srgbClr val="E4E4E4"/>
            </a:solidFill>
            <a:prstDash val="solid"/>
          </a:ln>
        </p:spPr>
        <p:txBody>
          <a:bodyPr/>
          <a:lstStyle/>
          <a:p>
            <a:endParaRPr lang="en-US" dirty="0"/>
          </a:p>
        </p:txBody>
      </p:sp>
      <p:sp>
        <p:nvSpPr>
          <p:cNvPr id="14" name="Text 12">
            <a:extLst>
              <a:ext uri="{FF2B5EF4-FFF2-40B4-BE49-F238E27FC236}">
                <a16:creationId xmlns:a16="http://schemas.microsoft.com/office/drawing/2014/main" id="{DA0992FE-DC9D-8497-E8FE-EE22804B38F2}"/>
              </a:ext>
            </a:extLst>
          </p:cNvPr>
          <p:cNvSpPr/>
          <p:nvPr/>
        </p:nvSpPr>
        <p:spPr>
          <a:xfrm>
            <a:off x="548640" y="6419088"/>
            <a:ext cx="4572000" cy="274320"/>
          </a:xfrm>
          <a:prstGeom prst="rect">
            <a:avLst/>
          </a:prstGeom>
          <a:noFill/>
          <a:ln/>
        </p:spPr>
        <p:txBody>
          <a:bodyPr wrap="square" lIns="0" tIns="0" rIns="0" bIns="0" rtlCol="0" anchor="ctr"/>
          <a:lstStyle/>
          <a:p>
            <a:pPr marL="0" indent="0">
              <a:buNone/>
            </a:pPr>
            <a:r>
              <a:rPr lang="en-US" sz="900" dirty="0">
                <a:solidFill>
                  <a:srgbClr val="6E6E6E"/>
                </a:solidFill>
                <a:latin typeface="Arial" pitchFamily="34" charset="0"/>
                <a:ea typeface="Arial" pitchFamily="34" charset="-122"/>
                <a:cs typeface="Arial" pitchFamily="34" charset="-120"/>
              </a:rPr>
              <a:t>SMALL PRECISION TOOLS</a:t>
            </a:r>
            <a:endParaRPr lang="en-US" sz="900" dirty="0"/>
          </a:p>
        </p:txBody>
      </p:sp>
      <p:sp>
        <p:nvSpPr>
          <p:cNvPr id="15" name="Text 13">
            <a:extLst>
              <a:ext uri="{FF2B5EF4-FFF2-40B4-BE49-F238E27FC236}">
                <a16:creationId xmlns:a16="http://schemas.microsoft.com/office/drawing/2014/main" id="{40A6B295-7042-BDCF-787D-442DDDE61034}"/>
              </a:ext>
            </a:extLst>
          </p:cNvPr>
          <p:cNvSpPr/>
          <p:nvPr/>
        </p:nvSpPr>
        <p:spPr>
          <a:xfrm>
            <a:off x="4709160" y="6419088"/>
            <a:ext cx="2743200" cy="274320"/>
          </a:xfrm>
          <a:prstGeom prst="rect">
            <a:avLst/>
          </a:prstGeom>
          <a:noFill/>
          <a:ln/>
        </p:spPr>
        <p:txBody>
          <a:bodyPr wrap="square" lIns="0" tIns="0" rIns="0" bIns="0" rtlCol="0" anchor="ctr"/>
          <a:lstStyle/>
          <a:p>
            <a:pPr marL="0" indent="0" algn="ctr">
              <a:buNone/>
            </a:pPr>
            <a:r>
              <a:rPr lang="en-US" sz="900" dirty="0">
                <a:solidFill>
                  <a:srgbClr val="6E6E6E"/>
                </a:solidFill>
                <a:latin typeface="Arial" pitchFamily="34" charset="0"/>
                <a:ea typeface="Arial" pitchFamily="34" charset="-122"/>
                <a:cs typeface="Arial" pitchFamily="34" charset="-120"/>
              </a:rPr>
              <a:t>Confidential</a:t>
            </a:r>
            <a:endParaRPr lang="en-US" sz="900" dirty="0"/>
          </a:p>
        </p:txBody>
      </p:sp>
      <p:sp>
        <p:nvSpPr>
          <p:cNvPr id="5" name="TextBox 4">
            <a:extLst>
              <a:ext uri="{FF2B5EF4-FFF2-40B4-BE49-F238E27FC236}">
                <a16:creationId xmlns:a16="http://schemas.microsoft.com/office/drawing/2014/main" id="{2EE52116-2A31-603E-5298-BEC6CF864E0B}"/>
              </a:ext>
            </a:extLst>
          </p:cNvPr>
          <p:cNvSpPr txBox="1"/>
          <p:nvPr/>
        </p:nvSpPr>
        <p:spPr>
          <a:xfrm>
            <a:off x="760306" y="759882"/>
            <a:ext cx="8536093" cy="523220"/>
          </a:xfrm>
          <a:prstGeom prst="rect">
            <a:avLst/>
          </a:prstGeom>
          <a:noFill/>
        </p:spPr>
        <p:txBody>
          <a:bodyPr wrap="square" rtlCol="0">
            <a:spAutoFit/>
          </a:bodyPr>
          <a:lstStyle/>
          <a:p>
            <a:r>
              <a:rPr lang="en-US" sz="1400" b="1" dirty="0">
                <a:latin typeface="Tahoma" panose="020B0604030504040204" pitchFamily="34" charset="0"/>
                <a:ea typeface="Tahoma" panose="020B0604030504040204" pitchFamily="34" charset="0"/>
                <a:cs typeface="Tahoma" panose="020B0604030504040204" pitchFamily="34" charset="0"/>
              </a:rPr>
              <a:t>ABT Series – FG Customer / Production Drawings: </a:t>
            </a:r>
            <a:br>
              <a:rPr lang="en-US" sz="1400" b="1" dirty="0">
                <a:latin typeface="Tahoma" panose="020B0604030504040204" pitchFamily="34" charset="0"/>
                <a:ea typeface="Tahoma" panose="020B0604030504040204" pitchFamily="34" charset="0"/>
                <a:cs typeface="Tahoma" panose="020B0604030504040204" pitchFamily="34" charset="0"/>
              </a:rPr>
            </a:br>
            <a:r>
              <a:rPr lang="en-US" sz="1400" dirty="0">
                <a:latin typeface="Tahoma" panose="020B0604030504040204" pitchFamily="34" charset="0"/>
                <a:ea typeface="Tahoma" panose="020B0604030504040204" pitchFamily="34" charset="0"/>
                <a:cs typeface="Tahoma" panose="020B0604030504040204" pitchFamily="34" charset="0"/>
              </a:rPr>
              <a:t>Detail view in case of FG : </a:t>
            </a:r>
          </a:p>
        </p:txBody>
      </p:sp>
      <p:sp>
        <p:nvSpPr>
          <p:cNvPr id="7" name="Shape 1">
            <a:extLst>
              <a:ext uri="{FF2B5EF4-FFF2-40B4-BE49-F238E27FC236}">
                <a16:creationId xmlns:a16="http://schemas.microsoft.com/office/drawing/2014/main" id="{C85FA02D-7C3A-A980-E04B-E5F4FFB55142}"/>
              </a:ext>
            </a:extLst>
          </p:cNvPr>
          <p:cNvSpPr/>
          <p:nvPr/>
        </p:nvSpPr>
        <p:spPr>
          <a:xfrm>
            <a:off x="563880" y="889684"/>
            <a:ext cx="109728" cy="109728"/>
          </a:xfrm>
          <a:prstGeom prst="rect">
            <a:avLst/>
          </a:prstGeom>
          <a:solidFill>
            <a:srgbClr val="FF0000"/>
          </a:solidFill>
          <a:ln/>
        </p:spPr>
        <p:txBody>
          <a:bodyPr/>
          <a:lstStyle/>
          <a:p>
            <a:endParaRPr lang="en-US" dirty="0"/>
          </a:p>
        </p:txBody>
      </p:sp>
      <p:sp>
        <p:nvSpPr>
          <p:cNvPr id="11" name="TextBox 10">
            <a:extLst>
              <a:ext uri="{FF2B5EF4-FFF2-40B4-BE49-F238E27FC236}">
                <a16:creationId xmlns:a16="http://schemas.microsoft.com/office/drawing/2014/main" id="{9ED053FF-D1BC-98C1-D9DF-5AD79520EF35}"/>
              </a:ext>
            </a:extLst>
          </p:cNvPr>
          <p:cNvSpPr txBox="1"/>
          <p:nvPr/>
        </p:nvSpPr>
        <p:spPr>
          <a:xfrm>
            <a:off x="3076787" y="1434729"/>
            <a:ext cx="8536093" cy="3754874"/>
          </a:xfrm>
          <a:prstGeom prst="rect">
            <a:avLst/>
          </a:prstGeom>
          <a:noFill/>
        </p:spPr>
        <p:txBody>
          <a:bodyPr wrap="square" rtlCol="0">
            <a:spAutoFit/>
          </a:bodyPr>
          <a:lstStyle/>
          <a:p>
            <a:r>
              <a:rPr lang="en-US" sz="1400" dirty="0">
                <a:latin typeface="Tahoma" panose="020B0604030504040204" pitchFamily="34" charset="0"/>
                <a:ea typeface="Tahoma" panose="020B0604030504040204" pitchFamily="34" charset="0"/>
                <a:cs typeface="Tahoma" panose="020B0604030504040204" pitchFamily="34" charset="0"/>
              </a:rPr>
              <a:t>Detail view have many annotation, all the annotation are from </a:t>
            </a:r>
            <a:br>
              <a:rPr lang="en-US" sz="1400" dirty="0">
                <a:latin typeface="Tahoma" panose="020B0604030504040204" pitchFamily="34" charset="0"/>
                <a:ea typeface="Tahoma" panose="020B0604030504040204" pitchFamily="34" charset="0"/>
                <a:cs typeface="Tahoma" panose="020B0604030504040204" pitchFamily="34" charset="0"/>
              </a:rPr>
            </a:b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annotation_right_plan</a:t>
            </a:r>
            <a:b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br>
            <a:b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br>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W@annotation_right_plan</a:t>
            </a:r>
            <a:b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br>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ISA@annotation_right_plan</a:t>
            </a:r>
            <a:endPar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endParaRPr>
          </a:p>
          <a:p>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W2@annotation_right_plan </a:t>
            </a:r>
            <a:r>
              <a:rPr lang="en-US" sz="1400" dirty="0">
                <a:latin typeface="Tahoma" panose="020B0604030504040204" pitchFamily="34" charset="0"/>
                <a:ea typeface="Tahoma" panose="020B0604030504040204" pitchFamily="34" charset="0"/>
                <a:cs typeface="Tahoma" panose="020B0604030504040204" pitchFamily="34" charset="0"/>
              </a:rPr>
              <a:t>Optional in case W2 option</a:t>
            </a:r>
            <a:b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br>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VW@annotation_right_plan</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 </a:t>
            </a:r>
            <a:r>
              <a:rPr lang="en-US" sz="1400" dirty="0">
                <a:latin typeface="Tahoma" panose="020B0604030504040204" pitchFamily="34" charset="0"/>
                <a:ea typeface="Tahoma" panose="020B0604030504040204" pitchFamily="34" charset="0"/>
                <a:cs typeface="Tahoma" panose="020B0604030504040204" pitchFamily="34" charset="0"/>
              </a:rPr>
              <a:t>Optional in case VR option </a:t>
            </a:r>
            <a:b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br>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VRA@annotation_right_plan</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 </a:t>
            </a:r>
            <a:r>
              <a:rPr lang="en-US" sz="1400" dirty="0">
                <a:latin typeface="Tahoma" panose="020B0604030504040204" pitchFamily="34" charset="0"/>
                <a:ea typeface="Tahoma" panose="020B0604030504040204" pitchFamily="34" charset="0"/>
                <a:cs typeface="Tahoma" panose="020B0604030504040204" pitchFamily="34" charset="0"/>
              </a:rPr>
              <a:t>Optional in case of VR option</a:t>
            </a:r>
            <a:br>
              <a:rPr lang="en-US" sz="1400" dirty="0">
                <a:latin typeface="Tahoma" panose="020B0604030504040204" pitchFamily="34" charset="0"/>
                <a:ea typeface="Tahoma" panose="020B0604030504040204" pitchFamily="34" charset="0"/>
                <a:cs typeface="Tahoma" panose="020B0604030504040204" pitchFamily="34" charset="0"/>
              </a:rPr>
            </a:br>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B@annotation_right_plan</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 if VG groove</a:t>
            </a:r>
          </a:p>
          <a:p>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GA@annotation_right_plan</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 if VG groove</a:t>
            </a:r>
          </a:p>
          <a:p>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GD@annotation_right_plan</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 if GV groove</a:t>
            </a:r>
          </a:p>
          <a:p>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GD_G@annotation_right_plan</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 if G groove</a:t>
            </a:r>
          </a:p>
          <a:p>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GO@annotation_right_plan</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 if G groove</a:t>
            </a:r>
          </a:p>
          <a:p>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CL@annotation_right_plan</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 if C groove</a:t>
            </a:r>
          </a:p>
          <a:p>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CD@annotation_right_plan</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 if C groove</a:t>
            </a:r>
            <a:b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br>
            <a:b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br>
            <a:r>
              <a:rPr lang="en-US" sz="1400" dirty="0">
                <a:latin typeface="Tahoma" panose="020B0604030504040204" pitchFamily="34" charset="0"/>
                <a:ea typeface="Tahoma" panose="020B0604030504040204" pitchFamily="34" charset="0"/>
                <a:cs typeface="Tahoma" panose="020B0604030504040204" pitchFamily="34" charset="0"/>
              </a:rPr>
              <a:t>The view can be positioned based on your preference</a:t>
            </a:r>
            <a:endPar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endParaRPr>
          </a:p>
        </p:txBody>
      </p:sp>
      <p:pic>
        <p:nvPicPr>
          <p:cNvPr id="6" name="Picture 5">
            <a:extLst>
              <a:ext uri="{FF2B5EF4-FFF2-40B4-BE49-F238E27FC236}">
                <a16:creationId xmlns:a16="http://schemas.microsoft.com/office/drawing/2014/main" id="{21C2237E-59B3-3FAF-85C4-AEF5E20B3F2C}"/>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760306" y="1399962"/>
            <a:ext cx="1901903" cy="4861667"/>
          </a:xfrm>
          <a:prstGeom prst="rect">
            <a:avLst/>
          </a:prstGeom>
        </p:spPr>
      </p:pic>
    </p:spTree>
    <p:extLst>
      <p:ext uri="{BB962C8B-B14F-4D97-AF65-F5344CB8AC3E}">
        <p14:creationId xmlns:p14="http://schemas.microsoft.com/office/powerpoint/2010/main" val="41884936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B259C-47B4-7527-8A5A-552B162D386A}"/>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7B10206A-A8F3-F5D7-C62F-E79A8F05717E}"/>
              </a:ext>
            </a:extLst>
          </p:cNvPr>
          <p:cNvSpPr/>
          <p:nvPr/>
        </p:nvSpPr>
        <p:spPr>
          <a:xfrm>
            <a:off x="548640" y="119802"/>
            <a:ext cx="11064240" cy="640080"/>
          </a:xfrm>
          <a:prstGeom prst="rect">
            <a:avLst/>
          </a:prstGeom>
          <a:noFill/>
          <a:ln/>
        </p:spPr>
        <p:txBody>
          <a:bodyPr wrap="square" lIns="0" tIns="0" rIns="0" bIns="0" rtlCol="0" anchor="ctr"/>
          <a:lstStyle/>
          <a:p>
            <a:pPr marL="0" indent="0">
              <a:buNone/>
            </a:pPr>
            <a:r>
              <a:rPr lang="en-US" sz="2800" b="1" dirty="0">
                <a:solidFill>
                  <a:srgbClr val="FF0000"/>
                </a:solidFill>
                <a:latin typeface="Arial" pitchFamily="34" charset="0"/>
                <a:ea typeface="Arial" pitchFamily="34" charset="-122"/>
                <a:cs typeface="Arial" pitchFamily="34" charset="-120"/>
              </a:rPr>
              <a:t>Rules</a:t>
            </a:r>
            <a:endParaRPr lang="en-US" sz="2800" dirty="0">
              <a:solidFill>
                <a:srgbClr val="FF0000"/>
              </a:solidFill>
            </a:endParaRPr>
          </a:p>
        </p:txBody>
      </p:sp>
      <p:sp>
        <p:nvSpPr>
          <p:cNvPr id="13" name="Shape 11">
            <a:extLst>
              <a:ext uri="{FF2B5EF4-FFF2-40B4-BE49-F238E27FC236}">
                <a16:creationId xmlns:a16="http://schemas.microsoft.com/office/drawing/2014/main" id="{020DA6DD-3991-51C7-1C11-659F2B760AAD}"/>
              </a:ext>
            </a:extLst>
          </p:cNvPr>
          <p:cNvSpPr/>
          <p:nvPr/>
        </p:nvSpPr>
        <p:spPr>
          <a:xfrm>
            <a:off x="548640" y="6419088"/>
            <a:ext cx="11064240" cy="0"/>
          </a:xfrm>
          <a:prstGeom prst="line">
            <a:avLst/>
          </a:prstGeom>
          <a:noFill/>
          <a:ln w="9525">
            <a:solidFill>
              <a:srgbClr val="E4E4E4"/>
            </a:solidFill>
            <a:prstDash val="solid"/>
          </a:ln>
        </p:spPr>
        <p:txBody>
          <a:bodyPr/>
          <a:lstStyle/>
          <a:p>
            <a:endParaRPr lang="en-US" dirty="0"/>
          </a:p>
        </p:txBody>
      </p:sp>
      <p:sp>
        <p:nvSpPr>
          <p:cNvPr id="14" name="Text 12">
            <a:extLst>
              <a:ext uri="{FF2B5EF4-FFF2-40B4-BE49-F238E27FC236}">
                <a16:creationId xmlns:a16="http://schemas.microsoft.com/office/drawing/2014/main" id="{8E3A2D9A-D2CB-1716-A674-BD5D8A2F8B17}"/>
              </a:ext>
            </a:extLst>
          </p:cNvPr>
          <p:cNvSpPr/>
          <p:nvPr/>
        </p:nvSpPr>
        <p:spPr>
          <a:xfrm>
            <a:off x="548640" y="6419088"/>
            <a:ext cx="4572000" cy="274320"/>
          </a:xfrm>
          <a:prstGeom prst="rect">
            <a:avLst/>
          </a:prstGeom>
          <a:noFill/>
          <a:ln/>
        </p:spPr>
        <p:txBody>
          <a:bodyPr wrap="square" lIns="0" tIns="0" rIns="0" bIns="0" rtlCol="0" anchor="ctr"/>
          <a:lstStyle/>
          <a:p>
            <a:pPr marL="0" indent="0">
              <a:buNone/>
            </a:pPr>
            <a:r>
              <a:rPr lang="en-US" sz="900" dirty="0">
                <a:solidFill>
                  <a:srgbClr val="6E6E6E"/>
                </a:solidFill>
                <a:latin typeface="Arial" pitchFamily="34" charset="0"/>
                <a:ea typeface="Arial" pitchFamily="34" charset="-122"/>
                <a:cs typeface="Arial" pitchFamily="34" charset="-120"/>
              </a:rPr>
              <a:t>SMALL PRECISION TOOLS</a:t>
            </a:r>
            <a:endParaRPr lang="en-US" sz="900" dirty="0"/>
          </a:p>
        </p:txBody>
      </p:sp>
      <p:sp>
        <p:nvSpPr>
          <p:cNvPr id="15" name="Text 13">
            <a:extLst>
              <a:ext uri="{FF2B5EF4-FFF2-40B4-BE49-F238E27FC236}">
                <a16:creationId xmlns:a16="http://schemas.microsoft.com/office/drawing/2014/main" id="{D522EF6E-26EC-624A-838C-F8A281EE455C}"/>
              </a:ext>
            </a:extLst>
          </p:cNvPr>
          <p:cNvSpPr/>
          <p:nvPr/>
        </p:nvSpPr>
        <p:spPr>
          <a:xfrm>
            <a:off x="4709160" y="6419088"/>
            <a:ext cx="2743200" cy="274320"/>
          </a:xfrm>
          <a:prstGeom prst="rect">
            <a:avLst/>
          </a:prstGeom>
          <a:noFill/>
          <a:ln/>
        </p:spPr>
        <p:txBody>
          <a:bodyPr wrap="square" lIns="0" tIns="0" rIns="0" bIns="0" rtlCol="0" anchor="ctr"/>
          <a:lstStyle/>
          <a:p>
            <a:pPr marL="0" indent="0" algn="ctr">
              <a:buNone/>
            </a:pPr>
            <a:r>
              <a:rPr lang="en-US" sz="900" dirty="0">
                <a:solidFill>
                  <a:srgbClr val="6E6E6E"/>
                </a:solidFill>
                <a:latin typeface="Arial" pitchFamily="34" charset="0"/>
                <a:ea typeface="Arial" pitchFamily="34" charset="-122"/>
                <a:cs typeface="Arial" pitchFamily="34" charset="-120"/>
              </a:rPr>
              <a:t>Confidential</a:t>
            </a:r>
            <a:endParaRPr lang="en-US" sz="900" dirty="0"/>
          </a:p>
        </p:txBody>
      </p:sp>
      <p:sp>
        <p:nvSpPr>
          <p:cNvPr id="5" name="TextBox 4">
            <a:extLst>
              <a:ext uri="{FF2B5EF4-FFF2-40B4-BE49-F238E27FC236}">
                <a16:creationId xmlns:a16="http://schemas.microsoft.com/office/drawing/2014/main" id="{CBFA1ABC-4612-39CF-AA6C-A0505671FB59}"/>
              </a:ext>
            </a:extLst>
          </p:cNvPr>
          <p:cNvSpPr txBox="1"/>
          <p:nvPr/>
        </p:nvSpPr>
        <p:spPr>
          <a:xfrm>
            <a:off x="760306" y="759882"/>
            <a:ext cx="8536093" cy="523220"/>
          </a:xfrm>
          <a:prstGeom prst="rect">
            <a:avLst/>
          </a:prstGeom>
          <a:noFill/>
        </p:spPr>
        <p:txBody>
          <a:bodyPr wrap="square" rtlCol="0">
            <a:spAutoFit/>
          </a:bodyPr>
          <a:lstStyle/>
          <a:p>
            <a:r>
              <a:rPr lang="en-US" sz="1400" b="1" dirty="0">
                <a:latin typeface="Tahoma" panose="020B0604030504040204" pitchFamily="34" charset="0"/>
                <a:ea typeface="Tahoma" panose="020B0604030504040204" pitchFamily="34" charset="0"/>
                <a:cs typeface="Tahoma" panose="020B0604030504040204" pitchFamily="34" charset="0"/>
              </a:rPr>
              <a:t>ABT Series – ABT Customer / Production Drawings: </a:t>
            </a:r>
            <a:br>
              <a:rPr lang="en-US" sz="1400" b="1" dirty="0">
                <a:latin typeface="Tahoma" panose="020B0604030504040204" pitchFamily="34" charset="0"/>
                <a:ea typeface="Tahoma" panose="020B0604030504040204" pitchFamily="34" charset="0"/>
                <a:cs typeface="Tahoma" panose="020B0604030504040204" pitchFamily="34" charset="0"/>
              </a:rPr>
            </a:br>
            <a:r>
              <a:rPr lang="en-US" sz="1400" dirty="0">
                <a:latin typeface="Tahoma" panose="020B0604030504040204" pitchFamily="34" charset="0"/>
                <a:ea typeface="Tahoma" panose="020B0604030504040204" pitchFamily="34" charset="0"/>
                <a:cs typeface="Tahoma" panose="020B0604030504040204" pitchFamily="34" charset="0"/>
              </a:rPr>
              <a:t>Section</a:t>
            </a:r>
            <a:r>
              <a:rPr lang="en-US" sz="1400" b="1" dirty="0">
                <a:latin typeface="Tahoma" panose="020B0604030504040204" pitchFamily="34" charset="0"/>
                <a:ea typeface="Tahoma" panose="020B0604030504040204" pitchFamily="34" charset="0"/>
                <a:cs typeface="Tahoma" panose="020B0604030504040204" pitchFamily="34" charset="0"/>
              </a:rPr>
              <a:t> </a:t>
            </a:r>
            <a:r>
              <a:rPr lang="en-US" sz="1400" dirty="0">
                <a:latin typeface="Tahoma" panose="020B0604030504040204" pitchFamily="34" charset="0"/>
                <a:ea typeface="Tahoma" panose="020B0604030504040204" pitchFamily="34" charset="0"/>
                <a:cs typeface="Tahoma" panose="020B0604030504040204" pitchFamily="34" charset="0"/>
              </a:rPr>
              <a:t>view in case of FG case std sha : </a:t>
            </a:r>
          </a:p>
        </p:txBody>
      </p:sp>
      <p:sp>
        <p:nvSpPr>
          <p:cNvPr id="7" name="Shape 1">
            <a:extLst>
              <a:ext uri="{FF2B5EF4-FFF2-40B4-BE49-F238E27FC236}">
                <a16:creationId xmlns:a16="http://schemas.microsoft.com/office/drawing/2014/main" id="{1C289352-66B9-38B6-E704-F51C5A37B13B}"/>
              </a:ext>
            </a:extLst>
          </p:cNvPr>
          <p:cNvSpPr/>
          <p:nvPr/>
        </p:nvSpPr>
        <p:spPr>
          <a:xfrm>
            <a:off x="563880" y="889684"/>
            <a:ext cx="109728" cy="109728"/>
          </a:xfrm>
          <a:prstGeom prst="rect">
            <a:avLst/>
          </a:prstGeom>
          <a:solidFill>
            <a:srgbClr val="FF0000"/>
          </a:solidFill>
          <a:ln/>
        </p:spPr>
        <p:txBody>
          <a:bodyPr/>
          <a:lstStyle/>
          <a:p>
            <a:endParaRPr lang="en-US" dirty="0"/>
          </a:p>
        </p:txBody>
      </p:sp>
      <p:sp>
        <p:nvSpPr>
          <p:cNvPr id="11" name="TextBox 10">
            <a:extLst>
              <a:ext uri="{FF2B5EF4-FFF2-40B4-BE49-F238E27FC236}">
                <a16:creationId xmlns:a16="http://schemas.microsoft.com/office/drawing/2014/main" id="{841AEBBD-E07B-3BD5-F4EB-CAB4046234A3}"/>
              </a:ext>
            </a:extLst>
          </p:cNvPr>
          <p:cNvSpPr txBox="1"/>
          <p:nvPr/>
        </p:nvSpPr>
        <p:spPr>
          <a:xfrm>
            <a:off x="4527973" y="1156108"/>
            <a:ext cx="8536093" cy="5262979"/>
          </a:xfrm>
          <a:prstGeom prst="rect">
            <a:avLst/>
          </a:prstGeom>
          <a:noFill/>
        </p:spPr>
        <p:txBody>
          <a:bodyPr wrap="square" rtlCol="0">
            <a:spAutoFit/>
          </a:bodyPr>
          <a:lstStyle/>
          <a:p>
            <a:r>
              <a:rPr lang="en-US" sz="1400" dirty="0">
                <a:latin typeface="Tahoma" panose="020B0604030504040204" pitchFamily="34" charset="0"/>
                <a:ea typeface="Tahoma" panose="020B0604030504040204" pitchFamily="34" charset="0"/>
                <a:cs typeface="Tahoma" panose="020B0604030504040204" pitchFamily="34" charset="0"/>
              </a:rPr>
              <a:t>Section view have many annotation, all the annotation are from </a:t>
            </a:r>
            <a:br>
              <a:rPr lang="en-US" sz="1400" dirty="0">
                <a:latin typeface="Tahoma" panose="020B0604030504040204" pitchFamily="34" charset="0"/>
                <a:ea typeface="Tahoma" panose="020B0604030504040204" pitchFamily="34" charset="0"/>
                <a:cs typeface="Tahoma" panose="020B0604030504040204" pitchFamily="34" charset="0"/>
              </a:rPr>
            </a:br>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annotation_std_front_plan</a:t>
            </a:r>
            <a:b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br>
            <a:br>
              <a:rPr lang="en-US" sz="1400" dirty="0">
                <a:latin typeface="Tahoma" panose="020B0604030504040204" pitchFamily="34" charset="0"/>
                <a:ea typeface="Tahoma" panose="020B0604030504040204" pitchFamily="34" charset="0"/>
                <a:cs typeface="Tahoma" panose="020B0604030504040204" pitchFamily="34" charset="0"/>
              </a:rPr>
            </a:br>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FL@annotation_std_front</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 _plan </a:t>
            </a:r>
          </a:p>
          <a:p>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T@annotation_std_front</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 _plan </a:t>
            </a:r>
            <a:b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br>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RA@annotation_std_front</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 _plan</a:t>
            </a:r>
          </a:p>
          <a:p>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RA2@annotation_std_front _plan </a:t>
            </a:r>
            <a:r>
              <a:rPr lang="en-US" sz="1400" dirty="0">
                <a:latin typeface="Tahoma" panose="020B0604030504040204" pitchFamily="34" charset="0"/>
                <a:ea typeface="Tahoma" panose="020B0604030504040204" pitchFamily="34" charset="0"/>
                <a:cs typeface="Tahoma" panose="020B0604030504040204" pitchFamily="34" charset="0"/>
              </a:rPr>
              <a:t>if we have RA2 option</a:t>
            </a:r>
            <a:b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br>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CA@annotation_std_front</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 _plan</a:t>
            </a:r>
            <a:b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br>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FD@annotation_std_front</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 _plan</a:t>
            </a:r>
            <a:b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br>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ERL@annotation_std_front</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 _plan</a:t>
            </a:r>
          </a:p>
          <a:p>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FNAannotation_std_front</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 _plan </a:t>
            </a:r>
          </a:p>
          <a:p>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HA@annotation_std_front</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 _plan </a:t>
            </a:r>
          </a:p>
          <a:p>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H@annotation_std_front</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 _plan </a:t>
            </a:r>
            <a:r>
              <a:rPr lang="en-US" sz="1400" dirty="0">
                <a:latin typeface="Tahoma" panose="020B0604030504040204" pitchFamily="34" charset="0"/>
                <a:ea typeface="Tahoma" panose="020B0604030504040204" pitchFamily="34" charset="0"/>
                <a:cs typeface="Tahoma" panose="020B0604030504040204" pitchFamily="34" charset="0"/>
              </a:rPr>
              <a:t>if we have standard hole</a:t>
            </a:r>
            <a:b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br>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HH@annotation_std_front</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 _plan </a:t>
            </a:r>
            <a:r>
              <a:rPr lang="en-US" sz="1400" dirty="0">
                <a:latin typeface="Tahoma" panose="020B0604030504040204" pitchFamily="34" charset="0"/>
                <a:ea typeface="Tahoma" panose="020B0604030504040204" pitchFamily="34" charset="0"/>
                <a:cs typeface="Tahoma" panose="020B0604030504040204" pitchFamily="34" charset="0"/>
              </a:rPr>
              <a:t>if we have oval</a:t>
            </a:r>
          </a:p>
          <a:p>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ST@annotation_std_front</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 _plan </a:t>
            </a:r>
            <a:r>
              <a:rPr lang="en-US" sz="1400" dirty="0">
                <a:latin typeface="Tahoma" panose="020B0604030504040204" pitchFamily="34" charset="0"/>
                <a:ea typeface="Tahoma" panose="020B0604030504040204" pitchFamily="34" charset="0"/>
                <a:cs typeface="Tahoma" panose="020B0604030504040204" pitchFamily="34" charset="0"/>
              </a:rPr>
              <a:t>if we have slot</a:t>
            </a:r>
          </a:p>
          <a:p>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FR@ </a:t>
            </a:r>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annotation_std_front</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 _plan </a:t>
            </a:r>
            <a:r>
              <a:rPr lang="en-US" sz="1400" dirty="0">
                <a:latin typeface="Tahoma" panose="020B0604030504040204" pitchFamily="34" charset="0"/>
                <a:ea typeface="Tahoma" panose="020B0604030504040204" pitchFamily="34" charset="0"/>
                <a:cs typeface="Tahoma" panose="020B0604030504040204" pitchFamily="34" charset="0"/>
              </a:rPr>
              <a:t>if FRO = FR don’t show FR</a:t>
            </a:r>
          </a:p>
          <a:p>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BR@ </a:t>
            </a:r>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annotation_std_front</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 _plan </a:t>
            </a:r>
            <a:r>
              <a:rPr lang="en-US" sz="1400" dirty="0">
                <a:latin typeface="Tahoma" panose="020B0604030504040204" pitchFamily="34" charset="0"/>
                <a:ea typeface="Tahoma" panose="020B0604030504040204" pitchFamily="34" charset="0"/>
                <a:cs typeface="Tahoma" panose="020B0604030504040204" pitchFamily="34" charset="0"/>
              </a:rPr>
              <a:t>if we have CBR don’t show BR</a:t>
            </a:r>
            <a:br>
              <a:rPr lang="en-US" sz="1400" dirty="0">
                <a:latin typeface="Tahoma" panose="020B0604030504040204" pitchFamily="34" charset="0"/>
                <a:ea typeface="Tahoma" panose="020B0604030504040204" pitchFamily="34" charset="0"/>
                <a:cs typeface="Tahoma" panose="020B0604030504040204" pitchFamily="34" charset="0"/>
              </a:rPr>
            </a:b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FRO@ </a:t>
            </a:r>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annotation_std_front</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 _plan </a:t>
            </a:r>
          </a:p>
          <a:p>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BF@annotation_front_plan</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 </a:t>
            </a:r>
            <a:r>
              <a:rPr lang="en-US" sz="1400" dirty="0">
                <a:latin typeface="Tahoma" panose="020B0604030504040204" pitchFamily="34" charset="0"/>
                <a:ea typeface="Tahoma" panose="020B0604030504040204" pitchFamily="34" charset="0"/>
                <a:cs typeface="Tahoma" panose="020B0604030504040204" pitchFamily="34" charset="0"/>
              </a:rPr>
              <a:t>only in production drawing</a:t>
            </a:r>
            <a:endPar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endParaRPr>
          </a:p>
          <a:p>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F@annotation_front_plan</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 </a:t>
            </a:r>
            <a:r>
              <a:rPr lang="en-US" sz="1400" dirty="0">
                <a:latin typeface="Tahoma" panose="020B0604030504040204" pitchFamily="34" charset="0"/>
                <a:ea typeface="Tahoma" panose="020B0604030504040204" pitchFamily="34" charset="0"/>
                <a:cs typeface="Tahoma" panose="020B0604030504040204" pitchFamily="34" charset="0"/>
              </a:rPr>
              <a:t>only in production drawing</a:t>
            </a:r>
            <a:endPar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endParaRPr>
          </a:p>
          <a:p>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Y@annotation_front_plan</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 </a:t>
            </a:r>
            <a:r>
              <a:rPr lang="en-US" sz="1400" dirty="0">
                <a:latin typeface="Tahoma" panose="020B0604030504040204" pitchFamily="34" charset="0"/>
                <a:ea typeface="Tahoma" panose="020B0604030504040204" pitchFamily="34" charset="0"/>
                <a:cs typeface="Tahoma" panose="020B0604030504040204" pitchFamily="34" charset="0"/>
              </a:rPr>
              <a:t>only in production drawing</a:t>
            </a:r>
            <a:b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br>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CBRL@annotation_front_plan</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 </a:t>
            </a:r>
            <a:r>
              <a:rPr lang="en-US" sz="1400" dirty="0">
                <a:latin typeface="Tahoma" panose="020B0604030504040204" pitchFamily="34" charset="0"/>
                <a:ea typeface="Tahoma" panose="020B0604030504040204" pitchFamily="34" charset="0"/>
                <a:cs typeface="Tahoma" panose="020B0604030504040204" pitchFamily="34" charset="0"/>
              </a:rPr>
              <a:t>only in production drawing</a:t>
            </a:r>
            <a:endPar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endParaRPr>
          </a:p>
          <a:p>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CBRA@annotation_front_plan</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 </a:t>
            </a:r>
            <a:r>
              <a:rPr lang="en-US" sz="1400" dirty="0">
                <a:latin typeface="Tahoma" panose="020B0604030504040204" pitchFamily="34" charset="0"/>
                <a:ea typeface="Tahoma" panose="020B0604030504040204" pitchFamily="34" charset="0"/>
                <a:cs typeface="Tahoma" panose="020B0604030504040204" pitchFamily="34" charset="0"/>
              </a:rPr>
              <a:t>only in production drawing</a:t>
            </a:r>
            <a:b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br>
            <a:r>
              <a:rPr lang="en-US" sz="1400" dirty="0">
                <a:latin typeface="Tahoma" panose="020B0604030504040204" pitchFamily="34" charset="0"/>
                <a:ea typeface="Tahoma" panose="020B0604030504040204" pitchFamily="34" charset="0"/>
                <a:cs typeface="Tahoma" panose="020B0604030504040204" pitchFamily="34" charset="0"/>
              </a:rPr>
              <a:t>The view can be positioned based on your preference</a:t>
            </a:r>
            <a:endPar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endParaRPr>
          </a:p>
        </p:txBody>
      </p:sp>
      <p:pic>
        <p:nvPicPr>
          <p:cNvPr id="4" name="Picture 3">
            <a:extLst>
              <a:ext uri="{FF2B5EF4-FFF2-40B4-BE49-F238E27FC236}">
                <a16:creationId xmlns:a16="http://schemas.microsoft.com/office/drawing/2014/main" id="{DEC1993E-9D4D-9E59-DCEE-9373FDCAADF6}"/>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0" y="1652246"/>
            <a:ext cx="3218176" cy="3874477"/>
          </a:xfrm>
          <a:prstGeom prst="rect">
            <a:avLst/>
          </a:prstGeom>
        </p:spPr>
      </p:pic>
    </p:spTree>
    <p:extLst>
      <p:ext uri="{BB962C8B-B14F-4D97-AF65-F5344CB8AC3E}">
        <p14:creationId xmlns:p14="http://schemas.microsoft.com/office/powerpoint/2010/main" val="224112584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067E6D-C2CC-4B27-89B2-8703F5F3DD60}"/>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021F5703-BBE3-2541-FBEE-28D2549F1BF5}"/>
              </a:ext>
            </a:extLst>
          </p:cNvPr>
          <p:cNvSpPr/>
          <p:nvPr/>
        </p:nvSpPr>
        <p:spPr>
          <a:xfrm>
            <a:off x="548640" y="119802"/>
            <a:ext cx="11064240" cy="640080"/>
          </a:xfrm>
          <a:prstGeom prst="rect">
            <a:avLst/>
          </a:prstGeom>
          <a:noFill/>
          <a:ln/>
        </p:spPr>
        <p:txBody>
          <a:bodyPr wrap="square" lIns="0" tIns="0" rIns="0" bIns="0" rtlCol="0" anchor="ctr"/>
          <a:lstStyle/>
          <a:p>
            <a:pPr marL="0" indent="0">
              <a:buNone/>
            </a:pPr>
            <a:r>
              <a:rPr lang="en-US" sz="2800" b="1" dirty="0">
                <a:solidFill>
                  <a:srgbClr val="FF0000"/>
                </a:solidFill>
                <a:latin typeface="Arial" pitchFamily="34" charset="0"/>
                <a:ea typeface="Arial" pitchFamily="34" charset="-122"/>
                <a:cs typeface="Arial" pitchFamily="34" charset="-120"/>
              </a:rPr>
              <a:t>Rules</a:t>
            </a:r>
            <a:endParaRPr lang="en-US" sz="2800" dirty="0">
              <a:solidFill>
                <a:srgbClr val="FF0000"/>
              </a:solidFill>
            </a:endParaRPr>
          </a:p>
        </p:txBody>
      </p:sp>
      <p:sp>
        <p:nvSpPr>
          <p:cNvPr id="13" name="Shape 11">
            <a:extLst>
              <a:ext uri="{FF2B5EF4-FFF2-40B4-BE49-F238E27FC236}">
                <a16:creationId xmlns:a16="http://schemas.microsoft.com/office/drawing/2014/main" id="{2E51388F-6534-D136-159D-9EF1AEC47DEF}"/>
              </a:ext>
            </a:extLst>
          </p:cNvPr>
          <p:cNvSpPr/>
          <p:nvPr/>
        </p:nvSpPr>
        <p:spPr>
          <a:xfrm>
            <a:off x="548640" y="6419088"/>
            <a:ext cx="11064240" cy="0"/>
          </a:xfrm>
          <a:prstGeom prst="line">
            <a:avLst/>
          </a:prstGeom>
          <a:noFill/>
          <a:ln w="9525">
            <a:solidFill>
              <a:srgbClr val="E4E4E4"/>
            </a:solidFill>
            <a:prstDash val="solid"/>
          </a:ln>
        </p:spPr>
        <p:txBody>
          <a:bodyPr/>
          <a:lstStyle/>
          <a:p>
            <a:endParaRPr lang="en-US" dirty="0"/>
          </a:p>
        </p:txBody>
      </p:sp>
      <p:sp>
        <p:nvSpPr>
          <p:cNvPr id="14" name="Text 12">
            <a:extLst>
              <a:ext uri="{FF2B5EF4-FFF2-40B4-BE49-F238E27FC236}">
                <a16:creationId xmlns:a16="http://schemas.microsoft.com/office/drawing/2014/main" id="{3FD14A8B-39F3-8347-0146-70F48953D0CD}"/>
              </a:ext>
            </a:extLst>
          </p:cNvPr>
          <p:cNvSpPr/>
          <p:nvPr/>
        </p:nvSpPr>
        <p:spPr>
          <a:xfrm>
            <a:off x="548640" y="6419088"/>
            <a:ext cx="4572000" cy="274320"/>
          </a:xfrm>
          <a:prstGeom prst="rect">
            <a:avLst/>
          </a:prstGeom>
          <a:noFill/>
          <a:ln/>
        </p:spPr>
        <p:txBody>
          <a:bodyPr wrap="square" lIns="0" tIns="0" rIns="0" bIns="0" rtlCol="0" anchor="ctr"/>
          <a:lstStyle/>
          <a:p>
            <a:pPr marL="0" indent="0">
              <a:buNone/>
            </a:pPr>
            <a:r>
              <a:rPr lang="en-US" sz="900" dirty="0">
                <a:solidFill>
                  <a:srgbClr val="6E6E6E"/>
                </a:solidFill>
                <a:latin typeface="Arial" pitchFamily="34" charset="0"/>
                <a:ea typeface="Arial" pitchFamily="34" charset="-122"/>
                <a:cs typeface="Arial" pitchFamily="34" charset="-120"/>
              </a:rPr>
              <a:t>SMALL PRECISION TOOLS</a:t>
            </a:r>
            <a:endParaRPr lang="en-US" sz="900" dirty="0"/>
          </a:p>
        </p:txBody>
      </p:sp>
      <p:sp>
        <p:nvSpPr>
          <p:cNvPr id="15" name="Text 13">
            <a:extLst>
              <a:ext uri="{FF2B5EF4-FFF2-40B4-BE49-F238E27FC236}">
                <a16:creationId xmlns:a16="http://schemas.microsoft.com/office/drawing/2014/main" id="{44A593C1-8C58-4C56-3103-186F7A496810}"/>
              </a:ext>
            </a:extLst>
          </p:cNvPr>
          <p:cNvSpPr/>
          <p:nvPr/>
        </p:nvSpPr>
        <p:spPr>
          <a:xfrm>
            <a:off x="4709160" y="6419088"/>
            <a:ext cx="2743200" cy="274320"/>
          </a:xfrm>
          <a:prstGeom prst="rect">
            <a:avLst/>
          </a:prstGeom>
          <a:noFill/>
          <a:ln/>
        </p:spPr>
        <p:txBody>
          <a:bodyPr wrap="square" lIns="0" tIns="0" rIns="0" bIns="0" rtlCol="0" anchor="ctr"/>
          <a:lstStyle/>
          <a:p>
            <a:pPr marL="0" indent="0" algn="ctr">
              <a:buNone/>
            </a:pPr>
            <a:r>
              <a:rPr lang="en-US" sz="900" dirty="0">
                <a:solidFill>
                  <a:srgbClr val="6E6E6E"/>
                </a:solidFill>
                <a:latin typeface="Arial" pitchFamily="34" charset="0"/>
                <a:ea typeface="Arial" pitchFamily="34" charset="-122"/>
                <a:cs typeface="Arial" pitchFamily="34" charset="-120"/>
              </a:rPr>
              <a:t>Confidential</a:t>
            </a:r>
            <a:endParaRPr lang="en-US" sz="900" dirty="0"/>
          </a:p>
        </p:txBody>
      </p:sp>
      <p:sp>
        <p:nvSpPr>
          <p:cNvPr id="5" name="TextBox 4">
            <a:extLst>
              <a:ext uri="{FF2B5EF4-FFF2-40B4-BE49-F238E27FC236}">
                <a16:creationId xmlns:a16="http://schemas.microsoft.com/office/drawing/2014/main" id="{76F89172-995A-798B-CE82-BB08BCF9C372}"/>
              </a:ext>
            </a:extLst>
          </p:cNvPr>
          <p:cNvSpPr txBox="1"/>
          <p:nvPr/>
        </p:nvSpPr>
        <p:spPr>
          <a:xfrm>
            <a:off x="760306" y="759882"/>
            <a:ext cx="8536093" cy="523220"/>
          </a:xfrm>
          <a:prstGeom prst="rect">
            <a:avLst/>
          </a:prstGeom>
          <a:noFill/>
        </p:spPr>
        <p:txBody>
          <a:bodyPr wrap="square" rtlCol="0">
            <a:spAutoFit/>
          </a:bodyPr>
          <a:lstStyle/>
          <a:p>
            <a:r>
              <a:rPr lang="en-US" sz="1400" b="1" dirty="0">
                <a:latin typeface="Tahoma" panose="020B0604030504040204" pitchFamily="34" charset="0"/>
                <a:ea typeface="Tahoma" panose="020B0604030504040204" pitchFamily="34" charset="0"/>
                <a:cs typeface="Tahoma" panose="020B0604030504040204" pitchFamily="34" charset="0"/>
              </a:rPr>
              <a:t>ABT Series – ABT Customer / Production Drawings: </a:t>
            </a:r>
            <a:br>
              <a:rPr lang="en-US" sz="1400" b="1" dirty="0">
                <a:latin typeface="Tahoma" panose="020B0604030504040204" pitchFamily="34" charset="0"/>
                <a:ea typeface="Tahoma" panose="020B0604030504040204" pitchFamily="34" charset="0"/>
                <a:cs typeface="Tahoma" panose="020B0604030504040204" pitchFamily="34" charset="0"/>
              </a:rPr>
            </a:br>
            <a:r>
              <a:rPr lang="en-US" sz="1400" dirty="0">
                <a:latin typeface="Tahoma" panose="020B0604030504040204" pitchFamily="34" charset="0"/>
                <a:ea typeface="Tahoma" panose="020B0604030504040204" pitchFamily="34" charset="0"/>
                <a:cs typeface="Tahoma" panose="020B0604030504040204" pitchFamily="34" charset="0"/>
              </a:rPr>
              <a:t>Section</a:t>
            </a:r>
            <a:r>
              <a:rPr lang="en-US" sz="1400" b="1" dirty="0">
                <a:latin typeface="Tahoma" panose="020B0604030504040204" pitchFamily="34" charset="0"/>
                <a:ea typeface="Tahoma" panose="020B0604030504040204" pitchFamily="34" charset="0"/>
                <a:cs typeface="Tahoma" panose="020B0604030504040204" pitchFamily="34" charset="0"/>
              </a:rPr>
              <a:t> </a:t>
            </a:r>
            <a:r>
              <a:rPr lang="en-US" sz="1400" dirty="0">
                <a:latin typeface="Tahoma" panose="020B0604030504040204" pitchFamily="34" charset="0"/>
                <a:ea typeface="Tahoma" panose="020B0604030504040204" pitchFamily="34" charset="0"/>
                <a:cs typeface="Tahoma" panose="020B0604030504040204" pitchFamily="34" charset="0"/>
              </a:rPr>
              <a:t>view in case of FG case std shank : </a:t>
            </a:r>
          </a:p>
        </p:txBody>
      </p:sp>
      <p:sp>
        <p:nvSpPr>
          <p:cNvPr id="7" name="Shape 1">
            <a:extLst>
              <a:ext uri="{FF2B5EF4-FFF2-40B4-BE49-F238E27FC236}">
                <a16:creationId xmlns:a16="http://schemas.microsoft.com/office/drawing/2014/main" id="{DE3AE442-3BB6-2A3E-A567-A05178D04417}"/>
              </a:ext>
            </a:extLst>
          </p:cNvPr>
          <p:cNvSpPr/>
          <p:nvPr/>
        </p:nvSpPr>
        <p:spPr>
          <a:xfrm>
            <a:off x="563880" y="889684"/>
            <a:ext cx="109728" cy="109728"/>
          </a:xfrm>
          <a:prstGeom prst="rect">
            <a:avLst/>
          </a:prstGeom>
          <a:solidFill>
            <a:srgbClr val="FF0000"/>
          </a:solidFill>
          <a:ln/>
        </p:spPr>
        <p:txBody>
          <a:bodyPr/>
          <a:lstStyle/>
          <a:p>
            <a:endParaRPr lang="en-US" dirty="0"/>
          </a:p>
        </p:txBody>
      </p:sp>
      <p:sp>
        <p:nvSpPr>
          <p:cNvPr id="11" name="TextBox 10">
            <a:extLst>
              <a:ext uri="{FF2B5EF4-FFF2-40B4-BE49-F238E27FC236}">
                <a16:creationId xmlns:a16="http://schemas.microsoft.com/office/drawing/2014/main" id="{97A322D6-551F-B510-CBBD-5B026B0CC010}"/>
              </a:ext>
            </a:extLst>
          </p:cNvPr>
          <p:cNvSpPr txBox="1"/>
          <p:nvPr/>
        </p:nvSpPr>
        <p:spPr>
          <a:xfrm>
            <a:off x="4527973" y="1156108"/>
            <a:ext cx="8536093" cy="5262979"/>
          </a:xfrm>
          <a:prstGeom prst="rect">
            <a:avLst/>
          </a:prstGeom>
          <a:noFill/>
        </p:spPr>
        <p:txBody>
          <a:bodyPr wrap="square" rtlCol="0">
            <a:spAutoFit/>
          </a:bodyPr>
          <a:lstStyle/>
          <a:p>
            <a:r>
              <a:rPr lang="en-US" sz="1400" dirty="0">
                <a:latin typeface="Tahoma" panose="020B0604030504040204" pitchFamily="34" charset="0"/>
                <a:ea typeface="Tahoma" panose="020B0604030504040204" pitchFamily="34" charset="0"/>
                <a:cs typeface="Tahoma" panose="020B0604030504040204" pitchFamily="34" charset="0"/>
              </a:rPr>
              <a:t>Section view have many annotation, all the annotation are from </a:t>
            </a:r>
            <a:br>
              <a:rPr lang="en-US" sz="1400" dirty="0">
                <a:latin typeface="Tahoma" panose="020B0604030504040204" pitchFamily="34" charset="0"/>
                <a:ea typeface="Tahoma" panose="020B0604030504040204" pitchFamily="34" charset="0"/>
                <a:cs typeface="Tahoma" panose="020B0604030504040204" pitchFamily="34" charset="0"/>
              </a:rPr>
            </a:br>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annotation_std_front_plan</a:t>
            </a:r>
            <a:b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br>
            <a:br>
              <a:rPr lang="en-US" sz="1400" dirty="0">
                <a:latin typeface="Tahoma" panose="020B0604030504040204" pitchFamily="34" charset="0"/>
                <a:ea typeface="Tahoma" panose="020B0604030504040204" pitchFamily="34" charset="0"/>
                <a:cs typeface="Tahoma" panose="020B0604030504040204" pitchFamily="34" charset="0"/>
              </a:rPr>
            </a:br>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FL@annotation_std_front</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 _plan </a:t>
            </a:r>
          </a:p>
          <a:p>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T@annotation_std_front</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 _plan </a:t>
            </a:r>
            <a:b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br>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RA@annotation_std_front</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 _plan</a:t>
            </a:r>
          </a:p>
          <a:p>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RA2@annotation_std_front _plan </a:t>
            </a:r>
            <a:r>
              <a:rPr lang="en-US" sz="1400" dirty="0">
                <a:latin typeface="Tahoma" panose="020B0604030504040204" pitchFamily="34" charset="0"/>
                <a:ea typeface="Tahoma" panose="020B0604030504040204" pitchFamily="34" charset="0"/>
                <a:cs typeface="Tahoma" panose="020B0604030504040204" pitchFamily="34" charset="0"/>
              </a:rPr>
              <a:t>if we have RA2 option</a:t>
            </a:r>
            <a:b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br>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CA@annotation_std_front</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 _plan</a:t>
            </a:r>
            <a:b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br>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FD@annotation_std_front</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 _plan</a:t>
            </a:r>
            <a:b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br>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ERL@annotation_std_front</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 _plan</a:t>
            </a:r>
          </a:p>
          <a:p>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FNAannotation_std_front</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 _plan </a:t>
            </a:r>
          </a:p>
          <a:p>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HA@annotation_std_front</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 _plan </a:t>
            </a:r>
          </a:p>
          <a:p>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H@annotation_std_front</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 _plan </a:t>
            </a:r>
            <a:r>
              <a:rPr lang="en-US" sz="1400" dirty="0">
                <a:latin typeface="Tahoma" panose="020B0604030504040204" pitchFamily="34" charset="0"/>
                <a:ea typeface="Tahoma" panose="020B0604030504040204" pitchFamily="34" charset="0"/>
                <a:cs typeface="Tahoma" panose="020B0604030504040204" pitchFamily="34" charset="0"/>
              </a:rPr>
              <a:t>if we have standard hole</a:t>
            </a:r>
            <a:b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br>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HH@annotation_std_front</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 _plan </a:t>
            </a:r>
            <a:r>
              <a:rPr lang="en-US" sz="1400" dirty="0">
                <a:latin typeface="Tahoma" panose="020B0604030504040204" pitchFamily="34" charset="0"/>
                <a:ea typeface="Tahoma" panose="020B0604030504040204" pitchFamily="34" charset="0"/>
                <a:cs typeface="Tahoma" panose="020B0604030504040204" pitchFamily="34" charset="0"/>
              </a:rPr>
              <a:t>if we have oval</a:t>
            </a:r>
          </a:p>
          <a:p>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ST@annotation_std_front</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 _plan </a:t>
            </a:r>
            <a:r>
              <a:rPr lang="en-US" sz="1400" dirty="0">
                <a:latin typeface="Tahoma" panose="020B0604030504040204" pitchFamily="34" charset="0"/>
                <a:ea typeface="Tahoma" panose="020B0604030504040204" pitchFamily="34" charset="0"/>
                <a:cs typeface="Tahoma" panose="020B0604030504040204" pitchFamily="34" charset="0"/>
              </a:rPr>
              <a:t>if we have slot</a:t>
            </a:r>
          </a:p>
          <a:p>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FR@ </a:t>
            </a:r>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annotation_std_front</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 _plan </a:t>
            </a:r>
            <a:r>
              <a:rPr lang="en-US" sz="1400" dirty="0">
                <a:latin typeface="Tahoma" panose="020B0604030504040204" pitchFamily="34" charset="0"/>
                <a:ea typeface="Tahoma" panose="020B0604030504040204" pitchFamily="34" charset="0"/>
                <a:cs typeface="Tahoma" panose="020B0604030504040204" pitchFamily="34" charset="0"/>
              </a:rPr>
              <a:t>if FRO = FR don’t show FR</a:t>
            </a:r>
          </a:p>
          <a:p>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BR@ </a:t>
            </a:r>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annotation_std_front</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 _plan </a:t>
            </a:r>
            <a:r>
              <a:rPr lang="en-US" sz="1400" dirty="0">
                <a:latin typeface="Tahoma" panose="020B0604030504040204" pitchFamily="34" charset="0"/>
                <a:ea typeface="Tahoma" panose="020B0604030504040204" pitchFamily="34" charset="0"/>
                <a:cs typeface="Tahoma" panose="020B0604030504040204" pitchFamily="34" charset="0"/>
              </a:rPr>
              <a:t>if we have CBR don’t show BR</a:t>
            </a:r>
            <a:br>
              <a:rPr lang="en-US" sz="1400" dirty="0">
                <a:latin typeface="Tahoma" panose="020B0604030504040204" pitchFamily="34" charset="0"/>
                <a:ea typeface="Tahoma" panose="020B0604030504040204" pitchFamily="34" charset="0"/>
                <a:cs typeface="Tahoma" panose="020B0604030504040204" pitchFamily="34" charset="0"/>
              </a:rPr>
            </a:b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FRO@ </a:t>
            </a:r>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annotation_std_front</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 _plan </a:t>
            </a:r>
          </a:p>
          <a:p>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BF@annotation_front_plan</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 </a:t>
            </a:r>
            <a:r>
              <a:rPr lang="en-US" sz="1400" dirty="0">
                <a:latin typeface="Tahoma" panose="020B0604030504040204" pitchFamily="34" charset="0"/>
                <a:ea typeface="Tahoma" panose="020B0604030504040204" pitchFamily="34" charset="0"/>
                <a:cs typeface="Tahoma" panose="020B0604030504040204" pitchFamily="34" charset="0"/>
              </a:rPr>
              <a:t>only in production drawing</a:t>
            </a:r>
            <a:endPar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endParaRPr>
          </a:p>
          <a:p>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F@annotation_front_plan</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 </a:t>
            </a:r>
            <a:r>
              <a:rPr lang="en-US" sz="1400" dirty="0">
                <a:latin typeface="Tahoma" panose="020B0604030504040204" pitchFamily="34" charset="0"/>
                <a:ea typeface="Tahoma" panose="020B0604030504040204" pitchFamily="34" charset="0"/>
                <a:cs typeface="Tahoma" panose="020B0604030504040204" pitchFamily="34" charset="0"/>
              </a:rPr>
              <a:t>only in production drawing</a:t>
            </a:r>
            <a:endPar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endParaRPr>
          </a:p>
          <a:p>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Y@annotation_front_plan</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 </a:t>
            </a:r>
            <a:r>
              <a:rPr lang="en-US" sz="1400" dirty="0">
                <a:latin typeface="Tahoma" panose="020B0604030504040204" pitchFamily="34" charset="0"/>
                <a:ea typeface="Tahoma" panose="020B0604030504040204" pitchFamily="34" charset="0"/>
                <a:cs typeface="Tahoma" panose="020B0604030504040204" pitchFamily="34" charset="0"/>
              </a:rPr>
              <a:t>only in production drawing</a:t>
            </a:r>
            <a:b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br>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CBRL@annotation_front_plan</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 </a:t>
            </a:r>
            <a:r>
              <a:rPr lang="en-US" sz="1400" dirty="0">
                <a:latin typeface="Tahoma" panose="020B0604030504040204" pitchFamily="34" charset="0"/>
                <a:ea typeface="Tahoma" panose="020B0604030504040204" pitchFamily="34" charset="0"/>
                <a:cs typeface="Tahoma" panose="020B0604030504040204" pitchFamily="34" charset="0"/>
              </a:rPr>
              <a:t>only in production drawing</a:t>
            </a:r>
            <a:endPar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endParaRPr>
          </a:p>
          <a:p>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CBRA@annotation_front_plan</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 </a:t>
            </a:r>
            <a:r>
              <a:rPr lang="en-US" sz="1400" dirty="0">
                <a:latin typeface="Tahoma" panose="020B0604030504040204" pitchFamily="34" charset="0"/>
                <a:ea typeface="Tahoma" panose="020B0604030504040204" pitchFamily="34" charset="0"/>
                <a:cs typeface="Tahoma" panose="020B0604030504040204" pitchFamily="34" charset="0"/>
              </a:rPr>
              <a:t>only in production drawing</a:t>
            </a:r>
            <a:b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br>
            <a:r>
              <a:rPr lang="en-US" sz="1400" dirty="0">
                <a:latin typeface="Tahoma" panose="020B0604030504040204" pitchFamily="34" charset="0"/>
                <a:ea typeface="Tahoma" panose="020B0604030504040204" pitchFamily="34" charset="0"/>
                <a:cs typeface="Tahoma" panose="020B0604030504040204" pitchFamily="34" charset="0"/>
              </a:rPr>
              <a:t>The view can be positioned based on your preference</a:t>
            </a:r>
            <a:endPar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endParaRPr>
          </a:p>
        </p:txBody>
      </p:sp>
      <p:pic>
        <p:nvPicPr>
          <p:cNvPr id="4" name="Picture 3">
            <a:extLst>
              <a:ext uri="{FF2B5EF4-FFF2-40B4-BE49-F238E27FC236}">
                <a16:creationId xmlns:a16="http://schemas.microsoft.com/office/drawing/2014/main" id="{575C71FD-F019-2F9E-F166-29B0528F30E0}"/>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0" y="1652246"/>
            <a:ext cx="3218176" cy="3874477"/>
          </a:xfrm>
          <a:prstGeom prst="rect">
            <a:avLst/>
          </a:prstGeom>
        </p:spPr>
      </p:pic>
    </p:spTree>
    <p:extLst>
      <p:ext uri="{BB962C8B-B14F-4D97-AF65-F5344CB8AC3E}">
        <p14:creationId xmlns:p14="http://schemas.microsoft.com/office/powerpoint/2010/main" val="117232084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AE5A31-1D14-823C-135C-8057AADEEA63}"/>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3B46B822-8718-7ED7-B5EA-A91AA0A1B2DB}"/>
              </a:ext>
            </a:extLst>
          </p:cNvPr>
          <p:cNvSpPr/>
          <p:nvPr/>
        </p:nvSpPr>
        <p:spPr>
          <a:xfrm>
            <a:off x="548640" y="119802"/>
            <a:ext cx="11064240" cy="640080"/>
          </a:xfrm>
          <a:prstGeom prst="rect">
            <a:avLst/>
          </a:prstGeom>
          <a:noFill/>
          <a:ln/>
        </p:spPr>
        <p:txBody>
          <a:bodyPr wrap="square" lIns="0" tIns="0" rIns="0" bIns="0" rtlCol="0" anchor="ctr"/>
          <a:lstStyle/>
          <a:p>
            <a:pPr marL="0" indent="0">
              <a:buNone/>
            </a:pPr>
            <a:r>
              <a:rPr lang="en-US" sz="2800" b="1" dirty="0">
                <a:solidFill>
                  <a:srgbClr val="FF0000"/>
                </a:solidFill>
                <a:latin typeface="Arial" pitchFamily="34" charset="0"/>
                <a:ea typeface="Arial" pitchFamily="34" charset="-122"/>
                <a:cs typeface="Arial" pitchFamily="34" charset="-120"/>
              </a:rPr>
              <a:t>Rules</a:t>
            </a:r>
            <a:endParaRPr lang="en-US" sz="2800" dirty="0">
              <a:solidFill>
                <a:srgbClr val="FF0000"/>
              </a:solidFill>
            </a:endParaRPr>
          </a:p>
        </p:txBody>
      </p:sp>
      <p:sp>
        <p:nvSpPr>
          <p:cNvPr id="13" name="Shape 11">
            <a:extLst>
              <a:ext uri="{FF2B5EF4-FFF2-40B4-BE49-F238E27FC236}">
                <a16:creationId xmlns:a16="http://schemas.microsoft.com/office/drawing/2014/main" id="{75F3A3FC-D585-6E1A-A1D7-8A5BB27D9D33}"/>
              </a:ext>
            </a:extLst>
          </p:cNvPr>
          <p:cNvSpPr/>
          <p:nvPr/>
        </p:nvSpPr>
        <p:spPr>
          <a:xfrm>
            <a:off x="548640" y="6419088"/>
            <a:ext cx="11064240" cy="0"/>
          </a:xfrm>
          <a:prstGeom prst="line">
            <a:avLst/>
          </a:prstGeom>
          <a:noFill/>
          <a:ln w="9525">
            <a:solidFill>
              <a:srgbClr val="E4E4E4"/>
            </a:solidFill>
            <a:prstDash val="solid"/>
          </a:ln>
        </p:spPr>
        <p:txBody>
          <a:bodyPr/>
          <a:lstStyle/>
          <a:p>
            <a:endParaRPr lang="en-US" dirty="0"/>
          </a:p>
        </p:txBody>
      </p:sp>
      <p:sp>
        <p:nvSpPr>
          <p:cNvPr id="14" name="Text 12">
            <a:extLst>
              <a:ext uri="{FF2B5EF4-FFF2-40B4-BE49-F238E27FC236}">
                <a16:creationId xmlns:a16="http://schemas.microsoft.com/office/drawing/2014/main" id="{CC0B1382-5D00-09BA-6785-5B6550AEF64B}"/>
              </a:ext>
            </a:extLst>
          </p:cNvPr>
          <p:cNvSpPr/>
          <p:nvPr/>
        </p:nvSpPr>
        <p:spPr>
          <a:xfrm>
            <a:off x="548640" y="6419088"/>
            <a:ext cx="4572000" cy="274320"/>
          </a:xfrm>
          <a:prstGeom prst="rect">
            <a:avLst/>
          </a:prstGeom>
          <a:noFill/>
          <a:ln/>
        </p:spPr>
        <p:txBody>
          <a:bodyPr wrap="square" lIns="0" tIns="0" rIns="0" bIns="0" rtlCol="0" anchor="ctr"/>
          <a:lstStyle/>
          <a:p>
            <a:pPr marL="0" indent="0">
              <a:buNone/>
            </a:pPr>
            <a:r>
              <a:rPr lang="en-US" sz="900" dirty="0">
                <a:solidFill>
                  <a:srgbClr val="6E6E6E"/>
                </a:solidFill>
                <a:latin typeface="Arial" pitchFamily="34" charset="0"/>
                <a:ea typeface="Arial" pitchFamily="34" charset="-122"/>
                <a:cs typeface="Arial" pitchFamily="34" charset="-120"/>
              </a:rPr>
              <a:t>SMALL PRECISION TOOLS</a:t>
            </a:r>
            <a:endParaRPr lang="en-US" sz="900" dirty="0"/>
          </a:p>
        </p:txBody>
      </p:sp>
      <p:sp>
        <p:nvSpPr>
          <p:cNvPr id="15" name="Text 13">
            <a:extLst>
              <a:ext uri="{FF2B5EF4-FFF2-40B4-BE49-F238E27FC236}">
                <a16:creationId xmlns:a16="http://schemas.microsoft.com/office/drawing/2014/main" id="{1CF2925C-874A-A648-AA69-C51A693BDDCC}"/>
              </a:ext>
            </a:extLst>
          </p:cNvPr>
          <p:cNvSpPr/>
          <p:nvPr/>
        </p:nvSpPr>
        <p:spPr>
          <a:xfrm>
            <a:off x="4709160" y="6419088"/>
            <a:ext cx="2743200" cy="274320"/>
          </a:xfrm>
          <a:prstGeom prst="rect">
            <a:avLst/>
          </a:prstGeom>
          <a:noFill/>
          <a:ln/>
        </p:spPr>
        <p:txBody>
          <a:bodyPr wrap="square" lIns="0" tIns="0" rIns="0" bIns="0" rtlCol="0" anchor="ctr"/>
          <a:lstStyle/>
          <a:p>
            <a:pPr marL="0" indent="0" algn="ctr">
              <a:buNone/>
            </a:pPr>
            <a:r>
              <a:rPr lang="en-US" sz="900" dirty="0">
                <a:solidFill>
                  <a:srgbClr val="6E6E6E"/>
                </a:solidFill>
                <a:latin typeface="Arial" pitchFamily="34" charset="0"/>
                <a:ea typeface="Arial" pitchFamily="34" charset="-122"/>
                <a:cs typeface="Arial" pitchFamily="34" charset="-120"/>
              </a:rPr>
              <a:t>Confidential</a:t>
            </a:r>
            <a:endParaRPr lang="en-US" sz="900" dirty="0"/>
          </a:p>
        </p:txBody>
      </p:sp>
      <p:sp>
        <p:nvSpPr>
          <p:cNvPr id="5" name="TextBox 4">
            <a:extLst>
              <a:ext uri="{FF2B5EF4-FFF2-40B4-BE49-F238E27FC236}">
                <a16:creationId xmlns:a16="http://schemas.microsoft.com/office/drawing/2014/main" id="{1C48F4DA-F68D-0262-C1CA-8D5D00C1ACDB}"/>
              </a:ext>
            </a:extLst>
          </p:cNvPr>
          <p:cNvSpPr txBox="1"/>
          <p:nvPr/>
        </p:nvSpPr>
        <p:spPr>
          <a:xfrm>
            <a:off x="760306" y="759882"/>
            <a:ext cx="8536093" cy="523220"/>
          </a:xfrm>
          <a:prstGeom prst="rect">
            <a:avLst/>
          </a:prstGeom>
          <a:noFill/>
        </p:spPr>
        <p:txBody>
          <a:bodyPr wrap="square" rtlCol="0">
            <a:spAutoFit/>
          </a:bodyPr>
          <a:lstStyle/>
          <a:p>
            <a:r>
              <a:rPr lang="en-US" sz="1400" b="1" dirty="0">
                <a:latin typeface="Tahoma" panose="020B0604030504040204" pitchFamily="34" charset="0"/>
                <a:ea typeface="Tahoma" panose="020B0604030504040204" pitchFamily="34" charset="0"/>
                <a:cs typeface="Tahoma" panose="020B0604030504040204" pitchFamily="34" charset="0"/>
              </a:rPr>
              <a:t>ABT Series – ABT Customer / Production Drawings: </a:t>
            </a:r>
            <a:br>
              <a:rPr lang="en-US" sz="1400" b="1" dirty="0">
                <a:latin typeface="Tahoma" panose="020B0604030504040204" pitchFamily="34" charset="0"/>
                <a:ea typeface="Tahoma" panose="020B0604030504040204" pitchFamily="34" charset="0"/>
                <a:cs typeface="Tahoma" panose="020B0604030504040204" pitchFamily="34" charset="0"/>
              </a:rPr>
            </a:br>
            <a:r>
              <a:rPr lang="en-US" sz="1400" dirty="0">
                <a:latin typeface="Tahoma" panose="020B0604030504040204" pitchFamily="34" charset="0"/>
                <a:ea typeface="Tahoma" panose="020B0604030504040204" pitchFamily="34" charset="0"/>
                <a:cs typeface="Tahoma" panose="020B0604030504040204" pitchFamily="34" charset="0"/>
              </a:rPr>
              <a:t>Section</a:t>
            </a:r>
            <a:r>
              <a:rPr lang="en-US" sz="1400" b="1" dirty="0">
                <a:latin typeface="Tahoma" panose="020B0604030504040204" pitchFamily="34" charset="0"/>
                <a:ea typeface="Tahoma" panose="020B0604030504040204" pitchFamily="34" charset="0"/>
                <a:cs typeface="Tahoma" panose="020B0604030504040204" pitchFamily="34" charset="0"/>
              </a:rPr>
              <a:t> </a:t>
            </a:r>
            <a:r>
              <a:rPr lang="en-US" sz="1400" dirty="0">
                <a:latin typeface="Tahoma" panose="020B0604030504040204" pitchFamily="34" charset="0"/>
                <a:ea typeface="Tahoma" panose="020B0604030504040204" pitchFamily="34" charset="0"/>
                <a:cs typeface="Tahoma" panose="020B0604030504040204" pitchFamily="34" charset="0"/>
              </a:rPr>
              <a:t>view in case of FG case rev shank : </a:t>
            </a:r>
          </a:p>
        </p:txBody>
      </p:sp>
      <p:sp>
        <p:nvSpPr>
          <p:cNvPr id="7" name="Shape 1">
            <a:extLst>
              <a:ext uri="{FF2B5EF4-FFF2-40B4-BE49-F238E27FC236}">
                <a16:creationId xmlns:a16="http://schemas.microsoft.com/office/drawing/2014/main" id="{89BC5A3E-A4E7-565B-2BD6-0EBA25EF3A33}"/>
              </a:ext>
            </a:extLst>
          </p:cNvPr>
          <p:cNvSpPr/>
          <p:nvPr/>
        </p:nvSpPr>
        <p:spPr>
          <a:xfrm>
            <a:off x="563880" y="889684"/>
            <a:ext cx="109728" cy="109728"/>
          </a:xfrm>
          <a:prstGeom prst="rect">
            <a:avLst/>
          </a:prstGeom>
          <a:solidFill>
            <a:srgbClr val="FF0000"/>
          </a:solidFill>
          <a:ln/>
        </p:spPr>
        <p:txBody>
          <a:bodyPr/>
          <a:lstStyle/>
          <a:p>
            <a:endParaRPr lang="en-US" dirty="0"/>
          </a:p>
        </p:txBody>
      </p:sp>
      <p:sp>
        <p:nvSpPr>
          <p:cNvPr id="11" name="TextBox 10">
            <a:extLst>
              <a:ext uri="{FF2B5EF4-FFF2-40B4-BE49-F238E27FC236}">
                <a16:creationId xmlns:a16="http://schemas.microsoft.com/office/drawing/2014/main" id="{6233DC64-FF49-2C67-2AA6-369F1CDE81EF}"/>
              </a:ext>
            </a:extLst>
          </p:cNvPr>
          <p:cNvSpPr txBox="1"/>
          <p:nvPr/>
        </p:nvSpPr>
        <p:spPr>
          <a:xfrm>
            <a:off x="4527973" y="1156108"/>
            <a:ext cx="8536093" cy="5262979"/>
          </a:xfrm>
          <a:prstGeom prst="rect">
            <a:avLst/>
          </a:prstGeom>
          <a:noFill/>
        </p:spPr>
        <p:txBody>
          <a:bodyPr wrap="square" rtlCol="0">
            <a:spAutoFit/>
          </a:bodyPr>
          <a:lstStyle/>
          <a:p>
            <a:r>
              <a:rPr lang="en-US" sz="1400" dirty="0">
                <a:latin typeface="Tahoma" panose="020B0604030504040204" pitchFamily="34" charset="0"/>
                <a:ea typeface="Tahoma" panose="020B0604030504040204" pitchFamily="34" charset="0"/>
                <a:cs typeface="Tahoma" panose="020B0604030504040204" pitchFamily="34" charset="0"/>
              </a:rPr>
              <a:t>Section view have many annotation, all the annotation are from </a:t>
            </a:r>
            <a:br>
              <a:rPr lang="en-US" sz="1400" dirty="0">
                <a:latin typeface="Tahoma" panose="020B0604030504040204" pitchFamily="34" charset="0"/>
                <a:ea typeface="Tahoma" panose="020B0604030504040204" pitchFamily="34" charset="0"/>
                <a:cs typeface="Tahoma" panose="020B0604030504040204" pitchFamily="34" charset="0"/>
              </a:rPr>
            </a:br>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annotation_rev_front_plan</a:t>
            </a:r>
            <a:b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br>
            <a:br>
              <a:rPr lang="en-US" sz="1400" dirty="0">
                <a:latin typeface="Tahoma" panose="020B0604030504040204" pitchFamily="34" charset="0"/>
                <a:ea typeface="Tahoma" panose="020B0604030504040204" pitchFamily="34" charset="0"/>
                <a:cs typeface="Tahoma" panose="020B0604030504040204" pitchFamily="34" charset="0"/>
              </a:rPr>
            </a:br>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FL@annotation_rev_front</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 _plan </a:t>
            </a:r>
          </a:p>
          <a:p>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T@annotation_rev_front</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 _plan </a:t>
            </a:r>
            <a:b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br>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RA@annotation_rev_front</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 _plan</a:t>
            </a:r>
          </a:p>
          <a:p>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RA2@annotation_rev_front _plan </a:t>
            </a:r>
            <a:r>
              <a:rPr lang="en-US" sz="1400" dirty="0">
                <a:latin typeface="Tahoma" panose="020B0604030504040204" pitchFamily="34" charset="0"/>
                <a:ea typeface="Tahoma" panose="020B0604030504040204" pitchFamily="34" charset="0"/>
                <a:cs typeface="Tahoma" panose="020B0604030504040204" pitchFamily="34" charset="0"/>
              </a:rPr>
              <a:t>if we have RA2 option</a:t>
            </a:r>
            <a:b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br>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CA@annotation_rev_front</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 _plan</a:t>
            </a:r>
            <a:b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br>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FD@annotation_rev_front</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 _plan</a:t>
            </a:r>
            <a:b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br>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ERL@annotation_rev_front</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 _plan</a:t>
            </a:r>
          </a:p>
          <a:p>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FNAannotation_rev_front</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 _plan </a:t>
            </a:r>
          </a:p>
          <a:p>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HA@annotation_rev_front</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 _plan </a:t>
            </a:r>
          </a:p>
          <a:p>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H@annotation_rev_front</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 _plan </a:t>
            </a:r>
            <a:r>
              <a:rPr lang="en-US" sz="1400" dirty="0">
                <a:latin typeface="Tahoma" panose="020B0604030504040204" pitchFamily="34" charset="0"/>
                <a:ea typeface="Tahoma" panose="020B0604030504040204" pitchFamily="34" charset="0"/>
                <a:cs typeface="Tahoma" panose="020B0604030504040204" pitchFamily="34" charset="0"/>
              </a:rPr>
              <a:t>if we have standard hole</a:t>
            </a:r>
            <a:b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br>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HH@annotation_rev_front</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 _plan </a:t>
            </a:r>
            <a:r>
              <a:rPr lang="en-US" sz="1400" dirty="0">
                <a:latin typeface="Tahoma" panose="020B0604030504040204" pitchFamily="34" charset="0"/>
                <a:ea typeface="Tahoma" panose="020B0604030504040204" pitchFamily="34" charset="0"/>
                <a:cs typeface="Tahoma" panose="020B0604030504040204" pitchFamily="34" charset="0"/>
              </a:rPr>
              <a:t>if we have oval</a:t>
            </a:r>
          </a:p>
          <a:p>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ST@annotation_rev_front</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 _plan </a:t>
            </a:r>
            <a:r>
              <a:rPr lang="en-US" sz="1400" dirty="0">
                <a:latin typeface="Tahoma" panose="020B0604030504040204" pitchFamily="34" charset="0"/>
                <a:ea typeface="Tahoma" panose="020B0604030504040204" pitchFamily="34" charset="0"/>
                <a:cs typeface="Tahoma" panose="020B0604030504040204" pitchFamily="34" charset="0"/>
              </a:rPr>
              <a:t>if we have slot</a:t>
            </a:r>
          </a:p>
          <a:p>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FR@ </a:t>
            </a:r>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annotation_rev_front</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 _plan </a:t>
            </a:r>
            <a:r>
              <a:rPr lang="en-US" sz="1400" dirty="0">
                <a:latin typeface="Tahoma" panose="020B0604030504040204" pitchFamily="34" charset="0"/>
                <a:ea typeface="Tahoma" panose="020B0604030504040204" pitchFamily="34" charset="0"/>
                <a:cs typeface="Tahoma" panose="020B0604030504040204" pitchFamily="34" charset="0"/>
              </a:rPr>
              <a:t>if FRO = FR don’t show FR</a:t>
            </a:r>
          </a:p>
          <a:p>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BR@ </a:t>
            </a:r>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annotation_rev_front</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 _plan </a:t>
            </a:r>
            <a:r>
              <a:rPr lang="en-US" sz="1400" dirty="0">
                <a:latin typeface="Tahoma" panose="020B0604030504040204" pitchFamily="34" charset="0"/>
                <a:ea typeface="Tahoma" panose="020B0604030504040204" pitchFamily="34" charset="0"/>
                <a:cs typeface="Tahoma" panose="020B0604030504040204" pitchFamily="34" charset="0"/>
              </a:rPr>
              <a:t>if we have CBR don’t show BR</a:t>
            </a:r>
            <a:br>
              <a:rPr lang="en-US" sz="1400" dirty="0">
                <a:latin typeface="Tahoma" panose="020B0604030504040204" pitchFamily="34" charset="0"/>
                <a:ea typeface="Tahoma" panose="020B0604030504040204" pitchFamily="34" charset="0"/>
                <a:cs typeface="Tahoma" panose="020B0604030504040204" pitchFamily="34" charset="0"/>
              </a:rPr>
            </a:b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FRO@ </a:t>
            </a:r>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annotation_rev_front</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 _plan </a:t>
            </a:r>
          </a:p>
          <a:p>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BF@annotation_rev_plan</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 </a:t>
            </a:r>
            <a:r>
              <a:rPr lang="en-US" sz="1400" dirty="0">
                <a:latin typeface="Tahoma" panose="020B0604030504040204" pitchFamily="34" charset="0"/>
                <a:ea typeface="Tahoma" panose="020B0604030504040204" pitchFamily="34" charset="0"/>
                <a:cs typeface="Tahoma" panose="020B0604030504040204" pitchFamily="34" charset="0"/>
              </a:rPr>
              <a:t>only in production drawing</a:t>
            </a:r>
            <a:endPar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endParaRPr>
          </a:p>
          <a:p>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F@annotation_rev_plan</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 </a:t>
            </a:r>
            <a:r>
              <a:rPr lang="en-US" sz="1400" dirty="0">
                <a:latin typeface="Tahoma" panose="020B0604030504040204" pitchFamily="34" charset="0"/>
                <a:ea typeface="Tahoma" panose="020B0604030504040204" pitchFamily="34" charset="0"/>
                <a:cs typeface="Tahoma" panose="020B0604030504040204" pitchFamily="34" charset="0"/>
              </a:rPr>
              <a:t>only in production drawing</a:t>
            </a:r>
            <a:endPar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endParaRPr>
          </a:p>
          <a:p>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Y@annotation_rev_plan</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 </a:t>
            </a:r>
            <a:r>
              <a:rPr lang="en-US" sz="1400" dirty="0">
                <a:latin typeface="Tahoma" panose="020B0604030504040204" pitchFamily="34" charset="0"/>
                <a:ea typeface="Tahoma" panose="020B0604030504040204" pitchFamily="34" charset="0"/>
                <a:cs typeface="Tahoma" panose="020B0604030504040204" pitchFamily="34" charset="0"/>
              </a:rPr>
              <a:t>only in production drawing</a:t>
            </a:r>
            <a:b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br>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CBRL@annotation_rev_plan</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 </a:t>
            </a:r>
            <a:r>
              <a:rPr lang="en-US" sz="1400" dirty="0">
                <a:latin typeface="Tahoma" panose="020B0604030504040204" pitchFamily="34" charset="0"/>
                <a:ea typeface="Tahoma" panose="020B0604030504040204" pitchFamily="34" charset="0"/>
                <a:cs typeface="Tahoma" panose="020B0604030504040204" pitchFamily="34" charset="0"/>
              </a:rPr>
              <a:t>only in production drawing</a:t>
            </a:r>
            <a:endPar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endParaRPr>
          </a:p>
          <a:p>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CBRA@annotation_rev_plan</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 </a:t>
            </a:r>
            <a:r>
              <a:rPr lang="en-US" sz="1400" dirty="0">
                <a:latin typeface="Tahoma" panose="020B0604030504040204" pitchFamily="34" charset="0"/>
                <a:ea typeface="Tahoma" panose="020B0604030504040204" pitchFamily="34" charset="0"/>
                <a:cs typeface="Tahoma" panose="020B0604030504040204" pitchFamily="34" charset="0"/>
              </a:rPr>
              <a:t>only in production drawing</a:t>
            </a:r>
            <a:b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br>
            <a:r>
              <a:rPr lang="en-US" sz="1400" dirty="0">
                <a:latin typeface="Tahoma" panose="020B0604030504040204" pitchFamily="34" charset="0"/>
                <a:ea typeface="Tahoma" panose="020B0604030504040204" pitchFamily="34" charset="0"/>
                <a:cs typeface="Tahoma" panose="020B0604030504040204" pitchFamily="34" charset="0"/>
              </a:rPr>
              <a:t>The view can be positioned based on your preference</a:t>
            </a:r>
            <a:endPar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endParaRPr>
          </a:p>
        </p:txBody>
      </p:sp>
      <p:pic>
        <p:nvPicPr>
          <p:cNvPr id="4" name="Picture 3">
            <a:extLst>
              <a:ext uri="{FF2B5EF4-FFF2-40B4-BE49-F238E27FC236}">
                <a16:creationId xmlns:a16="http://schemas.microsoft.com/office/drawing/2014/main" id="{C53E5048-620A-F206-3F10-72B13E67FD70}"/>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0" y="1652246"/>
            <a:ext cx="3218176" cy="3874477"/>
          </a:xfrm>
          <a:prstGeom prst="rect">
            <a:avLst/>
          </a:prstGeom>
        </p:spPr>
      </p:pic>
    </p:spTree>
    <p:extLst>
      <p:ext uri="{BB962C8B-B14F-4D97-AF65-F5344CB8AC3E}">
        <p14:creationId xmlns:p14="http://schemas.microsoft.com/office/powerpoint/2010/main" val="37162438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DDABD-3818-C01C-66E8-78E3FBA6C0FF}"/>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1764EC2B-358D-B648-D302-C71CC8E8404D}"/>
              </a:ext>
            </a:extLst>
          </p:cNvPr>
          <p:cNvPicPr>
            <a:picLocks noGrp="1" noRot="1" noChangeAspect="1" noMove="1" noResize="1" noEditPoints="1" noAdjustHandles="1" noChangeArrowheads="1" noChangeShapeType="1" noCrop="1"/>
          </p:cNvPicPr>
          <p:nvPr/>
        </p:nvPicPr>
        <p:blipFill>
          <a:blip r:embed="rId3">
            <a:clrChange>
              <a:clrFrom>
                <a:srgbClr val="E6E6DB"/>
              </a:clrFrom>
              <a:clrTo>
                <a:srgbClr val="E6E6DB">
                  <a:alpha val="0"/>
                </a:srgbClr>
              </a:clrTo>
            </a:clrChange>
          </a:blip>
          <a:srcRect l="1444" t="1294" r="2449" b="2275"/>
          <a:stretch>
            <a:fillRect/>
          </a:stretch>
        </p:blipFill>
        <p:spPr>
          <a:xfrm>
            <a:off x="6187440" y="1125067"/>
            <a:ext cx="5776986" cy="4405616"/>
          </a:xfrm>
          <a:prstGeom prst="rect">
            <a:avLst/>
          </a:prstGeom>
        </p:spPr>
      </p:pic>
      <p:sp>
        <p:nvSpPr>
          <p:cNvPr id="2" name="Text 0">
            <a:extLst>
              <a:ext uri="{FF2B5EF4-FFF2-40B4-BE49-F238E27FC236}">
                <a16:creationId xmlns:a16="http://schemas.microsoft.com/office/drawing/2014/main" id="{19D41389-B6A7-185F-2F2F-4B0DB107D4F0}"/>
              </a:ext>
            </a:extLst>
          </p:cNvPr>
          <p:cNvSpPr/>
          <p:nvPr/>
        </p:nvSpPr>
        <p:spPr>
          <a:xfrm>
            <a:off x="548640" y="119802"/>
            <a:ext cx="11064240" cy="640080"/>
          </a:xfrm>
          <a:prstGeom prst="rect">
            <a:avLst/>
          </a:prstGeom>
          <a:noFill/>
          <a:ln/>
        </p:spPr>
        <p:txBody>
          <a:bodyPr wrap="square" lIns="0" tIns="0" rIns="0" bIns="0" rtlCol="0" anchor="ctr"/>
          <a:lstStyle/>
          <a:p>
            <a:pPr marL="0" indent="0">
              <a:buNone/>
            </a:pPr>
            <a:r>
              <a:rPr lang="en-US" sz="2800" b="1" dirty="0">
                <a:solidFill>
                  <a:srgbClr val="FF0000"/>
                </a:solidFill>
                <a:latin typeface="Arial" pitchFamily="34" charset="0"/>
                <a:ea typeface="Arial" pitchFamily="34" charset="-122"/>
                <a:cs typeface="Arial" pitchFamily="34" charset="-120"/>
              </a:rPr>
              <a:t>Rules</a:t>
            </a:r>
            <a:endParaRPr lang="en-US" sz="2800" dirty="0">
              <a:solidFill>
                <a:srgbClr val="FF0000"/>
              </a:solidFill>
            </a:endParaRPr>
          </a:p>
        </p:txBody>
      </p:sp>
      <p:sp>
        <p:nvSpPr>
          <p:cNvPr id="13" name="Shape 11">
            <a:extLst>
              <a:ext uri="{FF2B5EF4-FFF2-40B4-BE49-F238E27FC236}">
                <a16:creationId xmlns:a16="http://schemas.microsoft.com/office/drawing/2014/main" id="{35AB65D4-D76F-00F6-C22F-4ADBC2FCD362}"/>
              </a:ext>
            </a:extLst>
          </p:cNvPr>
          <p:cNvSpPr/>
          <p:nvPr/>
        </p:nvSpPr>
        <p:spPr>
          <a:xfrm>
            <a:off x="548640" y="6419088"/>
            <a:ext cx="11064240" cy="0"/>
          </a:xfrm>
          <a:prstGeom prst="line">
            <a:avLst/>
          </a:prstGeom>
          <a:noFill/>
          <a:ln w="9525">
            <a:solidFill>
              <a:srgbClr val="E4E4E4"/>
            </a:solidFill>
            <a:prstDash val="solid"/>
          </a:ln>
        </p:spPr>
        <p:txBody>
          <a:bodyPr/>
          <a:lstStyle/>
          <a:p>
            <a:endParaRPr lang="en-US" dirty="0"/>
          </a:p>
        </p:txBody>
      </p:sp>
      <p:sp>
        <p:nvSpPr>
          <p:cNvPr id="14" name="Text 12">
            <a:extLst>
              <a:ext uri="{FF2B5EF4-FFF2-40B4-BE49-F238E27FC236}">
                <a16:creationId xmlns:a16="http://schemas.microsoft.com/office/drawing/2014/main" id="{10C01F48-D73A-9D0D-AA5E-7C7D7F83922B}"/>
              </a:ext>
            </a:extLst>
          </p:cNvPr>
          <p:cNvSpPr/>
          <p:nvPr/>
        </p:nvSpPr>
        <p:spPr>
          <a:xfrm>
            <a:off x="548640" y="6419088"/>
            <a:ext cx="4572000" cy="274320"/>
          </a:xfrm>
          <a:prstGeom prst="rect">
            <a:avLst/>
          </a:prstGeom>
          <a:noFill/>
          <a:ln/>
        </p:spPr>
        <p:txBody>
          <a:bodyPr wrap="square" lIns="0" tIns="0" rIns="0" bIns="0" rtlCol="0" anchor="ctr"/>
          <a:lstStyle/>
          <a:p>
            <a:pPr marL="0" indent="0">
              <a:buNone/>
            </a:pPr>
            <a:r>
              <a:rPr lang="en-US" sz="900" dirty="0">
                <a:solidFill>
                  <a:srgbClr val="6E6E6E"/>
                </a:solidFill>
                <a:latin typeface="Arial" pitchFamily="34" charset="0"/>
                <a:ea typeface="Arial" pitchFamily="34" charset="-122"/>
                <a:cs typeface="Arial" pitchFamily="34" charset="-120"/>
              </a:rPr>
              <a:t>SMALL PRECISION TOOLS</a:t>
            </a:r>
            <a:endParaRPr lang="en-US" sz="900" dirty="0"/>
          </a:p>
        </p:txBody>
      </p:sp>
      <p:sp>
        <p:nvSpPr>
          <p:cNvPr id="15" name="Text 13">
            <a:extLst>
              <a:ext uri="{FF2B5EF4-FFF2-40B4-BE49-F238E27FC236}">
                <a16:creationId xmlns:a16="http://schemas.microsoft.com/office/drawing/2014/main" id="{5A0FE2CC-0C22-2515-C409-D78F7293B10E}"/>
              </a:ext>
            </a:extLst>
          </p:cNvPr>
          <p:cNvSpPr/>
          <p:nvPr/>
        </p:nvSpPr>
        <p:spPr>
          <a:xfrm>
            <a:off x="4709160" y="6419088"/>
            <a:ext cx="2743200" cy="274320"/>
          </a:xfrm>
          <a:prstGeom prst="rect">
            <a:avLst/>
          </a:prstGeom>
          <a:noFill/>
          <a:ln/>
        </p:spPr>
        <p:txBody>
          <a:bodyPr wrap="square" lIns="0" tIns="0" rIns="0" bIns="0" rtlCol="0" anchor="ctr"/>
          <a:lstStyle/>
          <a:p>
            <a:pPr marL="0" indent="0" algn="ctr">
              <a:buNone/>
            </a:pPr>
            <a:r>
              <a:rPr lang="en-US" sz="900" dirty="0">
                <a:solidFill>
                  <a:srgbClr val="6E6E6E"/>
                </a:solidFill>
                <a:latin typeface="Arial" pitchFamily="34" charset="0"/>
                <a:ea typeface="Arial" pitchFamily="34" charset="-122"/>
                <a:cs typeface="Arial" pitchFamily="34" charset="-120"/>
              </a:rPr>
              <a:t>Confidential</a:t>
            </a:r>
            <a:endParaRPr lang="en-US" sz="900" dirty="0"/>
          </a:p>
        </p:txBody>
      </p:sp>
      <p:sp>
        <p:nvSpPr>
          <p:cNvPr id="5" name="TextBox 4">
            <a:extLst>
              <a:ext uri="{FF2B5EF4-FFF2-40B4-BE49-F238E27FC236}">
                <a16:creationId xmlns:a16="http://schemas.microsoft.com/office/drawing/2014/main" id="{08004B6D-68EB-9BFF-0C8D-518ECED76FA7}"/>
              </a:ext>
            </a:extLst>
          </p:cNvPr>
          <p:cNvSpPr txBox="1"/>
          <p:nvPr/>
        </p:nvSpPr>
        <p:spPr>
          <a:xfrm>
            <a:off x="760306" y="759882"/>
            <a:ext cx="8536093" cy="523220"/>
          </a:xfrm>
          <a:prstGeom prst="rect">
            <a:avLst/>
          </a:prstGeom>
          <a:noFill/>
        </p:spPr>
        <p:txBody>
          <a:bodyPr wrap="square" rtlCol="0">
            <a:spAutoFit/>
          </a:bodyPr>
          <a:lstStyle/>
          <a:p>
            <a:r>
              <a:rPr lang="en-US" sz="1400" b="1" dirty="0">
                <a:latin typeface="Tahoma" panose="020B0604030504040204" pitchFamily="34" charset="0"/>
                <a:ea typeface="Tahoma" panose="020B0604030504040204" pitchFamily="34" charset="0"/>
                <a:cs typeface="Tahoma" panose="020B0604030504040204" pitchFamily="34" charset="0"/>
              </a:rPr>
              <a:t>ABT Series –Overlay : </a:t>
            </a:r>
            <a:br>
              <a:rPr lang="en-US" sz="1400" b="1" dirty="0">
                <a:latin typeface="Tahoma" panose="020B0604030504040204" pitchFamily="34" charset="0"/>
                <a:ea typeface="Tahoma" panose="020B0604030504040204" pitchFamily="34" charset="0"/>
                <a:cs typeface="Tahoma" panose="020B0604030504040204" pitchFamily="34" charset="0"/>
              </a:rPr>
            </a:br>
            <a:r>
              <a:rPr lang="en-US" sz="1400" dirty="0">
                <a:latin typeface="Tahoma" panose="020B0604030504040204" pitchFamily="34" charset="0"/>
                <a:ea typeface="Tahoma" panose="020B0604030504040204" pitchFamily="34" charset="0"/>
                <a:cs typeface="Tahoma" panose="020B0604030504040204" pitchFamily="34" charset="0"/>
              </a:rPr>
              <a:t>Construction of overlays</a:t>
            </a:r>
          </a:p>
        </p:txBody>
      </p:sp>
      <p:sp>
        <p:nvSpPr>
          <p:cNvPr id="7" name="Shape 1">
            <a:extLst>
              <a:ext uri="{FF2B5EF4-FFF2-40B4-BE49-F238E27FC236}">
                <a16:creationId xmlns:a16="http://schemas.microsoft.com/office/drawing/2014/main" id="{08E831DA-143B-A236-D60E-58296072AE6A}"/>
              </a:ext>
            </a:extLst>
          </p:cNvPr>
          <p:cNvSpPr/>
          <p:nvPr/>
        </p:nvSpPr>
        <p:spPr>
          <a:xfrm>
            <a:off x="563880" y="889684"/>
            <a:ext cx="109728" cy="109728"/>
          </a:xfrm>
          <a:prstGeom prst="rect">
            <a:avLst/>
          </a:prstGeom>
          <a:solidFill>
            <a:srgbClr val="FF0000"/>
          </a:solidFill>
          <a:ln/>
        </p:spPr>
        <p:txBody>
          <a:bodyPr/>
          <a:lstStyle/>
          <a:p>
            <a:endParaRPr lang="en-US" dirty="0"/>
          </a:p>
        </p:txBody>
      </p:sp>
      <p:sp>
        <p:nvSpPr>
          <p:cNvPr id="11" name="TextBox 10">
            <a:extLst>
              <a:ext uri="{FF2B5EF4-FFF2-40B4-BE49-F238E27FC236}">
                <a16:creationId xmlns:a16="http://schemas.microsoft.com/office/drawing/2014/main" id="{7DFE1D01-57ED-17CF-D53D-F9DB1BBC607D}"/>
              </a:ext>
            </a:extLst>
          </p:cNvPr>
          <p:cNvSpPr txBox="1"/>
          <p:nvPr/>
        </p:nvSpPr>
        <p:spPr>
          <a:xfrm>
            <a:off x="563880" y="1340510"/>
            <a:ext cx="5532120" cy="1384995"/>
          </a:xfrm>
          <a:prstGeom prst="rect">
            <a:avLst/>
          </a:prstGeom>
          <a:noFill/>
        </p:spPr>
        <p:txBody>
          <a:bodyPr wrap="square" rtlCol="0">
            <a:spAutoFit/>
          </a:bodyPr>
          <a:lstStyle/>
          <a:p>
            <a:r>
              <a:rPr lang="en-US" sz="1400" dirty="0">
                <a:latin typeface="Tahoma" panose="020B0604030504040204" pitchFamily="34" charset="0"/>
                <a:ea typeface="Tahoma" panose="020B0604030504040204" pitchFamily="34" charset="0"/>
                <a:cs typeface="Tahoma" panose="020B0604030504040204" pitchFamily="34" charset="0"/>
              </a:rPr>
              <a:t>In general, overlays respect the following shape :</a:t>
            </a:r>
            <a:br>
              <a:rPr lang="en-US" sz="1400" dirty="0">
                <a:latin typeface="Tahoma" panose="020B0604030504040204" pitchFamily="34" charset="0"/>
                <a:ea typeface="Tahoma" panose="020B0604030504040204" pitchFamily="34" charset="0"/>
                <a:cs typeface="Tahoma" panose="020B0604030504040204" pitchFamily="34" charset="0"/>
              </a:rPr>
            </a:b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Right and Left view.</a:t>
            </a:r>
            <a:b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b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Axillary view Optional</a:t>
            </a:r>
            <a:b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b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Annotation </a:t>
            </a:r>
            <a:b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b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Overlay Metadata controlled by properties manager's bellow</a:t>
            </a:r>
          </a:p>
          <a:p>
            <a:r>
              <a:rPr lang="en-US" sz="1400" dirty="0">
                <a:latin typeface="Tahoma" panose="020B0604030504040204" pitchFamily="34" charset="0"/>
                <a:ea typeface="Tahoma" panose="020B0604030504040204" pitchFamily="34" charset="0"/>
                <a:cs typeface="Tahoma" panose="020B0604030504040204" pitchFamily="34" charset="0"/>
              </a:rPr>
              <a:t> </a:t>
            </a:r>
            <a:endPar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endParaRPr>
          </a:p>
        </p:txBody>
      </p:sp>
      <p:pic>
        <p:nvPicPr>
          <p:cNvPr id="8" name="Picture 7">
            <a:extLst>
              <a:ext uri="{FF2B5EF4-FFF2-40B4-BE49-F238E27FC236}">
                <a16:creationId xmlns:a16="http://schemas.microsoft.com/office/drawing/2014/main" id="{1F2B5A4E-BCE4-DA38-A391-F8FF7F78814F}"/>
              </a:ext>
            </a:extLst>
          </p:cNvPr>
          <p:cNvPicPr>
            <a:picLocks noChangeAspect="1"/>
          </p:cNvPicPr>
          <p:nvPr/>
        </p:nvPicPr>
        <p:blipFill>
          <a:blip r:embed="rId4"/>
          <a:srcRect r="28921"/>
          <a:stretch>
            <a:fillRect/>
          </a:stretch>
        </p:blipFill>
        <p:spPr>
          <a:xfrm>
            <a:off x="618744" y="2578534"/>
            <a:ext cx="4921609" cy="1700931"/>
          </a:xfrm>
          <a:prstGeom prst="rect">
            <a:avLst/>
          </a:prstGeom>
        </p:spPr>
      </p:pic>
      <p:sp>
        <p:nvSpPr>
          <p:cNvPr id="12" name="Rectangle 11">
            <a:extLst>
              <a:ext uri="{FF2B5EF4-FFF2-40B4-BE49-F238E27FC236}">
                <a16:creationId xmlns:a16="http://schemas.microsoft.com/office/drawing/2014/main" id="{D2A375BF-A491-A98C-420B-EB01B295D33E}"/>
              </a:ext>
            </a:extLst>
          </p:cNvPr>
          <p:cNvSpPr/>
          <p:nvPr/>
        </p:nvSpPr>
        <p:spPr>
          <a:xfrm>
            <a:off x="7301997" y="2171507"/>
            <a:ext cx="1755648" cy="2457018"/>
          </a:xfrm>
          <a:prstGeom prst="rect">
            <a:avLst/>
          </a:prstGeom>
          <a:noFill/>
          <a:ln>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3134A306-CB9D-D9CF-68D3-71E00D721320}"/>
              </a:ext>
            </a:extLst>
          </p:cNvPr>
          <p:cNvSpPr/>
          <p:nvPr/>
        </p:nvSpPr>
        <p:spPr>
          <a:xfrm>
            <a:off x="10089663" y="2171507"/>
            <a:ext cx="1755648" cy="2457018"/>
          </a:xfrm>
          <a:prstGeom prst="rect">
            <a:avLst/>
          </a:prstGeom>
          <a:noFill/>
          <a:ln>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D5383440-3977-3BCB-2B01-0CCC3CC77FAA}"/>
              </a:ext>
            </a:extLst>
          </p:cNvPr>
          <p:cNvSpPr txBox="1"/>
          <p:nvPr/>
        </p:nvSpPr>
        <p:spPr>
          <a:xfrm>
            <a:off x="10419609" y="5884147"/>
            <a:ext cx="1095756" cy="307777"/>
          </a:xfrm>
          <a:prstGeom prst="rect">
            <a:avLst/>
          </a:prstGeom>
          <a:noFill/>
        </p:spPr>
        <p:txBody>
          <a:bodyPr wrap="square" rtlCol="0">
            <a:spAutoFit/>
          </a:bodyPr>
          <a:lstStyle/>
          <a:p>
            <a:r>
              <a:rPr lang="en-US" sz="1400" dirty="0">
                <a:latin typeface="Tahoma" panose="020B0604030504040204" pitchFamily="34" charset="0"/>
                <a:ea typeface="Tahoma" panose="020B0604030504040204" pitchFamily="34" charset="0"/>
                <a:cs typeface="Tahoma" panose="020B0604030504040204" pitchFamily="34" charset="0"/>
              </a:rPr>
              <a:t>Right view</a:t>
            </a:r>
            <a:endPar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endParaRPr>
          </a:p>
        </p:txBody>
      </p:sp>
      <p:sp>
        <p:nvSpPr>
          <p:cNvPr id="19" name="Rectangle 18">
            <a:extLst>
              <a:ext uri="{FF2B5EF4-FFF2-40B4-BE49-F238E27FC236}">
                <a16:creationId xmlns:a16="http://schemas.microsoft.com/office/drawing/2014/main" id="{465964B6-410B-F907-8764-BCDCDCAFF93F}"/>
              </a:ext>
            </a:extLst>
          </p:cNvPr>
          <p:cNvSpPr/>
          <p:nvPr/>
        </p:nvSpPr>
        <p:spPr>
          <a:xfrm>
            <a:off x="9474200" y="4781384"/>
            <a:ext cx="2102104" cy="522135"/>
          </a:xfrm>
          <a:prstGeom prst="rect">
            <a:avLst/>
          </a:prstGeom>
          <a:noFill/>
          <a:ln>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187E2D6D-2E0C-D60B-F562-30BA6CC32BE8}"/>
              </a:ext>
            </a:extLst>
          </p:cNvPr>
          <p:cNvSpPr/>
          <p:nvPr/>
        </p:nvSpPr>
        <p:spPr>
          <a:xfrm>
            <a:off x="6419087" y="1327318"/>
            <a:ext cx="791469" cy="3752682"/>
          </a:xfrm>
          <a:prstGeom prst="rect">
            <a:avLst/>
          </a:prstGeom>
          <a:noFill/>
          <a:ln>
            <a:solidFill>
              <a:srgbClr val="FFC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97EFFF57-6B3C-D83A-1F0E-3BF728108034}"/>
              </a:ext>
            </a:extLst>
          </p:cNvPr>
          <p:cNvSpPr txBox="1"/>
          <p:nvPr/>
        </p:nvSpPr>
        <p:spPr>
          <a:xfrm>
            <a:off x="7301997" y="5843841"/>
            <a:ext cx="1095756" cy="307777"/>
          </a:xfrm>
          <a:prstGeom prst="rect">
            <a:avLst/>
          </a:prstGeom>
          <a:noFill/>
        </p:spPr>
        <p:txBody>
          <a:bodyPr wrap="square" rtlCol="0">
            <a:spAutoFit/>
          </a:bodyPr>
          <a:lstStyle/>
          <a:p>
            <a:r>
              <a:rPr lang="en-US" sz="1400" dirty="0">
                <a:latin typeface="Tahoma" panose="020B0604030504040204" pitchFamily="34" charset="0"/>
                <a:ea typeface="Tahoma" panose="020B0604030504040204" pitchFamily="34" charset="0"/>
                <a:cs typeface="Tahoma" panose="020B0604030504040204" pitchFamily="34" charset="0"/>
              </a:rPr>
              <a:t>Left view</a:t>
            </a:r>
            <a:endPar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endParaRPr>
          </a:p>
        </p:txBody>
      </p:sp>
      <p:sp>
        <p:nvSpPr>
          <p:cNvPr id="22" name="TextBox 21">
            <a:extLst>
              <a:ext uri="{FF2B5EF4-FFF2-40B4-BE49-F238E27FC236}">
                <a16:creationId xmlns:a16="http://schemas.microsoft.com/office/drawing/2014/main" id="{02C2EC1F-163D-34E6-EFF2-C7648B04C08F}"/>
              </a:ext>
            </a:extLst>
          </p:cNvPr>
          <p:cNvSpPr txBox="1"/>
          <p:nvPr/>
        </p:nvSpPr>
        <p:spPr>
          <a:xfrm>
            <a:off x="8687179" y="5895868"/>
            <a:ext cx="1218440" cy="307777"/>
          </a:xfrm>
          <a:prstGeom prst="rect">
            <a:avLst/>
          </a:prstGeom>
          <a:noFill/>
        </p:spPr>
        <p:txBody>
          <a:bodyPr wrap="square" rtlCol="0">
            <a:spAutoFit/>
          </a:bodyPr>
          <a:lstStyle/>
          <a:p>
            <a:r>
              <a:rPr lang="en-US" sz="1400" dirty="0">
                <a:latin typeface="Tahoma" panose="020B0604030504040204" pitchFamily="34" charset="0"/>
                <a:ea typeface="Tahoma" panose="020B0604030504040204" pitchFamily="34" charset="0"/>
                <a:cs typeface="Tahoma" panose="020B0604030504040204" pitchFamily="34" charset="0"/>
              </a:rPr>
              <a:t>Axillary view</a:t>
            </a:r>
            <a:endPar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endParaRPr>
          </a:p>
        </p:txBody>
      </p:sp>
      <p:sp>
        <p:nvSpPr>
          <p:cNvPr id="23" name="TextBox 22">
            <a:extLst>
              <a:ext uri="{FF2B5EF4-FFF2-40B4-BE49-F238E27FC236}">
                <a16:creationId xmlns:a16="http://schemas.microsoft.com/office/drawing/2014/main" id="{CC9367D8-A97E-82D3-0444-161B6C3518EE}"/>
              </a:ext>
            </a:extLst>
          </p:cNvPr>
          <p:cNvSpPr txBox="1"/>
          <p:nvPr/>
        </p:nvSpPr>
        <p:spPr>
          <a:xfrm>
            <a:off x="4768141" y="4557351"/>
            <a:ext cx="1095756" cy="307777"/>
          </a:xfrm>
          <a:prstGeom prst="rect">
            <a:avLst/>
          </a:prstGeom>
          <a:noFill/>
        </p:spPr>
        <p:txBody>
          <a:bodyPr wrap="square" rtlCol="0">
            <a:spAutoFit/>
          </a:bodyPr>
          <a:lstStyle/>
          <a:p>
            <a:r>
              <a:rPr lang="en-US" sz="1400" dirty="0">
                <a:latin typeface="Tahoma" panose="020B0604030504040204" pitchFamily="34" charset="0"/>
                <a:ea typeface="Tahoma" panose="020B0604030504040204" pitchFamily="34" charset="0"/>
                <a:cs typeface="Tahoma" panose="020B0604030504040204" pitchFamily="34" charset="0"/>
              </a:rPr>
              <a:t>Annotation</a:t>
            </a:r>
            <a:endPar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endParaRPr>
          </a:p>
        </p:txBody>
      </p:sp>
      <p:cxnSp>
        <p:nvCxnSpPr>
          <p:cNvPr id="25" name="Straight Arrow Connector 24">
            <a:extLst>
              <a:ext uri="{FF2B5EF4-FFF2-40B4-BE49-F238E27FC236}">
                <a16:creationId xmlns:a16="http://schemas.microsoft.com/office/drawing/2014/main" id="{E09C21D2-34AF-E69C-836F-5A7C8A82CFB1}"/>
              </a:ext>
            </a:extLst>
          </p:cNvPr>
          <p:cNvCxnSpPr>
            <a:stCxn id="23" idx="3"/>
          </p:cNvCxnSpPr>
          <p:nvPr/>
        </p:nvCxnSpPr>
        <p:spPr>
          <a:xfrm flipV="1">
            <a:off x="5863897" y="4114800"/>
            <a:ext cx="555191" cy="59644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89D544A4-6904-B5ED-9762-227FC6964A57}"/>
              </a:ext>
            </a:extLst>
          </p:cNvPr>
          <p:cNvCxnSpPr>
            <a:cxnSpLocks/>
          </p:cNvCxnSpPr>
          <p:nvPr/>
        </p:nvCxnSpPr>
        <p:spPr>
          <a:xfrm flipV="1">
            <a:off x="7709680" y="4781384"/>
            <a:ext cx="538132" cy="1142317"/>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8" name="Straight Arrow Connector 27">
            <a:extLst>
              <a:ext uri="{FF2B5EF4-FFF2-40B4-BE49-F238E27FC236}">
                <a16:creationId xmlns:a16="http://schemas.microsoft.com/office/drawing/2014/main" id="{173A756A-EF65-8D39-3518-67D940B0C96F}"/>
              </a:ext>
            </a:extLst>
          </p:cNvPr>
          <p:cNvCxnSpPr>
            <a:cxnSpLocks/>
          </p:cNvCxnSpPr>
          <p:nvPr/>
        </p:nvCxnSpPr>
        <p:spPr>
          <a:xfrm flipV="1">
            <a:off x="9391913" y="5362891"/>
            <a:ext cx="1027696" cy="632689"/>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31" name="Straight Arrow Connector 30">
            <a:extLst>
              <a:ext uri="{FF2B5EF4-FFF2-40B4-BE49-F238E27FC236}">
                <a16:creationId xmlns:a16="http://schemas.microsoft.com/office/drawing/2014/main" id="{60EC35B2-6379-C26B-1FB4-463E988BB7D2}"/>
              </a:ext>
            </a:extLst>
          </p:cNvPr>
          <p:cNvCxnSpPr>
            <a:cxnSpLocks/>
            <a:stCxn id="18" idx="3"/>
          </p:cNvCxnSpPr>
          <p:nvPr/>
        </p:nvCxnSpPr>
        <p:spPr>
          <a:xfrm flipV="1">
            <a:off x="11515365" y="4781384"/>
            <a:ext cx="216387" cy="1256652"/>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24493679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F0B61C-CAE3-C0CD-B0BF-C4BC965F88D3}"/>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FA4EE22A-80D0-982B-CEA2-E43397B56EA5}"/>
              </a:ext>
            </a:extLst>
          </p:cNvPr>
          <p:cNvSpPr/>
          <p:nvPr/>
        </p:nvSpPr>
        <p:spPr>
          <a:xfrm>
            <a:off x="548640" y="119802"/>
            <a:ext cx="11064240" cy="640080"/>
          </a:xfrm>
          <a:prstGeom prst="rect">
            <a:avLst/>
          </a:prstGeom>
          <a:noFill/>
          <a:ln/>
        </p:spPr>
        <p:txBody>
          <a:bodyPr wrap="square" lIns="0" tIns="0" rIns="0" bIns="0" rtlCol="0" anchor="ctr"/>
          <a:lstStyle/>
          <a:p>
            <a:pPr marL="0" indent="0">
              <a:buNone/>
            </a:pPr>
            <a:r>
              <a:rPr lang="en-US" sz="2800" b="1" dirty="0">
                <a:solidFill>
                  <a:srgbClr val="FF0000"/>
                </a:solidFill>
                <a:latin typeface="Arial" pitchFamily="34" charset="0"/>
                <a:ea typeface="Arial" pitchFamily="34" charset="-122"/>
                <a:cs typeface="Arial" pitchFamily="34" charset="-120"/>
              </a:rPr>
              <a:t>Rules</a:t>
            </a:r>
            <a:endParaRPr lang="en-US" sz="2800" dirty="0">
              <a:solidFill>
                <a:srgbClr val="FF0000"/>
              </a:solidFill>
            </a:endParaRPr>
          </a:p>
        </p:txBody>
      </p:sp>
      <p:sp>
        <p:nvSpPr>
          <p:cNvPr id="13" name="Shape 11">
            <a:extLst>
              <a:ext uri="{FF2B5EF4-FFF2-40B4-BE49-F238E27FC236}">
                <a16:creationId xmlns:a16="http://schemas.microsoft.com/office/drawing/2014/main" id="{1D0900BD-7C41-175C-2072-945501702E63}"/>
              </a:ext>
            </a:extLst>
          </p:cNvPr>
          <p:cNvSpPr/>
          <p:nvPr/>
        </p:nvSpPr>
        <p:spPr>
          <a:xfrm>
            <a:off x="548640" y="6419088"/>
            <a:ext cx="11064240" cy="0"/>
          </a:xfrm>
          <a:prstGeom prst="line">
            <a:avLst/>
          </a:prstGeom>
          <a:noFill/>
          <a:ln w="9525">
            <a:solidFill>
              <a:srgbClr val="E4E4E4"/>
            </a:solidFill>
            <a:prstDash val="solid"/>
          </a:ln>
        </p:spPr>
        <p:txBody>
          <a:bodyPr/>
          <a:lstStyle/>
          <a:p>
            <a:endParaRPr lang="en-US" dirty="0"/>
          </a:p>
        </p:txBody>
      </p:sp>
      <p:sp>
        <p:nvSpPr>
          <p:cNvPr id="14" name="Text 12">
            <a:extLst>
              <a:ext uri="{FF2B5EF4-FFF2-40B4-BE49-F238E27FC236}">
                <a16:creationId xmlns:a16="http://schemas.microsoft.com/office/drawing/2014/main" id="{A5CF37D4-D5D2-8AED-7403-FEF8D84A9CD4}"/>
              </a:ext>
            </a:extLst>
          </p:cNvPr>
          <p:cNvSpPr/>
          <p:nvPr/>
        </p:nvSpPr>
        <p:spPr>
          <a:xfrm>
            <a:off x="548640" y="6419088"/>
            <a:ext cx="4572000" cy="274320"/>
          </a:xfrm>
          <a:prstGeom prst="rect">
            <a:avLst/>
          </a:prstGeom>
          <a:noFill/>
          <a:ln/>
        </p:spPr>
        <p:txBody>
          <a:bodyPr wrap="square" lIns="0" tIns="0" rIns="0" bIns="0" rtlCol="0" anchor="ctr"/>
          <a:lstStyle/>
          <a:p>
            <a:pPr marL="0" indent="0">
              <a:buNone/>
            </a:pPr>
            <a:r>
              <a:rPr lang="en-US" sz="900" dirty="0">
                <a:solidFill>
                  <a:srgbClr val="6E6E6E"/>
                </a:solidFill>
                <a:latin typeface="Arial" pitchFamily="34" charset="0"/>
                <a:ea typeface="Arial" pitchFamily="34" charset="-122"/>
                <a:cs typeface="Arial" pitchFamily="34" charset="-120"/>
              </a:rPr>
              <a:t>SMALL PRECISION TOOLS</a:t>
            </a:r>
            <a:endParaRPr lang="en-US" sz="900" dirty="0"/>
          </a:p>
        </p:txBody>
      </p:sp>
      <p:sp>
        <p:nvSpPr>
          <p:cNvPr id="15" name="Text 13">
            <a:extLst>
              <a:ext uri="{FF2B5EF4-FFF2-40B4-BE49-F238E27FC236}">
                <a16:creationId xmlns:a16="http://schemas.microsoft.com/office/drawing/2014/main" id="{3D3E24FC-F11C-7784-6CE6-69B435C48A60}"/>
              </a:ext>
            </a:extLst>
          </p:cNvPr>
          <p:cNvSpPr/>
          <p:nvPr/>
        </p:nvSpPr>
        <p:spPr>
          <a:xfrm>
            <a:off x="4709160" y="6419088"/>
            <a:ext cx="2743200" cy="274320"/>
          </a:xfrm>
          <a:prstGeom prst="rect">
            <a:avLst/>
          </a:prstGeom>
          <a:noFill/>
          <a:ln/>
        </p:spPr>
        <p:txBody>
          <a:bodyPr wrap="square" lIns="0" tIns="0" rIns="0" bIns="0" rtlCol="0" anchor="ctr"/>
          <a:lstStyle/>
          <a:p>
            <a:pPr marL="0" indent="0" algn="ctr">
              <a:buNone/>
            </a:pPr>
            <a:r>
              <a:rPr lang="en-US" sz="900" dirty="0">
                <a:solidFill>
                  <a:srgbClr val="6E6E6E"/>
                </a:solidFill>
                <a:latin typeface="Arial" pitchFamily="34" charset="0"/>
                <a:ea typeface="Arial" pitchFamily="34" charset="-122"/>
                <a:cs typeface="Arial" pitchFamily="34" charset="-120"/>
              </a:rPr>
              <a:t>Confidential</a:t>
            </a:r>
            <a:endParaRPr lang="en-US" sz="900" dirty="0"/>
          </a:p>
        </p:txBody>
      </p:sp>
      <p:sp>
        <p:nvSpPr>
          <p:cNvPr id="5" name="TextBox 4">
            <a:extLst>
              <a:ext uri="{FF2B5EF4-FFF2-40B4-BE49-F238E27FC236}">
                <a16:creationId xmlns:a16="http://schemas.microsoft.com/office/drawing/2014/main" id="{BDDEDFD1-C34F-76A8-B7B6-D644E7B0359D}"/>
              </a:ext>
            </a:extLst>
          </p:cNvPr>
          <p:cNvSpPr txBox="1"/>
          <p:nvPr/>
        </p:nvSpPr>
        <p:spPr>
          <a:xfrm>
            <a:off x="760306" y="759882"/>
            <a:ext cx="8536093" cy="523220"/>
          </a:xfrm>
          <a:prstGeom prst="rect">
            <a:avLst/>
          </a:prstGeom>
          <a:noFill/>
        </p:spPr>
        <p:txBody>
          <a:bodyPr wrap="square" rtlCol="0">
            <a:spAutoFit/>
          </a:bodyPr>
          <a:lstStyle/>
          <a:p>
            <a:r>
              <a:rPr lang="en-US" sz="1400" b="1" dirty="0">
                <a:latin typeface="Tahoma" panose="020B0604030504040204" pitchFamily="34" charset="0"/>
                <a:ea typeface="Tahoma" panose="020B0604030504040204" pitchFamily="34" charset="0"/>
                <a:cs typeface="Tahoma" panose="020B0604030504040204" pitchFamily="34" charset="0"/>
              </a:rPr>
              <a:t>ABT Series –Overlay : </a:t>
            </a:r>
            <a:br>
              <a:rPr lang="en-US" sz="1400" b="1" dirty="0">
                <a:latin typeface="Tahoma" panose="020B0604030504040204" pitchFamily="34" charset="0"/>
                <a:ea typeface="Tahoma" panose="020B0604030504040204" pitchFamily="34" charset="0"/>
                <a:cs typeface="Tahoma" panose="020B0604030504040204" pitchFamily="34" charset="0"/>
              </a:rPr>
            </a:br>
            <a:r>
              <a:rPr lang="en-US" sz="1400" dirty="0">
                <a:latin typeface="Tahoma" panose="020B0604030504040204" pitchFamily="34" charset="0"/>
                <a:ea typeface="Tahoma" panose="020B0604030504040204" pitchFamily="34" charset="0"/>
                <a:cs typeface="Tahoma" panose="020B0604030504040204" pitchFamily="34" charset="0"/>
              </a:rPr>
              <a:t>Construction of overlays </a:t>
            </a:r>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std_shank</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 case : </a:t>
            </a:r>
          </a:p>
        </p:txBody>
      </p:sp>
      <p:sp>
        <p:nvSpPr>
          <p:cNvPr id="7" name="Shape 1">
            <a:extLst>
              <a:ext uri="{FF2B5EF4-FFF2-40B4-BE49-F238E27FC236}">
                <a16:creationId xmlns:a16="http://schemas.microsoft.com/office/drawing/2014/main" id="{C09B2E30-5AB7-1B7C-0D91-600709FA737D}"/>
              </a:ext>
            </a:extLst>
          </p:cNvPr>
          <p:cNvSpPr/>
          <p:nvPr/>
        </p:nvSpPr>
        <p:spPr>
          <a:xfrm>
            <a:off x="563880" y="889684"/>
            <a:ext cx="109728" cy="109728"/>
          </a:xfrm>
          <a:prstGeom prst="rect">
            <a:avLst/>
          </a:prstGeom>
          <a:solidFill>
            <a:srgbClr val="FF0000"/>
          </a:solidFill>
          <a:ln/>
        </p:spPr>
        <p:txBody>
          <a:bodyPr/>
          <a:lstStyle/>
          <a:p>
            <a:endParaRPr lang="en-US" dirty="0"/>
          </a:p>
        </p:txBody>
      </p:sp>
      <p:sp>
        <p:nvSpPr>
          <p:cNvPr id="11" name="TextBox 10">
            <a:extLst>
              <a:ext uri="{FF2B5EF4-FFF2-40B4-BE49-F238E27FC236}">
                <a16:creationId xmlns:a16="http://schemas.microsoft.com/office/drawing/2014/main" id="{9ED0EA42-C17F-CF39-4779-BA0E54888277}"/>
              </a:ext>
            </a:extLst>
          </p:cNvPr>
          <p:cNvSpPr txBox="1"/>
          <p:nvPr/>
        </p:nvSpPr>
        <p:spPr>
          <a:xfrm>
            <a:off x="563880" y="1340510"/>
            <a:ext cx="5532120" cy="307777"/>
          </a:xfrm>
          <a:prstGeom prst="rect">
            <a:avLst/>
          </a:prstGeom>
          <a:noFill/>
        </p:spPr>
        <p:txBody>
          <a:bodyPr wrap="square" rtlCol="0">
            <a:spAutoFit/>
          </a:bodyPr>
          <a:lstStyle/>
          <a:p>
            <a:r>
              <a:rPr lang="en-US" sz="1400" dirty="0">
                <a:latin typeface="Tahoma" panose="020B0604030504040204" pitchFamily="34" charset="0"/>
                <a:ea typeface="Tahoma" panose="020B0604030504040204" pitchFamily="34" charset="0"/>
                <a:cs typeface="Tahoma" panose="020B0604030504040204" pitchFamily="34" charset="0"/>
              </a:rPr>
              <a:t>View will pe positioned based on reference points : </a:t>
            </a:r>
          </a:p>
        </p:txBody>
      </p:sp>
      <p:sp>
        <p:nvSpPr>
          <p:cNvPr id="19" name="TextBox 18">
            <a:extLst>
              <a:ext uri="{FF2B5EF4-FFF2-40B4-BE49-F238E27FC236}">
                <a16:creationId xmlns:a16="http://schemas.microsoft.com/office/drawing/2014/main" id="{3CE83CBC-ECE6-3E41-1D60-3B8F46E5BE7A}"/>
              </a:ext>
            </a:extLst>
          </p:cNvPr>
          <p:cNvSpPr txBox="1"/>
          <p:nvPr/>
        </p:nvSpPr>
        <p:spPr>
          <a:xfrm>
            <a:off x="548640" y="3424557"/>
            <a:ext cx="5259494" cy="2462213"/>
          </a:xfrm>
          <a:prstGeom prst="rect">
            <a:avLst/>
          </a:prstGeom>
          <a:noFill/>
        </p:spPr>
        <p:txBody>
          <a:bodyPr wrap="square" rtlCol="0">
            <a:spAutoFit/>
          </a:bodyPr>
          <a:lstStyle/>
          <a:p>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std_ref_point_right </a:t>
            </a:r>
            <a:r>
              <a:rPr lang="en-US" sz="1400" dirty="0">
                <a:latin typeface="Tahoma" panose="020B0604030504040204" pitchFamily="34" charset="0"/>
                <a:ea typeface="Tahoma" panose="020B0604030504040204" pitchFamily="34" charset="0"/>
                <a:cs typeface="Tahoma" panose="020B0604030504040204" pitchFamily="34" charset="0"/>
              </a:rPr>
              <a:t>will control the cut  of the right view in the overlay; the right view is already assigned the </a:t>
            </a:r>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righ_view</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 </a:t>
            </a:r>
            <a:r>
              <a:rPr lang="en-US" sz="1400" dirty="0">
                <a:latin typeface="Tahoma" panose="020B0604030504040204" pitchFamily="34" charset="0"/>
                <a:ea typeface="Tahoma" panose="020B0604030504040204" pitchFamily="34" charset="0"/>
                <a:cs typeface="Tahoma" panose="020B0604030504040204" pitchFamily="34" charset="0"/>
              </a:rPr>
              <a:t>configuration .</a:t>
            </a:r>
            <a:br>
              <a:rPr lang="en-US" sz="1400" dirty="0">
                <a:latin typeface="Tahoma" panose="020B0604030504040204" pitchFamily="34" charset="0"/>
                <a:ea typeface="Tahoma" panose="020B0604030504040204" pitchFamily="34" charset="0"/>
                <a:cs typeface="Tahoma" panose="020B0604030504040204" pitchFamily="34" charset="0"/>
              </a:rPr>
            </a:br>
            <a:r>
              <a:rPr lang="en-US" sz="1400" dirty="0">
                <a:latin typeface="Tahoma" panose="020B0604030504040204" pitchFamily="34" charset="0"/>
                <a:ea typeface="Tahoma" panose="020B0604030504040204" pitchFamily="34" charset="0"/>
                <a:cs typeface="Tahoma" panose="020B0604030504040204" pitchFamily="34" charset="0"/>
              </a:rPr>
              <a:t>The control of the cut is done by the programmer based by changing the value of </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std_ref_point_right@std_ref_point_right </a:t>
            </a:r>
            <a:r>
              <a:rPr lang="en-US" sz="1400" dirty="0">
                <a:latin typeface="Tahoma" panose="020B0604030504040204" pitchFamily="34" charset="0"/>
                <a:ea typeface="Tahoma" panose="020B0604030504040204" pitchFamily="34" charset="0"/>
                <a:cs typeface="Tahoma" panose="020B0604030504040204" pitchFamily="34" charset="0"/>
              </a:rPr>
              <a:t>based on the cases we have .</a:t>
            </a:r>
            <a:br>
              <a:rPr lang="en-US" sz="1400" dirty="0">
                <a:latin typeface="Tahoma" panose="020B0604030504040204" pitchFamily="34" charset="0"/>
                <a:ea typeface="Tahoma" panose="020B0604030504040204" pitchFamily="34" charset="0"/>
                <a:cs typeface="Tahoma" panose="020B0604030504040204" pitchFamily="34" charset="0"/>
              </a:rPr>
            </a:br>
            <a:r>
              <a:rPr lang="en-US" sz="1400" dirty="0">
                <a:latin typeface="Tahoma" panose="020B0604030504040204" pitchFamily="34" charset="0"/>
                <a:ea typeface="Tahoma" panose="020B0604030504040204" pitchFamily="34" charset="0"/>
                <a:cs typeface="Tahoma" panose="020B0604030504040204" pitchFamily="34" charset="0"/>
              </a:rPr>
              <a:t>The old cut was based on the scale of the view was :</a:t>
            </a:r>
            <a:br>
              <a:rPr lang="en-US" sz="1400" dirty="0">
                <a:latin typeface="Tahoma" panose="020B0604030504040204" pitchFamily="34" charset="0"/>
                <a:ea typeface="Tahoma" panose="020B0604030504040204" pitchFamily="34" charset="0"/>
                <a:cs typeface="Tahoma" panose="020B0604030504040204" pitchFamily="34" charset="0"/>
              </a:rPr>
            </a:b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std_ref_point_right@std_ref_point_right = 2.01175in/ "scale“</a:t>
            </a:r>
            <a:b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br>
            <a:r>
              <a:rPr lang="en-US" sz="1400" dirty="0">
                <a:latin typeface="Tahoma" panose="020B0604030504040204" pitchFamily="34" charset="0"/>
                <a:ea typeface="Tahoma" panose="020B0604030504040204" pitchFamily="34" charset="0"/>
                <a:cs typeface="Tahoma" panose="020B0604030504040204" pitchFamily="34" charset="0"/>
              </a:rPr>
              <a:t>this is </a:t>
            </a:r>
            <a:r>
              <a:rPr lang="en-US" sz="1400" dirty="0">
                <a:solidFill>
                  <a:srgbClr val="00B050"/>
                </a:solidFill>
                <a:latin typeface="Tahoma" panose="020B0604030504040204" pitchFamily="34" charset="0"/>
                <a:ea typeface="Tahoma" panose="020B0604030504040204" pitchFamily="34" charset="0"/>
                <a:cs typeface="Tahoma" panose="020B0604030504040204" pitchFamily="34" charset="0"/>
              </a:rPr>
              <a:t>OK</a:t>
            </a:r>
            <a:r>
              <a:rPr lang="en-US" sz="1400" dirty="0">
                <a:latin typeface="Tahoma" panose="020B0604030504040204" pitchFamily="34" charset="0"/>
                <a:ea typeface="Tahoma" panose="020B0604030504040204" pitchFamily="34" charset="0"/>
                <a:cs typeface="Tahoma" panose="020B0604030504040204" pitchFamily="34" charset="0"/>
              </a:rPr>
              <a:t> for most of standard cases but for cases with VR its </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no OK </a:t>
            </a:r>
            <a:br>
              <a:rPr lang="en-US" sz="1400" dirty="0">
                <a:latin typeface="Tahoma" panose="020B0604030504040204" pitchFamily="34" charset="0"/>
                <a:ea typeface="Tahoma" panose="020B0604030504040204" pitchFamily="34" charset="0"/>
                <a:cs typeface="Tahoma" panose="020B0604030504040204" pitchFamily="34" charset="0"/>
              </a:rPr>
            </a:br>
            <a:r>
              <a:rPr lang="en-US" sz="1400" dirty="0">
                <a:latin typeface="Tahoma" panose="020B0604030504040204" pitchFamily="34" charset="0"/>
                <a:ea typeface="Tahoma" panose="020B0604030504040204" pitchFamily="34" charset="0"/>
                <a:cs typeface="Tahoma" panose="020B0604030504040204" pitchFamily="34" charset="0"/>
              </a:rPr>
              <a:t>the programmer will need to give the appropriate value</a:t>
            </a:r>
          </a:p>
        </p:txBody>
      </p:sp>
      <p:pic>
        <p:nvPicPr>
          <p:cNvPr id="4" name="Picture 3">
            <a:extLst>
              <a:ext uri="{FF2B5EF4-FFF2-40B4-BE49-F238E27FC236}">
                <a16:creationId xmlns:a16="http://schemas.microsoft.com/office/drawing/2014/main" id="{349B70E4-0EEC-8C1C-0FDE-4D69AD69FA46}"/>
              </a:ext>
            </a:extLst>
          </p:cNvPr>
          <p:cNvPicPr>
            <a:picLocks noChangeAspect="1"/>
          </p:cNvPicPr>
          <p:nvPr/>
        </p:nvPicPr>
        <p:blipFill>
          <a:blip r:embed="rId3">
            <a:clrChange>
              <a:clrFrom>
                <a:srgbClr val="F7F7F7"/>
              </a:clrFrom>
              <a:clrTo>
                <a:srgbClr val="F7F7F7">
                  <a:alpha val="0"/>
                </a:srgbClr>
              </a:clrTo>
            </a:clrChange>
          </a:blip>
          <a:stretch>
            <a:fillRect/>
          </a:stretch>
        </p:blipFill>
        <p:spPr>
          <a:xfrm>
            <a:off x="908313" y="1648287"/>
            <a:ext cx="2495287" cy="1607325"/>
          </a:xfrm>
          <a:prstGeom prst="rect">
            <a:avLst/>
          </a:prstGeom>
        </p:spPr>
      </p:pic>
      <p:pic>
        <p:nvPicPr>
          <p:cNvPr id="17" name="Picture 16">
            <a:extLst>
              <a:ext uri="{FF2B5EF4-FFF2-40B4-BE49-F238E27FC236}">
                <a16:creationId xmlns:a16="http://schemas.microsoft.com/office/drawing/2014/main" id="{F79F857F-C1D3-4266-95FC-AD480DA991DA}"/>
              </a:ext>
            </a:extLst>
          </p:cNvPr>
          <p:cNvPicPr>
            <a:picLocks noChangeAspect="1"/>
          </p:cNvPicPr>
          <p:nvPr/>
        </p:nvPicPr>
        <p:blipFill>
          <a:blip r:embed="rId4">
            <a:clrChange>
              <a:clrFrom>
                <a:srgbClr val="F7F7F7"/>
              </a:clrFrom>
              <a:clrTo>
                <a:srgbClr val="F7F7F7">
                  <a:alpha val="0"/>
                </a:srgbClr>
              </a:clrTo>
            </a:clrChange>
          </a:blip>
          <a:stretch>
            <a:fillRect/>
          </a:stretch>
        </p:blipFill>
        <p:spPr>
          <a:xfrm>
            <a:off x="3865853" y="1863730"/>
            <a:ext cx="3291893" cy="1062737"/>
          </a:xfrm>
          <a:prstGeom prst="rect">
            <a:avLst/>
          </a:prstGeom>
        </p:spPr>
      </p:pic>
      <p:sp>
        <p:nvSpPr>
          <p:cNvPr id="20" name="Rectangle 19">
            <a:extLst>
              <a:ext uri="{FF2B5EF4-FFF2-40B4-BE49-F238E27FC236}">
                <a16:creationId xmlns:a16="http://schemas.microsoft.com/office/drawing/2014/main" id="{DE5EB4CA-5265-681B-F337-C86EDCF18BD8}"/>
              </a:ext>
            </a:extLst>
          </p:cNvPr>
          <p:cNvSpPr/>
          <p:nvPr/>
        </p:nvSpPr>
        <p:spPr>
          <a:xfrm>
            <a:off x="1126067" y="1639849"/>
            <a:ext cx="1862666" cy="815484"/>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63F73AB1-9660-BFEB-6B41-F3B8C148A186}"/>
              </a:ext>
            </a:extLst>
          </p:cNvPr>
          <p:cNvSpPr/>
          <p:nvPr/>
        </p:nvSpPr>
        <p:spPr>
          <a:xfrm>
            <a:off x="1126067" y="2484497"/>
            <a:ext cx="1862666" cy="815484"/>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3" name="Straight Arrow Connector 22">
            <a:extLst>
              <a:ext uri="{FF2B5EF4-FFF2-40B4-BE49-F238E27FC236}">
                <a16:creationId xmlns:a16="http://schemas.microsoft.com/office/drawing/2014/main" id="{0C269E7F-3377-14A4-64CE-3F472F845D66}"/>
              </a:ext>
            </a:extLst>
          </p:cNvPr>
          <p:cNvCxnSpPr>
            <a:stCxn id="20" idx="3"/>
          </p:cNvCxnSpPr>
          <p:nvPr/>
        </p:nvCxnSpPr>
        <p:spPr>
          <a:xfrm>
            <a:off x="2988733" y="2047591"/>
            <a:ext cx="1016000" cy="661742"/>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7D5F0850-2680-A94C-9B54-4B359060AE04}"/>
              </a:ext>
            </a:extLst>
          </p:cNvPr>
          <p:cNvCxnSpPr>
            <a:cxnSpLocks/>
            <a:stCxn id="21" idx="3"/>
            <a:endCxn id="17" idx="1"/>
          </p:cNvCxnSpPr>
          <p:nvPr/>
        </p:nvCxnSpPr>
        <p:spPr>
          <a:xfrm flipV="1">
            <a:off x="2988733" y="2395099"/>
            <a:ext cx="877120" cy="497140"/>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27" name="TextBox 26">
            <a:extLst>
              <a:ext uri="{FF2B5EF4-FFF2-40B4-BE49-F238E27FC236}">
                <a16:creationId xmlns:a16="http://schemas.microsoft.com/office/drawing/2014/main" id="{353668DB-2099-DC19-98A5-6CD177B1549C}"/>
              </a:ext>
            </a:extLst>
          </p:cNvPr>
          <p:cNvSpPr txBox="1"/>
          <p:nvPr/>
        </p:nvSpPr>
        <p:spPr>
          <a:xfrm>
            <a:off x="6353386" y="3424556"/>
            <a:ext cx="5259494" cy="2031325"/>
          </a:xfrm>
          <a:prstGeom prst="rect">
            <a:avLst/>
          </a:prstGeom>
          <a:noFill/>
        </p:spPr>
        <p:txBody>
          <a:bodyPr wrap="square" rtlCol="0">
            <a:spAutoFit/>
          </a:bodyPr>
          <a:lstStyle/>
          <a:p>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std_ref_point_left</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 </a:t>
            </a:r>
            <a:r>
              <a:rPr lang="en-US" sz="1400" dirty="0">
                <a:latin typeface="Tahoma" panose="020B0604030504040204" pitchFamily="34" charset="0"/>
                <a:ea typeface="Tahoma" panose="020B0604030504040204" pitchFamily="34" charset="0"/>
                <a:cs typeface="Tahoma" panose="020B0604030504040204" pitchFamily="34" charset="0"/>
              </a:rPr>
              <a:t>will control the cut  of the right view in the overlay; the right view is already assigned the </a:t>
            </a:r>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left_view</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 </a:t>
            </a:r>
            <a:r>
              <a:rPr lang="en-US" sz="1400" dirty="0">
                <a:latin typeface="Tahoma" panose="020B0604030504040204" pitchFamily="34" charset="0"/>
                <a:ea typeface="Tahoma" panose="020B0604030504040204" pitchFamily="34" charset="0"/>
                <a:cs typeface="Tahoma" panose="020B0604030504040204" pitchFamily="34" charset="0"/>
              </a:rPr>
              <a:t>configuration .</a:t>
            </a:r>
            <a:br>
              <a:rPr lang="en-US" sz="1400" dirty="0">
                <a:latin typeface="Tahoma" panose="020B0604030504040204" pitchFamily="34" charset="0"/>
                <a:ea typeface="Tahoma" panose="020B0604030504040204" pitchFamily="34" charset="0"/>
                <a:cs typeface="Tahoma" panose="020B0604030504040204" pitchFamily="34" charset="0"/>
              </a:rPr>
            </a:br>
            <a:r>
              <a:rPr lang="en-US" sz="1400" dirty="0">
                <a:latin typeface="Tahoma" panose="020B0604030504040204" pitchFamily="34" charset="0"/>
                <a:ea typeface="Tahoma" panose="020B0604030504040204" pitchFamily="34" charset="0"/>
                <a:cs typeface="Tahoma" panose="020B0604030504040204" pitchFamily="34" charset="0"/>
              </a:rPr>
              <a:t>The control of the cut is done by the programmer based by changing the value of </a:t>
            </a:r>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std_ref_point_left@std_ref_point_left</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 </a:t>
            </a:r>
            <a:r>
              <a:rPr lang="en-US" sz="1400" dirty="0">
                <a:latin typeface="Tahoma" panose="020B0604030504040204" pitchFamily="34" charset="0"/>
                <a:ea typeface="Tahoma" panose="020B0604030504040204" pitchFamily="34" charset="0"/>
                <a:cs typeface="Tahoma" panose="020B0604030504040204" pitchFamily="34" charset="0"/>
              </a:rPr>
              <a:t>based on the cases we have .</a:t>
            </a:r>
            <a:br>
              <a:rPr lang="en-US" sz="1400" dirty="0">
                <a:latin typeface="Tahoma" panose="020B0604030504040204" pitchFamily="34" charset="0"/>
                <a:ea typeface="Tahoma" panose="020B0604030504040204" pitchFamily="34" charset="0"/>
                <a:cs typeface="Tahoma" panose="020B0604030504040204" pitchFamily="34" charset="0"/>
              </a:rPr>
            </a:br>
            <a:r>
              <a:rPr lang="en-US" sz="1400" dirty="0">
                <a:latin typeface="Tahoma" panose="020B0604030504040204" pitchFamily="34" charset="0"/>
                <a:ea typeface="Tahoma" panose="020B0604030504040204" pitchFamily="34" charset="0"/>
                <a:cs typeface="Tahoma" panose="020B0604030504040204" pitchFamily="34" charset="0"/>
              </a:rPr>
              <a:t>The old cut was based on the scale of the view was :</a:t>
            </a:r>
            <a:br>
              <a:rPr lang="en-US" sz="1400" dirty="0">
                <a:latin typeface="Tahoma" panose="020B0604030504040204" pitchFamily="34" charset="0"/>
                <a:ea typeface="Tahoma" panose="020B0604030504040204" pitchFamily="34" charset="0"/>
                <a:cs typeface="Tahoma" panose="020B0604030504040204" pitchFamily="34" charset="0"/>
              </a:rPr>
            </a:br>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std_ref_point_left@std_ref_point_left</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 = 2.01175in/ "scale“</a:t>
            </a:r>
            <a:b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br>
            <a:r>
              <a:rPr lang="en-US" sz="1400" dirty="0">
                <a:latin typeface="Tahoma" panose="020B0604030504040204" pitchFamily="34" charset="0"/>
                <a:ea typeface="Tahoma" panose="020B0604030504040204" pitchFamily="34" charset="0"/>
                <a:cs typeface="Tahoma" panose="020B0604030504040204" pitchFamily="34" charset="0"/>
              </a:rPr>
              <a:t>this is </a:t>
            </a:r>
            <a:r>
              <a:rPr lang="en-US" sz="1400" dirty="0">
                <a:solidFill>
                  <a:srgbClr val="00B050"/>
                </a:solidFill>
                <a:latin typeface="Tahoma" panose="020B0604030504040204" pitchFamily="34" charset="0"/>
                <a:ea typeface="Tahoma" panose="020B0604030504040204" pitchFamily="34" charset="0"/>
                <a:cs typeface="Tahoma" panose="020B0604030504040204" pitchFamily="34" charset="0"/>
              </a:rPr>
              <a:t>OK</a:t>
            </a:r>
            <a:r>
              <a:rPr lang="en-US" sz="1400" dirty="0">
                <a:latin typeface="Tahoma" panose="020B0604030504040204" pitchFamily="34" charset="0"/>
                <a:ea typeface="Tahoma" panose="020B0604030504040204" pitchFamily="34" charset="0"/>
                <a:cs typeface="Tahoma" panose="020B0604030504040204" pitchFamily="34" charset="0"/>
              </a:rPr>
              <a:t> for most of standard cases</a:t>
            </a:r>
          </a:p>
        </p:txBody>
      </p:sp>
    </p:spTree>
    <p:extLst>
      <p:ext uri="{BB962C8B-B14F-4D97-AF65-F5344CB8AC3E}">
        <p14:creationId xmlns:p14="http://schemas.microsoft.com/office/powerpoint/2010/main" val="207516732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38BCF4-8B30-4D77-35F5-662103894E16}"/>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E19308C8-BFAE-8243-E3AB-93A01D179F0D}"/>
              </a:ext>
            </a:extLst>
          </p:cNvPr>
          <p:cNvSpPr/>
          <p:nvPr/>
        </p:nvSpPr>
        <p:spPr>
          <a:xfrm>
            <a:off x="548640" y="119802"/>
            <a:ext cx="11064240" cy="640080"/>
          </a:xfrm>
          <a:prstGeom prst="rect">
            <a:avLst/>
          </a:prstGeom>
          <a:noFill/>
          <a:ln/>
        </p:spPr>
        <p:txBody>
          <a:bodyPr wrap="square" lIns="0" tIns="0" rIns="0" bIns="0" rtlCol="0" anchor="ctr"/>
          <a:lstStyle/>
          <a:p>
            <a:pPr marL="0" indent="0">
              <a:buNone/>
            </a:pPr>
            <a:r>
              <a:rPr lang="en-US" sz="2800" b="1" dirty="0">
                <a:solidFill>
                  <a:srgbClr val="FF0000"/>
                </a:solidFill>
                <a:latin typeface="Arial" pitchFamily="34" charset="0"/>
                <a:ea typeface="Arial" pitchFamily="34" charset="-122"/>
                <a:cs typeface="Arial" pitchFamily="34" charset="-120"/>
              </a:rPr>
              <a:t>Rules</a:t>
            </a:r>
            <a:endParaRPr lang="en-US" sz="2800" dirty="0">
              <a:solidFill>
                <a:srgbClr val="FF0000"/>
              </a:solidFill>
            </a:endParaRPr>
          </a:p>
        </p:txBody>
      </p:sp>
      <p:sp>
        <p:nvSpPr>
          <p:cNvPr id="13" name="Shape 11">
            <a:extLst>
              <a:ext uri="{FF2B5EF4-FFF2-40B4-BE49-F238E27FC236}">
                <a16:creationId xmlns:a16="http://schemas.microsoft.com/office/drawing/2014/main" id="{EAE77C21-C6D4-CDB0-76E4-12B8F4713A03}"/>
              </a:ext>
            </a:extLst>
          </p:cNvPr>
          <p:cNvSpPr/>
          <p:nvPr/>
        </p:nvSpPr>
        <p:spPr>
          <a:xfrm>
            <a:off x="548640" y="6419088"/>
            <a:ext cx="11064240" cy="0"/>
          </a:xfrm>
          <a:prstGeom prst="line">
            <a:avLst/>
          </a:prstGeom>
          <a:noFill/>
          <a:ln w="9525">
            <a:solidFill>
              <a:srgbClr val="E4E4E4"/>
            </a:solidFill>
            <a:prstDash val="solid"/>
          </a:ln>
        </p:spPr>
        <p:txBody>
          <a:bodyPr/>
          <a:lstStyle/>
          <a:p>
            <a:endParaRPr lang="en-US" dirty="0"/>
          </a:p>
        </p:txBody>
      </p:sp>
      <p:sp>
        <p:nvSpPr>
          <p:cNvPr id="14" name="Text 12">
            <a:extLst>
              <a:ext uri="{FF2B5EF4-FFF2-40B4-BE49-F238E27FC236}">
                <a16:creationId xmlns:a16="http://schemas.microsoft.com/office/drawing/2014/main" id="{0A32444B-EDE3-A36D-14EF-8D90755C5FDF}"/>
              </a:ext>
            </a:extLst>
          </p:cNvPr>
          <p:cNvSpPr/>
          <p:nvPr/>
        </p:nvSpPr>
        <p:spPr>
          <a:xfrm>
            <a:off x="548640" y="6419088"/>
            <a:ext cx="4572000" cy="274320"/>
          </a:xfrm>
          <a:prstGeom prst="rect">
            <a:avLst/>
          </a:prstGeom>
          <a:noFill/>
          <a:ln/>
        </p:spPr>
        <p:txBody>
          <a:bodyPr wrap="square" lIns="0" tIns="0" rIns="0" bIns="0" rtlCol="0" anchor="ctr"/>
          <a:lstStyle/>
          <a:p>
            <a:pPr marL="0" indent="0">
              <a:buNone/>
            </a:pPr>
            <a:r>
              <a:rPr lang="en-US" sz="900" dirty="0">
                <a:solidFill>
                  <a:srgbClr val="6E6E6E"/>
                </a:solidFill>
                <a:latin typeface="Arial" pitchFamily="34" charset="0"/>
                <a:ea typeface="Arial" pitchFamily="34" charset="-122"/>
                <a:cs typeface="Arial" pitchFamily="34" charset="-120"/>
              </a:rPr>
              <a:t>SMALL PRECISION TOOLS</a:t>
            </a:r>
            <a:endParaRPr lang="en-US" sz="900" dirty="0"/>
          </a:p>
        </p:txBody>
      </p:sp>
      <p:sp>
        <p:nvSpPr>
          <p:cNvPr id="15" name="Text 13">
            <a:extLst>
              <a:ext uri="{FF2B5EF4-FFF2-40B4-BE49-F238E27FC236}">
                <a16:creationId xmlns:a16="http://schemas.microsoft.com/office/drawing/2014/main" id="{765341D3-7691-32E2-1A36-0A051920C68C}"/>
              </a:ext>
            </a:extLst>
          </p:cNvPr>
          <p:cNvSpPr/>
          <p:nvPr/>
        </p:nvSpPr>
        <p:spPr>
          <a:xfrm>
            <a:off x="4709160" y="6419088"/>
            <a:ext cx="2743200" cy="274320"/>
          </a:xfrm>
          <a:prstGeom prst="rect">
            <a:avLst/>
          </a:prstGeom>
          <a:noFill/>
          <a:ln/>
        </p:spPr>
        <p:txBody>
          <a:bodyPr wrap="square" lIns="0" tIns="0" rIns="0" bIns="0" rtlCol="0" anchor="ctr"/>
          <a:lstStyle/>
          <a:p>
            <a:pPr marL="0" indent="0" algn="ctr">
              <a:buNone/>
            </a:pPr>
            <a:r>
              <a:rPr lang="en-US" sz="900" dirty="0">
                <a:solidFill>
                  <a:srgbClr val="6E6E6E"/>
                </a:solidFill>
                <a:latin typeface="Arial" pitchFamily="34" charset="0"/>
                <a:ea typeface="Arial" pitchFamily="34" charset="-122"/>
                <a:cs typeface="Arial" pitchFamily="34" charset="-120"/>
              </a:rPr>
              <a:t>Confidential</a:t>
            </a:r>
            <a:endParaRPr lang="en-US" sz="900" dirty="0"/>
          </a:p>
        </p:txBody>
      </p:sp>
      <p:sp>
        <p:nvSpPr>
          <p:cNvPr id="5" name="TextBox 4">
            <a:extLst>
              <a:ext uri="{FF2B5EF4-FFF2-40B4-BE49-F238E27FC236}">
                <a16:creationId xmlns:a16="http://schemas.microsoft.com/office/drawing/2014/main" id="{639EDB8E-44B0-309C-ECF5-7E62052DF3F2}"/>
              </a:ext>
            </a:extLst>
          </p:cNvPr>
          <p:cNvSpPr txBox="1"/>
          <p:nvPr/>
        </p:nvSpPr>
        <p:spPr>
          <a:xfrm>
            <a:off x="760306" y="759882"/>
            <a:ext cx="8536093" cy="523220"/>
          </a:xfrm>
          <a:prstGeom prst="rect">
            <a:avLst/>
          </a:prstGeom>
          <a:noFill/>
        </p:spPr>
        <p:txBody>
          <a:bodyPr wrap="square" rtlCol="0">
            <a:spAutoFit/>
          </a:bodyPr>
          <a:lstStyle/>
          <a:p>
            <a:r>
              <a:rPr lang="en-US" sz="1400" b="1" dirty="0">
                <a:latin typeface="Tahoma" panose="020B0604030504040204" pitchFamily="34" charset="0"/>
                <a:ea typeface="Tahoma" panose="020B0604030504040204" pitchFamily="34" charset="0"/>
                <a:cs typeface="Tahoma" panose="020B0604030504040204" pitchFamily="34" charset="0"/>
              </a:rPr>
              <a:t>ABT Series –Overlay : </a:t>
            </a:r>
            <a:br>
              <a:rPr lang="en-US" sz="1400" b="1" dirty="0">
                <a:latin typeface="Tahoma" panose="020B0604030504040204" pitchFamily="34" charset="0"/>
                <a:ea typeface="Tahoma" panose="020B0604030504040204" pitchFamily="34" charset="0"/>
                <a:cs typeface="Tahoma" panose="020B0604030504040204" pitchFamily="34" charset="0"/>
              </a:rPr>
            </a:br>
            <a:r>
              <a:rPr lang="en-US" sz="1400" dirty="0">
                <a:latin typeface="Tahoma" panose="020B0604030504040204" pitchFamily="34" charset="0"/>
                <a:ea typeface="Tahoma" panose="020B0604030504040204" pitchFamily="34" charset="0"/>
                <a:cs typeface="Tahoma" panose="020B0604030504040204" pitchFamily="34" charset="0"/>
              </a:rPr>
              <a:t>Construction of overlays </a:t>
            </a:r>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rev_shank</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 case : </a:t>
            </a:r>
          </a:p>
        </p:txBody>
      </p:sp>
      <p:sp>
        <p:nvSpPr>
          <p:cNvPr id="7" name="Shape 1">
            <a:extLst>
              <a:ext uri="{FF2B5EF4-FFF2-40B4-BE49-F238E27FC236}">
                <a16:creationId xmlns:a16="http://schemas.microsoft.com/office/drawing/2014/main" id="{F399650D-7F71-93BC-DEE7-3755B7A39449}"/>
              </a:ext>
            </a:extLst>
          </p:cNvPr>
          <p:cNvSpPr/>
          <p:nvPr/>
        </p:nvSpPr>
        <p:spPr>
          <a:xfrm>
            <a:off x="563880" y="889684"/>
            <a:ext cx="109728" cy="109728"/>
          </a:xfrm>
          <a:prstGeom prst="rect">
            <a:avLst/>
          </a:prstGeom>
          <a:solidFill>
            <a:srgbClr val="FF0000"/>
          </a:solidFill>
          <a:ln/>
        </p:spPr>
        <p:txBody>
          <a:bodyPr/>
          <a:lstStyle/>
          <a:p>
            <a:endParaRPr lang="en-US" dirty="0"/>
          </a:p>
        </p:txBody>
      </p:sp>
      <p:sp>
        <p:nvSpPr>
          <p:cNvPr id="11" name="TextBox 10">
            <a:extLst>
              <a:ext uri="{FF2B5EF4-FFF2-40B4-BE49-F238E27FC236}">
                <a16:creationId xmlns:a16="http://schemas.microsoft.com/office/drawing/2014/main" id="{F548A995-4022-ED88-B4D1-531040321566}"/>
              </a:ext>
            </a:extLst>
          </p:cNvPr>
          <p:cNvSpPr txBox="1"/>
          <p:nvPr/>
        </p:nvSpPr>
        <p:spPr>
          <a:xfrm>
            <a:off x="563880" y="1340510"/>
            <a:ext cx="5532120" cy="307777"/>
          </a:xfrm>
          <a:prstGeom prst="rect">
            <a:avLst/>
          </a:prstGeom>
          <a:noFill/>
        </p:spPr>
        <p:txBody>
          <a:bodyPr wrap="square" rtlCol="0">
            <a:spAutoFit/>
          </a:bodyPr>
          <a:lstStyle/>
          <a:p>
            <a:r>
              <a:rPr lang="en-US" sz="1400" dirty="0">
                <a:latin typeface="Tahoma" panose="020B0604030504040204" pitchFamily="34" charset="0"/>
                <a:ea typeface="Tahoma" panose="020B0604030504040204" pitchFamily="34" charset="0"/>
                <a:cs typeface="Tahoma" panose="020B0604030504040204" pitchFamily="34" charset="0"/>
              </a:rPr>
              <a:t>View will pe positioned based on reference points : </a:t>
            </a:r>
          </a:p>
        </p:txBody>
      </p:sp>
      <p:sp>
        <p:nvSpPr>
          <p:cNvPr id="19" name="TextBox 18">
            <a:extLst>
              <a:ext uri="{FF2B5EF4-FFF2-40B4-BE49-F238E27FC236}">
                <a16:creationId xmlns:a16="http://schemas.microsoft.com/office/drawing/2014/main" id="{0C299D37-2288-40DA-4488-F195D36BDD7C}"/>
              </a:ext>
            </a:extLst>
          </p:cNvPr>
          <p:cNvSpPr txBox="1"/>
          <p:nvPr/>
        </p:nvSpPr>
        <p:spPr>
          <a:xfrm>
            <a:off x="548640" y="3424557"/>
            <a:ext cx="5259494" cy="2462213"/>
          </a:xfrm>
          <a:prstGeom prst="rect">
            <a:avLst/>
          </a:prstGeom>
          <a:noFill/>
        </p:spPr>
        <p:txBody>
          <a:bodyPr wrap="square" rtlCol="0">
            <a:spAutoFit/>
          </a:bodyPr>
          <a:lstStyle/>
          <a:p>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rev_ref_point_right</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 </a:t>
            </a:r>
            <a:r>
              <a:rPr lang="en-US" sz="1400" dirty="0">
                <a:latin typeface="Tahoma" panose="020B0604030504040204" pitchFamily="34" charset="0"/>
                <a:ea typeface="Tahoma" panose="020B0604030504040204" pitchFamily="34" charset="0"/>
                <a:cs typeface="Tahoma" panose="020B0604030504040204" pitchFamily="34" charset="0"/>
              </a:rPr>
              <a:t>will control the cut  of the right view in the overlay; the right view is already assigned the </a:t>
            </a:r>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righ_view</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 </a:t>
            </a:r>
            <a:r>
              <a:rPr lang="en-US" sz="1400" dirty="0">
                <a:latin typeface="Tahoma" panose="020B0604030504040204" pitchFamily="34" charset="0"/>
                <a:ea typeface="Tahoma" panose="020B0604030504040204" pitchFamily="34" charset="0"/>
                <a:cs typeface="Tahoma" panose="020B0604030504040204" pitchFamily="34" charset="0"/>
              </a:rPr>
              <a:t>configuration .</a:t>
            </a:r>
            <a:br>
              <a:rPr lang="en-US" sz="1400" dirty="0">
                <a:latin typeface="Tahoma" panose="020B0604030504040204" pitchFamily="34" charset="0"/>
                <a:ea typeface="Tahoma" panose="020B0604030504040204" pitchFamily="34" charset="0"/>
                <a:cs typeface="Tahoma" panose="020B0604030504040204" pitchFamily="34" charset="0"/>
              </a:rPr>
            </a:br>
            <a:r>
              <a:rPr lang="en-US" sz="1400" dirty="0">
                <a:latin typeface="Tahoma" panose="020B0604030504040204" pitchFamily="34" charset="0"/>
                <a:ea typeface="Tahoma" panose="020B0604030504040204" pitchFamily="34" charset="0"/>
                <a:cs typeface="Tahoma" panose="020B0604030504040204" pitchFamily="34" charset="0"/>
              </a:rPr>
              <a:t>The control of the cut is done by the programmer based by changing the value of </a:t>
            </a:r>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rev_ref_point_right@rev_ref_point_right</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 </a:t>
            </a:r>
            <a:r>
              <a:rPr lang="en-US" sz="1400" dirty="0">
                <a:latin typeface="Tahoma" panose="020B0604030504040204" pitchFamily="34" charset="0"/>
                <a:ea typeface="Tahoma" panose="020B0604030504040204" pitchFamily="34" charset="0"/>
                <a:cs typeface="Tahoma" panose="020B0604030504040204" pitchFamily="34" charset="0"/>
              </a:rPr>
              <a:t>based on the cases we have .</a:t>
            </a:r>
            <a:br>
              <a:rPr lang="en-US" sz="1400" dirty="0">
                <a:latin typeface="Tahoma" panose="020B0604030504040204" pitchFamily="34" charset="0"/>
                <a:ea typeface="Tahoma" panose="020B0604030504040204" pitchFamily="34" charset="0"/>
                <a:cs typeface="Tahoma" panose="020B0604030504040204" pitchFamily="34" charset="0"/>
              </a:rPr>
            </a:br>
            <a:r>
              <a:rPr lang="en-US" sz="1400" dirty="0">
                <a:latin typeface="Tahoma" panose="020B0604030504040204" pitchFamily="34" charset="0"/>
                <a:ea typeface="Tahoma" panose="020B0604030504040204" pitchFamily="34" charset="0"/>
                <a:cs typeface="Tahoma" panose="020B0604030504040204" pitchFamily="34" charset="0"/>
              </a:rPr>
              <a:t>The old cut was based on the scale of the view was :</a:t>
            </a:r>
            <a:br>
              <a:rPr lang="en-US" sz="1400" dirty="0">
                <a:latin typeface="Tahoma" panose="020B0604030504040204" pitchFamily="34" charset="0"/>
                <a:ea typeface="Tahoma" panose="020B0604030504040204" pitchFamily="34" charset="0"/>
                <a:cs typeface="Tahoma" panose="020B0604030504040204" pitchFamily="34" charset="0"/>
              </a:rPr>
            </a:br>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rev_ref_point_right@std_ref_point_right</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 = 2.01175in/ "scale“</a:t>
            </a:r>
            <a:b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br>
            <a:r>
              <a:rPr lang="en-US" sz="1400" dirty="0">
                <a:latin typeface="Tahoma" panose="020B0604030504040204" pitchFamily="34" charset="0"/>
                <a:ea typeface="Tahoma" panose="020B0604030504040204" pitchFamily="34" charset="0"/>
                <a:cs typeface="Tahoma" panose="020B0604030504040204" pitchFamily="34" charset="0"/>
              </a:rPr>
              <a:t>this is </a:t>
            </a:r>
            <a:r>
              <a:rPr lang="en-US" sz="1400" dirty="0">
                <a:solidFill>
                  <a:srgbClr val="00B050"/>
                </a:solidFill>
                <a:latin typeface="Tahoma" panose="020B0604030504040204" pitchFamily="34" charset="0"/>
                <a:ea typeface="Tahoma" panose="020B0604030504040204" pitchFamily="34" charset="0"/>
                <a:cs typeface="Tahoma" panose="020B0604030504040204" pitchFamily="34" charset="0"/>
              </a:rPr>
              <a:t>OK</a:t>
            </a:r>
            <a:r>
              <a:rPr lang="en-US" sz="1400" dirty="0">
                <a:latin typeface="Tahoma" panose="020B0604030504040204" pitchFamily="34" charset="0"/>
                <a:ea typeface="Tahoma" panose="020B0604030504040204" pitchFamily="34" charset="0"/>
                <a:cs typeface="Tahoma" panose="020B0604030504040204" pitchFamily="34" charset="0"/>
              </a:rPr>
              <a:t> for most of standard cases but for cases with VR its </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no OK </a:t>
            </a:r>
            <a:br>
              <a:rPr lang="en-US" sz="1400" dirty="0">
                <a:latin typeface="Tahoma" panose="020B0604030504040204" pitchFamily="34" charset="0"/>
                <a:ea typeface="Tahoma" panose="020B0604030504040204" pitchFamily="34" charset="0"/>
                <a:cs typeface="Tahoma" panose="020B0604030504040204" pitchFamily="34" charset="0"/>
              </a:rPr>
            </a:br>
            <a:r>
              <a:rPr lang="en-US" sz="1400" dirty="0">
                <a:latin typeface="Tahoma" panose="020B0604030504040204" pitchFamily="34" charset="0"/>
                <a:ea typeface="Tahoma" panose="020B0604030504040204" pitchFamily="34" charset="0"/>
                <a:cs typeface="Tahoma" panose="020B0604030504040204" pitchFamily="34" charset="0"/>
              </a:rPr>
              <a:t>the programmer will need to give the appropriate value</a:t>
            </a:r>
          </a:p>
        </p:txBody>
      </p:sp>
      <p:pic>
        <p:nvPicPr>
          <p:cNvPr id="17" name="Picture 16">
            <a:extLst>
              <a:ext uri="{FF2B5EF4-FFF2-40B4-BE49-F238E27FC236}">
                <a16:creationId xmlns:a16="http://schemas.microsoft.com/office/drawing/2014/main" id="{3E11A632-D4FF-5085-65D1-E09CB9DC891A}"/>
              </a:ext>
            </a:extLst>
          </p:cNvPr>
          <p:cNvPicPr>
            <a:picLocks noChangeAspect="1"/>
          </p:cNvPicPr>
          <p:nvPr/>
        </p:nvPicPr>
        <p:blipFill>
          <a:blip r:embed="rId3">
            <a:clrChange>
              <a:clrFrom>
                <a:srgbClr val="F7F7F7"/>
              </a:clrFrom>
              <a:clrTo>
                <a:srgbClr val="F7F7F7">
                  <a:alpha val="0"/>
                </a:srgbClr>
              </a:clrTo>
            </a:clrChange>
          </a:blip>
          <a:stretch>
            <a:fillRect/>
          </a:stretch>
        </p:blipFill>
        <p:spPr>
          <a:xfrm>
            <a:off x="3865853" y="1863730"/>
            <a:ext cx="3291893" cy="1062737"/>
          </a:xfrm>
          <a:prstGeom prst="rect">
            <a:avLst/>
          </a:prstGeom>
        </p:spPr>
      </p:pic>
      <p:sp>
        <p:nvSpPr>
          <p:cNvPr id="20" name="Rectangle 19">
            <a:extLst>
              <a:ext uri="{FF2B5EF4-FFF2-40B4-BE49-F238E27FC236}">
                <a16:creationId xmlns:a16="http://schemas.microsoft.com/office/drawing/2014/main" id="{A08B2BFE-8F91-DCD0-37D0-96978BEAD89B}"/>
              </a:ext>
            </a:extLst>
          </p:cNvPr>
          <p:cNvSpPr/>
          <p:nvPr/>
        </p:nvSpPr>
        <p:spPr>
          <a:xfrm>
            <a:off x="1126067" y="1639849"/>
            <a:ext cx="1862666" cy="815484"/>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D24E4C0C-1444-4064-4FF2-916FD401A730}"/>
              </a:ext>
            </a:extLst>
          </p:cNvPr>
          <p:cNvSpPr/>
          <p:nvPr/>
        </p:nvSpPr>
        <p:spPr>
          <a:xfrm>
            <a:off x="1126067" y="2484497"/>
            <a:ext cx="1862666" cy="815484"/>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3" name="Straight Arrow Connector 22">
            <a:extLst>
              <a:ext uri="{FF2B5EF4-FFF2-40B4-BE49-F238E27FC236}">
                <a16:creationId xmlns:a16="http://schemas.microsoft.com/office/drawing/2014/main" id="{CC92FCA1-1184-7A9C-6517-3EFD69898D7C}"/>
              </a:ext>
            </a:extLst>
          </p:cNvPr>
          <p:cNvCxnSpPr>
            <a:stCxn id="20" idx="3"/>
          </p:cNvCxnSpPr>
          <p:nvPr/>
        </p:nvCxnSpPr>
        <p:spPr>
          <a:xfrm>
            <a:off x="2988733" y="2047591"/>
            <a:ext cx="1016000" cy="661742"/>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1B983F73-5E97-ECF5-7EED-498B33CD1A4B}"/>
              </a:ext>
            </a:extLst>
          </p:cNvPr>
          <p:cNvCxnSpPr>
            <a:cxnSpLocks/>
            <a:stCxn id="21" idx="3"/>
            <a:endCxn id="17" idx="1"/>
          </p:cNvCxnSpPr>
          <p:nvPr/>
        </p:nvCxnSpPr>
        <p:spPr>
          <a:xfrm flipV="1">
            <a:off x="2988733" y="2395099"/>
            <a:ext cx="877120" cy="497140"/>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27" name="TextBox 26">
            <a:extLst>
              <a:ext uri="{FF2B5EF4-FFF2-40B4-BE49-F238E27FC236}">
                <a16:creationId xmlns:a16="http://schemas.microsoft.com/office/drawing/2014/main" id="{A57AE9B9-CC06-CCFE-39FF-8680D31EAC20}"/>
              </a:ext>
            </a:extLst>
          </p:cNvPr>
          <p:cNvSpPr txBox="1"/>
          <p:nvPr/>
        </p:nvSpPr>
        <p:spPr>
          <a:xfrm>
            <a:off x="6353386" y="3424556"/>
            <a:ext cx="5259494" cy="2031325"/>
          </a:xfrm>
          <a:prstGeom prst="rect">
            <a:avLst/>
          </a:prstGeom>
          <a:noFill/>
        </p:spPr>
        <p:txBody>
          <a:bodyPr wrap="square" rtlCol="0">
            <a:spAutoFit/>
          </a:bodyPr>
          <a:lstStyle/>
          <a:p>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rev_ref_point_left</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 </a:t>
            </a:r>
            <a:r>
              <a:rPr lang="en-US" sz="1400" dirty="0">
                <a:latin typeface="Tahoma" panose="020B0604030504040204" pitchFamily="34" charset="0"/>
                <a:ea typeface="Tahoma" panose="020B0604030504040204" pitchFamily="34" charset="0"/>
                <a:cs typeface="Tahoma" panose="020B0604030504040204" pitchFamily="34" charset="0"/>
              </a:rPr>
              <a:t>will control the cut  of the right view in the overlay; the right view is already assigned the </a:t>
            </a:r>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left_view</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 </a:t>
            </a:r>
            <a:r>
              <a:rPr lang="en-US" sz="1400" dirty="0">
                <a:latin typeface="Tahoma" panose="020B0604030504040204" pitchFamily="34" charset="0"/>
                <a:ea typeface="Tahoma" panose="020B0604030504040204" pitchFamily="34" charset="0"/>
                <a:cs typeface="Tahoma" panose="020B0604030504040204" pitchFamily="34" charset="0"/>
              </a:rPr>
              <a:t>configuration .</a:t>
            </a:r>
            <a:br>
              <a:rPr lang="en-US" sz="1400" dirty="0">
                <a:latin typeface="Tahoma" panose="020B0604030504040204" pitchFamily="34" charset="0"/>
                <a:ea typeface="Tahoma" panose="020B0604030504040204" pitchFamily="34" charset="0"/>
                <a:cs typeface="Tahoma" panose="020B0604030504040204" pitchFamily="34" charset="0"/>
              </a:rPr>
            </a:br>
            <a:r>
              <a:rPr lang="en-US" sz="1400" dirty="0">
                <a:latin typeface="Tahoma" panose="020B0604030504040204" pitchFamily="34" charset="0"/>
                <a:ea typeface="Tahoma" panose="020B0604030504040204" pitchFamily="34" charset="0"/>
                <a:cs typeface="Tahoma" panose="020B0604030504040204" pitchFamily="34" charset="0"/>
              </a:rPr>
              <a:t>The control of the cut is done by the programmer based by changing the value of </a:t>
            </a:r>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rev_ref_point_left@rev_ref_point_left</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 </a:t>
            </a:r>
            <a:r>
              <a:rPr lang="en-US" sz="1400" dirty="0">
                <a:latin typeface="Tahoma" panose="020B0604030504040204" pitchFamily="34" charset="0"/>
                <a:ea typeface="Tahoma" panose="020B0604030504040204" pitchFamily="34" charset="0"/>
                <a:cs typeface="Tahoma" panose="020B0604030504040204" pitchFamily="34" charset="0"/>
              </a:rPr>
              <a:t>based on the cases we have .</a:t>
            </a:r>
            <a:br>
              <a:rPr lang="en-US" sz="1400" dirty="0">
                <a:latin typeface="Tahoma" panose="020B0604030504040204" pitchFamily="34" charset="0"/>
                <a:ea typeface="Tahoma" panose="020B0604030504040204" pitchFamily="34" charset="0"/>
                <a:cs typeface="Tahoma" panose="020B0604030504040204" pitchFamily="34" charset="0"/>
              </a:rPr>
            </a:br>
            <a:r>
              <a:rPr lang="en-US" sz="1400" dirty="0">
                <a:latin typeface="Tahoma" panose="020B0604030504040204" pitchFamily="34" charset="0"/>
                <a:ea typeface="Tahoma" panose="020B0604030504040204" pitchFamily="34" charset="0"/>
                <a:cs typeface="Tahoma" panose="020B0604030504040204" pitchFamily="34" charset="0"/>
              </a:rPr>
              <a:t>The old cut was based on the scale of the view was :</a:t>
            </a:r>
            <a:br>
              <a:rPr lang="en-US" sz="1400" dirty="0">
                <a:latin typeface="Tahoma" panose="020B0604030504040204" pitchFamily="34" charset="0"/>
                <a:ea typeface="Tahoma" panose="020B0604030504040204" pitchFamily="34" charset="0"/>
                <a:cs typeface="Tahoma" panose="020B0604030504040204" pitchFamily="34" charset="0"/>
              </a:rPr>
            </a:br>
            <a:r>
              <a:rPr lang="en-US" sz="1400" dirty="0" err="1">
                <a:solidFill>
                  <a:srgbClr val="FF0000"/>
                </a:solidFill>
                <a:latin typeface="Tahoma" panose="020B0604030504040204" pitchFamily="34" charset="0"/>
                <a:ea typeface="Tahoma" panose="020B0604030504040204" pitchFamily="34" charset="0"/>
                <a:cs typeface="Tahoma" panose="020B0604030504040204" pitchFamily="34" charset="0"/>
              </a:rPr>
              <a:t>rev_ref_point_left@std_ref_point_left</a:t>
            </a:r>
            <a: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t> = 2.01175in/ "scale“</a:t>
            </a:r>
            <a:br>
              <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rPr>
            </a:br>
            <a:r>
              <a:rPr lang="en-US" sz="1400" dirty="0">
                <a:latin typeface="Tahoma" panose="020B0604030504040204" pitchFamily="34" charset="0"/>
                <a:ea typeface="Tahoma" panose="020B0604030504040204" pitchFamily="34" charset="0"/>
                <a:cs typeface="Tahoma" panose="020B0604030504040204" pitchFamily="34" charset="0"/>
              </a:rPr>
              <a:t>this is </a:t>
            </a:r>
            <a:r>
              <a:rPr lang="en-US" sz="1400" dirty="0">
                <a:solidFill>
                  <a:srgbClr val="00B050"/>
                </a:solidFill>
                <a:latin typeface="Tahoma" panose="020B0604030504040204" pitchFamily="34" charset="0"/>
                <a:ea typeface="Tahoma" panose="020B0604030504040204" pitchFamily="34" charset="0"/>
                <a:cs typeface="Tahoma" panose="020B0604030504040204" pitchFamily="34" charset="0"/>
              </a:rPr>
              <a:t>OK</a:t>
            </a:r>
            <a:r>
              <a:rPr lang="en-US" sz="1400" dirty="0">
                <a:latin typeface="Tahoma" panose="020B0604030504040204" pitchFamily="34" charset="0"/>
                <a:ea typeface="Tahoma" panose="020B0604030504040204" pitchFamily="34" charset="0"/>
                <a:cs typeface="Tahoma" panose="020B0604030504040204" pitchFamily="34" charset="0"/>
              </a:rPr>
              <a:t> for most of standard cases</a:t>
            </a:r>
          </a:p>
        </p:txBody>
      </p:sp>
      <p:pic>
        <p:nvPicPr>
          <p:cNvPr id="6" name="Picture 5">
            <a:extLst>
              <a:ext uri="{FF2B5EF4-FFF2-40B4-BE49-F238E27FC236}">
                <a16:creationId xmlns:a16="http://schemas.microsoft.com/office/drawing/2014/main" id="{04AB9856-3784-EE39-5208-F802B3761EDA}"/>
              </a:ext>
            </a:extLst>
          </p:cNvPr>
          <p:cNvPicPr>
            <a:picLocks noChangeAspect="1"/>
          </p:cNvPicPr>
          <p:nvPr/>
        </p:nvPicPr>
        <p:blipFill>
          <a:blip r:embed="rId4">
            <a:clrChange>
              <a:clrFrom>
                <a:srgbClr val="F7F7F7"/>
              </a:clrFrom>
              <a:clrTo>
                <a:srgbClr val="F7F7F7">
                  <a:alpha val="0"/>
                </a:srgbClr>
              </a:clrTo>
            </a:clrChange>
          </a:blip>
          <a:stretch>
            <a:fillRect/>
          </a:stretch>
        </p:blipFill>
        <p:spPr>
          <a:xfrm>
            <a:off x="1126067" y="1677191"/>
            <a:ext cx="1782003" cy="1556283"/>
          </a:xfrm>
          <a:prstGeom prst="rect">
            <a:avLst/>
          </a:prstGeom>
        </p:spPr>
      </p:pic>
    </p:spTree>
    <p:extLst>
      <p:ext uri="{BB962C8B-B14F-4D97-AF65-F5344CB8AC3E}">
        <p14:creationId xmlns:p14="http://schemas.microsoft.com/office/powerpoint/2010/main" val="216737903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B04087-4690-502E-BC46-48535B171EC9}"/>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BA2C8BFB-388B-48D8-0EFC-5422AF0FE79C}"/>
              </a:ext>
            </a:extLst>
          </p:cNvPr>
          <p:cNvSpPr/>
          <p:nvPr/>
        </p:nvSpPr>
        <p:spPr>
          <a:xfrm>
            <a:off x="548640" y="119802"/>
            <a:ext cx="11064240" cy="640080"/>
          </a:xfrm>
          <a:prstGeom prst="rect">
            <a:avLst/>
          </a:prstGeom>
          <a:noFill/>
          <a:ln/>
        </p:spPr>
        <p:txBody>
          <a:bodyPr wrap="square" lIns="0" tIns="0" rIns="0" bIns="0" rtlCol="0" anchor="ctr"/>
          <a:lstStyle/>
          <a:p>
            <a:pPr marL="0" indent="0">
              <a:buNone/>
            </a:pPr>
            <a:r>
              <a:rPr lang="en-US" sz="2800" b="1" dirty="0">
                <a:solidFill>
                  <a:srgbClr val="FF0000"/>
                </a:solidFill>
                <a:latin typeface="Arial" pitchFamily="34" charset="0"/>
                <a:ea typeface="Arial" pitchFamily="34" charset="-122"/>
                <a:cs typeface="Arial" pitchFamily="34" charset="-120"/>
              </a:rPr>
              <a:t>Rules</a:t>
            </a:r>
            <a:endParaRPr lang="en-US" sz="2800" dirty="0">
              <a:solidFill>
                <a:srgbClr val="FF0000"/>
              </a:solidFill>
            </a:endParaRPr>
          </a:p>
        </p:txBody>
      </p:sp>
      <p:sp>
        <p:nvSpPr>
          <p:cNvPr id="13" name="Shape 11">
            <a:extLst>
              <a:ext uri="{FF2B5EF4-FFF2-40B4-BE49-F238E27FC236}">
                <a16:creationId xmlns:a16="http://schemas.microsoft.com/office/drawing/2014/main" id="{31503462-8FA0-4050-DEFF-BCEAAA8C41C7}"/>
              </a:ext>
            </a:extLst>
          </p:cNvPr>
          <p:cNvSpPr/>
          <p:nvPr/>
        </p:nvSpPr>
        <p:spPr>
          <a:xfrm>
            <a:off x="548640" y="6419088"/>
            <a:ext cx="11064240" cy="0"/>
          </a:xfrm>
          <a:prstGeom prst="line">
            <a:avLst/>
          </a:prstGeom>
          <a:noFill/>
          <a:ln w="9525">
            <a:solidFill>
              <a:srgbClr val="E4E4E4"/>
            </a:solidFill>
            <a:prstDash val="solid"/>
          </a:ln>
        </p:spPr>
        <p:txBody>
          <a:bodyPr/>
          <a:lstStyle/>
          <a:p>
            <a:endParaRPr lang="en-US" dirty="0"/>
          </a:p>
        </p:txBody>
      </p:sp>
      <p:sp>
        <p:nvSpPr>
          <p:cNvPr id="14" name="Text 12">
            <a:extLst>
              <a:ext uri="{FF2B5EF4-FFF2-40B4-BE49-F238E27FC236}">
                <a16:creationId xmlns:a16="http://schemas.microsoft.com/office/drawing/2014/main" id="{E4E59613-0D78-F494-7021-B231A3C83D8D}"/>
              </a:ext>
            </a:extLst>
          </p:cNvPr>
          <p:cNvSpPr/>
          <p:nvPr/>
        </p:nvSpPr>
        <p:spPr>
          <a:xfrm>
            <a:off x="548640" y="6419088"/>
            <a:ext cx="4572000" cy="274320"/>
          </a:xfrm>
          <a:prstGeom prst="rect">
            <a:avLst/>
          </a:prstGeom>
          <a:noFill/>
          <a:ln/>
        </p:spPr>
        <p:txBody>
          <a:bodyPr wrap="square" lIns="0" tIns="0" rIns="0" bIns="0" rtlCol="0" anchor="ctr"/>
          <a:lstStyle/>
          <a:p>
            <a:pPr marL="0" indent="0">
              <a:buNone/>
            </a:pPr>
            <a:r>
              <a:rPr lang="en-US" sz="900" dirty="0">
                <a:solidFill>
                  <a:srgbClr val="6E6E6E"/>
                </a:solidFill>
                <a:latin typeface="Arial" pitchFamily="34" charset="0"/>
                <a:ea typeface="Arial" pitchFamily="34" charset="-122"/>
                <a:cs typeface="Arial" pitchFamily="34" charset="-120"/>
              </a:rPr>
              <a:t>SMALL PRECISION TOOLS</a:t>
            </a:r>
            <a:endParaRPr lang="en-US" sz="900" dirty="0"/>
          </a:p>
        </p:txBody>
      </p:sp>
      <p:sp>
        <p:nvSpPr>
          <p:cNvPr id="15" name="Text 13">
            <a:extLst>
              <a:ext uri="{FF2B5EF4-FFF2-40B4-BE49-F238E27FC236}">
                <a16:creationId xmlns:a16="http://schemas.microsoft.com/office/drawing/2014/main" id="{9CC46997-BDBF-6F47-2F4C-9D6F93F5D1D5}"/>
              </a:ext>
            </a:extLst>
          </p:cNvPr>
          <p:cNvSpPr/>
          <p:nvPr/>
        </p:nvSpPr>
        <p:spPr>
          <a:xfrm>
            <a:off x="4709160" y="6419088"/>
            <a:ext cx="2743200" cy="274320"/>
          </a:xfrm>
          <a:prstGeom prst="rect">
            <a:avLst/>
          </a:prstGeom>
          <a:noFill/>
          <a:ln/>
        </p:spPr>
        <p:txBody>
          <a:bodyPr wrap="square" lIns="0" tIns="0" rIns="0" bIns="0" rtlCol="0" anchor="ctr"/>
          <a:lstStyle/>
          <a:p>
            <a:pPr marL="0" indent="0" algn="ctr">
              <a:buNone/>
            </a:pPr>
            <a:r>
              <a:rPr lang="en-US" sz="900" dirty="0">
                <a:solidFill>
                  <a:srgbClr val="6E6E6E"/>
                </a:solidFill>
                <a:latin typeface="Arial" pitchFamily="34" charset="0"/>
                <a:ea typeface="Arial" pitchFamily="34" charset="-122"/>
                <a:cs typeface="Arial" pitchFamily="34" charset="-120"/>
              </a:rPr>
              <a:t>Confidential</a:t>
            </a:r>
            <a:endParaRPr lang="en-US" sz="900" dirty="0"/>
          </a:p>
        </p:txBody>
      </p:sp>
      <p:sp>
        <p:nvSpPr>
          <p:cNvPr id="5" name="TextBox 4">
            <a:extLst>
              <a:ext uri="{FF2B5EF4-FFF2-40B4-BE49-F238E27FC236}">
                <a16:creationId xmlns:a16="http://schemas.microsoft.com/office/drawing/2014/main" id="{BA6099B5-9CAC-7E3D-3977-F8501C22F8CE}"/>
              </a:ext>
            </a:extLst>
          </p:cNvPr>
          <p:cNvSpPr txBox="1"/>
          <p:nvPr/>
        </p:nvSpPr>
        <p:spPr>
          <a:xfrm>
            <a:off x="760306" y="759882"/>
            <a:ext cx="8536093" cy="523220"/>
          </a:xfrm>
          <a:prstGeom prst="rect">
            <a:avLst/>
          </a:prstGeom>
          <a:noFill/>
        </p:spPr>
        <p:txBody>
          <a:bodyPr wrap="square" rtlCol="0">
            <a:spAutoFit/>
          </a:bodyPr>
          <a:lstStyle/>
          <a:p>
            <a:r>
              <a:rPr lang="en-US" sz="1400" b="1" dirty="0">
                <a:latin typeface="Tahoma" panose="020B0604030504040204" pitchFamily="34" charset="0"/>
                <a:ea typeface="Tahoma" panose="020B0604030504040204" pitchFamily="34" charset="0"/>
                <a:cs typeface="Tahoma" panose="020B0604030504040204" pitchFamily="34" charset="0"/>
              </a:rPr>
              <a:t>ABT Series –Overlay : </a:t>
            </a:r>
            <a:br>
              <a:rPr lang="en-US" sz="1400" b="1" dirty="0">
                <a:latin typeface="Tahoma" panose="020B0604030504040204" pitchFamily="34" charset="0"/>
                <a:ea typeface="Tahoma" panose="020B0604030504040204" pitchFamily="34" charset="0"/>
                <a:cs typeface="Tahoma" panose="020B0604030504040204" pitchFamily="34" charset="0"/>
              </a:rPr>
            </a:br>
            <a:r>
              <a:rPr lang="en-US" sz="1400" dirty="0">
                <a:latin typeface="Tahoma" panose="020B0604030504040204" pitchFamily="34" charset="0"/>
                <a:ea typeface="Tahoma" panose="020B0604030504040204" pitchFamily="34" charset="0"/>
                <a:cs typeface="Tahoma" panose="020B0604030504040204" pitchFamily="34" charset="0"/>
              </a:rPr>
              <a:t>Construction of overlays</a:t>
            </a:r>
          </a:p>
        </p:txBody>
      </p:sp>
      <p:sp>
        <p:nvSpPr>
          <p:cNvPr id="7" name="Shape 1">
            <a:extLst>
              <a:ext uri="{FF2B5EF4-FFF2-40B4-BE49-F238E27FC236}">
                <a16:creationId xmlns:a16="http://schemas.microsoft.com/office/drawing/2014/main" id="{628EFFED-4DBE-85C9-CA2D-C8CE9C18FAAC}"/>
              </a:ext>
            </a:extLst>
          </p:cNvPr>
          <p:cNvSpPr/>
          <p:nvPr/>
        </p:nvSpPr>
        <p:spPr>
          <a:xfrm>
            <a:off x="563880" y="889684"/>
            <a:ext cx="109728" cy="109728"/>
          </a:xfrm>
          <a:prstGeom prst="rect">
            <a:avLst/>
          </a:prstGeom>
          <a:solidFill>
            <a:srgbClr val="FF0000"/>
          </a:solidFill>
          <a:ln/>
        </p:spPr>
        <p:txBody>
          <a:bodyPr/>
          <a:lstStyle/>
          <a:p>
            <a:endParaRPr lang="en-US" dirty="0"/>
          </a:p>
        </p:txBody>
      </p:sp>
      <p:sp>
        <p:nvSpPr>
          <p:cNvPr id="11" name="TextBox 10">
            <a:extLst>
              <a:ext uri="{FF2B5EF4-FFF2-40B4-BE49-F238E27FC236}">
                <a16:creationId xmlns:a16="http://schemas.microsoft.com/office/drawing/2014/main" id="{062A6CD1-8A8F-4F90-FF4B-60D3625D324A}"/>
              </a:ext>
            </a:extLst>
          </p:cNvPr>
          <p:cNvSpPr txBox="1"/>
          <p:nvPr/>
        </p:nvSpPr>
        <p:spPr>
          <a:xfrm>
            <a:off x="563879" y="1340510"/>
            <a:ext cx="5846065" cy="3754874"/>
          </a:xfrm>
          <a:prstGeom prst="rect">
            <a:avLst/>
          </a:prstGeom>
          <a:noFill/>
        </p:spPr>
        <p:txBody>
          <a:bodyPr wrap="square" rtlCol="0">
            <a:spAutoFit/>
          </a:bodyPr>
          <a:lstStyle/>
          <a:p>
            <a:r>
              <a:rPr lang="en-US" sz="1400" dirty="0">
                <a:latin typeface="Tahoma" panose="020B0604030504040204" pitchFamily="34" charset="0"/>
                <a:ea typeface="Tahoma" panose="020B0604030504040204" pitchFamily="34" charset="0"/>
                <a:cs typeface="Tahoma" panose="020B0604030504040204" pitchFamily="34" charset="0"/>
              </a:rPr>
              <a:t>Right &amp; Left view will have the same scale; the scale is chosen based on FL values</a:t>
            </a:r>
          </a:p>
          <a:p>
            <a:endParaRPr lang="en-US" sz="1400" dirty="0">
              <a:latin typeface="Tahoma" panose="020B0604030504040204" pitchFamily="34" charset="0"/>
              <a:ea typeface="Tahoma" panose="020B0604030504040204" pitchFamily="34" charset="0"/>
              <a:cs typeface="Tahoma" panose="020B0604030504040204" pitchFamily="34" charset="0"/>
            </a:endParaRPr>
          </a:p>
          <a:p>
            <a:r>
              <a:rPr lang="en-US" sz="1400" dirty="0">
                <a:latin typeface="Tahoma" panose="020B0604030504040204" pitchFamily="34" charset="0"/>
                <a:ea typeface="Tahoma" panose="020B0604030504040204" pitchFamily="34" charset="0"/>
                <a:cs typeface="Tahoma" panose="020B0604030504040204" pitchFamily="34" charset="0"/>
              </a:rPr>
              <a:t>Numerical Limits:</a:t>
            </a:r>
          </a:p>
          <a:p>
            <a:endParaRPr lang="en-US" sz="1400" dirty="0">
              <a:latin typeface="Tahoma" panose="020B0604030504040204" pitchFamily="34" charset="0"/>
              <a:ea typeface="Tahoma" panose="020B0604030504040204" pitchFamily="34" charset="0"/>
              <a:cs typeface="Tahoma" panose="020B0604030504040204" pitchFamily="34" charset="0"/>
            </a:endParaRPr>
          </a:p>
          <a:p>
            <a:r>
              <a:rPr lang="en-US" sz="1400" dirty="0">
                <a:latin typeface="Tahoma" panose="020B0604030504040204" pitchFamily="34" charset="0"/>
                <a:ea typeface="Tahoma" panose="020B0604030504040204" pitchFamily="34" charset="0"/>
                <a:cs typeface="Tahoma" panose="020B0604030504040204" pitchFamily="34" charset="0"/>
              </a:rPr>
              <a:t>x400 : T ≤ 0.0134 in or 0.3403 mm</a:t>
            </a:r>
          </a:p>
          <a:p>
            <a:r>
              <a:rPr lang="en-US" sz="1400" dirty="0">
                <a:latin typeface="Tahoma" panose="020B0604030504040204" pitchFamily="34" charset="0"/>
                <a:ea typeface="Tahoma" panose="020B0604030504040204" pitchFamily="34" charset="0"/>
                <a:cs typeface="Tahoma" panose="020B0604030504040204" pitchFamily="34" charset="0"/>
              </a:rPr>
              <a:t>x300 : T ≤ 0.0180 in or 0.4572 mm</a:t>
            </a:r>
          </a:p>
          <a:p>
            <a:r>
              <a:rPr lang="en-US" sz="1400" dirty="0">
                <a:latin typeface="Tahoma" panose="020B0604030504040204" pitchFamily="34" charset="0"/>
                <a:ea typeface="Tahoma" panose="020B0604030504040204" pitchFamily="34" charset="0"/>
                <a:cs typeface="Tahoma" panose="020B0604030504040204" pitchFamily="34" charset="0"/>
              </a:rPr>
              <a:t>x200 : T ≤ 0.0272 in or 0.6908 mm </a:t>
            </a:r>
          </a:p>
          <a:p>
            <a:r>
              <a:rPr lang="en-US" sz="1400" dirty="0">
                <a:latin typeface="Tahoma" panose="020B0604030504040204" pitchFamily="34" charset="0"/>
                <a:ea typeface="Tahoma" panose="020B0604030504040204" pitchFamily="34" charset="0"/>
                <a:cs typeface="Tahoma" panose="020B0604030504040204" pitchFamily="34" charset="0"/>
              </a:rPr>
              <a:t>x100 : T ≤ 0.0542 in or 1.3766 mm</a:t>
            </a:r>
            <a:br>
              <a:rPr lang="en-US" sz="1400" dirty="0">
                <a:latin typeface="Tahoma" panose="020B0604030504040204" pitchFamily="34" charset="0"/>
                <a:ea typeface="Tahoma" panose="020B0604030504040204" pitchFamily="34" charset="0"/>
                <a:cs typeface="Tahoma" panose="020B0604030504040204" pitchFamily="34" charset="0"/>
              </a:rPr>
            </a:br>
            <a:br>
              <a:rPr lang="en-US" sz="1400" dirty="0">
                <a:latin typeface="Tahoma" panose="020B0604030504040204" pitchFamily="34" charset="0"/>
                <a:ea typeface="Tahoma" panose="020B0604030504040204" pitchFamily="34" charset="0"/>
                <a:cs typeface="Tahoma" panose="020B0604030504040204" pitchFamily="34" charset="0"/>
              </a:rPr>
            </a:br>
            <a:r>
              <a:rPr lang="en-US" sz="1400" dirty="0">
                <a:latin typeface="Tahoma" panose="020B0604030504040204" pitchFamily="34" charset="0"/>
                <a:ea typeface="Tahoma" panose="020B0604030504040204" pitchFamily="34" charset="0"/>
                <a:cs typeface="Tahoma" panose="020B0604030504040204" pitchFamily="34" charset="0"/>
              </a:rPr>
              <a:t>The scales : </a:t>
            </a:r>
            <a:br>
              <a:rPr lang="en-US" sz="1400" dirty="0">
                <a:latin typeface="Tahoma" panose="020B0604030504040204" pitchFamily="34" charset="0"/>
                <a:ea typeface="Tahoma" panose="020B0604030504040204" pitchFamily="34" charset="0"/>
                <a:cs typeface="Tahoma" panose="020B0604030504040204" pitchFamily="34" charset="0"/>
              </a:rPr>
            </a:br>
            <a:br>
              <a:rPr lang="en-US" sz="1400" dirty="0">
                <a:latin typeface="Tahoma" panose="020B0604030504040204" pitchFamily="34" charset="0"/>
                <a:ea typeface="Tahoma" panose="020B0604030504040204" pitchFamily="34" charset="0"/>
                <a:cs typeface="Tahoma" panose="020B0604030504040204" pitchFamily="34" charset="0"/>
              </a:rPr>
            </a:br>
            <a:r>
              <a:rPr lang="en-US" sz="1400" dirty="0">
                <a:latin typeface="Tahoma" panose="020B0604030504040204" pitchFamily="34" charset="0"/>
                <a:ea typeface="Tahoma" panose="020B0604030504040204" pitchFamily="34" charset="0"/>
                <a:cs typeface="Tahoma" panose="020B0604030504040204" pitchFamily="34" charset="0"/>
              </a:rPr>
              <a:t>S100 = 1:60.8 </a:t>
            </a:r>
          </a:p>
          <a:p>
            <a:r>
              <a:rPr lang="en-US" sz="1400" dirty="0">
                <a:latin typeface="Tahoma" panose="020B0604030504040204" pitchFamily="34" charset="0"/>
                <a:ea typeface="Tahoma" panose="020B0604030504040204" pitchFamily="34" charset="0"/>
                <a:cs typeface="Tahoma" panose="020B0604030504040204" pitchFamily="34" charset="0"/>
              </a:rPr>
              <a:t>S200 = 1:121.1 </a:t>
            </a:r>
          </a:p>
          <a:p>
            <a:r>
              <a:rPr lang="en-US" sz="1400" dirty="0">
                <a:latin typeface="Tahoma" panose="020B0604030504040204" pitchFamily="34" charset="0"/>
                <a:ea typeface="Tahoma" panose="020B0604030504040204" pitchFamily="34" charset="0"/>
                <a:cs typeface="Tahoma" panose="020B0604030504040204" pitchFamily="34" charset="0"/>
              </a:rPr>
              <a:t>S300 = 1:183.0</a:t>
            </a:r>
          </a:p>
          <a:p>
            <a:r>
              <a:rPr lang="en-US" sz="1400" dirty="0">
                <a:latin typeface="Tahoma" panose="020B0604030504040204" pitchFamily="34" charset="0"/>
                <a:ea typeface="Tahoma" panose="020B0604030504040204" pitchFamily="34" charset="0"/>
                <a:cs typeface="Tahoma" panose="020B0604030504040204" pitchFamily="34" charset="0"/>
              </a:rPr>
              <a:t>S400 = 1:246.0</a:t>
            </a:r>
          </a:p>
          <a:p>
            <a:endParaRPr lang="en-US" sz="1400" dirty="0">
              <a:latin typeface="Tahoma" panose="020B0604030504040204" pitchFamily="34" charset="0"/>
              <a:ea typeface="Tahoma" panose="020B0604030504040204" pitchFamily="34" charset="0"/>
              <a:cs typeface="Tahoma" panose="020B0604030504040204" pitchFamily="34" charset="0"/>
            </a:endParaRPr>
          </a:p>
        </p:txBody>
      </p:sp>
      <p:pic>
        <p:nvPicPr>
          <p:cNvPr id="8" name="Image 9" descr="Une image contenant texte, capture d’écran, Bleu électrique, Police&#10;&#10;Le contenu généré par l’IA peut être incorrect.">
            <a:extLst>
              <a:ext uri="{FF2B5EF4-FFF2-40B4-BE49-F238E27FC236}">
                <a16:creationId xmlns:a16="http://schemas.microsoft.com/office/drawing/2014/main" id="{BA6E3393-0515-EE99-0A3E-BCE4DA5878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565392" y="1923182"/>
            <a:ext cx="5202936" cy="3902202"/>
          </a:xfrm>
          <a:prstGeom prst="rect">
            <a:avLst/>
          </a:prstGeom>
        </p:spPr>
      </p:pic>
      <p:sp>
        <p:nvSpPr>
          <p:cNvPr id="17" name="Rectangle 16">
            <a:extLst>
              <a:ext uri="{FF2B5EF4-FFF2-40B4-BE49-F238E27FC236}">
                <a16:creationId xmlns:a16="http://schemas.microsoft.com/office/drawing/2014/main" id="{1742CE5B-FBC4-06B4-B609-436111065EA8}"/>
              </a:ext>
            </a:extLst>
          </p:cNvPr>
          <p:cNvSpPr/>
          <p:nvPr/>
        </p:nvSpPr>
        <p:spPr>
          <a:xfrm>
            <a:off x="7562088" y="3429000"/>
            <a:ext cx="1435608" cy="868680"/>
          </a:xfrm>
          <a:prstGeom prst="rect">
            <a:avLst/>
          </a:prstGeom>
          <a:solidFill>
            <a:srgbClr val="0000FF"/>
          </a:solidFill>
          <a:ln>
            <a:solidFill>
              <a:srgbClr val="00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0C92E5A7-BC5C-463E-8E9E-783525873E4A}"/>
              </a:ext>
            </a:extLst>
          </p:cNvPr>
          <p:cNvSpPr/>
          <p:nvPr/>
        </p:nvSpPr>
        <p:spPr>
          <a:xfrm>
            <a:off x="10177272" y="3439943"/>
            <a:ext cx="1435608" cy="868680"/>
          </a:xfrm>
          <a:prstGeom prst="rect">
            <a:avLst/>
          </a:prstGeom>
          <a:solidFill>
            <a:srgbClr val="0000FF"/>
          </a:solidFill>
          <a:ln>
            <a:solidFill>
              <a:srgbClr val="00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7259017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94DF54-F98E-7309-AC35-D7E2DB54EA4F}"/>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5BEDFDAD-C8AE-5F13-EF5F-A4911DBA3517}"/>
              </a:ext>
            </a:extLst>
          </p:cNvPr>
          <p:cNvSpPr/>
          <p:nvPr/>
        </p:nvSpPr>
        <p:spPr>
          <a:xfrm>
            <a:off x="548640" y="119802"/>
            <a:ext cx="11064240" cy="640080"/>
          </a:xfrm>
          <a:prstGeom prst="rect">
            <a:avLst/>
          </a:prstGeom>
          <a:noFill/>
          <a:ln/>
        </p:spPr>
        <p:txBody>
          <a:bodyPr wrap="square" lIns="0" tIns="0" rIns="0" bIns="0" rtlCol="0" anchor="ctr"/>
          <a:lstStyle/>
          <a:p>
            <a:pPr marL="0" indent="0">
              <a:buNone/>
            </a:pPr>
            <a:r>
              <a:rPr lang="en-US" sz="2800" b="1" dirty="0">
                <a:solidFill>
                  <a:srgbClr val="FF0000"/>
                </a:solidFill>
                <a:latin typeface="Arial" pitchFamily="34" charset="0"/>
                <a:ea typeface="Arial" pitchFamily="34" charset="-122"/>
                <a:cs typeface="Arial" pitchFamily="34" charset="-120"/>
              </a:rPr>
              <a:t>Rules</a:t>
            </a:r>
            <a:endParaRPr lang="en-US" sz="2800" dirty="0">
              <a:solidFill>
                <a:srgbClr val="FF0000"/>
              </a:solidFill>
            </a:endParaRPr>
          </a:p>
        </p:txBody>
      </p:sp>
      <p:sp>
        <p:nvSpPr>
          <p:cNvPr id="13" name="Shape 11">
            <a:extLst>
              <a:ext uri="{FF2B5EF4-FFF2-40B4-BE49-F238E27FC236}">
                <a16:creationId xmlns:a16="http://schemas.microsoft.com/office/drawing/2014/main" id="{EEA9DC07-C542-02A8-BF1A-07303E6EE67A}"/>
              </a:ext>
            </a:extLst>
          </p:cNvPr>
          <p:cNvSpPr/>
          <p:nvPr/>
        </p:nvSpPr>
        <p:spPr>
          <a:xfrm>
            <a:off x="548640" y="6419088"/>
            <a:ext cx="11064240" cy="0"/>
          </a:xfrm>
          <a:prstGeom prst="line">
            <a:avLst/>
          </a:prstGeom>
          <a:noFill/>
          <a:ln w="9525">
            <a:solidFill>
              <a:srgbClr val="E4E4E4"/>
            </a:solidFill>
            <a:prstDash val="solid"/>
          </a:ln>
        </p:spPr>
        <p:txBody>
          <a:bodyPr/>
          <a:lstStyle/>
          <a:p>
            <a:endParaRPr lang="en-US" dirty="0"/>
          </a:p>
        </p:txBody>
      </p:sp>
      <p:sp>
        <p:nvSpPr>
          <p:cNvPr id="14" name="Text 12">
            <a:extLst>
              <a:ext uri="{FF2B5EF4-FFF2-40B4-BE49-F238E27FC236}">
                <a16:creationId xmlns:a16="http://schemas.microsoft.com/office/drawing/2014/main" id="{C280994B-C206-C25F-7526-91F373782BAA}"/>
              </a:ext>
            </a:extLst>
          </p:cNvPr>
          <p:cNvSpPr/>
          <p:nvPr/>
        </p:nvSpPr>
        <p:spPr>
          <a:xfrm>
            <a:off x="548640" y="6419088"/>
            <a:ext cx="4572000" cy="274320"/>
          </a:xfrm>
          <a:prstGeom prst="rect">
            <a:avLst/>
          </a:prstGeom>
          <a:noFill/>
          <a:ln/>
        </p:spPr>
        <p:txBody>
          <a:bodyPr wrap="square" lIns="0" tIns="0" rIns="0" bIns="0" rtlCol="0" anchor="ctr"/>
          <a:lstStyle/>
          <a:p>
            <a:pPr marL="0" indent="0">
              <a:buNone/>
            </a:pPr>
            <a:r>
              <a:rPr lang="en-US" sz="900" dirty="0">
                <a:solidFill>
                  <a:srgbClr val="6E6E6E"/>
                </a:solidFill>
                <a:latin typeface="Arial" pitchFamily="34" charset="0"/>
                <a:ea typeface="Arial" pitchFamily="34" charset="-122"/>
                <a:cs typeface="Arial" pitchFamily="34" charset="-120"/>
              </a:rPr>
              <a:t>SMALL PRECISION TOOLS</a:t>
            </a:r>
            <a:endParaRPr lang="en-US" sz="900" dirty="0"/>
          </a:p>
        </p:txBody>
      </p:sp>
      <p:sp>
        <p:nvSpPr>
          <p:cNvPr id="15" name="Text 13">
            <a:extLst>
              <a:ext uri="{FF2B5EF4-FFF2-40B4-BE49-F238E27FC236}">
                <a16:creationId xmlns:a16="http://schemas.microsoft.com/office/drawing/2014/main" id="{A993B083-DF37-AA0B-9153-4B0BAFA9011C}"/>
              </a:ext>
            </a:extLst>
          </p:cNvPr>
          <p:cNvSpPr/>
          <p:nvPr/>
        </p:nvSpPr>
        <p:spPr>
          <a:xfrm>
            <a:off x="4709160" y="6419088"/>
            <a:ext cx="2743200" cy="274320"/>
          </a:xfrm>
          <a:prstGeom prst="rect">
            <a:avLst/>
          </a:prstGeom>
          <a:noFill/>
          <a:ln/>
        </p:spPr>
        <p:txBody>
          <a:bodyPr wrap="square" lIns="0" tIns="0" rIns="0" bIns="0" rtlCol="0" anchor="ctr"/>
          <a:lstStyle/>
          <a:p>
            <a:pPr marL="0" indent="0" algn="ctr">
              <a:buNone/>
            </a:pPr>
            <a:r>
              <a:rPr lang="en-US" sz="900" dirty="0">
                <a:solidFill>
                  <a:srgbClr val="6E6E6E"/>
                </a:solidFill>
                <a:latin typeface="Arial" pitchFamily="34" charset="0"/>
                <a:ea typeface="Arial" pitchFamily="34" charset="-122"/>
                <a:cs typeface="Arial" pitchFamily="34" charset="-120"/>
              </a:rPr>
              <a:t>Confidential</a:t>
            </a:r>
            <a:endParaRPr lang="en-US" sz="900" dirty="0"/>
          </a:p>
        </p:txBody>
      </p:sp>
      <p:sp>
        <p:nvSpPr>
          <p:cNvPr id="5" name="TextBox 4">
            <a:extLst>
              <a:ext uri="{FF2B5EF4-FFF2-40B4-BE49-F238E27FC236}">
                <a16:creationId xmlns:a16="http://schemas.microsoft.com/office/drawing/2014/main" id="{4CA8EC04-5B42-9EA7-058B-36D8B17D62A3}"/>
              </a:ext>
            </a:extLst>
          </p:cNvPr>
          <p:cNvSpPr txBox="1"/>
          <p:nvPr/>
        </p:nvSpPr>
        <p:spPr>
          <a:xfrm>
            <a:off x="760306" y="759882"/>
            <a:ext cx="8536093" cy="523220"/>
          </a:xfrm>
          <a:prstGeom prst="rect">
            <a:avLst/>
          </a:prstGeom>
          <a:noFill/>
        </p:spPr>
        <p:txBody>
          <a:bodyPr wrap="square" rtlCol="0">
            <a:spAutoFit/>
          </a:bodyPr>
          <a:lstStyle/>
          <a:p>
            <a:r>
              <a:rPr lang="en-US" sz="1400" b="1" dirty="0">
                <a:latin typeface="Tahoma" panose="020B0604030504040204" pitchFamily="34" charset="0"/>
                <a:ea typeface="Tahoma" panose="020B0604030504040204" pitchFamily="34" charset="0"/>
                <a:cs typeface="Tahoma" panose="020B0604030504040204" pitchFamily="34" charset="0"/>
              </a:rPr>
              <a:t>ABT Series – PGB Overlay : </a:t>
            </a:r>
            <a:br>
              <a:rPr lang="en-US" sz="1400" b="1" dirty="0">
                <a:latin typeface="Tahoma" panose="020B0604030504040204" pitchFamily="34" charset="0"/>
                <a:ea typeface="Tahoma" panose="020B0604030504040204" pitchFamily="34" charset="0"/>
                <a:cs typeface="Tahoma" panose="020B0604030504040204" pitchFamily="34" charset="0"/>
              </a:rPr>
            </a:br>
            <a:r>
              <a:rPr lang="en-US" sz="1400" dirty="0">
                <a:latin typeface="Tahoma" panose="020B0604030504040204" pitchFamily="34" charset="0"/>
                <a:ea typeface="Tahoma" panose="020B0604030504040204" pitchFamily="34" charset="0"/>
                <a:cs typeface="Tahoma" panose="020B0604030504040204" pitchFamily="34" charset="0"/>
              </a:rPr>
              <a:t>Construction of PGB overlays </a:t>
            </a:r>
            <a:r>
              <a:rPr lang="en-US" sz="1400" dirty="0" err="1">
                <a:latin typeface="Tahoma" panose="020B0604030504040204" pitchFamily="34" charset="0"/>
                <a:ea typeface="Tahoma" panose="020B0604030504040204" pitchFamily="34" charset="0"/>
                <a:cs typeface="Tahoma" panose="020B0604030504040204" pitchFamily="34" charset="0"/>
              </a:rPr>
              <a:t>std_shank</a:t>
            </a:r>
            <a:endParaRPr lang="en-US" sz="1400" dirty="0">
              <a:latin typeface="Tahoma" panose="020B0604030504040204" pitchFamily="34" charset="0"/>
              <a:ea typeface="Tahoma" panose="020B0604030504040204" pitchFamily="34" charset="0"/>
              <a:cs typeface="Tahoma" panose="020B0604030504040204" pitchFamily="34" charset="0"/>
            </a:endParaRPr>
          </a:p>
        </p:txBody>
      </p:sp>
      <p:sp>
        <p:nvSpPr>
          <p:cNvPr id="7" name="Shape 1">
            <a:extLst>
              <a:ext uri="{FF2B5EF4-FFF2-40B4-BE49-F238E27FC236}">
                <a16:creationId xmlns:a16="http://schemas.microsoft.com/office/drawing/2014/main" id="{FE1D7AE7-9841-9111-573C-6F25602CFAC3}"/>
              </a:ext>
            </a:extLst>
          </p:cNvPr>
          <p:cNvSpPr/>
          <p:nvPr/>
        </p:nvSpPr>
        <p:spPr>
          <a:xfrm>
            <a:off x="563880" y="889684"/>
            <a:ext cx="109728" cy="109728"/>
          </a:xfrm>
          <a:prstGeom prst="rect">
            <a:avLst/>
          </a:prstGeom>
          <a:solidFill>
            <a:srgbClr val="FF0000"/>
          </a:solidFill>
          <a:ln/>
        </p:spPr>
        <p:txBody>
          <a:bodyPr/>
          <a:lstStyle/>
          <a:p>
            <a:endParaRPr lang="en-US" dirty="0"/>
          </a:p>
        </p:txBody>
      </p:sp>
      <p:sp>
        <p:nvSpPr>
          <p:cNvPr id="3" name="TextBox 2">
            <a:extLst>
              <a:ext uri="{FF2B5EF4-FFF2-40B4-BE49-F238E27FC236}">
                <a16:creationId xmlns:a16="http://schemas.microsoft.com/office/drawing/2014/main" id="{49022014-A589-9CD7-1BCE-CAFF4F6A80FA}"/>
              </a:ext>
            </a:extLst>
          </p:cNvPr>
          <p:cNvSpPr txBox="1"/>
          <p:nvPr/>
        </p:nvSpPr>
        <p:spPr>
          <a:xfrm>
            <a:off x="970070" y="5999943"/>
            <a:ext cx="9880810" cy="307777"/>
          </a:xfrm>
          <a:prstGeom prst="rect">
            <a:avLst/>
          </a:prstGeom>
          <a:noFill/>
        </p:spPr>
        <p:txBody>
          <a:bodyPr wrap="square" rtlCol="0">
            <a:spAutoFit/>
          </a:bodyPr>
          <a:lstStyle/>
          <a:p>
            <a:r>
              <a:rPr lang="en-US" sz="1400" dirty="0">
                <a:latin typeface="Tahoma" panose="020B0604030504040204" pitchFamily="34" charset="0"/>
                <a:ea typeface="Tahoma" panose="020B0604030504040204" pitchFamily="34" charset="0"/>
                <a:cs typeface="Tahoma" panose="020B0604030504040204" pitchFamily="34" charset="0"/>
              </a:rPr>
              <a:t>Note 1 : The programmer need to change the values of the parameters in equation &amp;  inside the sketches based of above</a:t>
            </a:r>
            <a:endPar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endParaRPr>
          </a:p>
        </p:txBody>
      </p:sp>
      <p:pic>
        <p:nvPicPr>
          <p:cNvPr id="12" name="Picture 11">
            <a:extLst>
              <a:ext uri="{FF2B5EF4-FFF2-40B4-BE49-F238E27FC236}">
                <a16:creationId xmlns:a16="http://schemas.microsoft.com/office/drawing/2014/main" id="{9CD726AA-D465-AAD6-9894-FEBE3A3E4C75}"/>
              </a:ext>
            </a:extLst>
          </p:cNvPr>
          <p:cNvPicPr>
            <a:picLocks noChangeAspect="1"/>
          </p:cNvPicPr>
          <p:nvPr/>
        </p:nvPicPr>
        <p:blipFill>
          <a:blip r:embed="rId3">
            <a:clrChange>
              <a:clrFrom>
                <a:srgbClr val="F7F7F7"/>
              </a:clrFrom>
              <a:clrTo>
                <a:srgbClr val="F7F7F7">
                  <a:alpha val="0"/>
                </a:srgbClr>
              </a:clrTo>
            </a:clrChange>
          </a:blip>
          <a:stretch>
            <a:fillRect/>
          </a:stretch>
        </p:blipFill>
        <p:spPr>
          <a:xfrm>
            <a:off x="563880" y="1347009"/>
            <a:ext cx="3573535" cy="3233198"/>
          </a:xfrm>
          <a:prstGeom prst="rect">
            <a:avLst/>
          </a:prstGeom>
        </p:spPr>
      </p:pic>
      <p:sp>
        <p:nvSpPr>
          <p:cNvPr id="16" name="TextBox 15">
            <a:extLst>
              <a:ext uri="{FF2B5EF4-FFF2-40B4-BE49-F238E27FC236}">
                <a16:creationId xmlns:a16="http://schemas.microsoft.com/office/drawing/2014/main" id="{D2242302-F277-00E1-233F-51F8F4D47AA4}"/>
              </a:ext>
            </a:extLst>
          </p:cNvPr>
          <p:cNvSpPr txBox="1"/>
          <p:nvPr/>
        </p:nvSpPr>
        <p:spPr>
          <a:xfrm>
            <a:off x="3424268" y="1663812"/>
            <a:ext cx="4805999" cy="276999"/>
          </a:xfrm>
          <a:prstGeom prst="rect">
            <a:avLst/>
          </a:prstGeom>
          <a:noFill/>
        </p:spPr>
        <p:txBody>
          <a:bodyPr wrap="square" rtlCol="0">
            <a:spAutoFit/>
          </a:bodyPr>
          <a:lstStyle/>
          <a:p>
            <a:r>
              <a:rPr lang="en-US" sz="1200" dirty="0">
                <a:solidFill>
                  <a:srgbClr val="FF0000"/>
                </a:solidFill>
                <a:latin typeface="Tahoma" panose="020B0604030504040204" pitchFamily="34" charset="0"/>
                <a:ea typeface="Tahoma" panose="020B0604030504040204" pitchFamily="34" charset="0"/>
                <a:cs typeface="Tahoma" panose="020B0604030504040204" pitchFamily="34" charset="0"/>
              </a:rPr>
              <a:t>Change W to MAX values &amp; W_MIN inside the sketch</a:t>
            </a:r>
          </a:p>
        </p:txBody>
      </p:sp>
      <p:sp>
        <p:nvSpPr>
          <p:cNvPr id="17" name="TextBox 16">
            <a:extLst>
              <a:ext uri="{FF2B5EF4-FFF2-40B4-BE49-F238E27FC236}">
                <a16:creationId xmlns:a16="http://schemas.microsoft.com/office/drawing/2014/main" id="{67996239-2765-1CAC-0C32-025D410E648C}"/>
              </a:ext>
            </a:extLst>
          </p:cNvPr>
          <p:cNvSpPr txBox="1"/>
          <p:nvPr/>
        </p:nvSpPr>
        <p:spPr>
          <a:xfrm>
            <a:off x="3249446" y="1946107"/>
            <a:ext cx="4805999" cy="276999"/>
          </a:xfrm>
          <a:prstGeom prst="rect">
            <a:avLst/>
          </a:prstGeom>
          <a:noFill/>
        </p:spPr>
        <p:txBody>
          <a:bodyPr wrap="square" rtlCol="0">
            <a:spAutoFit/>
          </a:bodyPr>
          <a:lstStyle/>
          <a:p>
            <a:r>
              <a:rPr lang="en-US" sz="1200" dirty="0">
                <a:solidFill>
                  <a:srgbClr val="FF0000"/>
                </a:solidFill>
                <a:latin typeface="Tahoma" panose="020B0604030504040204" pitchFamily="34" charset="0"/>
                <a:ea typeface="Tahoma" panose="020B0604030504040204" pitchFamily="34" charset="0"/>
                <a:cs typeface="Tahoma" panose="020B0604030504040204" pitchFamily="34" charset="0"/>
              </a:rPr>
              <a:t>Turn off</a:t>
            </a:r>
          </a:p>
        </p:txBody>
      </p:sp>
      <p:sp>
        <p:nvSpPr>
          <p:cNvPr id="18" name="TextBox 17">
            <a:extLst>
              <a:ext uri="{FF2B5EF4-FFF2-40B4-BE49-F238E27FC236}">
                <a16:creationId xmlns:a16="http://schemas.microsoft.com/office/drawing/2014/main" id="{BB1B6677-8338-5DC2-DB6B-100E16095B2E}"/>
              </a:ext>
            </a:extLst>
          </p:cNvPr>
          <p:cNvSpPr txBox="1"/>
          <p:nvPr/>
        </p:nvSpPr>
        <p:spPr>
          <a:xfrm>
            <a:off x="3621882" y="2184653"/>
            <a:ext cx="8204358" cy="276999"/>
          </a:xfrm>
          <a:prstGeom prst="rect">
            <a:avLst/>
          </a:prstGeom>
          <a:noFill/>
        </p:spPr>
        <p:txBody>
          <a:bodyPr wrap="square" rtlCol="0">
            <a:spAutoFit/>
          </a:bodyPr>
          <a:lstStyle/>
          <a:p>
            <a:r>
              <a:rPr lang="en-US" sz="1200" dirty="0">
                <a:solidFill>
                  <a:srgbClr val="FF0000"/>
                </a:solidFill>
                <a:latin typeface="Tahoma" panose="020B0604030504040204" pitchFamily="34" charset="0"/>
                <a:ea typeface="Tahoma" panose="020B0604030504040204" pitchFamily="34" charset="0"/>
                <a:cs typeface="Tahoma" panose="020B0604030504040204" pitchFamily="34" charset="0"/>
              </a:rPr>
              <a:t>If VW=W , Change VW , VRA to MAX &amp; VR to MIN &amp; VW_MIN , VRA_MIN, VRA_MAX inside the sketch   </a:t>
            </a:r>
          </a:p>
        </p:txBody>
      </p:sp>
      <p:sp>
        <p:nvSpPr>
          <p:cNvPr id="19" name="TextBox 18">
            <a:extLst>
              <a:ext uri="{FF2B5EF4-FFF2-40B4-BE49-F238E27FC236}">
                <a16:creationId xmlns:a16="http://schemas.microsoft.com/office/drawing/2014/main" id="{A39CF6ED-97E7-D8E4-3DB9-3ED21396ADF2}"/>
              </a:ext>
            </a:extLst>
          </p:cNvPr>
          <p:cNvSpPr txBox="1"/>
          <p:nvPr/>
        </p:nvSpPr>
        <p:spPr>
          <a:xfrm>
            <a:off x="3621882" y="2468497"/>
            <a:ext cx="8204358" cy="276999"/>
          </a:xfrm>
          <a:prstGeom prst="rect">
            <a:avLst/>
          </a:prstGeom>
          <a:noFill/>
        </p:spPr>
        <p:txBody>
          <a:bodyPr wrap="square" rtlCol="0">
            <a:spAutoFit/>
          </a:bodyPr>
          <a:lstStyle/>
          <a:p>
            <a:r>
              <a:rPr lang="en-US" sz="1200" dirty="0">
                <a:solidFill>
                  <a:srgbClr val="FF0000"/>
                </a:solidFill>
                <a:latin typeface="Tahoma" panose="020B0604030504040204" pitchFamily="34" charset="0"/>
                <a:ea typeface="Tahoma" panose="020B0604030504040204" pitchFamily="34" charset="0"/>
                <a:cs typeface="Tahoma" panose="020B0604030504040204" pitchFamily="34" charset="0"/>
              </a:rPr>
              <a:t>If VW≠W , Change VW , VRA, W, ISA to MAX &amp; VR to MIN &amp; VW_MIN , VRA_MIN, VRA_MAX, W_MIN, ISA_MIN</a:t>
            </a:r>
          </a:p>
        </p:txBody>
      </p:sp>
      <p:sp>
        <p:nvSpPr>
          <p:cNvPr id="20" name="TextBox 19">
            <a:extLst>
              <a:ext uri="{FF2B5EF4-FFF2-40B4-BE49-F238E27FC236}">
                <a16:creationId xmlns:a16="http://schemas.microsoft.com/office/drawing/2014/main" id="{85AF770F-AC0D-DB4C-1B67-B9AD2D5D84D9}"/>
              </a:ext>
            </a:extLst>
          </p:cNvPr>
          <p:cNvSpPr txBox="1"/>
          <p:nvPr/>
        </p:nvSpPr>
        <p:spPr>
          <a:xfrm>
            <a:off x="3538833" y="2700471"/>
            <a:ext cx="8204358" cy="276999"/>
          </a:xfrm>
          <a:prstGeom prst="rect">
            <a:avLst/>
          </a:prstGeom>
          <a:noFill/>
        </p:spPr>
        <p:txBody>
          <a:bodyPr wrap="square" rtlCol="0">
            <a:spAutoFit/>
          </a:bodyPr>
          <a:lstStyle/>
          <a:p>
            <a:r>
              <a:rPr lang="en-US" sz="1200" dirty="0">
                <a:solidFill>
                  <a:srgbClr val="FF0000"/>
                </a:solidFill>
                <a:latin typeface="Tahoma" panose="020B0604030504040204" pitchFamily="34" charset="0"/>
                <a:ea typeface="Tahoma" panose="020B0604030504040204" pitchFamily="34" charset="0"/>
                <a:cs typeface="Tahoma" panose="020B0604030504040204" pitchFamily="34" charset="0"/>
              </a:rPr>
              <a:t>Change T, FD to MAX &amp; T_MIN. FD_MIN inside sketch this the standard case</a:t>
            </a:r>
          </a:p>
        </p:txBody>
      </p:sp>
      <p:sp>
        <p:nvSpPr>
          <p:cNvPr id="21" name="TextBox 20">
            <a:extLst>
              <a:ext uri="{FF2B5EF4-FFF2-40B4-BE49-F238E27FC236}">
                <a16:creationId xmlns:a16="http://schemas.microsoft.com/office/drawing/2014/main" id="{74F49E66-F13E-945A-E2EF-1D49C16762C2}"/>
              </a:ext>
            </a:extLst>
          </p:cNvPr>
          <p:cNvSpPr txBox="1"/>
          <p:nvPr/>
        </p:nvSpPr>
        <p:spPr>
          <a:xfrm>
            <a:off x="3540602" y="2982766"/>
            <a:ext cx="8204358" cy="276999"/>
          </a:xfrm>
          <a:prstGeom prst="rect">
            <a:avLst/>
          </a:prstGeom>
          <a:noFill/>
        </p:spPr>
        <p:txBody>
          <a:bodyPr wrap="square" rtlCol="0">
            <a:spAutoFit/>
          </a:bodyPr>
          <a:lstStyle/>
          <a:p>
            <a:r>
              <a:rPr lang="en-US" sz="1200" dirty="0">
                <a:solidFill>
                  <a:srgbClr val="FF0000"/>
                </a:solidFill>
                <a:latin typeface="Tahoma" panose="020B0604030504040204" pitchFamily="34" charset="0"/>
                <a:ea typeface="Tahoma" panose="020B0604030504040204" pitchFamily="34" charset="0"/>
                <a:cs typeface="Tahoma" panose="020B0604030504040204" pitchFamily="34" charset="0"/>
              </a:rPr>
              <a:t>If SLB, Change T, FD to MAX &amp; T_MIN. FD_MIN inside sketch</a:t>
            </a:r>
          </a:p>
        </p:txBody>
      </p:sp>
      <p:sp>
        <p:nvSpPr>
          <p:cNvPr id="22" name="TextBox 21">
            <a:extLst>
              <a:ext uri="{FF2B5EF4-FFF2-40B4-BE49-F238E27FC236}">
                <a16:creationId xmlns:a16="http://schemas.microsoft.com/office/drawing/2014/main" id="{0E5DF490-FD3F-F9ED-B7B0-47343BEFE2AF}"/>
              </a:ext>
            </a:extLst>
          </p:cNvPr>
          <p:cNvSpPr txBox="1"/>
          <p:nvPr/>
        </p:nvSpPr>
        <p:spPr>
          <a:xfrm>
            <a:off x="3538833" y="3276758"/>
            <a:ext cx="8204358" cy="276999"/>
          </a:xfrm>
          <a:prstGeom prst="rect">
            <a:avLst/>
          </a:prstGeom>
          <a:noFill/>
        </p:spPr>
        <p:txBody>
          <a:bodyPr wrap="square" rtlCol="0">
            <a:spAutoFit/>
          </a:bodyPr>
          <a:lstStyle/>
          <a:p>
            <a:r>
              <a:rPr lang="en-US" sz="1200" dirty="0">
                <a:solidFill>
                  <a:srgbClr val="FF0000"/>
                </a:solidFill>
                <a:latin typeface="Tahoma" panose="020B0604030504040204" pitchFamily="34" charset="0"/>
                <a:ea typeface="Tahoma" panose="020B0604030504040204" pitchFamily="34" charset="0"/>
                <a:cs typeface="Tahoma" panose="020B0604030504040204" pitchFamily="34" charset="0"/>
              </a:rPr>
              <a:t>If RA2, Change T, FD,RA2H to MAX &amp; T_MIN. FD_MIN, RA2H_MIN inside sketch</a:t>
            </a:r>
          </a:p>
        </p:txBody>
      </p:sp>
      <p:sp>
        <p:nvSpPr>
          <p:cNvPr id="23" name="TextBox 22">
            <a:extLst>
              <a:ext uri="{FF2B5EF4-FFF2-40B4-BE49-F238E27FC236}">
                <a16:creationId xmlns:a16="http://schemas.microsoft.com/office/drawing/2014/main" id="{EA1DC066-798F-23A7-CFEC-8A769517435E}"/>
              </a:ext>
            </a:extLst>
          </p:cNvPr>
          <p:cNvSpPr txBox="1"/>
          <p:nvPr/>
        </p:nvSpPr>
        <p:spPr>
          <a:xfrm>
            <a:off x="3540602" y="3570751"/>
            <a:ext cx="8204358" cy="276999"/>
          </a:xfrm>
          <a:prstGeom prst="rect">
            <a:avLst/>
          </a:prstGeom>
          <a:noFill/>
        </p:spPr>
        <p:txBody>
          <a:bodyPr wrap="square" rtlCol="0">
            <a:spAutoFit/>
          </a:bodyPr>
          <a:lstStyle/>
          <a:p>
            <a:r>
              <a:rPr lang="en-US" sz="1200" dirty="0">
                <a:solidFill>
                  <a:srgbClr val="FF0000"/>
                </a:solidFill>
                <a:latin typeface="Tahoma" panose="020B0604030504040204" pitchFamily="34" charset="0"/>
                <a:ea typeface="Tahoma" panose="020B0604030504040204" pitchFamily="34" charset="0"/>
                <a:cs typeface="Tahoma" panose="020B0604030504040204" pitchFamily="34" charset="0"/>
              </a:rPr>
              <a:t>If RA2 &amp; SLB, Change T, FD,RA2H to MAX &amp; T_MIN. FD_MIN, RA2H_MIN inside sketch</a:t>
            </a:r>
          </a:p>
        </p:txBody>
      </p:sp>
      <p:sp>
        <p:nvSpPr>
          <p:cNvPr id="24" name="TextBox 23">
            <a:extLst>
              <a:ext uri="{FF2B5EF4-FFF2-40B4-BE49-F238E27FC236}">
                <a16:creationId xmlns:a16="http://schemas.microsoft.com/office/drawing/2014/main" id="{E19B07C8-BC48-5EC8-C889-7C1F3ACA99A9}"/>
              </a:ext>
            </a:extLst>
          </p:cNvPr>
          <p:cNvSpPr txBox="1"/>
          <p:nvPr/>
        </p:nvSpPr>
        <p:spPr>
          <a:xfrm>
            <a:off x="3011958" y="3820618"/>
            <a:ext cx="8204358" cy="276999"/>
          </a:xfrm>
          <a:prstGeom prst="rect">
            <a:avLst/>
          </a:prstGeom>
          <a:noFill/>
        </p:spPr>
        <p:txBody>
          <a:bodyPr wrap="square" rtlCol="0">
            <a:spAutoFit/>
          </a:bodyPr>
          <a:lstStyle/>
          <a:p>
            <a:r>
              <a:rPr lang="en-US" sz="1200" dirty="0">
                <a:solidFill>
                  <a:srgbClr val="FF0000"/>
                </a:solidFill>
                <a:latin typeface="Tahoma" panose="020B0604030504040204" pitchFamily="34" charset="0"/>
                <a:ea typeface="Tahoma" panose="020B0604030504040204" pitchFamily="34" charset="0"/>
                <a:cs typeface="Tahoma" panose="020B0604030504040204" pitchFamily="34" charset="0"/>
              </a:rPr>
              <a:t>Turn off</a:t>
            </a:r>
          </a:p>
        </p:txBody>
      </p:sp>
      <p:sp>
        <p:nvSpPr>
          <p:cNvPr id="25" name="TextBox 24">
            <a:extLst>
              <a:ext uri="{FF2B5EF4-FFF2-40B4-BE49-F238E27FC236}">
                <a16:creationId xmlns:a16="http://schemas.microsoft.com/office/drawing/2014/main" id="{1D87B9C6-4B0E-4286-206D-C3D966393CA1}"/>
              </a:ext>
            </a:extLst>
          </p:cNvPr>
          <p:cNvSpPr txBox="1"/>
          <p:nvPr/>
        </p:nvSpPr>
        <p:spPr>
          <a:xfrm>
            <a:off x="3097486" y="4072875"/>
            <a:ext cx="8204358" cy="276999"/>
          </a:xfrm>
          <a:prstGeom prst="rect">
            <a:avLst/>
          </a:prstGeom>
          <a:noFill/>
        </p:spPr>
        <p:txBody>
          <a:bodyPr wrap="square" rtlCol="0">
            <a:spAutoFit/>
          </a:bodyPr>
          <a:lstStyle/>
          <a:p>
            <a:r>
              <a:rPr lang="en-US" sz="1200" dirty="0">
                <a:solidFill>
                  <a:srgbClr val="FF0000"/>
                </a:solidFill>
                <a:latin typeface="Tahoma" panose="020B0604030504040204" pitchFamily="34" charset="0"/>
                <a:ea typeface="Tahoma" panose="020B0604030504040204" pitchFamily="34" charset="0"/>
                <a:cs typeface="Tahoma" panose="020B0604030504040204" pitchFamily="34" charset="0"/>
              </a:rPr>
              <a:t>Turn off</a:t>
            </a:r>
          </a:p>
        </p:txBody>
      </p:sp>
      <p:sp>
        <p:nvSpPr>
          <p:cNvPr id="26" name="TextBox 25">
            <a:extLst>
              <a:ext uri="{FF2B5EF4-FFF2-40B4-BE49-F238E27FC236}">
                <a16:creationId xmlns:a16="http://schemas.microsoft.com/office/drawing/2014/main" id="{B39E7663-D103-850E-00D5-42FD7A3EB203}"/>
              </a:ext>
            </a:extLst>
          </p:cNvPr>
          <p:cNvSpPr txBox="1"/>
          <p:nvPr/>
        </p:nvSpPr>
        <p:spPr>
          <a:xfrm>
            <a:off x="3097486" y="4343008"/>
            <a:ext cx="8204358" cy="276999"/>
          </a:xfrm>
          <a:prstGeom prst="rect">
            <a:avLst/>
          </a:prstGeom>
          <a:noFill/>
        </p:spPr>
        <p:txBody>
          <a:bodyPr wrap="square" rtlCol="0">
            <a:spAutoFit/>
          </a:bodyPr>
          <a:lstStyle/>
          <a:p>
            <a:r>
              <a:rPr lang="en-US" sz="1200" dirty="0">
                <a:solidFill>
                  <a:srgbClr val="FF0000"/>
                </a:solidFill>
                <a:latin typeface="Tahoma" panose="020B0604030504040204" pitchFamily="34" charset="0"/>
                <a:ea typeface="Tahoma" panose="020B0604030504040204" pitchFamily="34" charset="0"/>
                <a:cs typeface="Tahoma" panose="020B0604030504040204" pitchFamily="34" charset="0"/>
              </a:rPr>
              <a:t>Turn off</a:t>
            </a:r>
          </a:p>
        </p:txBody>
      </p:sp>
    </p:spTree>
    <p:extLst>
      <p:ext uri="{BB962C8B-B14F-4D97-AF65-F5344CB8AC3E}">
        <p14:creationId xmlns:p14="http://schemas.microsoft.com/office/powerpoint/2010/main" val="350779414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4D4533-590A-D13E-ADAE-17474EF52915}"/>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A6D7B0FF-981E-F1AA-0B45-0D7F163537A6}"/>
              </a:ext>
            </a:extLst>
          </p:cNvPr>
          <p:cNvSpPr/>
          <p:nvPr/>
        </p:nvSpPr>
        <p:spPr>
          <a:xfrm>
            <a:off x="548640" y="119802"/>
            <a:ext cx="11064240" cy="640080"/>
          </a:xfrm>
          <a:prstGeom prst="rect">
            <a:avLst/>
          </a:prstGeom>
          <a:noFill/>
          <a:ln/>
        </p:spPr>
        <p:txBody>
          <a:bodyPr wrap="square" lIns="0" tIns="0" rIns="0" bIns="0" rtlCol="0" anchor="ctr"/>
          <a:lstStyle/>
          <a:p>
            <a:pPr marL="0" indent="0">
              <a:buNone/>
            </a:pPr>
            <a:r>
              <a:rPr lang="en-US" sz="2800" b="1" dirty="0">
                <a:solidFill>
                  <a:srgbClr val="FF0000"/>
                </a:solidFill>
                <a:latin typeface="Arial" pitchFamily="34" charset="0"/>
                <a:ea typeface="Arial" pitchFamily="34" charset="-122"/>
                <a:cs typeface="Arial" pitchFamily="34" charset="-120"/>
              </a:rPr>
              <a:t>Rules</a:t>
            </a:r>
            <a:endParaRPr lang="en-US" sz="2800" dirty="0">
              <a:solidFill>
                <a:srgbClr val="FF0000"/>
              </a:solidFill>
            </a:endParaRPr>
          </a:p>
        </p:txBody>
      </p:sp>
      <p:sp>
        <p:nvSpPr>
          <p:cNvPr id="13" name="Shape 11">
            <a:extLst>
              <a:ext uri="{FF2B5EF4-FFF2-40B4-BE49-F238E27FC236}">
                <a16:creationId xmlns:a16="http://schemas.microsoft.com/office/drawing/2014/main" id="{478B2F43-B887-6CD8-17A5-32CCCB9CC966}"/>
              </a:ext>
            </a:extLst>
          </p:cNvPr>
          <p:cNvSpPr/>
          <p:nvPr/>
        </p:nvSpPr>
        <p:spPr>
          <a:xfrm>
            <a:off x="548640" y="6419088"/>
            <a:ext cx="11064240" cy="0"/>
          </a:xfrm>
          <a:prstGeom prst="line">
            <a:avLst/>
          </a:prstGeom>
          <a:noFill/>
          <a:ln w="9525">
            <a:solidFill>
              <a:srgbClr val="E4E4E4"/>
            </a:solidFill>
            <a:prstDash val="solid"/>
          </a:ln>
        </p:spPr>
        <p:txBody>
          <a:bodyPr/>
          <a:lstStyle/>
          <a:p>
            <a:endParaRPr lang="en-US" dirty="0"/>
          </a:p>
        </p:txBody>
      </p:sp>
      <p:sp>
        <p:nvSpPr>
          <p:cNvPr id="14" name="Text 12">
            <a:extLst>
              <a:ext uri="{FF2B5EF4-FFF2-40B4-BE49-F238E27FC236}">
                <a16:creationId xmlns:a16="http://schemas.microsoft.com/office/drawing/2014/main" id="{7B09D70F-8C80-352A-4507-5E02B51715CE}"/>
              </a:ext>
            </a:extLst>
          </p:cNvPr>
          <p:cNvSpPr/>
          <p:nvPr/>
        </p:nvSpPr>
        <p:spPr>
          <a:xfrm>
            <a:off x="548640" y="6419088"/>
            <a:ext cx="4572000" cy="274320"/>
          </a:xfrm>
          <a:prstGeom prst="rect">
            <a:avLst/>
          </a:prstGeom>
          <a:noFill/>
          <a:ln/>
        </p:spPr>
        <p:txBody>
          <a:bodyPr wrap="square" lIns="0" tIns="0" rIns="0" bIns="0" rtlCol="0" anchor="ctr"/>
          <a:lstStyle/>
          <a:p>
            <a:pPr marL="0" indent="0">
              <a:buNone/>
            </a:pPr>
            <a:r>
              <a:rPr lang="en-US" sz="900" dirty="0">
                <a:solidFill>
                  <a:srgbClr val="6E6E6E"/>
                </a:solidFill>
                <a:latin typeface="Arial" pitchFamily="34" charset="0"/>
                <a:ea typeface="Arial" pitchFamily="34" charset="-122"/>
                <a:cs typeface="Arial" pitchFamily="34" charset="-120"/>
              </a:rPr>
              <a:t>SMALL PRECISION TOOLS</a:t>
            </a:r>
            <a:endParaRPr lang="en-US" sz="900" dirty="0"/>
          </a:p>
        </p:txBody>
      </p:sp>
      <p:sp>
        <p:nvSpPr>
          <p:cNvPr id="15" name="Text 13">
            <a:extLst>
              <a:ext uri="{FF2B5EF4-FFF2-40B4-BE49-F238E27FC236}">
                <a16:creationId xmlns:a16="http://schemas.microsoft.com/office/drawing/2014/main" id="{B676F49F-82A1-458F-3565-DCF0B9C2FFD2}"/>
              </a:ext>
            </a:extLst>
          </p:cNvPr>
          <p:cNvSpPr/>
          <p:nvPr/>
        </p:nvSpPr>
        <p:spPr>
          <a:xfrm>
            <a:off x="4709160" y="6419088"/>
            <a:ext cx="2743200" cy="274320"/>
          </a:xfrm>
          <a:prstGeom prst="rect">
            <a:avLst/>
          </a:prstGeom>
          <a:noFill/>
          <a:ln/>
        </p:spPr>
        <p:txBody>
          <a:bodyPr wrap="square" lIns="0" tIns="0" rIns="0" bIns="0" rtlCol="0" anchor="ctr"/>
          <a:lstStyle/>
          <a:p>
            <a:pPr marL="0" indent="0" algn="ctr">
              <a:buNone/>
            </a:pPr>
            <a:r>
              <a:rPr lang="en-US" sz="900" dirty="0">
                <a:solidFill>
                  <a:srgbClr val="6E6E6E"/>
                </a:solidFill>
                <a:latin typeface="Arial" pitchFamily="34" charset="0"/>
                <a:ea typeface="Arial" pitchFamily="34" charset="-122"/>
                <a:cs typeface="Arial" pitchFamily="34" charset="-120"/>
              </a:rPr>
              <a:t>Confidential</a:t>
            </a:r>
            <a:endParaRPr lang="en-US" sz="900" dirty="0"/>
          </a:p>
        </p:txBody>
      </p:sp>
      <p:sp>
        <p:nvSpPr>
          <p:cNvPr id="5" name="TextBox 4">
            <a:extLst>
              <a:ext uri="{FF2B5EF4-FFF2-40B4-BE49-F238E27FC236}">
                <a16:creationId xmlns:a16="http://schemas.microsoft.com/office/drawing/2014/main" id="{A053A651-0B0B-3EE3-15A9-44BA48091C66}"/>
              </a:ext>
            </a:extLst>
          </p:cNvPr>
          <p:cNvSpPr txBox="1"/>
          <p:nvPr/>
        </p:nvSpPr>
        <p:spPr>
          <a:xfrm>
            <a:off x="760306" y="759882"/>
            <a:ext cx="8536093" cy="523220"/>
          </a:xfrm>
          <a:prstGeom prst="rect">
            <a:avLst/>
          </a:prstGeom>
          <a:noFill/>
        </p:spPr>
        <p:txBody>
          <a:bodyPr wrap="square" rtlCol="0">
            <a:spAutoFit/>
          </a:bodyPr>
          <a:lstStyle/>
          <a:p>
            <a:r>
              <a:rPr lang="en-US" sz="1400" b="1" dirty="0">
                <a:latin typeface="Tahoma" panose="020B0604030504040204" pitchFamily="34" charset="0"/>
                <a:ea typeface="Tahoma" panose="020B0604030504040204" pitchFamily="34" charset="0"/>
                <a:cs typeface="Tahoma" panose="020B0604030504040204" pitchFamily="34" charset="0"/>
              </a:rPr>
              <a:t>ABT Series – PGB Overlay : </a:t>
            </a:r>
            <a:br>
              <a:rPr lang="en-US" sz="1400" b="1" dirty="0">
                <a:latin typeface="Tahoma" panose="020B0604030504040204" pitchFamily="34" charset="0"/>
                <a:ea typeface="Tahoma" panose="020B0604030504040204" pitchFamily="34" charset="0"/>
                <a:cs typeface="Tahoma" panose="020B0604030504040204" pitchFamily="34" charset="0"/>
              </a:rPr>
            </a:br>
            <a:r>
              <a:rPr lang="en-US" sz="1400" dirty="0">
                <a:latin typeface="Tahoma" panose="020B0604030504040204" pitchFamily="34" charset="0"/>
                <a:ea typeface="Tahoma" panose="020B0604030504040204" pitchFamily="34" charset="0"/>
                <a:cs typeface="Tahoma" panose="020B0604030504040204" pitchFamily="34" charset="0"/>
              </a:rPr>
              <a:t>Construction of PGB overlays </a:t>
            </a:r>
            <a:r>
              <a:rPr lang="en-US" sz="1400" dirty="0" err="1">
                <a:latin typeface="Tahoma" panose="020B0604030504040204" pitchFamily="34" charset="0"/>
                <a:ea typeface="Tahoma" panose="020B0604030504040204" pitchFamily="34" charset="0"/>
                <a:cs typeface="Tahoma" panose="020B0604030504040204" pitchFamily="34" charset="0"/>
              </a:rPr>
              <a:t>rev_shank</a:t>
            </a:r>
            <a:endParaRPr lang="en-US" sz="1400" dirty="0">
              <a:latin typeface="Tahoma" panose="020B0604030504040204" pitchFamily="34" charset="0"/>
              <a:ea typeface="Tahoma" panose="020B0604030504040204" pitchFamily="34" charset="0"/>
              <a:cs typeface="Tahoma" panose="020B0604030504040204" pitchFamily="34" charset="0"/>
            </a:endParaRPr>
          </a:p>
        </p:txBody>
      </p:sp>
      <p:sp>
        <p:nvSpPr>
          <p:cNvPr id="7" name="Shape 1">
            <a:extLst>
              <a:ext uri="{FF2B5EF4-FFF2-40B4-BE49-F238E27FC236}">
                <a16:creationId xmlns:a16="http://schemas.microsoft.com/office/drawing/2014/main" id="{ABBBCD80-26EB-068F-975B-FD6462F322B4}"/>
              </a:ext>
            </a:extLst>
          </p:cNvPr>
          <p:cNvSpPr/>
          <p:nvPr/>
        </p:nvSpPr>
        <p:spPr>
          <a:xfrm>
            <a:off x="563880" y="889684"/>
            <a:ext cx="109728" cy="109728"/>
          </a:xfrm>
          <a:prstGeom prst="rect">
            <a:avLst/>
          </a:prstGeom>
          <a:solidFill>
            <a:srgbClr val="FF0000"/>
          </a:solidFill>
          <a:ln/>
        </p:spPr>
        <p:txBody>
          <a:bodyPr/>
          <a:lstStyle/>
          <a:p>
            <a:endParaRPr lang="en-US" dirty="0"/>
          </a:p>
        </p:txBody>
      </p:sp>
      <p:sp>
        <p:nvSpPr>
          <p:cNvPr id="3" name="TextBox 2">
            <a:extLst>
              <a:ext uri="{FF2B5EF4-FFF2-40B4-BE49-F238E27FC236}">
                <a16:creationId xmlns:a16="http://schemas.microsoft.com/office/drawing/2014/main" id="{EBB8B8C1-D546-142D-2854-6782F3F89300}"/>
              </a:ext>
            </a:extLst>
          </p:cNvPr>
          <p:cNvSpPr txBox="1"/>
          <p:nvPr/>
        </p:nvSpPr>
        <p:spPr>
          <a:xfrm>
            <a:off x="970070" y="5999943"/>
            <a:ext cx="9880810" cy="307777"/>
          </a:xfrm>
          <a:prstGeom prst="rect">
            <a:avLst/>
          </a:prstGeom>
          <a:noFill/>
        </p:spPr>
        <p:txBody>
          <a:bodyPr wrap="square" rtlCol="0">
            <a:spAutoFit/>
          </a:bodyPr>
          <a:lstStyle/>
          <a:p>
            <a:r>
              <a:rPr lang="en-US" sz="1400" dirty="0">
                <a:latin typeface="Tahoma" panose="020B0604030504040204" pitchFamily="34" charset="0"/>
                <a:ea typeface="Tahoma" panose="020B0604030504040204" pitchFamily="34" charset="0"/>
                <a:cs typeface="Tahoma" panose="020B0604030504040204" pitchFamily="34" charset="0"/>
              </a:rPr>
              <a:t>Note 1 : The programmer need to change the values of the parameters in equation &amp;  inside the sketches based of above</a:t>
            </a:r>
            <a:endPar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endParaRPr>
          </a:p>
        </p:txBody>
      </p:sp>
      <p:sp>
        <p:nvSpPr>
          <p:cNvPr id="16" name="TextBox 15">
            <a:extLst>
              <a:ext uri="{FF2B5EF4-FFF2-40B4-BE49-F238E27FC236}">
                <a16:creationId xmlns:a16="http://schemas.microsoft.com/office/drawing/2014/main" id="{2DBBF9AC-5074-CAA2-C1B9-EB3719F9C780}"/>
              </a:ext>
            </a:extLst>
          </p:cNvPr>
          <p:cNvSpPr txBox="1"/>
          <p:nvPr/>
        </p:nvSpPr>
        <p:spPr>
          <a:xfrm>
            <a:off x="3424268" y="1663812"/>
            <a:ext cx="4805999" cy="276999"/>
          </a:xfrm>
          <a:prstGeom prst="rect">
            <a:avLst/>
          </a:prstGeom>
          <a:noFill/>
        </p:spPr>
        <p:txBody>
          <a:bodyPr wrap="square" rtlCol="0">
            <a:spAutoFit/>
          </a:bodyPr>
          <a:lstStyle/>
          <a:p>
            <a:r>
              <a:rPr lang="en-US" sz="1200" dirty="0">
                <a:solidFill>
                  <a:srgbClr val="FF0000"/>
                </a:solidFill>
                <a:latin typeface="Tahoma" panose="020B0604030504040204" pitchFamily="34" charset="0"/>
                <a:ea typeface="Tahoma" panose="020B0604030504040204" pitchFamily="34" charset="0"/>
                <a:cs typeface="Tahoma" panose="020B0604030504040204" pitchFamily="34" charset="0"/>
              </a:rPr>
              <a:t>Change W to MAX values &amp; W_MIN inside the sketch</a:t>
            </a:r>
          </a:p>
        </p:txBody>
      </p:sp>
      <p:sp>
        <p:nvSpPr>
          <p:cNvPr id="17" name="TextBox 16">
            <a:extLst>
              <a:ext uri="{FF2B5EF4-FFF2-40B4-BE49-F238E27FC236}">
                <a16:creationId xmlns:a16="http://schemas.microsoft.com/office/drawing/2014/main" id="{77B477B8-7979-ECE5-7240-92E59B813389}"/>
              </a:ext>
            </a:extLst>
          </p:cNvPr>
          <p:cNvSpPr txBox="1"/>
          <p:nvPr/>
        </p:nvSpPr>
        <p:spPr>
          <a:xfrm>
            <a:off x="3249446" y="1946107"/>
            <a:ext cx="4805999" cy="276999"/>
          </a:xfrm>
          <a:prstGeom prst="rect">
            <a:avLst/>
          </a:prstGeom>
          <a:noFill/>
        </p:spPr>
        <p:txBody>
          <a:bodyPr wrap="square" rtlCol="0">
            <a:spAutoFit/>
          </a:bodyPr>
          <a:lstStyle/>
          <a:p>
            <a:r>
              <a:rPr lang="en-US" sz="1200" dirty="0">
                <a:solidFill>
                  <a:srgbClr val="FF0000"/>
                </a:solidFill>
                <a:latin typeface="Tahoma" panose="020B0604030504040204" pitchFamily="34" charset="0"/>
                <a:ea typeface="Tahoma" panose="020B0604030504040204" pitchFamily="34" charset="0"/>
                <a:cs typeface="Tahoma" panose="020B0604030504040204" pitchFamily="34" charset="0"/>
              </a:rPr>
              <a:t>Turn off</a:t>
            </a:r>
          </a:p>
        </p:txBody>
      </p:sp>
      <p:sp>
        <p:nvSpPr>
          <p:cNvPr id="18" name="TextBox 17">
            <a:extLst>
              <a:ext uri="{FF2B5EF4-FFF2-40B4-BE49-F238E27FC236}">
                <a16:creationId xmlns:a16="http://schemas.microsoft.com/office/drawing/2014/main" id="{E315546C-E76A-39D8-27C0-A60DFD11BD3D}"/>
              </a:ext>
            </a:extLst>
          </p:cNvPr>
          <p:cNvSpPr txBox="1"/>
          <p:nvPr/>
        </p:nvSpPr>
        <p:spPr>
          <a:xfrm>
            <a:off x="3621882" y="2184653"/>
            <a:ext cx="8204358" cy="276999"/>
          </a:xfrm>
          <a:prstGeom prst="rect">
            <a:avLst/>
          </a:prstGeom>
          <a:noFill/>
        </p:spPr>
        <p:txBody>
          <a:bodyPr wrap="square" rtlCol="0">
            <a:spAutoFit/>
          </a:bodyPr>
          <a:lstStyle/>
          <a:p>
            <a:r>
              <a:rPr lang="en-US" sz="1200" dirty="0">
                <a:solidFill>
                  <a:srgbClr val="FF0000"/>
                </a:solidFill>
                <a:latin typeface="Tahoma" panose="020B0604030504040204" pitchFamily="34" charset="0"/>
                <a:ea typeface="Tahoma" panose="020B0604030504040204" pitchFamily="34" charset="0"/>
                <a:cs typeface="Tahoma" panose="020B0604030504040204" pitchFamily="34" charset="0"/>
              </a:rPr>
              <a:t>If VW=W , Change VW , VRA to MAX &amp; VR to MIN &amp; VW_MIN , VRA_MIN, VRA_MAX inside the sketch   </a:t>
            </a:r>
          </a:p>
        </p:txBody>
      </p:sp>
      <p:sp>
        <p:nvSpPr>
          <p:cNvPr id="19" name="TextBox 18">
            <a:extLst>
              <a:ext uri="{FF2B5EF4-FFF2-40B4-BE49-F238E27FC236}">
                <a16:creationId xmlns:a16="http://schemas.microsoft.com/office/drawing/2014/main" id="{C99A02EE-6594-B376-DDA5-219BB842446F}"/>
              </a:ext>
            </a:extLst>
          </p:cNvPr>
          <p:cNvSpPr txBox="1"/>
          <p:nvPr/>
        </p:nvSpPr>
        <p:spPr>
          <a:xfrm>
            <a:off x="3621882" y="2468497"/>
            <a:ext cx="8204358" cy="276999"/>
          </a:xfrm>
          <a:prstGeom prst="rect">
            <a:avLst/>
          </a:prstGeom>
          <a:noFill/>
        </p:spPr>
        <p:txBody>
          <a:bodyPr wrap="square" rtlCol="0">
            <a:spAutoFit/>
          </a:bodyPr>
          <a:lstStyle/>
          <a:p>
            <a:r>
              <a:rPr lang="en-US" sz="1200" dirty="0">
                <a:solidFill>
                  <a:srgbClr val="FF0000"/>
                </a:solidFill>
                <a:latin typeface="Tahoma" panose="020B0604030504040204" pitchFamily="34" charset="0"/>
                <a:ea typeface="Tahoma" panose="020B0604030504040204" pitchFamily="34" charset="0"/>
                <a:cs typeface="Tahoma" panose="020B0604030504040204" pitchFamily="34" charset="0"/>
              </a:rPr>
              <a:t>If VW≠W , Change VW , VRA, W, ISA to MAX &amp; VR to MIN &amp; VW_MIN , VRA_MIN, VRA_MAX, W_MIN, ISA_MIN</a:t>
            </a:r>
          </a:p>
        </p:txBody>
      </p:sp>
      <p:sp>
        <p:nvSpPr>
          <p:cNvPr id="20" name="TextBox 19">
            <a:extLst>
              <a:ext uri="{FF2B5EF4-FFF2-40B4-BE49-F238E27FC236}">
                <a16:creationId xmlns:a16="http://schemas.microsoft.com/office/drawing/2014/main" id="{1C1081B1-10AF-9D99-C199-309A86FE66D1}"/>
              </a:ext>
            </a:extLst>
          </p:cNvPr>
          <p:cNvSpPr txBox="1"/>
          <p:nvPr/>
        </p:nvSpPr>
        <p:spPr>
          <a:xfrm>
            <a:off x="3538833" y="2700471"/>
            <a:ext cx="8204358" cy="276999"/>
          </a:xfrm>
          <a:prstGeom prst="rect">
            <a:avLst/>
          </a:prstGeom>
          <a:noFill/>
        </p:spPr>
        <p:txBody>
          <a:bodyPr wrap="square" rtlCol="0">
            <a:spAutoFit/>
          </a:bodyPr>
          <a:lstStyle/>
          <a:p>
            <a:r>
              <a:rPr lang="en-US" sz="1200" dirty="0">
                <a:solidFill>
                  <a:srgbClr val="FF0000"/>
                </a:solidFill>
                <a:latin typeface="Tahoma" panose="020B0604030504040204" pitchFamily="34" charset="0"/>
                <a:ea typeface="Tahoma" panose="020B0604030504040204" pitchFamily="34" charset="0"/>
                <a:cs typeface="Tahoma" panose="020B0604030504040204" pitchFamily="34" charset="0"/>
              </a:rPr>
              <a:t>Change T, FD to MAX &amp; T_MIN. FD_MIN inside sketch this the standard case</a:t>
            </a:r>
          </a:p>
        </p:txBody>
      </p:sp>
      <p:sp>
        <p:nvSpPr>
          <p:cNvPr id="21" name="TextBox 20">
            <a:extLst>
              <a:ext uri="{FF2B5EF4-FFF2-40B4-BE49-F238E27FC236}">
                <a16:creationId xmlns:a16="http://schemas.microsoft.com/office/drawing/2014/main" id="{08E4969C-D718-1E80-334F-D3B960330784}"/>
              </a:ext>
            </a:extLst>
          </p:cNvPr>
          <p:cNvSpPr txBox="1"/>
          <p:nvPr/>
        </p:nvSpPr>
        <p:spPr>
          <a:xfrm>
            <a:off x="3540602" y="2982766"/>
            <a:ext cx="8204358" cy="276999"/>
          </a:xfrm>
          <a:prstGeom prst="rect">
            <a:avLst/>
          </a:prstGeom>
          <a:noFill/>
        </p:spPr>
        <p:txBody>
          <a:bodyPr wrap="square" rtlCol="0">
            <a:spAutoFit/>
          </a:bodyPr>
          <a:lstStyle/>
          <a:p>
            <a:r>
              <a:rPr lang="en-US" sz="1200" dirty="0">
                <a:solidFill>
                  <a:srgbClr val="FF0000"/>
                </a:solidFill>
                <a:latin typeface="Tahoma" panose="020B0604030504040204" pitchFamily="34" charset="0"/>
                <a:ea typeface="Tahoma" panose="020B0604030504040204" pitchFamily="34" charset="0"/>
                <a:cs typeface="Tahoma" panose="020B0604030504040204" pitchFamily="34" charset="0"/>
              </a:rPr>
              <a:t>If SLB, Change T, FD to MAX &amp; T_MIN. FD_MIN inside sketch</a:t>
            </a:r>
          </a:p>
        </p:txBody>
      </p:sp>
      <p:sp>
        <p:nvSpPr>
          <p:cNvPr id="22" name="TextBox 21">
            <a:extLst>
              <a:ext uri="{FF2B5EF4-FFF2-40B4-BE49-F238E27FC236}">
                <a16:creationId xmlns:a16="http://schemas.microsoft.com/office/drawing/2014/main" id="{1AEB21C2-6A8A-6728-DE19-F5CF91FEFCC2}"/>
              </a:ext>
            </a:extLst>
          </p:cNvPr>
          <p:cNvSpPr txBox="1"/>
          <p:nvPr/>
        </p:nvSpPr>
        <p:spPr>
          <a:xfrm>
            <a:off x="3538833" y="3276758"/>
            <a:ext cx="8204358" cy="276999"/>
          </a:xfrm>
          <a:prstGeom prst="rect">
            <a:avLst/>
          </a:prstGeom>
          <a:noFill/>
        </p:spPr>
        <p:txBody>
          <a:bodyPr wrap="square" rtlCol="0">
            <a:spAutoFit/>
          </a:bodyPr>
          <a:lstStyle/>
          <a:p>
            <a:r>
              <a:rPr lang="en-US" sz="1200" dirty="0">
                <a:solidFill>
                  <a:srgbClr val="FF0000"/>
                </a:solidFill>
                <a:latin typeface="Tahoma" panose="020B0604030504040204" pitchFamily="34" charset="0"/>
                <a:ea typeface="Tahoma" panose="020B0604030504040204" pitchFamily="34" charset="0"/>
                <a:cs typeface="Tahoma" panose="020B0604030504040204" pitchFamily="34" charset="0"/>
              </a:rPr>
              <a:t>If RA2, Change T, FD,RA2H to MAX &amp; T_MIN. FD_MIN, RA2H_MIN inside sketch</a:t>
            </a:r>
          </a:p>
        </p:txBody>
      </p:sp>
      <p:sp>
        <p:nvSpPr>
          <p:cNvPr id="23" name="TextBox 22">
            <a:extLst>
              <a:ext uri="{FF2B5EF4-FFF2-40B4-BE49-F238E27FC236}">
                <a16:creationId xmlns:a16="http://schemas.microsoft.com/office/drawing/2014/main" id="{6D10A1B1-FB1F-C52D-DFE9-0C2ECB471E3A}"/>
              </a:ext>
            </a:extLst>
          </p:cNvPr>
          <p:cNvSpPr txBox="1"/>
          <p:nvPr/>
        </p:nvSpPr>
        <p:spPr>
          <a:xfrm>
            <a:off x="3540602" y="3570751"/>
            <a:ext cx="8204358" cy="276999"/>
          </a:xfrm>
          <a:prstGeom prst="rect">
            <a:avLst/>
          </a:prstGeom>
          <a:noFill/>
        </p:spPr>
        <p:txBody>
          <a:bodyPr wrap="square" rtlCol="0">
            <a:spAutoFit/>
          </a:bodyPr>
          <a:lstStyle/>
          <a:p>
            <a:r>
              <a:rPr lang="en-US" sz="1200" dirty="0">
                <a:solidFill>
                  <a:srgbClr val="FF0000"/>
                </a:solidFill>
                <a:latin typeface="Tahoma" panose="020B0604030504040204" pitchFamily="34" charset="0"/>
                <a:ea typeface="Tahoma" panose="020B0604030504040204" pitchFamily="34" charset="0"/>
                <a:cs typeface="Tahoma" panose="020B0604030504040204" pitchFamily="34" charset="0"/>
              </a:rPr>
              <a:t>If RA2 &amp; SLB, Change T, FD,RA2H to MAX &amp; T_MIN. FD_MIN, RA2H_MIN inside sketch</a:t>
            </a:r>
          </a:p>
        </p:txBody>
      </p:sp>
      <p:sp>
        <p:nvSpPr>
          <p:cNvPr id="24" name="TextBox 23">
            <a:extLst>
              <a:ext uri="{FF2B5EF4-FFF2-40B4-BE49-F238E27FC236}">
                <a16:creationId xmlns:a16="http://schemas.microsoft.com/office/drawing/2014/main" id="{1F12B20D-2C40-8206-A8AE-7C675B53F92E}"/>
              </a:ext>
            </a:extLst>
          </p:cNvPr>
          <p:cNvSpPr txBox="1"/>
          <p:nvPr/>
        </p:nvSpPr>
        <p:spPr>
          <a:xfrm>
            <a:off x="3011958" y="3820618"/>
            <a:ext cx="8204358" cy="276999"/>
          </a:xfrm>
          <a:prstGeom prst="rect">
            <a:avLst/>
          </a:prstGeom>
          <a:noFill/>
        </p:spPr>
        <p:txBody>
          <a:bodyPr wrap="square" rtlCol="0">
            <a:spAutoFit/>
          </a:bodyPr>
          <a:lstStyle/>
          <a:p>
            <a:r>
              <a:rPr lang="en-US" sz="1200" dirty="0">
                <a:solidFill>
                  <a:srgbClr val="FF0000"/>
                </a:solidFill>
                <a:latin typeface="Tahoma" panose="020B0604030504040204" pitchFamily="34" charset="0"/>
                <a:ea typeface="Tahoma" panose="020B0604030504040204" pitchFamily="34" charset="0"/>
                <a:cs typeface="Tahoma" panose="020B0604030504040204" pitchFamily="34" charset="0"/>
              </a:rPr>
              <a:t>Turn off</a:t>
            </a:r>
          </a:p>
        </p:txBody>
      </p:sp>
      <p:sp>
        <p:nvSpPr>
          <p:cNvPr id="25" name="TextBox 24">
            <a:extLst>
              <a:ext uri="{FF2B5EF4-FFF2-40B4-BE49-F238E27FC236}">
                <a16:creationId xmlns:a16="http://schemas.microsoft.com/office/drawing/2014/main" id="{17F4DDAC-94E2-86BB-DC4C-8BE6EDE6A1EC}"/>
              </a:ext>
            </a:extLst>
          </p:cNvPr>
          <p:cNvSpPr txBox="1"/>
          <p:nvPr/>
        </p:nvSpPr>
        <p:spPr>
          <a:xfrm>
            <a:off x="3097486" y="4072875"/>
            <a:ext cx="8204358" cy="276999"/>
          </a:xfrm>
          <a:prstGeom prst="rect">
            <a:avLst/>
          </a:prstGeom>
          <a:noFill/>
        </p:spPr>
        <p:txBody>
          <a:bodyPr wrap="square" rtlCol="0">
            <a:spAutoFit/>
          </a:bodyPr>
          <a:lstStyle/>
          <a:p>
            <a:r>
              <a:rPr lang="en-US" sz="1200" dirty="0">
                <a:solidFill>
                  <a:srgbClr val="FF0000"/>
                </a:solidFill>
                <a:latin typeface="Tahoma" panose="020B0604030504040204" pitchFamily="34" charset="0"/>
                <a:ea typeface="Tahoma" panose="020B0604030504040204" pitchFamily="34" charset="0"/>
                <a:cs typeface="Tahoma" panose="020B0604030504040204" pitchFamily="34" charset="0"/>
              </a:rPr>
              <a:t>Turn off</a:t>
            </a:r>
          </a:p>
        </p:txBody>
      </p:sp>
      <p:sp>
        <p:nvSpPr>
          <p:cNvPr id="26" name="TextBox 25">
            <a:extLst>
              <a:ext uri="{FF2B5EF4-FFF2-40B4-BE49-F238E27FC236}">
                <a16:creationId xmlns:a16="http://schemas.microsoft.com/office/drawing/2014/main" id="{AF5A6C46-8178-8159-911F-3F6E69014892}"/>
              </a:ext>
            </a:extLst>
          </p:cNvPr>
          <p:cNvSpPr txBox="1"/>
          <p:nvPr/>
        </p:nvSpPr>
        <p:spPr>
          <a:xfrm>
            <a:off x="3097486" y="4343008"/>
            <a:ext cx="8204358" cy="276999"/>
          </a:xfrm>
          <a:prstGeom prst="rect">
            <a:avLst/>
          </a:prstGeom>
          <a:noFill/>
        </p:spPr>
        <p:txBody>
          <a:bodyPr wrap="square" rtlCol="0">
            <a:spAutoFit/>
          </a:bodyPr>
          <a:lstStyle/>
          <a:p>
            <a:r>
              <a:rPr lang="en-US" sz="1200" dirty="0">
                <a:solidFill>
                  <a:srgbClr val="FF0000"/>
                </a:solidFill>
                <a:latin typeface="Tahoma" panose="020B0604030504040204" pitchFamily="34" charset="0"/>
                <a:ea typeface="Tahoma" panose="020B0604030504040204" pitchFamily="34" charset="0"/>
                <a:cs typeface="Tahoma" panose="020B0604030504040204" pitchFamily="34" charset="0"/>
              </a:rPr>
              <a:t>Turn off</a:t>
            </a:r>
          </a:p>
        </p:txBody>
      </p:sp>
      <p:pic>
        <p:nvPicPr>
          <p:cNvPr id="6" name="Picture 5">
            <a:extLst>
              <a:ext uri="{FF2B5EF4-FFF2-40B4-BE49-F238E27FC236}">
                <a16:creationId xmlns:a16="http://schemas.microsoft.com/office/drawing/2014/main" id="{0023B398-6613-06DE-152A-72A49CD20B7B}"/>
              </a:ext>
            </a:extLst>
          </p:cNvPr>
          <p:cNvPicPr>
            <a:picLocks noChangeAspect="1"/>
          </p:cNvPicPr>
          <p:nvPr/>
        </p:nvPicPr>
        <p:blipFill>
          <a:blip r:embed="rId3">
            <a:clrChange>
              <a:clrFrom>
                <a:srgbClr val="F7F7F7"/>
              </a:clrFrom>
              <a:clrTo>
                <a:srgbClr val="F7F7F7">
                  <a:alpha val="0"/>
                </a:srgbClr>
              </a:clrTo>
            </a:clrChange>
          </a:blip>
          <a:stretch>
            <a:fillRect/>
          </a:stretch>
        </p:blipFill>
        <p:spPr>
          <a:xfrm>
            <a:off x="760306" y="1378942"/>
            <a:ext cx="2883686" cy="3241066"/>
          </a:xfrm>
          <a:prstGeom prst="rect">
            <a:avLst/>
          </a:prstGeom>
        </p:spPr>
      </p:pic>
    </p:spTree>
    <p:extLst>
      <p:ext uri="{BB962C8B-B14F-4D97-AF65-F5344CB8AC3E}">
        <p14:creationId xmlns:p14="http://schemas.microsoft.com/office/powerpoint/2010/main" val="393222660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910CA4-6D48-CF1B-014C-B8B9DFE941E2}"/>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E158919C-8A59-46C1-1117-C79D1CA1356E}"/>
              </a:ext>
            </a:extLst>
          </p:cNvPr>
          <p:cNvSpPr/>
          <p:nvPr/>
        </p:nvSpPr>
        <p:spPr>
          <a:xfrm>
            <a:off x="548640" y="119802"/>
            <a:ext cx="11064240" cy="640080"/>
          </a:xfrm>
          <a:prstGeom prst="rect">
            <a:avLst/>
          </a:prstGeom>
          <a:noFill/>
          <a:ln/>
        </p:spPr>
        <p:txBody>
          <a:bodyPr wrap="square" lIns="0" tIns="0" rIns="0" bIns="0" rtlCol="0" anchor="ctr"/>
          <a:lstStyle/>
          <a:p>
            <a:pPr marL="0" indent="0">
              <a:buNone/>
            </a:pPr>
            <a:r>
              <a:rPr lang="en-US" sz="2800" b="1" dirty="0">
                <a:solidFill>
                  <a:srgbClr val="FF0000"/>
                </a:solidFill>
                <a:latin typeface="Arial" pitchFamily="34" charset="0"/>
                <a:ea typeface="Arial" pitchFamily="34" charset="-122"/>
                <a:cs typeface="Arial" pitchFamily="34" charset="-120"/>
              </a:rPr>
              <a:t>Rules</a:t>
            </a:r>
            <a:endParaRPr lang="en-US" sz="2800" dirty="0">
              <a:solidFill>
                <a:srgbClr val="FF0000"/>
              </a:solidFill>
            </a:endParaRPr>
          </a:p>
        </p:txBody>
      </p:sp>
      <p:sp>
        <p:nvSpPr>
          <p:cNvPr id="13" name="Shape 11">
            <a:extLst>
              <a:ext uri="{FF2B5EF4-FFF2-40B4-BE49-F238E27FC236}">
                <a16:creationId xmlns:a16="http://schemas.microsoft.com/office/drawing/2014/main" id="{18DE9076-D111-60E3-3A65-601EC580278F}"/>
              </a:ext>
            </a:extLst>
          </p:cNvPr>
          <p:cNvSpPr/>
          <p:nvPr/>
        </p:nvSpPr>
        <p:spPr>
          <a:xfrm>
            <a:off x="548640" y="6419088"/>
            <a:ext cx="11064240" cy="0"/>
          </a:xfrm>
          <a:prstGeom prst="line">
            <a:avLst/>
          </a:prstGeom>
          <a:noFill/>
          <a:ln w="9525">
            <a:solidFill>
              <a:srgbClr val="E4E4E4"/>
            </a:solidFill>
            <a:prstDash val="solid"/>
          </a:ln>
        </p:spPr>
        <p:txBody>
          <a:bodyPr/>
          <a:lstStyle/>
          <a:p>
            <a:endParaRPr lang="en-US" dirty="0"/>
          </a:p>
        </p:txBody>
      </p:sp>
      <p:sp>
        <p:nvSpPr>
          <p:cNvPr id="14" name="Text 12">
            <a:extLst>
              <a:ext uri="{FF2B5EF4-FFF2-40B4-BE49-F238E27FC236}">
                <a16:creationId xmlns:a16="http://schemas.microsoft.com/office/drawing/2014/main" id="{44257414-5D3E-EB54-C4D9-7708B5FF93C7}"/>
              </a:ext>
            </a:extLst>
          </p:cNvPr>
          <p:cNvSpPr/>
          <p:nvPr/>
        </p:nvSpPr>
        <p:spPr>
          <a:xfrm>
            <a:off x="548640" y="6419088"/>
            <a:ext cx="4572000" cy="274320"/>
          </a:xfrm>
          <a:prstGeom prst="rect">
            <a:avLst/>
          </a:prstGeom>
          <a:noFill/>
          <a:ln/>
        </p:spPr>
        <p:txBody>
          <a:bodyPr wrap="square" lIns="0" tIns="0" rIns="0" bIns="0" rtlCol="0" anchor="ctr"/>
          <a:lstStyle/>
          <a:p>
            <a:pPr marL="0" indent="0">
              <a:buNone/>
            </a:pPr>
            <a:r>
              <a:rPr lang="en-US" sz="900" dirty="0">
                <a:solidFill>
                  <a:srgbClr val="6E6E6E"/>
                </a:solidFill>
                <a:latin typeface="Arial" pitchFamily="34" charset="0"/>
                <a:ea typeface="Arial" pitchFamily="34" charset="-122"/>
                <a:cs typeface="Arial" pitchFamily="34" charset="-120"/>
              </a:rPr>
              <a:t>SMALL PRECISION TOOLS</a:t>
            </a:r>
            <a:endParaRPr lang="en-US" sz="900" dirty="0"/>
          </a:p>
        </p:txBody>
      </p:sp>
      <p:sp>
        <p:nvSpPr>
          <p:cNvPr id="15" name="Text 13">
            <a:extLst>
              <a:ext uri="{FF2B5EF4-FFF2-40B4-BE49-F238E27FC236}">
                <a16:creationId xmlns:a16="http://schemas.microsoft.com/office/drawing/2014/main" id="{E9CFB52A-83B1-CA0E-9C73-C54DCF0C0B55}"/>
              </a:ext>
            </a:extLst>
          </p:cNvPr>
          <p:cNvSpPr/>
          <p:nvPr/>
        </p:nvSpPr>
        <p:spPr>
          <a:xfrm>
            <a:off x="4709160" y="6419088"/>
            <a:ext cx="2743200" cy="274320"/>
          </a:xfrm>
          <a:prstGeom prst="rect">
            <a:avLst/>
          </a:prstGeom>
          <a:noFill/>
          <a:ln/>
        </p:spPr>
        <p:txBody>
          <a:bodyPr wrap="square" lIns="0" tIns="0" rIns="0" bIns="0" rtlCol="0" anchor="ctr"/>
          <a:lstStyle/>
          <a:p>
            <a:pPr marL="0" indent="0" algn="ctr">
              <a:buNone/>
            </a:pPr>
            <a:r>
              <a:rPr lang="en-US" sz="900" dirty="0">
                <a:solidFill>
                  <a:srgbClr val="6E6E6E"/>
                </a:solidFill>
                <a:latin typeface="Arial" pitchFamily="34" charset="0"/>
                <a:ea typeface="Arial" pitchFamily="34" charset="-122"/>
                <a:cs typeface="Arial" pitchFamily="34" charset="-120"/>
              </a:rPr>
              <a:t>Confidential</a:t>
            </a:r>
            <a:endParaRPr lang="en-US" sz="900" dirty="0"/>
          </a:p>
        </p:txBody>
      </p:sp>
      <p:sp>
        <p:nvSpPr>
          <p:cNvPr id="5" name="TextBox 4">
            <a:extLst>
              <a:ext uri="{FF2B5EF4-FFF2-40B4-BE49-F238E27FC236}">
                <a16:creationId xmlns:a16="http://schemas.microsoft.com/office/drawing/2014/main" id="{7517C9B1-5A2B-B932-212E-FBAAAD2E7B35}"/>
              </a:ext>
            </a:extLst>
          </p:cNvPr>
          <p:cNvSpPr txBox="1"/>
          <p:nvPr/>
        </p:nvSpPr>
        <p:spPr>
          <a:xfrm>
            <a:off x="760306" y="759882"/>
            <a:ext cx="8536093" cy="523220"/>
          </a:xfrm>
          <a:prstGeom prst="rect">
            <a:avLst/>
          </a:prstGeom>
          <a:noFill/>
        </p:spPr>
        <p:txBody>
          <a:bodyPr wrap="square" rtlCol="0">
            <a:spAutoFit/>
          </a:bodyPr>
          <a:lstStyle/>
          <a:p>
            <a:r>
              <a:rPr lang="en-US" sz="1400" b="1" dirty="0">
                <a:latin typeface="Tahoma" panose="020B0604030504040204" pitchFamily="34" charset="0"/>
                <a:ea typeface="Tahoma" panose="020B0604030504040204" pitchFamily="34" charset="0"/>
                <a:cs typeface="Tahoma" panose="020B0604030504040204" pitchFamily="34" charset="0"/>
              </a:rPr>
              <a:t>ABT Series – FG Overlay : </a:t>
            </a:r>
            <a:br>
              <a:rPr lang="en-US" sz="1400" b="1" dirty="0">
                <a:latin typeface="Tahoma" panose="020B0604030504040204" pitchFamily="34" charset="0"/>
                <a:ea typeface="Tahoma" panose="020B0604030504040204" pitchFamily="34" charset="0"/>
                <a:cs typeface="Tahoma" panose="020B0604030504040204" pitchFamily="34" charset="0"/>
              </a:rPr>
            </a:br>
            <a:r>
              <a:rPr lang="en-US" sz="1400" dirty="0">
                <a:latin typeface="Tahoma" panose="020B0604030504040204" pitchFamily="34" charset="0"/>
                <a:ea typeface="Tahoma" panose="020B0604030504040204" pitchFamily="34" charset="0"/>
                <a:cs typeface="Tahoma" panose="020B0604030504040204" pitchFamily="34" charset="0"/>
              </a:rPr>
              <a:t>Construction of FG overlays </a:t>
            </a:r>
            <a:r>
              <a:rPr lang="en-US" sz="1400" dirty="0" err="1">
                <a:latin typeface="Tahoma" panose="020B0604030504040204" pitchFamily="34" charset="0"/>
                <a:ea typeface="Tahoma" panose="020B0604030504040204" pitchFamily="34" charset="0"/>
                <a:cs typeface="Tahoma" panose="020B0604030504040204" pitchFamily="34" charset="0"/>
              </a:rPr>
              <a:t>std_shank</a:t>
            </a:r>
            <a:endParaRPr lang="en-US" sz="1400" dirty="0">
              <a:latin typeface="Tahoma" panose="020B0604030504040204" pitchFamily="34" charset="0"/>
              <a:ea typeface="Tahoma" panose="020B0604030504040204" pitchFamily="34" charset="0"/>
              <a:cs typeface="Tahoma" panose="020B0604030504040204" pitchFamily="34" charset="0"/>
            </a:endParaRPr>
          </a:p>
        </p:txBody>
      </p:sp>
      <p:sp>
        <p:nvSpPr>
          <p:cNvPr id="7" name="Shape 1">
            <a:extLst>
              <a:ext uri="{FF2B5EF4-FFF2-40B4-BE49-F238E27FC236}">
                <a16:creationId xmlns:a16="http://schemas.microsoft.com/office/drawing/2014/main" id="{C8D756C5-FEBA-3D97-4CD8-B7A57535D66D}"/>
              </a:ext>
            </a:extLst>
          </p:cNvPr>
          <p:cNvSpPr/>
          <p:nvPr/>
        </p:nvSpPr>
        <p:spPr>
          <a:xfrm>
            <a:off x="563880" y="889684"/>
            <a:ext cx="109728" cy="109728"/>
          </a:xfrm>
          <a:prstGeom prst="rect">
            <a:avLst/>
          </a:prstGeom>
          <a:solidFill>
            <a:srgbClr val="FF0000"/>
          </a:solidFill>
          <a:ln/>
        </p:spPr>
        <p:txBody>
          <a:bodyPr/>
          <a:lstStyle/>
          <a:p>
            <a:endParaRPr lang="en-US" dirty="0"/>
          </a:p>
        </p:txBody>
      </p:sp>
      <p:sp>
        <p:nvSpPr>
          <p:cNvPr id="3" name="TextBox 2">
            <a:extLst>
              <a:ext uri="{FF2B5EF4-FFF2-40B4-BE49-F238E27FC236}">
                <a16:creationId xmlns:a16="http://schemas.microsoft.com/office/drawing/2014/main" id="{E6716050-9564-F28E-66B9-EE7A2E83B319}"/>
              </a:ext>
            </a:extLst>
          </p:cNvPr>
          <p:cNvSpPr txBox="1"/>
          <p:nvPr/>
        </p:nvSpPr>
        <p:spPr>
          <a:xfrm>
            <a:off x="970070" y="5999943"/>
            <a:ext cx="9880810" cy="307777"/>
          </a:xfrm>
          <a:prstGeom prst="rect">
            <a:avLst/>
          </a:prstGeom>
          <a:noFill/>
        </p:spPr>
        <p:txBody>
          <a:bodyPr wrap="square" rtlCol="0">
            <a:spAutoFit/>
          </a:bodyPr>
          <a:lstStyle/>
          <a:p>
            <a:r>
              <a:rPr lang="en-US" sz="1400" dirty="0">
                <a:latin typeface="Tahoma" panose="020B0604030504040204" pitchFamily="34" charset="0"/>
                <a:ea typeface="Tahoma" panose="020B0604030504040204" pitchFamily="34" charset="0"/>
                <a:cs typeface="Tahoma" panose="020B0604030504040204" pitchFamily="34" charset="0"/>
              </a:rPr>
              <a:t>Note 1 : The programmer need to change the values of the parameters in equation &amp;  inside the sketches based of above</a:t>
            </a:r>
            <a:endPar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endParaRPr>
          </a:p>
        </p:txBody>
      </p:sp>
      <p:pic>
        <p:nvPicPr>
          <p:cNvPr id="12" name="Picture 11">
            <a:extLst>
              <a:ext uri="{FF2B5EF4-FFF2-40B4-BE49-F238E27FC236}">
                <a16:creationId xmlns:a16="http://schemas.microsoft.com/office/drawing/2014/main" id="{5553CE3A-1642-649D-3B78-AE103F873645}"/>
              </a:ext>
            </a:extLst>
          </p:cNvPr>
          <p:cNvPicPr>
            <a:picLocks noChangeAspect="1"/>
          </p:cNvPicPr>
          <p:nvPr/>
        </p:nvPicPr>
        <p:blipFill>
          <a:blip r:embed="rId3">
            <a:clrChange>
              <a:clrFrom>
                <a:srgbClr val="F7F7F7"/>
              </a:clrFrom>
              <a:clrTo>
                <a:srgbClr val="F7F7F7">
                  <a:alpha val="0"/>
                </a:srgbClr>
              </a:clrTo>
            </a:clrChange>
          </a:blip>
          <a:stretch>
            <a:fillRect/>
          </a:stretch>
        </p:blipFill>
        <p:spPr>
          <a:xfrm>
            <a:off x="563880" y="1347009"/>
            <a:ext cx="3573535" cy="3233198"/>
          </a:xfrm>
          <a:prstGeom prst="rect">
            <a:avLst/>
          </a:prstGeom>
        </p:spPr>
      </p:pic>
      <p:sp>
        <p:nvSpPr>
          <p:cNvPr id="16" name="TextBox 15">
            <a:extLst>
              <a:ext uri="{FF2B5EF4-FFF2-40B4-BE49-F238E27FC236}">
                <a16:creationId xmlns:a16="http://schemas.microsoft.com/office/drawing/2014/main" id="{8FFB0E65-F6E2-83E4-D662-DC60EF5EAEEB}"/>
              </a:ext>
            </a:extLst>
          </p:cNvPr>
          <p:cNvSpPr txBox="1"/>
          <p:nvPr/>
        </p:nvSpPr>
        <p:spPr>
          <a:xfrm>
            <a:off x="3326732" y="1896510"/>
            <a:ext cx="4805999" cy="276999"/>
          </a:xfrm>
          <a:prstGeom prst="rect">
            <a:avLst/>
          </a:prstGeom>
          <a:noFill/>
        </p:spPr>
        <p:txBody>
          <a:bodyPr wrap="square" rtlCol="0">
            <a:spAutoFit/>
          </a:bodyPr>
          <a:lstStyle/>
          <a:p>
            <a:r>
              <a:rPr lang="en-US" sz="1200" dirty="0">
                <a:solidFill>
                  <a:srgbClr val="FF0000"/>
                </a:solidFill>
                <a:latin typeface="Tahoma" panose="020B0604030504040204" pitchFamily="34" charset="0"/>
                <a:ea typeface="Tahoma" panose="020B0604030504040204" pitchFamily="34" charset="0"/>
                <a:cs typeface="Tahoma" panose="020B0604030504040204" pitchFamily="34" charset="0"/>
              </a:rPr>
              <a:t>Change W to NOM values &amp; W_MIN, W_MAX inside the sketch</a:t>
            </a:r>
          </a:p>
        </p:txBody>
      </p:sp>
      <p:sp>
        <p:nvSpPr>
          <p:cNvPr id="17" name="TextBox 16">
            <a:extLst>
              <a:ext uri="{FF2B5EF4-FFF2-40B4-BE49-F238E27FC236}">
                <a16:creationId xmlns:a16="http://schemas.microsoft.com/office/drawing/2014/main" id="{02C2AC20-E835-8312-7875-2BBA1FEBAA77}"/>
              </a:ext>
            </a:extLst>
          </p:cNvPr>
          <p:cNvSpPr txBox="1"/>
          <p:nvPr/>
        </p:nvSpPr>
        <p:spPr>
          <a:xfrm>
            <a:off x="3538833" y="1637521"/>
            <a:ext cx="4805999" cy="276999"/>
          </a:xfrm>
          <a:prstGeom prst="rect">
            <a:avLst/>
          </a:prstGeom>
          <a:noFill/>
        </p:spPr>
        <p:txBody>
          <a:bodyPr wrap="square" rtlCol="0">
            <a:spAutoFit/>
          </a:bodyPr>
          <a:lstStyle/>
          <a:p>
            <a:r>
              <a:rPr lang="en-US" sz="1200" dirty="0">
                <a:solidFill>
                  <a:srgbClr val="FF0000"/>
                </a:solidFill>
                <a:latin typeface="Tahoma" panose="020B0604030504040204" pitchFamily="34" charset="0"/>
                <a:ea typeface="Tahoma" panose="020B0604030504040204" pitchFamily="34" charset="0"/>
                <a:cs typeface="Tahoma" panose="020B0604030504040204" pitchFamily="34" charset="0"/>
              </a:rPr>
              <a:t>Turn off</a:t>
            </a:r>
          </a:p>
        </p:txBody>
      </p:sp>
      <p:sp>
        <p:nvSpPr>
          <p:cNvPr id="18" name="TextBox 17">
            <a:extLst>
              <a:ext uri="{FF2B5EF4-FFF2-40B4-BE49-F238E27FC236}">
                <a16:creationId xmlns:a16="http://schemas.microsoft.com/office/drawing/2014/main" id="{09A342A6-BFD4-B2A8-702E-45886B49D2AA}"/>
              </a:ext>
            </a:extLst>
          </p:cNvPr>
          <p:cNvSpPr txBox="1"/>
          <p:nvPr/>
        </p:nvSpPr>
        <p:spPr>
          <a:xfrm>
            <a:off x="3621882" y="2184653"/>
            <a:ext cx="8204358" cy="276999"/>
          </a:xfrm>
          <a:prstGeom prst="rect">
            <a:avLst/>
          </a:prstGeom>
          <a:noFill/>
        </p:spPr>
        <p:txBody>
          <a:bodyPr wrap="square" rtlCol="0">
            <a:spAutoFit/>
          </a:bodyPr>
          <a:lstStyle/>
          <a:p>
            <a:r>
              <a:rPr lang="en-US" sz="1200" dirty="0">
                <a:solidFill>
                  <a:srgbClr val="FF0000"/>
                </a:solidFill>
                <a:latin typeface="Tahoma" panose="020B0604030504040204" pitchFamily="34" charset="0"/>
                <a:ea typeface="Tahoma" panose="020B0604030504040204" pitchFamily="34" charset="0"/>
                <a:cs typeface="Tahoma" panose="020B0604030504040204" pitchFamily="34" charset="0"/>
              </a:rPr>
              <a:t>If VW=W , Change VW , VRA to MAX &amp; VR to MIN &amp; VW_MIN , VRA_MIN, VRA_MAX inside the sketch   </a:t>
            </a:r>
          </a:p>
        </p:txBody>
      </p:sp>
      <p:sp>
        <p:nvSpPr>
          <p:cNvPr id="19" name="TextBox 18">
            <a:extLst>
              <a:ext uri="{FF2B5EF4-FFF2-40B4-BE49-F238E27FC236}">
                <a16:creationId xmlns:a16="http://schemas.microsoft.com/office/drawing/2014/main" id="{53C47281-ECE4-50B1-12E4-9C281F59E1AB}"/>
              </a:ext>
            </a:extLst>
          </p:cNvPr>
          <p:cNvSpPr txBox="1"/>
          <p:nvPr/>
        </p:nvSpPr>
        <p:spPr>
          <a:xfrm>
            <a:off x="3621882" y="2468497"/>
            <a:ext cx="8204358" cy="276999"/>
          </a:xfrm>
          <a:prstGeom prst="rect">
            <a:avLst/>
          </a:prstGeom>
          <a:noFill/>
        </p:spPr>
        <p:txBody>
          <a:bodyPr wrap="square" rtlCol="0">
            <a:spAutoFit/>
          </a:bodyPr>
          <a:lstStyle/>
          <a:p>
            <a:r>
              <a:rPr lang="en-US" sz="1200" dirty="0">
                <a:solidFill>
                  <a:srgbClr val="FF0000"/>
                </a:solidFill>
                <a:latin typeface="Tahoma" panose="020B0604030504040204" pitchFamily="34" charset="0"/>
                <a:ea typeface="Tahoma" panose="020B0604030504040204" pitchFamily="34" charset="0"/>
                <a:cs typeface="Tahoma" panose="020B0604030504040204" pitchFamily="34" charset="0"/>
              </a:rPr>
              <a:t>If VW≠W , Change VW , VRA, W, ISA to MAX &amp; VR to MIN &amp; VW_MIN , VRA_MIN, VRA_MAX, W_MIN, ISA_MIN</a:t>
            </a:r>
          </a:p>
        </p:txBody>
      </p:sp>
      <p:sp>
        <p:nvSpPr>
          <p:cNvPr id="20" name="TextBox 19">
            <a:extLst>
              <a:ext uri="{FF2B5EF4-FFF2-40B4-BE49-F238E27FC236}">
                <a16:creationId xmlns:a16="http://schemas.microsoft.com/office/drawing/2014/main" id="{1BCB5A9C-BFB8-D5F7-0EDD-A08815D15974}"/>
              </a:ext>
            </a:extLst>
          </p:cNvPr>
          <p:cNvSpPr txBox="1"/>
          <p:nvPr/>
        </p:nvSpPr>
        <p:spPr>
          <a:xfrm>
            <a:off x="3538833" y="2700471"/>
            <a:ext cx="8204358" cy="276999"/>
          </a:xfrm>
          <a:prstGeom prst="rect">
            <a:avLst/>
          </a:prstGeom>
          <a:noFill/>
        </p:spPr>
        <p:txBody>
          <a:bodyPr wrap="square" rtlCol="0">
            <a:spAutoFit/>
          </a:bodyPr>
          <a:lstStyle/>
          <a:p>
            <a:r>
              <a:rPr lang="en-US" sz="1200" dirty="0">
                <a:solidFill>
                  <a:srgbClr val="FF0000"/>
                </a:solidFill>
                <a:latin typeface="Tahoma" panose="020B0604030504040204" pitchFamily="34" charset="0"/>
                <a:ea typeface="Tahoma" panose="020B0604030504040204" pitchFamily="34" charset="0"/>
                <a:cs typeface="Tahoma" panose="020B0604030504040204" pitchFamily="34" charset="0"/>
              </a:rPr>
              <a:t>Change T, FD to MAX &amp; T_MIN. FD_MIN inside sketch this the standard case</a:t>
            </a:r>
          </a:p>
        </p:txBody>
      </p:sp>
      <p:sp>
        <p:nvSpPr>
          <p:cNvPr id="21" name="TextBox 20">
            <a:extLst>
              <a:ext uri="{FF2B5EF4-FFF2-40B4-BE49-F238E27FC236}">
                <a16:creationId xmlns:a16="http://schemas.microsoft.com/office/drawing/2014/main" id="{B8C05C9C-E909-30A7-D565-E6FD97C3AFA5}"/>
              </a:ext>
            </a:extLst>
          </p:cNvPr>
          <p:cNvSpPr txBox="1"/>
          <p:nvPr/>
        </p:nvSpPr>
        <p:spPr>
          <a:xfrm>
            <a:off x="3540602" y="2982766"/>
            <a:ext cx="8204358" cy="276999"/>
          </a:xfrm>
          <a:prstGeom prst="rect">
            <a:avLst/>
          </a:prstGeom>
          <a:noFill/>
        </p:spPr>
        <p:txBody>
          <a:bodyPr wrap="square" rtlCol="0">
            <a:spAutoFit/>
          </a:bodyPr>
          <a:lstStyle/>
          <a:p>
            <a:r>
              <a:rPr lang="en-US" sz="1200" dirty="0">
                <a:solidFill>
                  <a:srgbClr val="FF0000"/>
                </a:solidFill>
                <a:latin typeface="Tahoma" panose="020B0604030504040204" pitchFamily="34" charset="0"/>
                <a:ea typeface="Tahoma" panose="020B0604030504040204" pitchFamily="34" charset="0"/>
                <a:cs typeface="Tahoma" panose="020B0604030504040204" pitchFamily="34" charset="0"/>
              </a:rPr>
              <a:t>If SLB, Change T, FD to MAX &amp; T_MIN. FD_MIN inside sketch</a:t>
            </a:r>
          </a:p>
        </p:txBody>
      </p:sp>
      <p:sp>
        <p:nvSpPr>
          <p:cNvPr id="22" name="TextBox 21">
            <a:extLst>
              <a:ext uri="{FF2B5EF4-FFF2-40B4-BE49-F238E27FC236}">
                <a16:creationId xmlns:a16="http://schemas.microsoft.com/office/drawing/2014/main" id="{DFCA94FD-93E7-23C4-58F5-B694ADF04B6F}"/>
              </a:ext>
            </a:extLst>
          </p:cNvPr>
          <p:cNvSpPr txBox="1"/>
          <p:nvPr/>
        </p:nvSpPr>
        <p:spPr>
          <a:xfrm>
            <a:off x="3538833" y="3276758"/>
            <a:ext cx="8204358" cy="276999"/>
          </a:xfrm>
          <a:prstGeom prst="rect">
            <a:avLst/>
          </a:prstGeom>
          <a:noFill/>
        </p:spPr>
        <p:txBody>
          <a:bodyPr wrap="square" rtlCol="0">
            <a:spAutoFit/>
          </a:bodyPr>
          <a:lstStyle/>
          <a:p>
            <a:r>
              <a:rPr lang="en-US" sz="1200" dirty="0">
                <a:solidFill>
                  <a:srgbClr val="FF0000"/>
                </a:solidFill>
                <a:latin typeface="Tahoma" panose="020B0604030504040204" pitchFamily="34" charset="0"/>
                <a:ea typeface="Tahoma" panose="020B0604030504040204" pitchFamily="34" charset="0"/>
                <a:cs typeface="Tahoma" panose="020B0604030504040204" pitchFamily="34" charset="0"/>
              </a:rPr>
              <a:t>If RA2, Change T, FD,RA2H to MAX &amp; T_MIN. FD_MIN, RA2H_MIN inside sketch</a:t>
            </a:r>
          </a:p>
        </p:txBody>
      </p:sp>
      <p:sp>
        <p:nvSpPr>
          <p:cNvPr id="23" name="TextBox 22">
            <a:extLst>
              <a:ext uri="{FF2B5EF4-FFF2-40B4-BE49-F238E27FC236}">
                <a16:creationId xmlns:a16="http://schemas.microsoft.com/office/drawing/2014/main" id="{D4391EF0-9981-CC06-3987-E36902B6CD80}"/>
              </a:ext>
            </a:extLst>
          </p:cNvPr>
          <p:cNvSpPr txBox="1"/>
          <p:nvPr/>
        </p:nvSpPr>
        <p:spPr>
          <a:xfrm>
            <a:off x="3540602" y="3570751"/>
            <a:ext cx="8204358" cy="276999"/>
          </a:xfrm>
          <a:prstGeom prst="rect">
            <a:avLst/>
          </a:prstGeom>
          <a:noFill/>
        </p:spPr>
        <p:txBody>
          <a:bodyPr wrap="square" rtlCol="0">
            <a:spAutoFit/>
          </a:bodyPr>
          <a:lstStyle/>
          <a:p>
            <a:r>
              <a:rPr lang="en-US" sz="1200" dirty="0">
                <a:solidFill>
                  <a:srgbClr val="FF0000"/>
                </a:solidFill>
                <a:latin typeface="Tahoma" panose="020B0604030504040204" pitchFamily="34" charset="0"/>
                <a:ea typeface="Tahoma" panose="020B0604030504040204" pitchFamily="34" charset="0"/>
                <a:cs typeface="Tahoma" panose="020B0604030504040204" pitchFamily="34" charset="0"/>
              </a:rPr>
              <a:t>If RA2 &amp; SLB, Change T, FD,RA2H to MAX &amp; T_MIN. FD_MIN, RA2H_MIN inside sketch</a:t>
            </a:r>
          </a:p>
        </p:txBody>
      </p:sp>
      <p:sp>
        <p:nvSpPr>
          <p:cNvPr id="24" name="TextBox 23">
            <a:extLst>
              <a:ext uri="{FF2B5EF4-FFF2-40B4-BE49-F238E27FC236}">
                <a16:creationId xmlns:a16="http://schemas.microsoft.com/office/drawing/2014/main" id="{2CBF913B-6B42-5145-B92F-0B4419468A7C}"/>
              </a:ext>
            </a:extLst>
          </p:cNvPr>
          <p:cNvSpPr txBox="1"/>
          <p:nvPr/>
        </p:nvSpPr>
        <p:spPr>
          <a:xfrm>
            <a:off x="3011958" y="3820618"/>
            <a:ext cx="8204358" cy="276999"/>
          </a:xfrm>
          <a:prstGeom prst="rect">
            <a:avLst/>
          </a:prstGeom>
          <a:noFill/>
        </p:spPr>
        <p:txBody>
          <a:bodyPr wrap="square" rtlCol="0">
            <a:spAutoFit/>
          </a:bodyPr>
          <a:lstStyle/>
          <a:p>
            <a:r>
              <a:rPr lang="en-US" sz="1200" dirty="0">
                <a:solidFill>
                  <a:srgbClr val="FF0000"/>
                </a:solidFill>
                <a:latin typeface="Tahoma" panose="020B0604030504040204" pitchFamily="34" charset="0"/>
                <a:ea typeface="Tahoma" panose="020B0604030504040204" pitchFamily="34" charset="0"/>
                <a:cs typeface="Tahoma" panose="020B0604030504040204" pitchFamily="34" charset="0"/>
              </a:rPr>
              <a:t>If c groove then , CL, CD to MIN &amp; CD_MAX, CL_MAX inside the sketch</a:t>
            </a:r>
          </a:p>
        </p:txBody>
      </p:sp>
      <p:sp>
        <p:nvSpPr>
          <p:cNvPr id="25" name="TextBox 24">
            <a:extLst>
              <a:ext uri="{FF2B5EF4-FFF2-40B4-BE49-F238E27FC236}">
                <a16:creationId xmlns:a16="http://schemas.microsoft.com/office/drawing/2014/main" id="{AF25A936-2DC3-3C92-652C-6D44C17D28E3}"/>
              </a:ext>
            </a:extLst>
          </p:cNvPr>
          <p:cNvSpPr txBox="1"/>
          <p:nvPr/>
        </p:nvSpPr>
        <p:spPr>
          <a:xfrm>
            <a:off x="3097486" y="4072875"/>
            <a:ext cx="8204358" cy="276999"/>
          </a:xfrm>
          <a:prstGeom prst="rect">
            <a:avLst/>
          </a:prstGeom>
          <a:noFill/>
        </p:spPr>
        <p:txBody>
          <a:bodyPr wrap="square" rtlCol="0">
            <a:spAutoFit/>
          </a:bodyPr>
          <a:lstStyle/>
          <a:p>
            <a:r>
              <a:rPr lang="en-US" sz="1200" dirty="0">
                <a:solidFill>
                  <a:srgbClr val="FF0000"/>
                </a:solidFill>
                <a:latin typeface="Tahoma" panose="020B0604030504040204" pitchFamily="34" charset="0"/>
                <a:ea typeface="Tahoma" panose="020B0604030504040204" pitchFamily="34" charset="0"/>
                <a:cs typeface="Tahoma" panose="020B0604030504040204" pitchFamily="34" charset="0"/>
              </a:rPr>
              <a:t>If vg groove then, GA, GD, B to MIN &amp; GA_MAX,GD_MAX,B_MAX inside the sketch</a:t>
            </a:r>
          </a:p>
        </p:txBody>
      </p:sp>
      <p:sp>
        <p:nvSpPr>
          <p:cNvPr id="26" name="TextBox 25">
            <a:extLst>
              <a:ext uri="{FF2B5EF4-FFF2-40B4-BE49-F238E27FC236}">
                <a16:creationId xmlns:a16="http://schemas.microsoft.com/office/drawing/2014/main" id="{A6B092C8-A52B-4C07-8950-5C2831EF5FB0}"/>
              </a:ext>
            </a:extLst>
          </p:cNvPr>
          <p:cNvSpPr txBox="1"/>
          <p:nvPr/>
        </p:nvSpPr>
        <p:spPr>
          <a:xfrm>
            <a:off x="3097486" y="4343008"/>
            <a:ext cx="8204358" cy="276999"/>
          </a:xfrm>
          <a:prstGeom prst="rect">
            <a:avLst/>
          </a:prstGeom>
          <a:noFill/>
        </p:spPr>
        <p:txBody>
          <a:bodyPr wrap="square" rtlCol="0">
            <a:spAutoFit/>
          </a:bodyPr>
          <a:lstStyle/>
          <a:p>
            <a:r>
              <a:rPr lang="en-US" sz="1200" dirty="0">
                <a:solidFill>
                  <a:srgbClr val="FF0000"/>
                </a:solidFill>
                <a:latin typeface="Tahoma" panose="020B0604030504040204" pitchFamily="34" charset="0"/>
                <a:ea typeface="Tahoma" panose="020B0604030504040204" pitchFamily="34" charset="0"/>
                <a:cs typeface="Tahoma" panose="020B0604030504040204" pitchFamily="34" charset="0"/>
              </a:rPr>
              <a:t>If g groove then , GO, GD to MIN &amp; GO_MAX, GD_MAX inside the sketch </a:t>
            </a:r>
          </a:p>
        </p:txBody>
      </p:sp>
    </p:spTree>
    <p:extLst>
      <p:ext uri="{BB962C8B-B14F-4D97-AF65-F5344CB8AC3E}">
        <p14:creationId xmlns:p14="http://schemas.microsoft.com/office/powerpoint/2010/main" val="8260830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5E07B8-4E64-2AA2-833A-B0FB07832809}"/>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93F70C18-FA20-2041-C3CD-F868BF77EC8C}"/>
              </a:ext>
            </a:extLst>
          </p:cNvPr>
          <p:cNvSpPr/>
          <p:nvPr/>
        </p:nvSpPr>
        <p:spPr>
          <a:xfrm>
            <a:off x="548640" y="119802"/>
            <a:ext cx="11064240" cy="640080"/>
          </a:xfrm>
          <a:prstGeom prst="rect">
            <a:avLst/>
          </a:prstGeom>
          <a:noFill/>
          <a:ln/>
        </p:spPr>
        <p:txBody>
          <a:bodyPr wrap="square" lIns="0" tIns="0" rIns="0" bIns="0" rtlCol="0" anchor="ctr"/>
          <a:lstStyle/>
          <a:p>
            <a:pPr marL="0" indent="0">
              <a:buNone/>
            </a:pPr>
            <a:r>
              <a:rPr lang="en-US" sz="2800" b="1" dirty="0">
                <a:solidFill>
                  <a:srgbClr val="FF0000"/>
                </a:solidFill>
                <a:latin typeface="Arial" pitchFamily="34" charset="0"/>
                <a:ea typeface="Arial" pitchFamily="34" charset="-122"/>
                <a:cs typeface="Arial" pitchFamily="34" charset="-120"/>
              </a:rPr>
              <a:t>Rules</a:t>
            </a:r>
            <a:endParaRPr lang="en-US" sz="2800" dirty="0">
              <a:solidFill>
                <a:srgbClr val="FF0000"/>
              </a:solidFill>
            </a:endParaRPr>
          </a:p>
        </p:txBody>
      </p:sp>
      <p:sp>
        <p:nvSpPr>
          <p:cNvPr id="13" name="Shape 11">
            <a:extLst>
              <a:ext uri="{FF2B5EF4-FFF2-40B4-BE49-F238E27FC236}">
                <a16:creationId xmlns:a16="http://schemas.microsoft.com/office/drawing/2014/main" id="{ACE1230A-0CED-98B5-0B88-5066B9EFBF2E}"/>
              </a:ext>
            </a:extLst>
          </p:cNvPr>
          <p:cNvSpPr/>
          <p:nvPr/>
        </p:nvSpPr>
        <p:spPr>
          <a:xfrm>
            <a:off x="548640" y="6419088"/>
            <a:ext cx="11064240" cy="0"/>
          </a:xfrm>
          <a:prstGeom prst="line">
            <a:avLst/>
          </a:prstGeom>
          <a:noFill/>
          <a:ln w="9525">
            <a:solidFill>
              <a:srgbClr val="E4E4E4"/>
            </a:solidFill>
            <a:prstDash val="solid"/>
          </a:ln>
        </p:spPr>
        <p:txBody>
          <a:bodyPr/>
          <a:lstStyle/>
          <a:p>
            <a:endParaRPr lang="en-US" dirty="0"/>
          </a:p>
        </p:txBody>
      </p:sp>
      <p:sp>
        <p:nvSpPr>
          <p:cNvPr id="14" name="Text 12">
            <a:extLst>
              <a:ext uri="{FF2B5EF4-FFF2-40B4-BE49-F238E27FC236}">
                <a16:creationId xmlns:a16="http://schemas.microsoft.com/office/drawing/2014/main" id="{B105AD0B-D535-7D45-6564-0B8B4195CEF8}"/>
              </a:ext>
            </a:extLst>
          </p:cNvPr>
          <p:cNvSpPr/>
          <p:nvPr/>
        </p:nvSpPr>
        <p:spPr>
          <a:xfrm>
            <a:off x="548640" y="6419088"/>
            <a:ext cx="4572000" cy="274320"/>
          </a:xfrm>
          <a:prstGeom prst="rect">
            <a:avLst/>
          </a:prstGeom>
          <a:noFill/>
          <a:ln/>
        </p:spPr>
        <p:txBody>
          <a:bodyPr wrap="square" lIns="0" tIns="0" rIns="0" bIns="0" rtlCol="0" anchor="ctr"/>
          <a:lstStyle/>
          <a:p>
            <a:pPr marL="0" indent="0">
              <a:buNone/>
            </a:pPr>
            <a:r>
              <a:rPr lang="en-US" sz="900" dirty="0">
                <a:solidFill>
                  <a:srgbClr val="6E6E6E"/>
                </a:solidFill>
                <a:latin typeface="Arial" pitchFamily="34" charset="0"/>
                <a:ea typeface="Arial" pitchFamily="34" charset="-122"/>
                <a:cs typeface="Arial" pitchFamily="34" charset="-120"/>
              </a:rPr>
              <a:t>SMALL PRECISION TOOLS</a:t>
            </a:r>
            <a:endParaRPr lang="en-US" sz="900" dirty="0"/>
          </a:p>
        </p:txBody>
      </p:sp>
      <p:sp>
        <p:nvSpPr>
          <p:cNvPr id="15" name="Text 13">
            <a:extLst>
              <a:ext uri="{FF2B5EF4-FFF2-40B4-BE49-F238E27FC236}">
                <a16:creationId xmlns:a16="http://schemas.microsoft.com/office/drawing/2014/main" id="{BE6F1F89-14D0-5918-B54C-21DD12148C50}"/>
              </a:ext>
            </a:extLst>
          </p:cNvPr>
          <p:cNvSpPr/>
          <p:nvPr/>
        </p:nvSpPr>
        <p:spPr>
          <a:xfrm>
            <a:off x="4709160" y="6419088"/>
            <a:ext cx="2743200" cy="274320"/>
          </a:xfrm>
          <a:prstGeom prst="rect">
            <a:avLst/>
          </a:prstGeom>
          <a:noFill/>
          <a:ln/>
        </p:spPr>
        <p:txBody>
          <a:bodyPr wrap="square" lIns="0" tIns="0" rIns="0" bIns="0" rtlCol="0" anchor="ctr"/>
          <a:lstStyle/>
          <a:p>
            <a:pPr marL="0" indent="0" algn="ctr">
              <a:buNone/>
            </a:pPr>
            <a:r>
              <a:rPr lang="en-US" sz="900" dirty="0">
                <a:solidFill>
                  <a:srgbClr val="6E6E6E"/>
                </a:solidFill>
                <a:latin typeface="Arial" pitchFamily="34" charset="0"/>
                <a:ea typeface="Arial" pitchFamily="34" charset="-122"/>
                <a:cs typeface="Arial" pitchFamily="34" charset="-120"/>
              </a:rPr>
              <a:t>Confidential</a:t>
            </a:r>
            <a:endParaRPr lang="en-US" sz="900" dirty="0"/>
          </a:p>
        </p:txBody>
      </p:sp>
      <p:sp>
        <p:nvSpPr>
          <p:cNvPr id="5" name="TextBox 4">
            <a:extLst>
              <a:ext uri="{FF2B5EF4-FFF2-40B4-BE49-F238E27FC236}">
                <a16:creationId xmlns:a16="http://schemas.microsoft.com/office/drawing/2014/main" id="{5231BBB3-FC9A-6201-C274-DEEDA3022A3D}"/>
              </a:ext>
            </a:extLst>
          </p:cNvPr>
          <p:cNvSpPr txBox="1"/>
          <p:nvPr/>
        </p:nvSpPr>
        <p:spPr>
          <a:xfrm>
            <a:off x="760306" y="759882"/>
            <a:ext cx="8536093" cy="523220"/>
          </a:xfrm>
          <a:prstGeom prst="rect">
            <a:avLst/>
          </a:prstGeom>
          <a:noFill/>
        </p:spPr>
        <p:txBody>
          <a:bodyPr wrap="square" rtlCol="0">
            <a:spAutoFit/>
          </a:bodyPr>
          <a:lstStyle/>
          <a:p>
            <a:r>
              <a:rPr lang="en-US" sz="1400" b="1" dirty="0">
                <a:latin typeface="Tahoma" panose="020B0604030504040204" pitchFamily="34" charset="0"/>
                <a:ea typeface="Tahoma" panose="020B0604030504040204" pitchFamily="34" charset="0"/>
                <a:cs typeface="Tahoma" panose="020B0604030504040204" pitchFamily="34" charset="0"/>
              </a:rPr>
              <a:t>ABT Series – FG Overlay : </a:t>
            </a:r>
            <a:br>
              <a:rPr lang="en-US" sz="1400" b="1" dirty="0">
                <a:latin typeface="Tahoma" panose="020B0604030504040204" pitchFamily="34" charset="0"/>
                <a:ea typeface="Tahoma" panose="020B0604030504040204" pitchFamily="34" charset="0"/>
                <a:cs typeface="Tahoma" panose="020B0604030504040204" pitchFamily="34" charset="0"/>
              </a:rPr>
            </a:br>
            <a:r>
              <a:rPr lang="en-US" sz="1400" dirty="0">
                <a:latin typeface="Tahoma" panose="020B0604030504040204" pitchFamily="34" charset="0"/>
                <a:ea typeface="Tahoma" panose="020B0604030504040204" pitchFamily="34" charset="0"/>
                <a:cs typeface="Tahoma" panose="020B0604030504040204" pitchFamily="34" charset="0"/>
              </a:rPr>
              <a:t>Construction of FG overlays </a:t>
            </a:r>
            <a:r>
              <a:rPr lang="en-US" sz="1400" dirty="0" err="1">
                <a:latin typeface="Tahoma" panose="020B0604030504040204" pitchFamily="34" charset="0"/>
                <a:ea typeface="Tahoma" panose="020B0604030504040204" pitchFamily="34" charset="0"/>
                <a:cs typeface="Tahoma" panose="020B0604030504040204" pitchFamily="34" charset="0"/>
              </a:rPr>
              <a:t>rev_shank</a:t>
            </a:r>
            <a:endParaRPr lang="en-US" sz="1400" dirty="0">
              <a:latin typeface="Tahoma" panose="020B0604030504040204" pitchFamily="34" charset="0"/>
              <a:ea typeface="Tahoma" panose="020B0604030504040204" pitchFamily="34" charset="0"/>
              <a:cs typeface="Tahoma" panose="020B0604030504040204" pitchFamily="34" charset="0"/>
            </a:endParaRPr>
          </a:p>
        </p:txBody>
      </p:sp>
      <p:sp>
        <p:nvSpPr>
          <p:cNvPr id="7" name="Shape 1">
            <a:extLst>
              <a:ext uri="{FF2B5EF4-FFF2-40B4-BE49-F238E27FC236}">
                <a16:creationId xmlns:a16="http://schemas.microsoft.com/office/drawing/2014/main" id="{3EF27377-1041-3258-F72F-271835F6AE74}"/>
              </a:ext>
            </a:extLst>
          </p:cNvPr>
          <p:cNvSpPr/>
          <p:nvPr/>
        </p:nvSpPr>
        <p:spPr>
          <a:xfrm>
            <a:off x="563880" y="889684"/>
            <a:ext cx="109728" cy="109728"/>
          </a:xfrm>
          <a:prstGeom prst="rect">
            <a:avLst/>
          </a:prstGeom>
          <a:solidFill>
            <a:srgbClr val="FF0000"/>
          </a:solidFill>
          <a:ln/>
        </p:spPr>
        <p:txBody>
          <a:bodyPr/>
          <a:lstStyle/>
          <a:p>
            <a:endParaRPr lang="en-US" dirty="0"/>
          </a:p>
        </p:txBody>
      </p:sp>
      <p:sp>
        <p:nvSpPr>
          <p:cNvPr id="3" name="TextBox 2">
            <a:extLst>
              <a:ext uri="{FF2B5EF4-FFF2-40B4-BE49-F238E27FC236}">
                <a16:creationId xmlns:a16="http://schemas.microsoft.com/office/drawing/2014/main" id="{4EEE562F-B42F-9FED-B384-140E7C4527AA}"/>
              </a:ext>
            </a:extLst>
          </p:cNvPr>
          <p:cNvSpPr txBox="1"/>
          <p:nvPr/>
        </p:nvSpPr>
        <p:spPr>
          <a:xfrm>
            <a:off x="970070" y="5999943"/>
            <a:ext cx="9880810" cy="307777"/>
          </a:xfrm>
          <a:prstGeom prst="rect">
            <a:avLst/>
          </a:prstGeom>
          <a:noFill/>
        </p:spPr>
        <p:txBody>
          <a:bodyPr wrap="square" rtlCol="0">
            <a:spAutoFit/>
          </a:bodyPr>
          <a:lstStyle/>
          <a:p>
            <a:r>
              <a:rPr lang="en-US" sz="1400" dirty="0">
                <a:latin typeface="Tahoma" panose="020B0604030504040204" pitchFamily="34" charset="0"/>
                <a:ea typeface="Tahoma" panose="020B0604030504040204" pitchFamily="34" charset="0"/>
                <a:cs typeface="Tahoma" panose="020B0604030504040204" pitchFamily="34" charset="0"/>
              </a:rPr>
              <a:t>Note 1 : The programmer need to change the values of the parameters in equation &amp;  inside the sketches based of above</a:t>
            </a:r>
            <a:endParaRPr lang="en-US" sz="1400" dirty="0">
              <a:solidFill>
                <a:srgbClr val="FF0000"/>
              </a:solidFill>
              <a:latin typeface="Tahoma" panose="020B0604030504040204" pitchFamily="34" charset="0"/>
              <a:ea typeface="Tahoma" panose="020B0604030504040204" pitchFamily="34" charset="0"/>
              <a:cs typeface="Tahoma" panose="020B0604030504040204" pitchFamily="34" charset="0"/>
            </a:endParaRPr>
          </a:p>
        </p:txBody>
      </p:sp>
      <p:sp>
        <p:nvSpPr>
          <p:cNvPr id="16" name="TextBox 15">
            <a:extLst>
              <a:ext uri="{FF2B5EF4-FFF2-40B4-BE49-F238E27FC236}">
                <a16:creationId xmlns:a16="http://schemas.microsoft.com/office/drawing/2014/main" id="{DD308DFC-07D1-6872-8B23-9DEC0D81EB45}"/>
              </a:ext>
            </a:extLst>
          </p:cNvPr>
          <p:cNvSpPr txBox="1"/>
          <p:nvPr/>
        </p:nvSpPr>
        <p:spPr>
          <a:xfrm>
            <a:off x="3326732" y="1896510"/>
            <a:ext cx="4805999" cy="276999"/>
          </a:xfrm>
          <a:prstGeom prst="rect">
            <a:avLst/>
          </a:prstGeom>
          <a:noFill/>
        </p:spPr>
        <p:txBody>
          <a:bodyPr wrap="square" rtlCol="0">
            <a:spAutoFit/>
          </a:bodyPr>
          <a:lstStyle/>
          <a:p>
            <a:r>
              <a:rPr lang="en-US" sz="1200" dirty="0">
                <a:solidFill>
                  <a:srgbClr val="FF0000"/>
                </a:solidFill>
                <a:latin typeface="Tahoma" panose="020B0604030504040204" pitchFamily="34" charset="0"/>
                <a:ea typeface="Tahoma" panose="020B0604030504040204" pitchFamily="34" charset="0"/>
                <a:cs typeface="Tahoma" panose="020B0604030504040204" pitchFamily="34" charset="0"/>
              </a:rPr>
              <a:t>Change W to NOM values &amp; W_MIN, W_MAX inside the sketch</a:t>
            </a:r>
          </a:p>
        </p:txBody>
      </p:sp>
      <p:sp>
        <p:nvSpPr>
          <p:cNvPr id="17" name="TextBox 16">
            <a:extLst>
              <a:ext uri="{FF2B5EF4-FFF2-40B4-BE49-F238E27FC236}">
                <a16:creationId xmlns:a16="http://schemas.microsoft.com/office/drawing/2014/main" id="{9B88CBB9-6E37-01A4-FE43-BB83ADBDB33C}"/>
              </a:ext>
            </a:extLst>
          </p:cNvPr>
          <p:cNvSpPr txBox="1"/>
          <p:nvPr/>
        </p:nvSpPr>
        <p:spPr>
          <a:xfrm>
            <a:off x="3538833" y="1637521"/>
            <a:ext cx="4805999" cy="276999"/>
          </a:xfrm>
          <a:prstGeom prst="rect">
            <a:avLst/>
          </a:prstGeom>
          <a:noFill/>
        </p:spPr>
        <p:txBody>
          <a:bodyPr wrap="square" rtlCol="0">
            <a:spAutoFit/>
          </a:bodyPr>
          <a:lstStyle/>
          <a:p>
            <a:r>
              <a:rPr lang="en-US" sz="1200" dirty="0">
                <a:solidFill>
                  <a:srgbClr val="FF0000"/>
                </a:solidFill>
                <a:latin typeface="Tahoma" panose="020B0604030504040204" pitchFamily="34" charset="0"/>
                <a:ea typeface="Tahoma" panose="020B0604030504040204" pitchFamily="34" charset="0"/>
                <a:cs typeface="Tahoma" panose="020B0604030504040204" pitchFamily="34" charset="0"/>
              </a:rPr>
              <a:t>Turn off</a:t>
            </a:r>
          </a:p>
        </p:txBody>
      </p:sp>
      <p:sp>
        <p:nvSpPr>
          <p:cNvPr id="18" name="TextBox 17">
            <a:extLst>
              <a:ext uri="{FF2B5EF4-FFF2-40B4-BE49-F238E27FC236}">
                <a16:creationId xmlns:a16="http://schemas.microsoft.com/office/drawing/2014/main" id="{871D18D5-FB05-F488-8656-616923DCA70C}"/>
              </a:ext>
            </a:extLst>
          </p:cNvPr>
          <p:cNvSpPr txBox="1"/>
          <p:nvPr/>
        </p:nvSpPr>
        <p:spPr>
          <a:xfrm>
            <a:off x="3621882" y="2184653"/>
            <a:ext cx="8204358" cy="276999"/>
          </a:xfrm>
          <a:prstGeom prst="rect">
            <a:avLst/>
          </a:prstGeom>
          <a:noFill/>
        </p:spPr>
        <p:txBody>
          <a:bodyPr wrap="square" rtlCol="0">
            <a:spAutoFit/>
          </a:bodyPr>
          <a:lstStyle/>
          <a:p>
            <a:r>
              <a:rPr lang="en-US" sz="1200" dirty="0">
                <a:solidFill>
                  <a:srgbClr val="FF0000"/>
                </a:solidFill>
                <a:latin typeface="Tahoma" panose="020B0604030504040204" pitchFamily="34" charset="0"/>
                <a:ea typeface="Tahoma" panose="020B0604030504040204" pitchFamily="34" charset="0"/>
                <a:cs typeface="Tahoma" panose="020B0604030504040204" pitchFamily="34" charset="0"/>
              </a:rPr>
              <a:t>If VW=W , Change VW , VRA to MAX &amp; VR to MIN &amp; VW_MIN , VRA_MIN, VRA_MAX inside the sketch   </a:t>
            </a:r>
          </a:p>
        </p:txBody>
      </p:sp>
      <p:sp>
        <p:nvSpPr>
          <p:cNvPr id="19" name="TextBox 18">
            <a:extLst>
              <a:ext uri="{FF2B5EF4-FFF2-40B4-BE49-F238E27FC236}">
                <a16:creationId xmlns:a16="http://schemas.microsoft.com/office/drawing/2014/main" id="{CC03C26D-F9B9-C07D-649D-546107C2EB8A}"/>
              </a:ext>
            </a:extLst>
          </p:cNvPr>
          <p:cNvSpPr txBox="1"/>
          <p:nvPr/>
        </p:nvSpPr>
        <p:spPr>
          <a:xfrm>
            <a:off x="3621882" y="2468497"/>
            <a:ext cx="8204358" cy="276999"/>
          </a:xfrm>
          <a:prstGeom prst="rect">
            <a:avLst/>
          </a:prstGeom>
          <a:noFill/>
        </p:spPr>
        <p:txBody>
          <a:bodyPr wrap="square" rtlCol="0">
            <a:spAutoFit/>
          </a:bodyPr>
          <a:lstStyle/>
          <a:p>
            <a:r>
              <a:rPr lang="en-US" sz="1200" dirty="0">
                <a:solidFill>
                  <a:srgbClr val="FF0000"/>
                </a:solidFill>
                <a:latin typeface="Tahoma" panose="020B0604030504040204" pitchFamily="34" charset="0"/>
                <a:ea typeface="Tahoma" panose="020B0604030504040204" pitchFamily="34" charset="0"/>
                <a:cs typeface="Tahoma" panose="020B0604030504040204" pitchFamily="34" charset="0"/>
              </a:rPr>
              <a:t>If VW≠W , Change VW , VRA, W, ISA to MAX &amp; VR to MIN &amp; VW_MIN , VRA_MIN, VRA_MAX, W_MIN, ISA_MIN</a:t>
            </a:r>
          </a:p>
        </p:txBody>
      </p:sp>
      <p:sp>
        <p:nvSpPr>
          <p:cNvPr id="20" name="TextBox 19">
            <a:extLst>
              <a:ext uri="{FF2B5EF4-FFF2-40B4-BE49-F238E27FC236}">
                <a16:creationId xmlns:a16="http://schemas.microsoft.com/office/drawing/2014/main" id="{E859DA24-5568-7048-A61B-C4A62B5C57A8}"/>
              </a:ext>
            </a:extLst>
          </p:cNvPr>
          <p:cNvSpPr txBox="1"/>
          <p:nvPr/>
        </p:nvSpPr>
        <p:spPr>
          <a:xfrm>
            <a:off x="3538833" y="2700471"/>
            <a:ext cx="8204358" cy="276999"/>
          </a:xfrm>
          <a:prstGeom prst="rect">
            <a:avLst/>
          </a:prstGeom>
          <a:noFill/>
        </p:spPr>
        <p:txBody>
          <a:bodyPr wrap="square" rtlCol="0">
            <a:spAutoFit/>
          </a:bodyPr>
          <a:lstStyle/>
          <a:p>
            <a:r>
              <a:rPr lang="en-US" sz="1200" dirty="0">
                <a:solidFill>
                  <a:srgbClr val="FF0000"/>
                </a:solidFill>
                <a:latin typeface="Tahoma" panose="020B0604030504040204" pitchFamily="34" charset="0"/>
                <a:ea typeface="Tahoma" panose="020B0604030504040204" pitchFamily="34" charset="0"/>
                <a:cs typeface="Tahoma" panose="020B0604030504040204" pitchFamily="34" charset="0"/>
              </a:rPr>
              <a:t>Change T, FD to MAX &amp; T_MIN. FD_MIN inside sketch this the standard case</a:t>
            </a:r>
          </a:p>
        </p:txBody>
      </p:sp>
      <p:sp>
        <p:nvSpPr>
          <p:cNvPr id="21" name="TextBox 20">
            <a:extLst>
              <a:ext uri="{FF2B5EF4-FFF2-40B4-BE49-F238E27FC236}">
                <a16:creationId xmlns:a16="http://schemas.microsoft.com/office/drawing/2014/main" id="{A9CE1DFF-3838-A611-45A0-839233AD6D1D}"/>
              </a:ext>
            </a:extLst>
          </p:cNvPr>
          <p:cNvSpPr txBox="1"/>
          <p:nvPr/>
        </p:nvSpPr>
        <p:spPr>
          <a:xfrm>
            <a:off x="3540602" y="2982766"/>
            <a:ext cx="8204358" cy="276999"/>
          </a:xfrm>
          <a:prstGeom prst="rect">
            <a:avLst/>
          </a:prstGeom>
          <a:noFill/>
        </p:spPr>
        <p:txBody>
          <a:bodyPr wrap="square" rtlCol="0">
            <a:spAutoFit/>
          </a:bodyPr>
          <a:lstStyle/>
          <a:p>
            <a:r>
              <a:rPr lang="en-US" sz="1200" dirty="0">
                <a:solidFill>
                  <a:srgbClr val="FF0000"/>
                </a:solidFill>
                <a:latin typeface="Tahoma" panose="020B0604030504040204" pitchFamily="34" charset="0"/>
                <a:ea typeface="Tahoma" panose="020B0604030504040204" pitchFamily="34" charset="0"/>
                <a:cs typeface="Tahoma" panose="020B0604030504040204" pitchFamily="34" charset="0"/>
              </a:rPr>
              <a:t>If SLB, Change T, FD to MAX &amp; T_MIN. FD_MIN inside sketch</a:t>
            </a:r>
          </a:p>
        </p:txBody>
      </p:sp>
      <p:sp>
        <p:nvSpPr>
          <p:cNvPr id="22" name="TextBox 21">
            <a:extLst>
              <a:ext uri="{FF2B5EF4-FFF2-40B4-BE49-F238E27FC236}">
                <a16:creationId xmlns:a16="http://schemas.microsoft.com/office/drawing/2014/main" id="{9D0DE6A2-12FB-DC54-E253-511491C51517}"/>
              </a:ext>
            </a:extLst>
          </p:cNvPr>
          <p:cNvSpPr txBox="1"/>
          <p:nvPr/>
        </p:nvSpPr>
        <p:spPr>
          <a:xfrm>
            <a:off x="3538833" y="3276758"/>
            <a:ext cx="8204358" cy="276999"/>
          </a:xfrm>
          <a:prstGeom prst="rect">
            <a:avLst/>
          </a:prstGeom>
          <a:noFill/>
        </p:spPr>
        <p:txBody>
          <a:bodyPr wrap="square" rtlCol="0">
            <a:spAutoFit/>
          </a:bodyPr>
          <a:lstStyle/>
          <a:p>
            <a:r>
              <a:rPr lang="en-US" sz="1200" dirty="0">
                <a:solidFill>
                  <a:srgbClr val="FF0000"/>
                </a:solidFill>
                <a:latin typeface="Tahoma" panose="020B0604030504040204" pitchFamily="34" charset="0"/>
                <a:ea typeface="Tahoma" panose="020B0604030504040204" pitchFamily="34" charset="0"/>
                <a:cs typeface="Tahoma" panose="020B0604030504040204" pitchFamily="34" charset="0"/>
              </a:rPr>
              <a:t>If RA2, Change T, FD,RA2H to MAX &amp; T_MIN. FD_MIN, RA2H_MIN inside sketch</a:t>
            </a:r>
          </a:p>
        </p:txBody>
      </p:sp>
      <p:sp>
        <p:nvSpPr>
          <p:cNvPr id="23" name="TextBox 22">
            <a:extLst>
              <a:ext uri="{FF2B5EF4-FFF2-40B4-BE49-F238E27FC236}">
                <a16:creationId xmlns:a16="http://schemas.microsoft.com/office/drawing/2014/main" id="{BDAD7F3C-F70D-089F-381C-2762D4F10478}"/>
              </a:ext>
            </a:extLst>
          </p:cNvPr>
          <p:cNvSpPr txBox="1"/>
          <p:nvPr/>
        </p:nvSpPr>
        <p:spPr>
          <a:xfrm>
            <a:off x="3540602" y="3570751"/>
            <a:ext cx="8204358" cy="276999"/>
          </a:xfrm>
          <a:prstGeom prst="rect">
            <a:avLst/>
          </a:prstGeom>
          <a:noFill/>
        </p:spPr>
        <p:txBody>
          <a:bodyPr wrap="square" rtlCol="0">
            <a:spAutoFit/>
          </a:bodyPr>
          <a:lstStyle/>
          <a:p>
            <a:r>
              <a:rPr lang="en-US" sz="1200" dirty="0">
                <a:solidFill>
                  <a:srgbClr val="FF0000"/>
                </a:solidFill>
                <a:latin typeface="Tahoma" panose="020B0604030504040204" pitchFamily="34" charset="0"/>
                <a:ea typeface="Tahoma" panose="020B0604030504040204" pitchFamily="34" charset="0"/>
                <a:cs typeface="Tahoma" panose="020B0604030504040204" pitchFamily="34" charset="0"/>
              </a:rPr>
              <a:t>If RA2 &amp; SLB, Change T, FD,RA2H to MAX &amp; T_MIN. FD_MIN, RA2H_MIN inside sketch</a:t>
            </a:r>
          </a:p>
        </p:txBody>
      </p:sp>
      <p:sp>
        <p:nvSpPr>
          <p:cNvPr id="24" name="TextBox 23">
            <a:extLst>
              <a:ext uri="{FF2B5EF4-FFF2-40B4-BE49-F238E27FC236}">
                <a16:creationId xmlns:a16="http://schemas.microsoft.com/office/drawing/2014/main" id="{951066D3-1AC2-521C-B2D8-DFC5A7280DD6}"/>
              </a:ext>
            </a:extLst>
          </p:cNvPr>
          <p:cNvSpPr txBox="1"/>
          <p:nvPr/>
        </p:nvSpPr>
        <p:spPr>
          <a:xfrm>
            <a:off x="3011958" y="3820618"/>
            <a:ext cx="8204358" cy="276999"/>
          </a:xfrm>
          <a:prstGeom prst="rect">
            <a:avLst/>
          </a:prstGeom>
          <a:noFill/>
        </p:spPr>
        <p:txBody>
          <a:bodyPr wrap="square" rtlCol="0">
            <a:spAutoFit/>
          </a:bodyPr>
          <a:lstStyle/>
          <a:p>
            <a:r>
              <a:rPr lang="en-US" sz="1200" dirty="0">
                <a:solidFill>
                  <a:srgbClr val="FF0000"/>
                </a:solidFill>
                <a:latin typeface="Tahoma" panose="020B0604030504040204" pitchFamily="34" charset="0"/>
                <a:ea typeface="Tahoma" panose="020B0604030504040204" pitchFamily="34" charset="0"/>
                <a:cs typeface="Tahoma" panose="020B0604030504040204" pitchFamily="34" charset="0"/>
              </a:rPr>
              <a:t>If c groove then , CL, CD to MIN &amp; CD_MAX, CL_MAX inside the sketch</a:t>
            </a:r>
          </a:p>
        </p:txBody>
      </p:sp>
      <p:sp>
        <p:nvSpPr>
          <p:cNvPr id="25" name="TextBox 24">
            <a:extLst>
              <a:ext uri="{FF2B5EF4-FFF2-40B4-BE49-F238E27FC236}">
                <a16:creationId xmlns:a16="http://schemas.microsoft.com/office/drawing/2014/main" id="{6532BFE2-9D81-3B40-3F9E-456DADE4BB59}"/>
              </a:ext>
            </a:extLst>
          </p:cNvPr>
          <p:cNvSpPr txBox="1"/>
          <p:nvPr/>
        </p:nvSpPr>
        <p:spPr>
          <a:xfrm>
            <a:off x="3097486" y="4072875"/>
            <a:ext cx="8204358" cy="276999"/>
          </a:xfrm>
          <a:prstGeom prst="rect">
            <a:avLst/>
          </a:prstGeom>
          <a:noFill/>
        </p:spPr>
        <p:txBody>
          <a:bodyPr wrap="square" rtlCol="0">
            <a:spAutoFit/>
          </a:bodyPr>
          <a:lstStyle/>
          <a:p>
            <a:r>
              <a:rPr lang="en-US" sz="1200" dirty="0">
                <a:solidFill>
                  <a:srgbClr val="FF0000"/>
                </a:solidFill>
                <a:latin typeface="Tahoma" panose="020B0604030504040204" pitchFamily="34" charset="0"/>
                <a:ea typeface="Tahoma" panose="020B0604030504040204" pitchFamily="34" charset="0"/>
                <a:cs typeface="Tahoma" panose="020B0604030504040204" pitchFamily="34" charset="0"/>
              </a:rPr>
              <a:t>If vg groove then, GA, GD, B to MIN &amp; GA_MAX,GD_MAX,B_MAX inside the sketch</a:t>
            </a:r>
          </a:p>
        </p:txBody>
      </p:sp>
      <p:sp>
        <p:nvSpPr>
          <p:cNvPr id="26" name="TextBox 25">
            <a:extLst>
              <a:ext uri="{FF2B5EF4-FFF2-40B4-BE49-F238E27FC236}">
                <a16:creationId xmlns:a16="http://schemas.microsoft.com/office/drawing/2014/main" id="{00D75994-1260-8942-B45E-77FCA64FB50B}"/>
              </a:ext>
            </a:extLst>
          </p:cNvPr>
          <p:cNvSpPr txBox="1"/>
          <p:nvPr/>
        </p:nvSpPr>
        <p:spPr>
          <a:xfrm>
            <a:off x="3097486" y="4343008"/>
            <a:ext cx="8204358" cy="276999"/>
          </a:xfrm>
          <a:prstGeom prst="rect">
            <a:avLst/>
          </a:prstGeom>
          <a:noFill/>
        </p:spPr>
        <p:txBody>
          <a:bodyPr wrap="square" rtlCol="0">
            <a:spAutoFit/>
          </a:bodyPr>
          <a:lstStyle/>
          <a:p>
            <a:r>
              <a:rPr lang="en-US" sz="1200" dirty="0">
                <a:solidFill>
                  <a:srgbClr val="FF0000"/>
                </a:solidFill>
                <a:latin typeface="Tahoma" panose="020B0604030504040204" pitchFamily="34" charset="0"/>
                <a:ea typeface="Tahoma" panose="020B0604030504040204" pitchFamily="34" charset="0"/>
                <a:cs typeface="Tahoma" panose="020B0604030504040204" pitchFamily="34" charset="0"/>
              </a:rPr>
              <a:t>If g groove then , GO, GD to MIN &amp; GO_MAX, GD_MAX inside the sketch </a:t>
            </a:r>
          </a:p>
        </p:txBody>
      </p:sp>
      <p:pic>
        <p:nvPicPr>
          <p:cNvPr id="9" name="Picture 8">
            <a:extLst>
              <a:ext uri="{FF2B5EF4-FFF2-40B4-BE49-F238E27FC236}">
                <a16:creationId xmlns:a16="http://schemas.microsoft.com/office/drawing/2014/main" id="{2D8E723B-9545-9780-D00C-B8936D4BC511}"/>
              </a:ext>
            </a:extLst>
          </p:cNvPr>
          <p:cNvPicPr>
            <a:picLocks noChangeAspect="1"/>
          </p:cNvPicPr>
          <p:nvPr/>
        </p:nvPicPr>
        <p:blipFill>
          <a:blip r:embed="rId3">
            <a:clrChange>
              <a:clrFrom>
                <a:srgbClr val="F7F7F7"/>
              </a:clrFrom>
              <a:clrTo>
                <a:srgbClr val="F7F7F7">
                  <a:alpha val="0"/>
                </a:srgbClr>
              </a:clrTo>
            </a:clrChange>
          </a:blip>
          <a:stretch>
            <a:fillRect/>
          </a:stretch>
        </p:blipFill>
        <p:spPr>
          <a:xfrm>
            <a:off x="760306" y="1378942"/>
            <a:ext cx="2883686" cy="3241066"/>
          </a:xfrm>
          <a:prstGeom prst="rect">
            <a:avLst/>
          </a:prstGeom>
        </p:spPr>
      </p:pic>
    </p:spTree>
    <p:extLst>
      <p:ext uri="{BB962C8B-B14F-4D97-AF65-F5344CB8AC3E}">
        <p14:creationId xmlns:p14="http://schemas.microsoft.com/office/powerpoint/2010/main" val="230334464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1130</TotalTime>
  <Words>4457</Words>
  <Application>Microsoft Office PowerPoint</Application>
  <PresentationFormat>Widescreen</PresentationFormat>
  <Paragraphs>317</Paragraphs>
  <Slides>28</Slides>
  <Notes>28</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28</vt:i4>
      </vt:variant>
    </vt:vector>
  </HeadingPairs>
  <TitlesOfParts>
    <vt:vector size="33" baseType="lpstr">
      <vt:lpstr>Aptos</vt:lpstr>
      <vt:lpstr>Aptos Display</vt:lpstr>
      <vt:lpstr>Arial</vt:lpstr>
      <vt:lpstr>Tahoma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Youssef Agnaou</dc:creator>
  <cp:lastModifiedBy>mounir ennakhai</cp:lastModifiedBy>
  <cp:revision>130</cp:revision>
  <dcterms:created xsi:type="dcterms:W3CDTF">2026-07-26T18:29:11Z</dcterms:created>
  <dcterms:modified xsi:type="dcterms:W3CDTF">2026-08-13T10:31:05Z</dcterms:modified>
</cp:coreProperties>
</file>