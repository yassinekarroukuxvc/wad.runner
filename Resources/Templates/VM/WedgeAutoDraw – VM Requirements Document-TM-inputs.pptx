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60" r:id="rId6"/>
    <p:sldId id="259" r:id="rId7"/>
    <p:sldId id="262" r:id="rId8"/>
    <p:sldId id="27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4DAFAC-1438-42B2-8609-E72DC88DB207}" v="3" dt="2026-08-28T02:38:04.5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108" y="3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535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9E3A-EA0E-2720-599A-7C95C530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5D51E-BB1C-A8DA-AE1B-23E7AFA3E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0252E-9A31-13D4-70FF-4B6E5E5EB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31267-7A72-C3EA-EE03-E29FD2642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46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5B672-5378-A69E-FDE3-B85E08D4D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AE6AE-13A9-C997-16A7-7C629F64F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F9B7E-9C37-BD6B-FACF-7BCD204DB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69C0B-5509-58BC-297C-DCDEBBD0D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75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56B10-E835-2745-4CD3-BE874A103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24992-3FC6-BE16-D670-25BF1D203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6FC45-B47B-6488-999C-7AE5B748A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75905-E2D5-FDC8-28A7-CBE67607E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17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B346A-194A-3134-9395-2474D9B56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FF0A42-A55B-5E35-FA36-85FC838E6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AA2DD-85BE-EF7D-BFA4-409A857EA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1B097-AAB6-0C3B-A2FD-208082EA0D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0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54D7D-611B-37BA-55CF-4A9A601E1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DBB06-F0D0-36FE-7BB0-DB74B06FC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F36B7-7D56-590E-D343-6C7084A9B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17AF8-52FD-1CF8-0557-2CF623685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87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48D34-5C8D-AE50-7124-F02EC4516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3E6BB-DBA0-A854-29D4-C6FEEBCCA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3E122-76D4-29E9-5D52-D28411154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085C8-D336-A997-0D63-C40139377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40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71204-456B-1CAD-BE86-17A1E931A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251A67-B8AC-876E-AB51-9CA6B3F24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368C3-6891-5378-5C73-D6F64FFA0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0BCEF-F142-D224-3322-04756F520F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06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BE3E1-36B2-D421-5B4F-5D1075F64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884D5-D9A8-476A-4F52-FE9F7F3B9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5713CD-736E-72BD-CF0E-A0CE3F0AD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40E82-3679-2376-E593-C830C0CD17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866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198A5-64F3-E388-35EA-583B77DAE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9A1C1-76E5-64DA-5E09-905B94A8F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A59CE-B5FB-D604-929B-C27B25411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10906-DCFF-DE44-E4AF-ABBFFD5F70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963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21754-37E8-AF9E-FB2B-110B1229A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C1C7A-DCEE-5A1F-46B8-E3792CF1E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D2152-E2B2-03CB-D983-40CD2D8D8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0AE86-AE44-5ADF-8E2F-D39A66779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237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A6AA7-992A-6945-AA56-B1CC2229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EF0B4-68D0-84A3-AEEC-D20BBCA1B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A286F-24F2-4AD0-7ABA-E7274AFA2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FC551-F08B-8E38-364F-2D4E30A8AC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106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189C7-BC4A-7886-5F28-59CBDD4DB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F6DE0-D20E-AA01-5FA9-202BA2D42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503A2-B148-9A08-DE45-841DC72EF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E0677-BDCB-5711-174C-AE0F5F99E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28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3.png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Auto-Draw Requirements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Wire (SW) Wedge Series – VM Requirements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NO.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VM_REQ_Rev0_07202026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044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2026-20-07</a:t>
            </a:r>
          </a:p>
        </p:txBody>
      </p:sp>
      <p:sp>
        <p:nvSpPr>
          <p:cNvPr id="13" name="Shape 11"/>
          <p:cNvSpPr/>
          <p:nvPr/>
        </p:nvSpPr>
        <p:spPr>
          <a:xfrm>
            <a:off x="621792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8972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8972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94097-8B9A-7511-E12E-8B255D7F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BBC017-DF26-1ACC-82B3-3BE21E451F88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CFC106-E12B-6DC8-4B0F-07199A7035B9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B5FE3A-12EE-8CC6-B97D-932B53A40313}"/>
              </a:ext>
            </a:extLst>
          </p:cNvPr>
          <p:cNvSpPr/>
          <p:nvPr/>
        </p:nvSpPr>
        <p:spPr>
          <a:xfrm>
            <a:off x="812533" y="1566482"/>
            <a:ext cx="10633509" cy="140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document defines the production drawing, customer drawing, and overlay requirements for the VM Requirements series, covering both the finished wedge and the Pre-Ground Blank (PGB). Including VM45A, VF60B, VF45A,VU45A, VF60C, VF45P, VU60A, VU60C, VA55, VM45B, VM55B, VR45, VF55B, VM30A, VN45A,VR60, VU45C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DE9FAFA-5182-9D6B-3E40-F5E3BF003F00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0D1788D-29DB-3089-CE57-C5DE5684F5D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185381B-10D5-EC72-5E58-97941602ACA9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95B5817-E376-0B6F-B6F9-4E4E83B10661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4116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79" y="1622330"/>
            <a:ext cx="5556183" cy="120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09C8AC-0A3E-11BA-CA10-7913D3DEF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550" y="1055070"/>
            <a:ext cx="1331409" cy="46599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40A4FE-3078-82EF-FE05-E6CC3A745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350" y="1055070"/>
            <a:ext cx="3783908" cy="42382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2E00B7-AB35-F6BB-99D1-8A60B23B5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751" y="1847087"/>
            <a:ext cx="4599678" cy="33833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D4A7B4-9BFC-A872-D689-ED88CABFD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389624-FD5A-8700-F158-82B52F3510CF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3ED0E40-67D0-8E98-64F5-84A537E39550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866EF1-5943-B00B-87FE-74C13935307E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Shank: SW_V with SLB feature , added Hole on top 	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5D4A2FA-C7D7-7C6F-EA52-F5D484278FD1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2BEA0B3-90B6-3358-6663-CE0F98877514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D5F149-9D9D-B3CC-B7F9-7072A2E9CF8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7D86523-7141-4D1B-9AA6-F7A5E4749B43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9574D00C-C6A1-C553-BD87-8201E9571DB4}"/>
              </a:ext>
            </a:extLst>
          </p:cNvPr>
          <p:cNvSpPr/>
          <p:nvPr/>
        </p:nvSpPr>
        <p:spPr>
          <a:xfrm>
            <a:off x="868679" y="2221991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Tip detail we have STD 20°ISA , WITH VW VR , CHMFERED W2, 10°BA, 0°BA, SECOND RA2</a:t>
            </a:r>
            <a:endParaRPr lang="en-US" sz="1400" dirty="0"/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F9C84F94-6303-535F-E5B2-6B4C1F05F1B3}"/>
              </a:ext>
            </a:extLst>
          </p:cNvPr>
          <p:cNvSpPr/>
          <p:nvPr/>
        </p:nvSpPr>
        <p:spPr>
          <a:xfrm>
            <a:off x="548640" y="2418587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36ED0D-6FF9-9BCC-5ABD-A68F12F92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4199204"/>
            <a:ext cx="6020602" cy="18138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F5A003-2303-C8BB-ABBD-F878654D6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8342" y="651784"/>
            <a:ext cx="3444538" cy="5639289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E901A6D5-5079-8156-173C-6EB8F11E484E}"/>
              </a:ext>
            </a:extLst>
          </p:cNvPr>
          <p:cNvSpPr/>
          <p:nvPr/>
        </p:nvSpPr>
        <p:spPr>
          <a:xfrm>
            <a:off x="810768" y="2891069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hole parameters needed to be define !  </a:t>
            </a:r>
            <a:endParaRPr lang="en-US" sz="1400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3E4E3DCC-E0D9-80F8-BC23-F4AF231C3876}"/>
              </a:ext>
            </a:extLst>
          </p:cNvPr>
          <p:cNvSpPr/>
          <p:nvPr/>
        </p:nvSpPr>
        <p:spPr>
          <a:xfrm>
            <a:off x="490729" y="3087665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C24DDE-973F-825F-4953-125DF2BCBFC1}"/>
              </a:ext>
            </a:extLst>
          </p:cNvPr>
          <p:cNvSpPr txBox="1"/>
          <p:nvPr/>
        </p:nvSpPr>
        <p:spPr>
          <a:xfrm>
            <a:off x="6062584" y="2950914"/>
            <a:ext cx="26124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3038" indent="-173038">
              <a:tabLst>
                <a:tab pos="112713" algn="l"/>
              </a:tabLst>
            </a:pPr>
            <a:r>
              <a:rPr lang="en-US" sz="1200" dirty="0">
                <a:solidFill>
                  <a:srgbClr val="0070C0"/>
                </a:solidFill>
              </a:rPr>
              <a:t>Inputs from TM: 28-Aug-2026</a:t>
            </a:r>
          </a:p>
          <a:p>
            <a:pPr marL="173038" indent="-173038">
              <a:tabLst>
                <a:tab pos="112713" algn="l"/>
              </a:tabLst>
            </a:pPr>
            <a:r>
              <a:rPr lang="en-US" sz="1200" dirty="0">
                <a:solidFill>
                  <a:srgbClr val="0070C0"/>
                </a:solidFill>
              </a:rPr>
              <a:t>- Please add the </a:t>
            </a:r>
            <a:r>
              <a:rPr lang="en-US" sz="1200" dirty="0" err="1">
                <a:solidFill>
                  <a:srgbClr val="0070C0"/>
                </a:solidFill>
              </a:rPr>
              <a:t>Wed_TIP</a:t>
            </a:r>
            <a:r>
              <a:rPr lang="en-US" sz="1200" dirty="0">
                <a:solidFill>
                  <a:srgbClr val="0070C0"/>
                </a:solidFill>
              </a:rPr>
              <a:t> (Join) dimension line for C, M and TI/TIB brazing part. </a:t>
            </a:r>
            <a:endParaRPr lang="en-SG" sz="1200" dirty="0">
              <a:solidFill>
                <a:srgbClr val="0070C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C18E79-7E53-B861-96DC-F42B3B3E74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0300" y="3751735"/>
            <a:ext cx="2387723" cy="78109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C80DE49-5B33-54D6-DD71-775F7C799AF4}"/>
              </a:ext>
            </a:extLst>
          </p:cNvPr>
          <p:cNvCxnSpPr>
            <a:cxnSpLocks/>
          </p:cNvCxnSpPr>
          <p:nvPr/>
        </p:nvCxnSpPr>
        <p:spPr>
          <a:xfrm>
            <a:off x="6791535" y="4199204"/>
            <a:ext cx="2179252" cy="1761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CA87C7F-03F6-2308-B01A-BAD9394C543F}"/>
              </a:ext>
            </a:extLst>
          </p:cNvPr>
          <p:cNvCxnSpPr/>
          <p:nvPr/>
        </p:nvCxnSpPr>
        <p:spPr>
          <a:xfrm>
            <a:off x="8970787" y="5877135"/>
            <a:ext cx="2376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5D94732-3E3E-E22C-ABDA-7271421D7A55}"/>
              </a:ext>
            </a:extLst>
          </p:cNvPr>
          <p:cNvCxnSpPr/>
          <p:nvPr/>
        </p:nvCxnSpPr>
        <p:spPr>
          <a:xfrm>
            <a:off x="8970787" y="6044977"/>
            <a:ext cx="2376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A4A1FE-C090-CDFF-C660-9A50900CA2EB}"/>
              </a:ext>
            </a:extLst>
          </p:cNvPr>
          <p:cNvCxnSpPr>
            <a:cxnSpLocks/>
          </p:cNvCxnSpPr>
          <p:nvPr/>
        </p:nvCxnSpPr>
        <p:spPr>
          <a:xfrm flipV="1">
            <a:off x="9123187" y="5877135"/>
            <a:ext cx="0" cy="167842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31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6EAB44-54A1-F192-B383-AF1B88174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BABE6C-1A0D-F76B-1418-3083B8A87CCA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Hole Definition 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0E069F5-29D6-F8E2-3F7A-0C5CF4EB88DE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B11CA7-B290-53E6-DCC6-00DDE27F29A6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Hole Parameters are ID, IDFA, IDTD,  ID is THRU ALL 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FE2B417-560C-6B06-B3E8-EA2B2468740E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B3ECEAE-FCDE-C4C9-DAD6-FDB4F6F93ABC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44417A8-9D0B-BF23-8F5A-0555623A6305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D515C1F-503B-8C6D-24C5-7B77CA970C07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1F97FE-5B4E-FA78-61CF-BE8B757F60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" t="4976"/>
          <a:stretch>
            <a:fillRect/>
          </a:stretch>
        </p:blipFill>
        <p:spPr>
          <a:xfrm>
            <a:off x="6108696" y="2571753"/>
            <a:ext cx="6083304" cy="19145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1D39B3-AFA7-D750-1A8A-953409A75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79" y="2099388"/>
            <a:ext cx="4890815" cy="352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328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5E30E-43A4-6F6F-E2F6-EAFC59F95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46DC93-9C77-4AA9-9F53-06029658833E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A592985-74FB-6ECD-0510-3A333773F688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40A2C57-CD86-9398-AFDF-1A430AFB1E7B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 options: SW_C, SW_F, SW_CG, SW_G, SW_VG, SW_CC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E507A0E-4068-CC39-7C15-90D74990A0A5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88C038D-191B-5BC6-1559-03BF3039FBC0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ACF3E03-5B1F-DEBB-6EDB-9AFFC81274B6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FED33A3-5D34-9224-C66E-218CDDEFACE2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9507AD-5DCC-AC81-1D48-FFF7E0FA3D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59"/>
          <a:stretch>
            <a:fillRect/>
          </a:stretch>
        </p:blipFill>
        <p:spPr>
          <a:xfrm>
            <a:off x="1490130" y="2294245"/>
            <a:ext cx="9181260" cy="35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74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FADFB-390A-8483-80F5-F5B70E592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D4A415-3A67-F16F-0D0D-A46E6AF73CDB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79AD7F9-4449-1F7B-EEF5-5428F03E8601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A4C84D-AAC5-721C-F5D6-7172D77A6210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Notch type: </a:t>
            </a:r>
            <a:r>
              <a:rPr lang="en-US" sz="140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SW_LNotch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8207597-3288-AAE9-CDF4-9A48EB2B11A1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04915E5-FB5C-C962-9DF1-B8B3BA98DAC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FB2B680-3328-2C62-DB89-90AAF78F86EA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64858DA-0073-F4BA-A08A-47571BE51B5F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515E3029-EE84-F3AE-B834-6EA202584407}"/>
              </a:ext>
            </a:extLst>
          </p:cNvPr>
          <p:cNvSpPr/>
          <p:nvPr/>
        </p:nvSpPr>
        <p:spPr>
          <a:xfrm>
            <a:off x="658368" y="5731256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No need for the C value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08F4A0-FDFC-4F14-9F49-CD3AABB40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538" y="1693236"/>
            <a:ext cx="5000342" cy="34877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55C4FF-3718-6355-B198-B3FDF611D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927" y="1993392"/>
            <a:ext cx="4395686" cy="337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64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199208-C264-67A9-11A2-94D0FD480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CDEE2B-9309-D94F-CCCF-479AE08C7310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31F03CE-CC55-FE31-B6BF-DCBF7AB130D7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88B46C-C3FD-7082-58F8-7B3FBD814C29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hole types: STD (Round), Oval, Slot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0AF6AF5-0B0C-55A3-B983-737B926D448A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566D5F9-37F9-28AC-FC2F-C827FD1F66C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E68E988-832B-9E83-574A-518636AF69A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2809D99-0C8C-4D52-5BA3-47A0E56815B9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20395-8FD1-F356-841B-9F9B6EAED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084" y="1728216"/>
            <a:ext cx="6119495" cy="1746885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42C740EA-3656-ECC7-ABB0-9EE2E6A2F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5C1D603-C249-F4C0-7F48-E93EC325DA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723446"/>
              </p:ext>
            </p:extLst>
          </p:nvPr>
        </p:nvGraphicFramePr>
        <p:xfrm>
          <a:off x="6217918" y="3648890"/>
          <a:ext cx="5711825" cy="2347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13285714" imgH="4229690" progId="Paint.Picture">
                  <p:embed/>
                </p:oleObj>
              </mc:Choice>
              <mc:Fallback>
                <p:oleObj name="Bitmap Image" r:id="rId4" imgW="13285714" imgH="4229690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7918" y="3648890"/>
                        <a:ext cx="5711825" cy="23475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2">
            <a:extLst>
              <a:ext uri="{FF2B5EF4-FFF2-40B4-BE49-F238E27FC236}">
                <a16:creationId xmlns:a16="http://schemas.microsoft.com/office/drawing/2014/main" id="{CFAE0918-3E4A-728F-B4B3-B4707B26BE1D}"/>
              </a:ext>
            </a:extLst>
          </p:cNvPr>
          <p:cNvSpPr/>
          <p:nvPr/>
        </p:nvSpPr>
        <p:spPr>
          <a:xfrm>
            <a:off x="658368" y="5731256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Y will be used to position the hole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CB241A-D556-265F-3487-6AF7F14DDF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10" y="2114294"/>
            <a:ext cx="4818619" cy="369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92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2E500-8E84-C127-8B16-842FCD68E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469A7C-B9A3-A0F2-02AA-A2F78160595C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ACAB137-1659-C08F-5638-70F8F4AF1A45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3860B9-4D5C-4669-181E-18F58BA20E21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 feature: No Round BR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9332829-4156-BA84-2BFC-DDF487CDC8B8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B4AEF4B-E178-91A6-2830-5EB20BC892EF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5C53B4B-7D4E-1521-5144-C9CD3A194B6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1DECB49-45AC-4E15-6AC6-554926CD1442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A7E688F-033F-B23A-026D-FE9C9C218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2868C864-2E6C-1EC8-9DE0-2A3BD269FC21}"/>
              </a:ext>
            </a:extLst>
          </p:cNvPr>
          <p:cNvSpPr/>
          <p:nvPr/>
        </p:nvSpPr>
        <p:spPr>
          <a:xfrm>
            <a:off x="658368" y="5731256"/>
            <a:ext cx="621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0C5D9E-1E88-8433-EBD5-E902C94CB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355" y="2358777"/>
            <a:ext cx="6980525" cy="27967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317CD2-5189-609F-2700-26E2560F7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91" y="3242703"/>
            <a:ext cx="5273497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926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3FBDD-D554-7EBC-505C-9B12401CE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BB10A8-1333-CDC8-58CF-2DCEA0DE9958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78851FA-BE60-0177-D087-D4C1AE383283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9CE107-9590-2B41-2B26-A874BD918F0A}"/>
              </a:ext>
            </a:extLst>
          </p:cNvPr>
          <p:cNvSpPr/>
          <p:nvPr/>
        </p:nvSpPr>
        <p:spPr>
          <a:xfrm>
            <a:off x="868679" y="1490472"/>
            <a:ext cx="1092708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is largely consistent with the COB tool family. 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DDB1E2A-9921-9BEB-B773-E57A596B5C2F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721B2D-D38F-5BC4-3628-E183A9AC413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72BEF4F-56EA-806C-60B3-553028A8AD37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A0AFDA6-B94B-CEEE-53E9-B8F8034EBE38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BEDF9FA-D865-343A-3CB7-7989FAF4B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F790BC27-B7E8-4635-E093-980EAD261579}"/>
              </a:ext>
            </a:extLst>
          </p:cNvPr>
          <p:cNvSpPr/>
          <p:nvPr/>
        </p:nvSpPr>
        <p:spPr>
          <a:xfrm>
            <a:off x="658368" y="5739277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We may need to add the fields like Wedge type; Foot type; etc.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 We will need to add some rules of data handling ! </a:t>
            </a:r>
            <a:endParaRPr lang="en-US" sz="1400" dirty="0">
              <a:solidFill>
                <a:srgbClr val="FF0000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AF0126-4BAB-0247-FAB8-2A27037EC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608441"/>
              </p:ext>
            </p:extLst>
          </p:nvPr>
        </p:nvGraphicFramePr>
        <p:xfrm>
          <a:off x="316992" y="2412077"/>
          <a:ext cx="11369041" cy="1681279"/>
        </p:xfrm>
        <a:graphic>
          <a:graphicData uri="http://schemas.openxmlformats.org/drawingml/2006/table">
            <a:tbl>
              <a:tblPr/>
              <a:tblGrid>
                <a:gridCol w="206539">
                  <a:extLst>
                    <a:ext uri="{9D8B030D-6E8A-4147-A177-3AD203B41FA5}">
                      <a16:colId xmlns:a16="http://schemas.microsoft.com/office/drawing/2014/main" val="632970202"/>
                    </a:ext>
                  </a:extLst>
                </a:gridCol>
                <a:gridCol w="685334">
                  <a:extLst>
                    <a:ext uri="{9D8B030D-6E8A-4147-A177-3AD203B41FA5}">
                      <a16:colId xmlns:a16="http://schemas.microsoft.com/office/drawing/2014/main" val="2917501932"/>
                    </a:ext>
                  </a:extLst>
                </a:gridCol>
                <a:gridCol w="629006">
                  <a:extLst>
                    <a:ext uri="{9D8B030D-6E8A-4147-A177-3AD203B41FA5}">
                      <a16:colId xmlns:a16="http://schemas.microsoft.com/office/drawing/2014/main" val="3229497545"/>
                    </a:ext>
                  </a:extLst>
                </a:gridCol>
                <a:gridCol w="403690">
                  <a:extLst>
                    <a:ext uri="{9D8B030D-6E8A-4147-A177-3AD203B41FA5}">
                      <a16:colId xmlns:a16="http://schemas.microsoft.com/office/drawing/2014/main" val="796203894"/>
                    </a:ext>
                  </a:extLst>
                </a:gridCol>
                <a:gridCol w="3567493">
                  <a:extLst>
                    <a:ext uri="{9D8B030D-6E8A-4147-A177-3AD203B41FA5}">
                      <a16:colId xmlns:a16="http://schemas.microsoft.com/office/drawing/2014/main" val="2667737224"/>
                    </a:ext>
                  </a:extLst>
                </a:gridCol>
                <a:gridCol w="713500">
                  <a:extLst>
                    <a:ext uri="{9D8B030D-6E8A-4147-A177-3AD203B41FA5}">
                      <a16:colId xmlns:a16="http://schemas.microsoft.com/office/drawing/2014/main" val="263704530"/>
                    </a:ext>
                  </a:extLst>
                </a:gridCol>
                <a:gridCol w="863709">
                  <a:extLst>
                    <a:ext uri="{9D8B030D-6E8A-4147-A177-3AD203B41FA5}">
                      <a16:colId xmlns:a16="http://schemas.microsoft.com/office/drawing/2014/main" val="1505857838"/>
                    </a:ext>
                  </a:extLst>
                </a:gridCol>
                <a:gridCol w="3633211">
                  <a:extLst>
                    <a:ext uri="{9D8B030D-6E8A-4147-A177-3AD203B41FA5}">
                      <a16:colId xmlns:a16="http://schemas.microsoft.com/office/drawing/2014/main" val="3841264599"/>
                    </a:ext>
                  </a:extLst>
                </a:gridCol>
                <a:gridCol w="666559">
                  <a:extLst>
                    <a:ext uri="{9D8B030D-6E8A-4147-A177-3AD203B41FA5}">
                      <a16:colId xmlns:a16="http://schemas.microsoft.com/office/drawing/2014/main" val="1147050250"/>
                    </a:ext>
                  </a:extLst>
                </a:gridCol>
              </a:tblGrid>
              <a:tr h="24000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drawing#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article#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partspec#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SG Description 2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Sales 2019-2024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drawing_title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wedge_title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TL_NOM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00798"/>
                  </a:ext>
                </a:extLst>
              </a:tr>
              <a:tr h="36031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14001786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3112782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117721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VM45B-TI-1510-.625-F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140-01786-TF-B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VM45B-1510-F STANDARD (W=003)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0.625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134200"/>
                  </a:ext>
                </a:extLst>
              </a:tr>
              <a:tr h="36031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14001786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3112786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117724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VM45B-TIB-1510-.625-F W=003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140-01786-TF-B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VM45B-1510-F STANDARD (W=003)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0.625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929741"/>
                  </a:ext>
                </a:extLst>
              </a:tr>
              <a:tr h="36031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14009295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3112787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117726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VM45B-TIB-1510-3/4-F DBL=500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140-09295-TF-A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VM45B-1510-F SPECIAL (DBL=500)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814522"/>
                  </a:ext>
                </a:extLst>
              </a:tr>
              <a:tr h="36031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14009295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3112788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117727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VM45B-TIB-1510-3/4-FM DBL=500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140-09295-TF-A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VM45B-1510-F SPECIAL (DBL=500)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</a:t>
                      </a:r>
                    </a:p>
                  </a:txBody>
                  <a:tcPr marL="5210" marR="5210" marT="521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556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0768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8BBA3-6584-46AF-D013-669681515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14103B-1B6D-3C03-2961-D6DEAB4CCDF9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Drawing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043D9AC-34CB-C219-7820-0565424C74DF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C89019-C026-10C4-31BF-A43E618D1B64}"/>
              </a:ext>
            </a:extLst>
          </p:cNvPr>
          <p:cNvSpPr/>
          <p:nvPr/>
        </p:nvSpPr>
        <p:spPr>
          <a:xfrm>
            <a:off x="868679" y="1490472"/>
            <a:ext cx="4142233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customer drawing we will replicate as the same provided, following the same step as COB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686A3AB-3C00-8895-C6DD-4171D75CFDE9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031EED-7D74-E792-C8D4-273E9CAFD221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7639A00-3467-4059-986B-7A49CEB7B678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150AE62-EFC8-915A-1E35-355D6093B854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FB02086-CB92-51A6-5778-4A9820229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174159A0-A74D-EC18-CAF7-38F7687225D0}"/>
              </a:ext>
            </a:extLst>
          </p:cNvPr>
          <p:cNvSpPr/>
          <p:nvPr/>
        </p:nvSpPr>
        <p:spPr>
          <a:xfrm>
            <a:off x="519595" y="239115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AFE1496-3504-FBC0-2869-3170844246B0}"/>
              </a:ext>
            </a:extLst>
          </p:cNvPr>
          <p:cNvSpPr/>
          <p:nvPr/>
        </p:nvSpPr>
        <p:spPr>
          <a:xfrm>
            <a:off x="839634" y="220827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Front, Right &amp; Top Views</a:t>
            </a:r>
            <a:endParaRPr lang="en-US" sz="14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E4EC49CA-4D07-7341-5977-AB354841C2BD}"/>
              </a:ext>
            </a:extLst>
          </p:cNvPr>
          <p:cNvSpPr/>
          <p:nvPr/>
        </p:nvSpPr>
        <p:spPr>
          <a:xfrm>
            <a:off x="519595" y="3108960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F23A5358-2C04-B7DE-B21B-A2F834A4B395}"/>
              </a:ext>
            </a:extLst>
          </p:cNvPr>
          <p:cNvSpPr/>
          <p:nvPr/>
        </p:nvSpPr>
        <p:spPr>
          <a:xfrm>
            <a:off x="839634" y="2926080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&amp; Section Views</a:t>
            </a:r>
            <a:endParaRPr lang="en-US" sz="14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F551DD9D-779F-8BC0-2F5E-21732F608A26}"/>
              </a:ext>
            </a:extLst>
          </p:cNvPr>
          <p:cNvSpPr/>
          <p:nvPr/>
        </p:nvSpPr>
        <p:spPr>
          <a:xfrm>
            <a:off x="519595" y="381304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8AF03127-3A02-3081-906B-3A200E147115}"/>
              </a:ext>
            </a:extLst>
          </p:cNvPr>
          <p:cNvSpPr/>
          <p:nvPr/>
        </p:nvSpPr>
        <p:spPr>
          <a:xfrm>
            <a:off x="839634" y="363016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Dimensions Tables</a:t>
            </a:r>
            <a:endParaRPr lang="en-US" sz="14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A25B05DF-22D4-A7F0-8C84-C17BC6F81ED7}"/>
              </a:ext>
            </a:extLst>
          </p:cNvPr>
          <p:cNvSpPr/>
          <p:nvPr/>
        </p:nvSpPr>
        <p:spPr>
          <a:xfrm>
            <a:off x="548640" y="5731256"/>
            <a:ext cx="621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Noticed the VFL has an angle, but  Not define in the DB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F5B01E-FADD-D6F2-0BAF-B24541D53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918" y="1207007"/>
            <a:ext cx="6471244" cy="46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627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5D2AD-CBC2-26E1-D617-934FE938A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F805ED-2E06-B9A9-7FE8-7B9288080CC3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Drawing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74E236F-745E-930A-5BF1-DA68C85B451C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B547F88-62DB-3EC3-4016-87A205B0D5B6}"/>
              </a:ext>
            </a:extLst>
          </p:cNvPr>
          <p:cNvSpPr/>
          <p:nvPr/>
        </p:nvSpPr>
        <p:spPr>
          <a:xfrm>
            <a:off x="868679" y="1490472"/>
            <a:ext cx="4142233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customer drawing we will replicate as the same provided, following the same step as COB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1844702-D57C-2204-79A1-75C21E53E058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16E3123-BEE8-FC21-B025-21D7ED30AE47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31A6FD1-71A3-5111-CC11-25F9363F7BE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2DA0B01-B2EB-F8F7-C62F-F8F86DBBE6D3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02955B3-E953-DE2E-D2B2-D2AC5721D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64E9DDE-E2CA-FD81-F5E3-5BE7E265A410}"/>
              </a:ext>
            </a:extLst>
          </p:cNvPr>
          <p:cNvSpPr/>
          <p:nvPr/>
        </p:nvSpPr>
        <p:spPr>
          <a:xfrm>
            <a:off x="519595" y="239115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1E2B1E8E-5D96-8BAC-7E2F-C58BB07E1E5B}"/>
              </a:ext>
            </a:extLst>
          </p:cNvPr>
          <p:cNvSpPr/>
          <p:nvPr/>
        </p:nvSpPr>
        <p:spPr>
          <a:xfrm>
            <a:off x="839634" y="220827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Front, Right &amp; Top Views</a:t>
            </a:r>
            <a:endParaRPr lang="en-US" sz="14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8A59D0D0-0846-A88F-EC46-89B5034E9227}"/>
              </a:ext>
            </a:extLst>
          </p:cNvPr>
          <p:cNvSpPr/>
          <p:nvPr/>
        </p:nvSpPr>
        <p:spPr>
          <a:xfrm>
            <a:off x="519595" y="3108960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E6E48BA3-BD38-8CC0-9976-A0876FB4A4A3}"/>
              </a:ext>
            </a:extLst>
          </p:cNvPr>
          <p:cNvSpPr/>
          <p:nvPr/>
        </p:nvSpPr>
        <p:spPr>
          <a:xfrm>
            <a:off x="839634" y="2926080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&amp; Section Views</a:t>
            </a:r>
            <a:endParaRPr lang="en-US" sz="14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08CC91AC-A269-3C2F-A1D5-523156BEE2E3}"/>
              </a:ext>
            </a:extLst>
          </p:cNvPr>
          <p:cNvSpPr/>
          <p:nvPr/>
        </p:nvSpPr>
        <p:spPr>
          <a:xfrm>
            <a:off x="519595" y="381304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4974A171-C481-1854-364E-DB6E0E58F9F2}"/>
              </a:ext>
            </a:extLst>
          </p:cNvPr>
          <p:cNvSpPr/>
          <p:nvPr/>
        </p:nvSpPr>
        <p:spPr>
          <a:xfrm>
            <a:off x="839634" y="363016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Dimensions Tables</a:t>
            </a:r>
            <a:endParaRPr lang="en-US" sz="1400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10AFCA4B-B4FA-5507-B5BC-2D2B97F66959}"/>
              </a:ext>
            </a:extLst>
          </p:cNvPr>
          <p:cNvSpPr/>
          <p:nvPr/>
        </p:nvSpPr>
        <p:spPr>
          <a:xfrm>
            <a:off x="519595" y="4539997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EE81A5AF-EFBE-6510-D14B-CD5B76575645}"/>
              </a:ext>
            </a:extLst>
          </p:cNvPr>
          <p:cNvSpPr/>
          <p:nvPr/>
        </p:nvSpPr>
        <p:spPr>
          <a:xfrm>
            <a:off x="839634" y="4357117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Add all dimensions and parameters to views </a:t>
            </a:r>
            <a:endParaRPr lang="en-US" sz="140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B65C20F5-4EA5-C8D1-A39F-E739534EE168}"/>
              </a:ext>
            </a:extLst>
          </p:cNvPr>
          <p:cNvSpPr/>
          <p:nvPr/>
        </p:nvSpPr>
        <p:spPr>
          <a:xfrm>
            <a:off x="548640" y="5731256"/>
            <a:ext cx="621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The production drawing will follow the same as sample provided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EBECCC6-59D0-041C-8E5F-2523237E7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580" y="1067105"/>
            <a:ext cx="6305586" cy="466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44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D6384C-0B2A-2AE2-BB5B-4C15F47F8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7B7491-8090-6255-E1CD-13F787BB31CA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Requirements: Finish Wedge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BE7060E-5D30-BFCA-07B7-258EA3B4EA88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EF34FE-E89F-902E-84A2-F6972287D027}"/>
              </a:ext>
            </a:extLst>
          </p:cNvPr>
          <p:cNvSpPr/>
          <p:nvPr/>
        </p:nvSpPr>
        <p:spPr>
          <a:xfrm>
            <a:off x="868679" y="1642110"/>
            <a:ext cx="10464801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COB overlay, with different tolerance zone construction. .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FE1B684-D083-77BF-0A29-57656DAAD94E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E04B3C1-35EB-FDA5-899C-DDD2410EF8F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3A4A7D5-06B6-EDC8-E5A7-8D2E9AE09A38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638B3A1-788B-6C48-F0B8-342CFD33F1AF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24F9236-DADC-3365-1077-CFC1B0833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4D7DDA0-3EF2-493B-AFC3-76E4647087BD}"/>
              </a:ext>
            </a:extLst>
          </p:cNvPr>
          <p:cNvSpPr/>
          <p:nvPr/>
        </p:nvSpPr>
        <p:spPr>
          <a:xfrm>
            <a:off x="693928" y="5674097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Scaling the view the same way as COB, The T dimension start from TDF 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:  Only add two views to the overlays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No need to all the annotations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B81F3D-B665-D24E-1C54-C30D80DE8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25" y="1835245"/>
            <a:ext cx="4261155" cy="33806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E23107-AAAB-A0FB-8C2B-8E12EE4C9F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46" t="16417" r="24596" b="10461"/>
          <a:stretch>
            <a:fillRect/>
          </a:stretch>
        </p:blipFill>
        <p:spPr>
          <a:xfrm>
            <a:off x="1222625" y="2428247"/>
            <a:ext cx="5157628" cy="265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25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497E43-9CAD-5CF2-9A6A-7D4AEE918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AF8A6E-A49F-6500-FD1B-7FD4F955C7FE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Requirements: PGB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1CDCD5-B0B2-D2D0-3FF5-D3EAD95EBD7C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5029D8-AE11-FEF9-6304-9D4CD3F1804D}"/>
              </a:ext>
            </a:extLst>
          </p:cNvPr>
          <p:cNvSpPr/>
          <p:nvPr/>
        </p:nvSpPr>
        <p:spPr>
          <a:xfrm>
            <a:off x="848359" y="1424179"/>
            <a:ext cx="10464801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Remains unchanged from the standard wedge overlay used across all tool families. Feed Hole added 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FF01A89-25C4-33B9-3711-511E3DCE0143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5F66E30-DD01-5E18-FDAD-28754AF52AB5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D42887E-935F-BAC9-C8B4-0956494CC5AE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3F10A39-9E06-C96E-D693-EF1B98D6C14E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EE6A61A-0C6B-F66A-A8F7-8F62464C1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17EA538-00E4-402C-3573-F62234927D9B}"/>
              </a:ext>
            </a:extLst>
          </p:cNvPr>
          <p:cNvSpPr/>
          <p:nvPr/>
        </p:nvSpPr>
        <p:spPr>
          <a:xfrm>
            <a:off x="693928" y="5674097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The PGB may have the VR/VW version !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CA39B3-F8D3-56DE-CAE3-058F82006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021" y="2096260"/>
            <a:ext cx="4531895" cy="33989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66B284-3E4C-F69E-4C0C-AC3589B48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639" y="1970040"/>
            <a:ext cx="4618375" cy="346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070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5a9a5bd-3c1e-488a-8100-398586daa683" xsi:nil="true"/>
    <lcf76f155ced4ddcb4097134ff3c332f xmlns="de1cf861-4600-4865-81a1-6d5ec92f3e6a">
      <Terms xmlns="http://schemas.microsoft.com/office/infopath/2007/PartnerControls"/>
    </lcf76f155ced4ddcb4097134ff3c332f>
    <_Flow_SignoffStatus xmlns="de1cf861-4600-4865-81a1-6d5ec92f3e6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4219C90824B444ADDBA2C0D522B906" ma:contentTypeVersion="14" ma:contentTypeDescription="Create a new document." ma:contentTypeScope="" ma:versionID="54e81e102169cdfa1ddd6a17586c1df6">
  <xsd:schema xmlns:xsd="http://www.w3.org/2001/XMLSchema" xmlns:xs="http://www.w3.org/2001/XMLSchema" xmlns:p="http://schemas.microsoft.com/office/2006/metadata/properties" xmlns:ns2="de1cf861-4600-4865-81a1-6d5ec92f3e6a" xmlns:ns3="85a9a5bd-3c1e-488a-8100-398586daa683" targetNamespace="http://schemas.microsoft.com/office/2006/metadata/properties" ma:root="true" ma:fieldsID="67b61f29e5d88471570d721126f660cb" ns2:_="" ns3:_="">
    <xsd:import namespace="de1cf861-4600-4865-81a1-6d5ec92f3e6a"/>
    <xsd:import namespace="85a9a5bd-3c1e-488a-8100-398586daa6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_Flow_SignoffStatu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1cf861-4600-4865-81a1-6d5ec92f3e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14" nillable="true" ma:displayName="Sign-off status" ma:internalName="Sign_x002d_off_x0020_status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d835ff6-2f96-4195-a486-acbbae763f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a9a5bd-3c1e-488a-8100-398586daa683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c0e72a6-b55d-4dc6-9af7-73e6f7ccd59c}" ma:internalName="TaxCatchAll" ma:showField="CatchAllData" ma:web="85a9a5bd-3c1e-488a-8100-398586daa6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357BE7-DCB8-4FCD-8C5E-5233A844D766}">
  <ds:schemaRefs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de1cf861-4600-4865-81a1-6d5ec92f3e6a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purl.org/dc/terms/"/>
    <ds:schemaRef ds:uri="http://www.w3.org/XML/1998/namespace"/>
    <ds:schemaRef ds:uri="85a9a5bd-3c1e-488a-8100-398586daa683"/>
  </ds:schemaRefs>
</ds:datastoreItem>
</file>

<file path=customXml/itemProps2.xml><?xml version="1.0" encoding="utf-8"?>
<ds:datastoreItem xmlns:ds="http://schemas.openxmlformats.org/officeDocument/2006/customXml" ds:itemID="{ECE96083-8577-4E57-8A37-1B4EE6EA42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69A473-D1F3-4F65-8C57-C2DE8EC532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1cf861-4600-4865-81a1-6d5ec92f3e6a"/>
    <ds:schemaRef ds:uri="85a9a5bd-3c1e-488a-8100-398586daa6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Microsoft Office PowerPoint</Application>
  <PresentationFormat>Widescreen</PresentationFormat>
  <Paragraphs>153</Paragraphs>
  <Slides>14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Office Theme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TM Tam</cp:lastModifiedBy>
  <cp:revision>33</cp:revision>
  <dcterms:created xsi:type="dcterms:W3CDTF">2026-07-15T07:12:43Z</dcterms:created>
  <dcterms:modified xsi:type="dcterms:W3CDTF">2026-08-28T02:43:50Z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0x010100324219C90824B444ADDBA2C0D522B906</vt:lpwstr>
  </property>
  <property fmtid="{D5CDD505-2E9C-101B-9397-08002B2CF9AE}" pid="3" name="MediaServiceImageTags">
    <vt:lpwstr/>
  </property>
</Properties>
</file>