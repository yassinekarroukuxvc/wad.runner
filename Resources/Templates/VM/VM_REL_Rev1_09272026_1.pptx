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2"/>
    <p:sldId id="260" r:id="rId3"/>
    <p:sldId id="300" r:id="rId4"/>
    <p:sldId id="261" r:id="rId5"/>
    <p:sldId id="262" r:id="rId6"/>
    <p:sldId id="293" r:id="rId7"/>
    <p:sldId id="263" r:id="rId8"/>
    <p:sldId id="264" r:id="rId9"/>
    <p:sldId id="269" r:id="rId10"/>
    <p:sldId id="265" r:id="rId11"/>
    <p:sldId id="272" r:id="rId12"/>
    <p:sldId id="266" r:id="rId13"/>
    <p:sldId id="284" r:id="rId14"/>
    <p:sldId id="286" r:id="rId15"/>
    <p:sldId id="301" r:id="rId16"/>
    <p:sldId id="287" r:id="rId17"/>
    <p:sldId id="288" r:id="rId18"/>
    <p:sldId id="274" r:id="rId19"/>
    <p:sldId id="275" r:id="rId20"/>
    <p:sldId id="298" r:id="rId21"/>
    <p:sldId id="276" r:id="rId22"/>
    <p:sldId id="277" r:id="rId23"/>
    <p:sldId id="296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100" d="100"/>
          <a:sy n="100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588C11-5393-8324-3146-69ABA00A72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F0FA9-AAB9-A60A-C494-F11F984E9D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93FE-E9D3-4B10-B499-4235062A8B3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61970-10B0-1539-9780-E6FE15D01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7C85-C158-9B78-E8BD-CD7FBC762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9A78-DF21-4F81-96A1-9852810E2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94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E5E3A-6FB5-47BF-ABCF-397F6C94D529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061FC-C60C-444C-8470-5860212819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86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4789-9352-75CB-F53C-459FB44F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10236-B90B-6B25-2588-AFD02F862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C7C0E-03FB-F2C5-E817-DC7F4D85D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49C2E-25CF-0ECF-7E48-C0EF758C2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030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534B-5356-2980-B3D4-BF6B37F1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C617C-0C9E-0A18-66BA-C528D28B9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FF11C-0A97-8B78-E67F-7F1CFC9F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FF85-48BF-5D25-C010-2E161BA74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80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9867-31E5-7933-FB68-40102627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53629-3CEB-89EC-5551-C840B336E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342C5-5FF6-2F5D-C880-3DAECFA0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58BC-28E2-E393-F785-9CCE5ACFC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1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3937-AF42-F6AC-4353-E54FF89F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C6E49-0C8A-3942-BFA9-92BE4BF81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F885A-E641-4D12-D4ED-48D8433E7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6E705-F538-B96C-BDBA-078AF7F7E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64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0653-0757-AA88-09C1-BF198104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5D99B-BB38-D9E8-7F27-5EF0AFF1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AC42-6E33-65FD-F6C7-042A259E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1004-E055-5783-058E-F0CED9880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3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380C-12AF-A19E-DEF1-949FB20A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4A28-359C-03C8-8BD5-FCAB855E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0CCFD-182F-EC68-89FA-D959B360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3C50D-522C-B7FD-9C06-1649E7B5D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4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320B-3CE4-B816-8CE7-5AFCE65B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249D-17D7-AAAE-6B81-EE1B9519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78595-B227-F219-21B6-0F4D6D0E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35ED-F90A-7728-106F-EE30C5CBD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51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51D2-DE4C-4E06-6C72-948269BC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719E0-C59F-37B7-7585-08F948C9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CC0A-ADCB-C533-B89A-260C3C470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99CF3-7BA5-9081-9173-44D02ECB7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82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A0DF-05BE-306B-7088-880EB6AD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A6DB-E2D0-BCBA-8293-30F806D35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84362-B7FF-AAE1-D354-63B90EFDD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80829-D4DB-7A72-BC47-707B7D6FC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10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037E-3774-65B8-D9D8-9F550AC8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451B-C777-D7D3-C282-233200594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35BDA-AB04-43DF-1163-80907391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60FA-9592-1534-3AF6-58E3C7A7A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77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DE88-92A0-6CFA-842A-009E9BEA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027B-0355-9456-703E-B049A561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2D116-BCF3-19DE-9A76-BAAB1004E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22AE9-4109-3936-6498-1C1AFE22C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50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3407-9F67-A20E-1CB6-70A8322D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CE68C-6A9F-6888-D17D-D7A30AAAB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C37D0-89CC-BA1D-3A75-3E1AF0ED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587D7-7F59-4B70-6A77-DDD492455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35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D87B-C21D-0CB5-3D3E-7EAA727B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E3F55-B508-1BD7-B839-5FC73BC9C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F08CE-AF6A-51A7-384F-4AED93EA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679EE-CBE4-270A-A8C2-77FB38369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960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8ED0-1637-4D04-0103-A45FE915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19A9-4DF4-0B98-8850-C365E4F6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B6311-BAE9-8E50-DA2F-8B15C6C22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471B5-BE31-9462-60BD-A45F1994C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22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34CB-558B-05F6-EF58-E77DEB0B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1364D-FB69-BFFE-910C-7DDB1942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1E907-AE52-1B9B-E1F4-B2D118C83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C658-8082-4787-9EE7-6C4E2092D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6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3B13-2BEC-5273-7AC1-D2103122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D767-491E-D450-FB17-0D8EFA41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936B0-44F9-1EBA-CC88-92C0D9566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A3C4-53B9-9517-9DE9-5DCD5D2A2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260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679C-CEDC-E78F-799D-D6FCB4D5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46391-50BD-7869-F2A4-C78E05B9A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9C50-14D7-54B2-0D8D-8539274D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391F-147B-1B23-65B9-80AA00B1D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502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A803-EB30-3AB8-03EC-588F5AEA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A001F-C3FC-95B2-25AC-253D211D4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18BE0-509E-7C99-51EB-99C741BEB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0B5AA-CB8F-7A3A-EB6D-0E0E3D5F4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22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193B-2393-0634-8903-6925613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C5EA6-8EDA-199D-9D8F-40401A9A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AF05-7EF8-33B6-328F-E91EF0C5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6B5E-4BDD-66C4-D410-CA43E3602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276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42E8-CEB7-931F-9B39-7C35C50D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D989-E9B1-B453-2EAD-E4654619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83F4-1C66-E579-E5EE-BEB9F3C7C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1FE1-5951-A3C2-1BB0-731D2C1F2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36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F73C9-A47C-E8BC-ABA0-FDFD6800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1549F-B461-CA86-ED55-98D46774F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0A83B-3A15-12E5-022B-56F45142F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89F19-7904-D438-CC82-646C4CEF4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009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6CAB-2392-F0C5-A62A-8006C5015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4CD1-85A9-4CC9-81FA-75357A1C3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9624-FC93-68C1-D30A-68565D00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F2F8-93FC-8954-24EA-06EDC688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8C16-E36F-7150-C2E2-6551DEFC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2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9C76-6BF0-6286-63A0-C273A184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FA68-39DF-6C75-E7DB-CEF82A71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0C8F-754D-56EB-4260-4F282E0B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A536-67D7-7638-A235-6C18CA19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4B1B-76E5-1C15-50A7-9A9934FE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292A-B3D4-39FE-31AB-98418E53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4077-FF6B-4644-8551-A2B2BF006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1C31-96F0-5492-A76E-96AADBB7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0C738-25D8-DBD9-7FF3-74FA72EF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8E07-6387-FD4F-9E95-75239919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FF9B-DF47-D6D7-8C3A-E9A79D53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B4C5-A1EC-C9A2-2509-673340B1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32-06F3-26AC-2F34-F58499E8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A087-AF87-FF82-6D93-2995F234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15029-94DB-EF9F-9822-0B4A6DB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32DD5-FA4C-7EDC-468D-DF23D7EA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1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4CE-FDA7-A3A8-A8CD-0DF6C646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8735-D338-71D5-BDF9-5C504B01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31A3-EC28-EB15-E24F-DDFE61DF0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BBE3F-C5CF-FB5B-16B9-CC2FB8FD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39D4F-A719-98BE-F9AA-E13F8C1C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CAECF-2FCD-357A-716F-B5852114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ACAB-21A9-7673-D876-B1A16919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16458-B3BB-CE4E-8CEB-5C2B2CE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0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A1DC-9ADA-8155-1036-0106284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9AB49-D12A-DF62-8E18-7102D0D6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92904-C4AD-79A8-DD86-BE62ED9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1DEFC-37C4-16B4-3578-993EB529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1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4747-E094-6BE0-C5A8-91E40A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AE805-4E06-B52E-4AA7-E12292F4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9565-5B28-4A72-D85B-76191BE9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A0FF-76A4-7D71-13CB-D2A5047B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495-1D2B-E698-531D-40098B0E0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4E649-00B5-E760-3874-FDF56D80B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D2E13-119E-10FA-BD70-D479F7E1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2C9B-502E-3347-3E01-4B09CA1A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18E4-48B6-569A-5106-75EC9A21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3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7782-6BB6-7E73-2AC3-E0AC996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8499A-5705-A33C-D370-B13294FF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C9875-4EA1-87CC-1C39-1A42AEF40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1F31-D882-2E42-AF6C-EE34464E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4BB-D683-CE15-099B-6351A359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F4DB9-E8D3-6244-F113-2FC6E6FD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4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60F-D9E7-D125-ADBC-57A80C04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D216B-086D-D6C6-E7C5-19E59306E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5F6C-F8BF-42D2-92C7-88E56B81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35CA-A0FE-4B27-A6D2-D39CC6CF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AD5D7-3E6D-7239-34CF-CA18884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7D3AD-9453-123B-3BEF-00D0D90E6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D6F44-6F37-6536-CEC0-632928AD3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43A7-5EAE-35E8-7320-C7861400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3473-5614-B1FB-DE63-2D3A5342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C424-CBBC-043D-61C1-2F504D50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43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921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B4C3E-779A-572F-969C-1D280A8F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ECA7-7EB7-6E0A-70BB-FA505CDF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1EBD-FC5B-F664-4DC7-78F698AEA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4F06-308A-2564-1416-F1F9BDED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8D486-FDCB-1905-8B3B-37F2210A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2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T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Rules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VM Series – Rules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VM_REL_Rev1_09272026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2026-09-27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Series – Overview &amp; Construction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6FFB5-791C-9078-1C4B-BC50848B26AA}"/>
              </a:ext>
            </a:extLst>
          </p:cNvPr>
          <p:cNvSpPr txBox="1"/>
          <p:nvPr/>
        </p:nvSpPr>
        <p:spPr>
          <a:xfrm>
            <a:off x="760307" y="759882"/>
            <a:ext cx="10794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Autobonding: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VM series combines all standard wedge features with a cavity-guide design, widely used for small aluminum wire bonding. Its elliptical back radius keeps the wire centered in the tool for more accurate bond placement.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5699266-FB61-438E-F3BA-CC32597DE3C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CB1CF-9752-EA32-5A71-A8C9655209D8}"/>
              </a:ext>
            </a:extLst>
          </p:cNvPr>
          <p:cNvSpPr txBox="1"/>
          <p:nvPr/>
        </p:nvSpPr>
        <p:spPr>
          <a:xfrm>
            <a:off x="698808" y="1649633"/>
            <a:ext cx="10794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Construction: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Shank style: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with the optional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feature.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3D models are built from the sketches below, which hold every dimension needed for the 3D models and drawings.</a:t>
            </a:r>
            <a:endParaRPr lang="en-US" sz="14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7E8C01-A1A9-CF2D-F16B-7D37C77682BF}"/>
              </a:ext>
            </a:extLst>
          </p:cNvPr>
          <p:cNvSpPr/>
          <p:nvPr/>
        </p:nvSpPr>
        <p:spPr>
          <a:xfrm>
            <a:off x="569363" y="1762410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230C8C-1D6F-2407-FA54-C2EACFEC147B}"/>
              </a:ext>
            </a:extLst>
          </p:cNvPr>
          <p:cNvSpPr txBox="1"/>
          <p:nvPr/>
        </p:nvSpPr>
        <p:spPr>
          <a:xfrm>
            <a:off x="5005065" y="3224728"/>
            <a:ext cx="3067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suppress these features!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7FB23-55BD-EDD7-6F13-B60C6DE68AF5}"/>
              </a:ext>
            </a:extLst>
          </p:cNvPr>
          <p:cNvSpPr txBox="1"/>
          <p:nvPr/>
        </p:nvSpPr>
        <p:spPr>
          <a:xfrm>
            <a:off x="709645" y="4558352"/>
            <a:ext cx="10794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depends on the foot type:}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{VG groove: foot_depth = GD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{C groove: foot_depth = CD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{G groove: foot_depth = GD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{Flat W: foot_depth = 0</a:t>
            </a:r>
            <a:endParaRPr lang="en-US" sz="1400" dirty="0"/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funnel_gap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driven by an equation. When the SLB feature is active, set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 = 0°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that equation.</a:t>
            </a:r>
            <a:endParaRPr lang="en-US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DA8E84-60FB-69E7-CE0C-40763AD2557B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829027" y="3378617"/>
            <a:ext cx="1176038" cy="970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B0B46AD-C679-1C7C-BD9A-3EF8F314401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378" y="2739836"/>
            <a:ext cx="3333649" cy="138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A76FB-CDC1-B846-36E0-22E3D2E96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8B2E09-14E2-C97F-ED6E-ABC180E9BB2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Series – VRA Angle Rule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5EDCCB8-A906-E0CB-8705-F2C6E2F3EFE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9002D8-4DBA-F9D6-D514-D7C6D84DB0D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F7B3822-73BE-1D91-1BA9-2FA2850F5B2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05A1A-96A6-913A-D761-A610D10365C5}"/>
              </a:ext>
            </a:extLst>
          </p:cNvPr>
          <p:cNvSpPr txBox="1"/>
          <p:nvPr/>
        </p:nvSpPr>
        <p:spPr>
          <a:xfrm>
            <a:off x="760307" y="759882"/>
            <a:ext cx="10794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VRA angle: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Additional VRA angle rules, per the latest update from SPT.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35ACF60-7535-C4F4-8E3F-6CA4B6D22C26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C3DFC-C462-63F3-88CB-90D8418E2398}"/>
              </a:ext>
            </a:extLst>
          </p:cNvPr>
          <p:cNvSpPr txBox="1"/>
          <p:nvPr/>
        </p:nvSpPr>
        <p:spPr>
          <a:xfrm>
            <a:off x="548640" y="1658142"/>
            <a:ext cx="107943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arrow shows where the VRA angle is placed.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database gives VRA = 90°, the program must enter 0°.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Otherwise, use the VRA value from the database.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90° angle at the top is fixed – do not change it.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annotation name is unchanged, so drawing positioning still works.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the VR option, also see the overlay changes on the last slides.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778D7-557E-295B-97D3-AE1128E186B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BD2EF"/>
              </a:clrFrom>
              <a:clrTo>
                <a:srgbClr val="CBD2E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91450" y="1134922"/>
            <a:ext cx="4127308" cy="314911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34BD51-4289-BD53-096A-D1D628B73720}"/>
              </a:ext>
            </a:extLst>
          </p:cNvPr>
          <p:cNvCxnSpPr>
            <a:cxnSpLocks/>
          </p:cNvCxnSpPr>
          <p:nvPr/>
        </p:nvCxnSpPr>
        <p:spPr>
          <a:xfrm>
            <a:off x="5945832" y="1886933"/>
            <a:ext cx="3741093" cy="1294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11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75DE-9F19-528B-2C80-ABECE116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C7D087-87FC-9BB7-F45B-2C469CEAD05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 3D Model – Features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C69386-4328-D96E-6A33-AFB6C3D0FF9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A6CE21-EE56-4479-16C7-2CE3C2D509E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57A4E5-0B05-E9A3-68B7-398154948EC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64C6-CA5D-338D-A225-AFE95A673B25}"/>
              </a:ext>
            </a:extLst>
          </p:cNvPr>
          <p:cNvSpPr txBox="1"/>
          <p:nvPr/>
        </p:nvSpPr>
        <p:spPr>
          <a:xfrm>
            <a:off x="760306" y="759882"/>
            <a:ext cx="701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PGB 3D model (Customer / Production drawings):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for the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shank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case: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A68F018-24F1-4006-A8C6-38A3D762E88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EA9345-5308-8967-5FBD-6F412F591CC7}"/>
              </a:ext>
            </a:extLst>
          </p:cNvPr>
          <p:cNvGrpSpPr/>
          <p:nvPr/>
        </p:nvGrpSpPr>
        <p:grpSpPr>
          <a:xfrm>
            <a:off x="4029879" y="2484774"/>
            <a:ext cx="4925807" cy="307777"/>
            <a:chOff x="4092326" y="1688590"/>
            <a:chExt cx="4925807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2C8642-4956-DAD3-7027-E25090E217A9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– requires TD, TDF</a:t>
              </a:r>
              <a:endParaRPr lang="en-US" sz="14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03A33F8-A12D-D217-A1E4-EF1378835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1C4013F-F0C1-AC31-16B5-63228FF6253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" y="1630965"/>
            <a:ext cx="3400900" cy="288647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9C82B15-55D8-B2D5-B6DF-C622B2237413}"/>
              </a:ext>
            </a:extLst>
          </p:cNvPr>
          <p:cNvGrpSpPr/>
          <p:nvPr/>
        </p:nvGrpSpPr>
        <p:grpSpPr>
          <a:xfrm>
            <a:off x="4029879" y="2941165"/>
            <a:ext cx="4925807" cy="307777"/>
            <a:chOff x="4092326" y="1688590"/>
            <a:chExt cx="4925807" cy="3077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E7ABF0-AFFE-2C30-2C7A-0B166B6A4908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– requires W, ISA</a:t>
              </a:r>
              <a:endParaRPr lang="en-US" sz="1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F128356-4381-C35E-2FE3-7EA8604D9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961025-9154-794E-16C1-DBC7BDC61B99}"/>
              </a:ext>
            </a:extLst>
          </p:cNvPr>
          <p:cNvGrpSpPr/>
          <p:nvPr/>
        </p:nvGrpSpPr>
        <p:grpSpPr>
          <a:xfrm>
            <a:off x="4029879" y="3369078"/>
            <a:ext cx="4925807" cy="307777"/>
            <a:chOff x="4092326" y="1688590"/>
            <a:chExt cx="4925807" cy="3077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E3CE56-5F58-0BB1-E34E-8CF30DBFFC9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– requires FD, T, RA, BA</a:t>
              </a:r>
              <a:endParaRPr lang="en-US" sz="14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3A128EC-17BF-65BB-409A-B7E3AFCD4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AB5003-A7DB-5076-C889-C13CD87F22BE}"/>
              </a:ext>
            </a:extLst>
          </p:cNvPr>
          <p:cNvGrpSpPr/>
          <p:nvPr/>
        </p:nvGrpSpPr>
        <p:grpSpPr>
          <a:xfrm>
            <a:off x="4029879" y="3789372"/>
            <a:ext cx="4925807" cy="307777"/>
            <a:chOff x="4092326" y="1688590"/>
            <a:chExt cx="4925807" cy="3077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317F1B-F71A-6204-47A5-ABA629020C27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– requires VR, VRA, VW, VRR</a:t>
              </a:r>
              <a:endParaRPr lang="en-US" sz="14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FC50C98-1BEE-52C9-F0B6-78B42FDC3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E8B009-00AD-1644-F1B9-030170609EC9}"/>
              </a:ext>
            </a:extLst>
          </p:cNvPr>
          <p:cNvGrpSpPr/>
          <p:nvPr/>
        </p:nvGrpSpPr>
        <p:grpSpPr>
          <a:xfrm>
            <a:off x="4029879" y="4232530"/>
            <a:ext cx="4925807" cy="307777"/>
            <a:chOff x="4092326" y="1688590"/>
            <a:chExt cx="4925807" cy="30777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6A2E95-5122-105A-971F-D8CE39512C0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– requires VBL, VBLR, T</a:t>
              </a:r>
              <a:endParaRPr lang="en-US" sz="14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08F88B1-8F06-EF17-C44B-C16B82F61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C58D79B0-ED0B-B1CA-FBE7-A088B4E920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34801" y="1110400"/>
            <a:ext cx="896893" cy="49581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F27B32C-AFB7-5E9A-8CD2-6AC086D45EB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92277" y="4586513"/>
            <a:ext cx="2800741" cy="447737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FA429FD-5E96-EBA1-34D3-5310723C8B0A}"/>
              </a:ext>
            </a:extLst>
          </p:cNvPr>
          <p:cNvGrpSpPr/>
          <p:nvPr/>
        </p:nvGrpSpPr>
        <p:grpSpPr>
          <a:xfrm>
            <a:off x="4029879" y="4680127"/>
            <a:ext cx="4925807" cy="307777"/>
            <a:chOff x="4092326" y="1688590"/>
            <a:chExt cx="4925807" cy="30777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BDDC61-E0E2-9FF5-A30B-CA7DBEAD5A60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– requires C, ND, NR, NA, FTA</a:t>
              </a:r>
              <a:endParaRPr lang="en-US" sz="14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C4F413F-DF99-C2A7-3CC3-BBE6F2E1B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24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57E4-1B73-52D4-9ACF-52B58AFE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647C7-9B9F-3B8E-2056-F741A65ED24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3D Model – Features &amp; Wire Exit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2A6522-4086-41FE-30AF-C398A9A7F03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A9FDE-DC58-F77C-4834-B69259327AB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E063E-485C-3543-C2E3-330644AAB51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C349-8834-781B-A271-9C893A398A8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FG 3D model (Customer / Production drawings):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for the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shank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case: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E093B4A-ACB1-8139-6FC2-7EDDDEFCDA1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40048DF-E43E-F2BA-BEF7-8A185F6BB81B}"/>
              </a:ext>
            </a:extLst>
          </p:cNvPr>
          <p:cNvGrpSpPr/>
          <p:nvPr/>
        </p:nvGrpSpPr>
        <p:grpSpPr>
          <a:xfrm>
            <a:off x="2424303" y="2007745"/>
            <a:ext cx="4925807" cy="261610"/>
            <a:chOff x="4092326" y="1688590"/>
            <a:chExt cx="4925807" cy="2616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F1FCD8-5CB0-7F15-EC01-879CD6A9B55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– requires W2</a:t>
              </a:r>
              <a:endParaRPr lang="en-US" sz="11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2FA1E4-E93E-A347-823F-BF6F88F73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F2271E0-9ACD-975D-9541-CE6577DF3AB3}"/>
              </a:ext>
            </a:extLst>
          </p:cNvPr>
          <p:cNvGrpSpPr/>
          <p:nvPr/>
        </p:nvGrpSpPr>
        <p:grpSpPr>
          <a:xfrm>
            <a:off x="2424303" y="2249047"/>
            <a:ext cx="4925807" cy="261610"/>
            <a:chOff x="4092326" y="1688590"/>
            <a:chExt cx="4925807" cy="2616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50011E2-24E9-84F8-80DE-3D66058CDC17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– requires RA2, RA2H</a:t>
              </a:r>
              <a:endParaRPr lang="en-US" sz="11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51537CF-46F2-1368-2678-3235C3E17F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DA6D6AF-E6DC-7A44-EC99-E4CF46633343}"/>
              </a:ext>
            </a:extLst>
          </p:cNvPr>
          <p:cNvGrpSpPr/>
          <p:nvPr/>
        </p:nvGrpSpPr>
        <p:grpSpPr>
          <a:xfrm>
            <a:off x="2424303" y="2479735"/>
            <a:ext cx="4925807" cy="261610"/>
            <a:chOff x="4092326" y="1688590"/>
            <a:chExt cx="4925807" cy="26161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3020C6-3096-9989-1ADD-BB0C29CCA8A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– requires FRO</a:t>
              </a:r>
              <a:endParaRPr lang="en-US" sz="11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C0912C6-B855-FB55-D1F1-8D15D1EDCC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1D9F9A-BC76-B22B-B7A6-476E0582962D}"/>
              </a:ext>
            </a:extLst>
          </p:cNvPr>
          <p:cNvGrpSpPr/>
          <p:nvPr/>
        </p:nvGrpSpPr>
        <p:grpSpPr>
          <a:xfrm>
            <a:off x="2496143" y="2720096"/>
            <a:ext cx="7754531" cy="261610"/>
            <a:chOff x="4092326" y="1688590"/>
            <a:chExt cx="7754531" cy="2616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CF4EBE-6313-8EFB-1BDE-5DE49C32DBAA}"/>
                </a:ext>
              </a:extLst>
            </p:cNvPr>
            <p:cNvSpPr txBox="1"/>
            <p:nvPr/>
          </p:nvSpPr>
          <p:spPr>
            <a:xfrm>
              <a:off x="5198127" y="1688590"/>
              <a:ext cx="66487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– requires ID, IDTD, IDFA</a:t>
              </a:r>
              <a:endParaRPr lang="en-US" sz="1100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7E9B737-A7F7-D437-0799-2D142A226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47BBB5CC-17F5-A9F8-BA89-C97C5DD8AC3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2876" y="3333003"/>
            <a:ext cx="1751427" cy="284875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EA90A11-9B28-2946-FA9D-687CA781FF3C}"/>
              </a:ext>
            </a:extLst>
          </p:cNvPr>
          <p:cNvSpPr/>
          <p:nvPr/>
        </p:nvSpPr>
        <p:spPr>
          <a:xfrm>
            <a:off x="959005" y="3723989"/>
            <a:ext cx="1551621" cy="56049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26E32E-29DC-30B5-8C04-68FCBA80B739}"/>
              </a:ext>
            </a:extLst>
          </p:cNvPr>
          <p:cNvSpPr/>
          <p:nvPr/>
        </p:nvSpPr>
        <p:spPr>
          <a:xfrm>
            <a:off x="959005" y="4489747"/>
            <a:ext cx="1551621" cy="77427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7792C6-91AB-F30D-F32A-5635293F40B4}"/>
              </a:ext>
            </a:extLst>
          </p:cNvPr>
          <p:cNvSpPr/>
          <p:nvPr/>
        </p:nvSpPr>
        <p:spPr>
          <a:xfrm>
            <a:off x="959005" y="5437998"/>
            <a:ext cx="1551621" cy="8055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8F0746-C413-3D61-63F5-33B8E7374477}"/>
              </a:ext>
            </a:extLst>
          </p:cNvPr>
          <p:cNvGrpSpPr/>
          <p:nvPr/>
        </p:nvGrpSpPr>
        <p:grpSpPr>
          <a:xfrm>
            <a:off x="2510626" y="3879005"/>
            <a:ext cx="8952827" cy="261610"/>
            <a:chOff x="4092326" y="1688590"/>
            <a:chExt cx="6917993" cy="26161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34C2A7-EEE4-5398-2174-C1C9E8E37577}"/>
                </a:ext>
              </a:extLst>
            </p:cNvPr>
            <p:cNvSpPr txBox="1"/>
            <p:nvPr/>
          </p:nvSpPr>
          <p:spPr>
            <a:xfrm>
              <a:off x="5198126" y="1688590"/>
              <a:ext cx="58121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Standard hole wire exit (optional): activate all these features – requires H, HA, Y, FNA, funnel_gap</a:t>
              </a:r>
              <a:endParaRPr lang="en-US" sz="11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CF61C12-ACA8-90FF-2228-2FFB2D98BF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241A06-895E-3CBB-EB67-C7E24AB7AFC2}"/>
              </a:ext>
            </a:extLst>
          </p:cNvPr>
          <p:cNvGrpSpPr/>
          <p:nvPr/>
        </p:nvGrpSpPr>
        <p:grpSpPr>
          <a:xfrm>
            <a:off x="2526553" y="4696019"/>
            <a:ext cx="9405252" cy="261610"/>
            <a:chOff x="4092326" y="1688590"/>
            <a:chExt cx="7942211" cy="26161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B30D1F0-4F4C-20DB-CCE3-F6635D4272CF}"/>
                </a:ext>
              </a:extLst>
            </p:cNvPr>
            <p:cNvSpPr txBox="1"/>
            <p:nvPr/>
          </p:nvSpPr>
          <p:spPr>
            <a:xfrm>
              <a:off x="5198126" y="1688590"/>
              <a:ext cx="68364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Oval hole wire exit (optional): activate all these features – requires HW, HH, HA, Y, FNA, funnel_gap</a:t>
              </a:r>
              <a:endParaRPr lang="en-US" sz="110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83CB1CF-5291-C0F5-91B7-66C999CF9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589EB7-2607-A733-7E6B-8EE1D6CF245D}"/>
              </a:ext>
            </a:extLst>
          </p:cNvPr>
          <p:cNvGrpSpPr/>
          <p:nvPr/>
        </p:nvGrpSpPr>
        <p:grpSpPr>
          <a:xfrm>
            <a:off x="2510626" y="5625294"/>
            <a:ext cx="8841315" cy="261610"/>
            <a:chOff x="4092326" y="1688590"/>
            <a:chExt cx="8841315" cy="26161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9C512D6-862E-B784-926B-413BE3661F8B}"/>
                </a:ext>
              </a:extLst>
            </p:cNvPr>
            <p:cNvSpPr txBox="1"/>
            <p:nvPr/>
          </p:nvSpPr>
          <p:spPr>
            <a:xfrm>
              <a:off x="5198127" y="1688590"/>
              <a:ext cx="77355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Slot wire exit (optional): activate all these features – requires SW, ST, Y, FNA, funnel_gap</a:t>
              </a:r>
              <a:endParaRPr lang="en-US" sz="11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3852B33-7FB1-8FDF-C0E8-19F297F97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3CF1C5A-2A7D-5AA4-D9F3-476F3395D4A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973" y="1570396"/>
            <a:ext cx="2135294" cy="1630978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C036AE5-E24E-F7CA-2706-D96ADAD3EE0C}"/>
              </a:ext>
            </a:extLst>
          </p:cNvPr>
          <p:cNvGrpSpPr/>
          <p:nvPr/>
        </p:nvGrpSpPr>
        <p:grpSpPr>
          <a:xfrm>
            <a:off x="2203494" y="2952965"/>
            <a:ext cx="7754531" cy="261610"/>
            <a:chOff x="4092326" y="1688590"/>
            <a:chExt cx="7754531" cy="26161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4EB9A4-303B-099B-6E2A-9CD51D979018}"/>
                </a:ext>
              </a:extLst>
            </p:cNvPr>
            <p:cNvSpPr txBox="1"/>
            <p:nvPr/>
          </p:nvSpPr>
          <p:spPr>
            <a:xfrm>
              <a:off x="5198127" y="1688590"/>
              <a:ext cx="66487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– only if TIP is in the DB</a:t>
              </a:r>
              <a:endParaRPr lang="en-US" sz="1100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3A4BDA4-57A0-9805-B686-939A0C41D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B0F0EC51-D84B-072A-881B-F05513435A2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88120" y="1510270"/>
            <a:ext cx="2766853" cy="1739164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D3539204-478E-DDCD-723C-C445459163BC}"/>
              </a:ext>
            </a:extLst>
          </p:cNvPr>
          <p:cNvGrpSpPr/>
          <p:nvPr/>
        </p:nvGrpSpPr>
        <p:grpSpPr>
          <a:xfrm>
            <a:off x="7883929" y="2926920"/>
            <a:ext cx="3112423" cy="261610"/>
            <a:chOff x="4092326" y="1688590"/>
            <a:chExt cx="2405019" cy="26161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5F2D00A-356A-A218-E117-7F95943D3B2E}"/>
                </a:ext>
              </a:extLst>
            </p:cNvPr>
            <p:cNvSpPr txBox="1"/>
            <p:nvPr/>
          </p:nvSpPr>
          <p:spPr>
            <a:xfrm>
              <a:off x="5198127" y="1688590"/>
              <a:ext cx="12992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– requires NR</a:t>
              </a:r>
              <a:endParaRPr lang="en-US" sz="11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E9898F9-193E-B6FA-AF1E-70F125CDDD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480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1D9E-BF4C-C1B7-B55C-C615599A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68B95C-66A8-7598-3121-716FEBFAFB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440" y="1523060"/>
            <a:ext cx="2341806" cy="336335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798107D-F072-9257-6B81-4004A1E3983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3D Model – Groove Features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DD7219-97DC-2A81-73A2-DB85C9F0EB3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40D980B-E7A2-B0E8-76AC-E752E0E0D6D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A7F434-45CC-2641-17F2-CC88F5CBA6F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D3604-DE8E-5B97-073D-159CF39CEB0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FG 3D model (Customer / Production drawings):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Groove features for the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shank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case: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0A515BB-2D1D-8494-84AB-2F9D10170DC6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B7EC5A-B6BD-1F96-0388-C3C2AA56DEE0}"/>
              </a:ext>
            </a:extLst>
          </p:cNvPr>
          <p:cNvSpPr/>
          <p:nvPr/>
        </p:nvSpPr>
        <p:spPr>
          <a:xfrm>
            <a:off x="820606" y="1731326"/>
            <a:ext cx="1915781" cy="108444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23BAB8-6E32-7B04-CBCF-4512CDA18C09}"/>
              </a:ext>
            </a:extLst>
          </p:cNvPr>
          <p:cNvGrpSpPr/>
          <p:nvPr/>
        </p:nvGrpSpPr>
        <p:grpSpPr>
          <a:xfrm>
            <a:off x="3055451" y="3257815"/>
            <a:ext cx="8952827" cy="261610"/>
            <a:chOff x="4092326" y="1688590"/>
            <a:chExt cx="6917993" cy="26161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DD195EC-FC07-317E-912B-71CF4286F408}"/>
                </a:ext>
              </a:extLst>
            </p:cNvPr>
            <p:cNvSpPr txBox="1"/>
            <p:nvPr/>
          </p:nvSpPr>
          <p:spPr>
            <a:xfrm>
              <a:off x="5198126" y="1688590"/>
              <a:ext cx="58121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VG groove (optional): activate all these features – requires GA, GD</a:t>
              </a:r>
              <a:endParaRPr lang="en-US" sz="11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AA7AF94-0ADF-C262-9960-C63F72F0DF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D50477F-C438-2B71-F6EE-87D3D0327E1F}"/>
              </a:ext>
            </a:extLst>
          </p:cNvPr>
          <p:cNvGrpSpPr/>
          <p:nvPr/>
        </p:nvGrpSpPr>
        <p:grpSpPr>
          <a:xfrm>
            <a:off x="3115566" y="4353588"/>
            <a:ext cx="8952827" cy="261610"/>
            <a:chOff x="4092326" y="1688590"/>
            <a:chExt cx="6917993" cy="26161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EBE52F7-33B6-31EE-1CBE-BFE9D73B0A68}"/>
                </a:ext>
              </a:extLst>
            </p:cNvPr>
            <p:cNvSpPr txBox="1"/>
            <p:nvPr/>
          </p:nvSpPr>
          <p:spPr>
            <a:xfrm>
              <a:off x="5198126" y="1688590"/>
              <a:ext cx="58121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 groove (optional): activate all these features – requires GO, GD</a:t>
              </a:r>
              <a:endParaRPr lang="en-US" sz="11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651EC1B-BC31-E23A-4413-D400E7EC70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0F025B1-AE9E-6C10-83F5-D16479F9E9D2}"/>
              </a:ext>
            </a:extLst>
          </p:cNvPr>
          <p:cNvGrpSpPr/>
          <p:nvPr/>
        </p:nvGrpSpPr>
        <p:grpSpPr>
          <a:xfrm>
            <a:off x="2834640" y="1592091"/>
            <a:ext cx="8482627" cy="1277273"/>
            <a:chOff x="4092326" y="1688590"/>
            <a:chExt cx="6554662" cy="127727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08C47AB-756D-FF78-A0F4-4184BC2C0541}"/>
                </a:ext>
              </a:extLst>
            </p:cNvPr>
            <p:cNvSpPr txBox="1"/>
            <p:nvPr/>
          </p:nvSpPr>
          <p:spPr>
            <a:xfrm>
              <a:off x="5198126" y="1688590"/>
              <a:ext cx="5448862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 groove (optional): activate std_c_feature, then:</a:t>
              </a:r>
              <a:b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– FRO = FR: activate std_br_c_feature</a:t>
              </a:r>
              <a:b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– FRO ≠ FR: activate std_br_c_feature + std_c_fr_feature</a:t>
              </a:r>
              <a:b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 + CBR: activate std_cbr_c_feature + std_cbr_c_core_feature,</a:t>
              </a:r>
              <a:b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or std_cbr_c_feature + std_c_fr_feature, depending on FRO vs FR.</a:t>
              </a:r>
              <a:b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CBR requires CBRL and CBRD.</a:t>
              </a:r>
              <a:endParaRPr lang="en-US" sz="1100" dirty="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BA8BC30-C8D4-C738-CE77-95FC51B25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EF6D69E-CC35-B3E0-32A7-633F42176C20}"/>
              </a:ext>
            </a:extLst>
          </p:cNvPr>
          <p:cNvSpPr/>
          <p:nvPr/>
        </p:nvSpPr>
        <p:spPr>
          <a:xfrm>
            <a:off x="965458" y="3024037"/>
            <a:ext cx="2080484" cy="82386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3B83AC-0F4B-9C53-4258-20E4ACE39664}"/>
              </a:ext>
            </a:extLst>
          </p:cNvPr>
          <p:cNvSpPr/>
          <p:nvPr/>
        </p:nvSpPr>
        <p:spPr>
          <a:xfrm>
            <a:off x="965458" y="4146104"/>
            <a:ext cx="2080484" cy="78875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449A0-3A94-92E0-F6FE-236070C352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606" y="5043208"/>
            <a:ext cx="2744162" cy="9499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CF6384-39BD-9DD5-9951-9DF629003338}"/>
              </a:ext>
            </a:extLst>
          </p:cNvPr>
          <p:cNvSpPr/>
          <p:nvPr/>
        </p:nvSpPr>
        <p:spPr>
          <a:xfrm>
            <a:off x="1210691" y="5348884"/>
            <a:ext cx="2080484" cy="69126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20042B-9DC4-E055-3F14-2A8B4E52A564}"/>
              </a:ext>
            </a:extLst>
          </p:cNvPr>
          <p:cNvGrpSpPr/>
          <p:nvPr/>
        </p:nvGrpSpPr>
        <p:grpSpPr>
          <a:xfrm>
            <a:off x="3291175" y="5518159"/>
            <a:ext cx="8952827" cy="261610"/>
            <a:chOff x="4092326" y="1688590"/>
            <a:chExt cx="6917993" cy="26161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DFB5C3-86F4-1E88-802A-F7B07DDFC8FD}"/>
                </a:ext>
              </a:extLst>
            </p:cNvPr>
            <p:cNvSpPr txBox="1"/>
            <p:nvPr/>
          </p:nvSpPr>
          <p:spPr>
            <a:xfrm>
              <a:off x="5198126" y="1688590"/>
              <a:ext cx="58121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 groove (optional): activate all these features – requires FR, BR; FRO must be OFF</a:t>
              </a:r>
              <a:endParaRPr lang="en-US" sz="11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BBF7CDD-9CFC-CB76-9672-228F029CA2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360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8EB8-F7D4-6227-4262-2CA84B7D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F55641-9BE6-8749-9156-732E89978D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– Drawing Type &amp; Views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3B6D9B-BE56-507A-CD31-4F4DD36FF05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F19C887-C1C7-0998-75A6-949782BA6CB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2ED3D0-81D2-8D95-1BD1-5D02194BA96F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04B2-6720-7CAC-EB3E-2AA1F7EB862F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Pick the drawing type in the Properties Manager (not needed for PGB).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C662E84-5CAB-1395-6B6A-9D9DEBC9698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6C58D-5A46-2C2A-EC3C-C273A9A7FE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3892" y="1283102"/>
            <a:ext cx="3205479" cy="806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B67CDB-CC10-C895-DF70-FA6DFD2A4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9" y="1373892"/>
            <a:ext cx="6292427" cy="7378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8E2560-C7CC-D68B-ACAC-6DC0129CE5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629" y="2734174"/>
            <a:ext cx="3909591" cy="286478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48ABA-AD16-5C35-F9CE-3591F77A21CB}"/>
              </a:ext>
            </a:extLst>
          </p:cNvPr>
          <p:cNvCxnSpPr/>
          <p:nvPr/>
        </p:nvCxnSpPr>
        <p:spPr>
          <a:xfrm flipH="1">
            <a:off x="3578629" y="37291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BE992F-507D-04FD-DBA9-2BF209B98ADE}"/>
              </a:ext>
            </a:extLst>
          </p:cNvPr>
          <p:cNvCxnSpPr/>
          <p:nvPr/>
        </p:nvCxnSpPr>
        <p:spPr>
          <a:xfrm flipH="1">
            <a:off x="3663296" y="412711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251517-D9F7-47A6-5DEB-A6ED95D0B940}"/>
              </a:ext>
            </a:extLst>
          </p:cNvPr>
          <p:cNvCxnSpPr/>
          <p:nvPr/>
        </p:nvCxnSpPr>
        <p:spPr>
          <a:xfrm flipH="1">
            <a:off x="3663296" y="449965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565820-1759-84BD-E452-93F74E4C09D4}"/>
              </a:ext>
            </a:extLst>
          </p:cNvPr>
          <p:cNvCxnSpPr/>
          <p:nvPr/>
        </p:nvCxnSpPr>
        <p:spPr>
          <a:xfrm flipH="1">
            <a:off x="3663296" y="487218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C9A2F9-49F6-5398-A1B6-4E1335DD792B}"/>
              </a:ext>
            </a:extLst>
          </p:cNvPr>
          <p:cNvCxnSpPr/>
          <p:nvPr/>
        </p:nvCxnSpPr>
        <p:spPr>
          <a:xfrm flipH="1">
            <a:off x="4143894" y="531245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00264D-9FF9-329D-2D30-EC8268EB42BB}"/>
              </a:ext>
            </a:extLst>
          </p:cNvPr>
          <p:cNvSpPr txBox="1"/>
          <p:nvPr/>
        </p:nvSpPr>
        <p:spPr>
          <a:xfrm>
            <a:off x="4793827" y="3555362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DC1CF5-C23F-1076-39E6-8AE09AECF5CC}"/>
              </a:ext>
            </a:extLst>
          </p:cNvPr>
          <p:cNvSpPr txBox="1"/>
          <p:nvPr/>
        </p:nvSpPr>
        <p:spPr>
          <a:xfrm>
            <a:off x="4793827" y="398466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703EDA-FB36-8F77-DBDF-B80C15B424A8}"/>
              </a:ext>
            </a:extLst>
          </p:cNvPr>
          <p:cNvSpPr txBox="1"/>
          <p:nvPr/>
        </p:nvSpPr>
        <p:spPr>
          <a:xfrm>
            <a:off x="4878494" y="4340781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FD8218-B1DA-7B9E-1E12-FB7F2E4E7743}"/>
              </a:ext>
            </a:extLst>
          </p:cNvPr>
          <p:cNvSpPr txBox="1"/>
          <p:nvPr/>
        </p:nvSpPr>
        <p:spPr>
          <a:xfrm>
            <a:off x="4793827" y="471331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C54A75-1906-7456-9E48-8F226686B8FD}"/>
              </a:ext>
            </a:extLst>
          </p:cNvPr>
          <p:cNvSpPr txBox="1"/>
          <p:nvPr/>
        </p:nvSpPr>
        <p:spPr>
          <a:xfrm>
            <a:off x="5361093" y="513418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</a:t>
            </a:r>
          </a:p>
        </p:txBody>
      </p:sp>
    </p:spTree>
    <p:extLst>
      <p:ext uri="{BB962C8B-B14F-4D97-AF65-F5344CB8AC3E}">
        <p14:creationId xmlns:p14="http://schemas.microsoft.com/office/powerpoint/2010/main" val="367862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1BF-31C1-7B25-6FF2-6F606D2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F8A08D-E5A6-C228-C3AD-F320F18C14A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 Drawing – Front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675C3B-F1F2-C296-5E88-F1EE2FDBDEA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B277A0-AA3B-B3BE-C49C-002D7B264A2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49AAA6-072F-6C2E-5008-1B82E815B12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B6541-6274-159A-3CAB-82F09A4BA85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PGB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(PGB)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BBDCF79-76FA-6CBE-AB8F-5183D4E43A3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EE67C-7218-F389-D3AF-3812F519A5E3}"/>
              </a:ext>
            </a:extLst>
          </p:cNvPr>
          <p:cNvSpPr txBox="1"/>
          <p:nvPr/>
        </p:nvSpPr>
        <p:spPr>
          <a:xfrm>
            <a:off x="3076787" y="1434729"/>
            <a:ext cx="8536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show only: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BA@annotation_std_front_plan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VBL@annotation_std_front_plan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only with the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BA_SLB@annotation_std_front_plan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only with the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BB85E-64BC-A557-5D10-7CE2D60C76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50025"/>
            <a:ext cx="1356013" cy="487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1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996A-A23C-C0CC-B99D-8F0E1A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F634B-A3B5-955D-DC97-22F9C27F6C4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 Drawing – Right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607851-E2BC-87E1-17DF-6CE383ACB68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D3EA2E-992A-66C3-7B82-00188E43FE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8C881D-F063-4595-4C17-312E93D9AD4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AB318-9BFE-EC28-96F0-3A70C6CEC338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PGB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(PGB)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203DA58-8CAF-7155-3C61-0B38E071092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6CE23-5ED8-82E5-0D44-48B6FB2B22D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952C4-28C7-E5D1-36C2-84E7ED7201D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310668"/>
            <a:ext cx="1242681" cy="479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6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8B38-17B1-5284-916B-7E9AD3EC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BC1789-4D6E-046C-A6BA-AF937616994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 Drawing – Top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0465AB-FBE1-1C9B-28DE-557E6E99ADC4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EA5D5C-4840-47B1-8ACF-09C2240126D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F09029-98F2-79D7-1065-B313FFD24F7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61FEA-84E8-C5D3-E431-6624FE5A11B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PGB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(PGB)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9A6701E-F6B4-0873-B47D-5FB1A9E9676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2505D-D05D-44AA-DE27-812BF114644A}"/>
              </a:ext>
            </a:extLst>
          </p:cNvPr>
          <p:cNvSpPr txBox="1"/>
          <p:nvPr/>
        </p:nvSpPr>
        <p:spPr>
          <a:xfrm>
            <a:off x="3271521" y="1399962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TDF_STD@annotation_top_plan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standard shank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F79B4B-E548-66BB-C48E-D32315E6067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58" y="2635214"/>
            <a:ext cx="3227136" cy="265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2002-2E58-C585-8688-90E2054F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32FE1-6868-89DF-25C1-3F8DC032343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 Drawing – Detail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53B30C-4714-2134-20FD-30462CD9D27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0ED5EA-0E1C-CEB4-6F34-BE12564AA41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AB46B0-0639-A9A7-35D6-A0ADE9B2E2E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8AF6-1B7B-5DE1-8C47-E3A01FBD01C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PGB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(PGB)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9A5E2E-1BFC-7074-614D-AC6E8EC7CF6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7F4D4-34A1-70EE-DE4C-498CD24C2DA0}"/>
              </a:ext>
            </a:extLst>
          </p:cNvPr>
          <p:cNvSpPr txBox="1"/>
          <p:nvPr/>
        </p:nvSpPr>
        <p:spPr>
          <a:xfrm>
            <a:off x="3076787" y="1434729"/>
            <a:ext cx="85360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F9653-F7C5-E629-0F46-34E110F961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399962"/>
            <a:ext cx="1901903" cy="486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C701-A8E9-9248-DE75-CAAD20E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051164-A092-A691-A55B-E13EA2215F74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 Drawing – Section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6A13CD-6DB3-A2C0-AB27-1935DE34FFE8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AF092E-3203-FC5C-F927-855ECEF0BA7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B0EE9B-42E4-2F90-DB5C-7BDB7B2AF35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A856D-CE2E-8F25-486A-442C16EA5A2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PGB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(PGB)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D5D9B35-A524-50A1-5985-FA827409932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D794A-7617-1F5F-EE50-E3440B78B657}"/>
              </a:ext>
            </a:extLst>
          </p:cNvPr>
          <p:cNvSpPr txBox="1"/>
          <p:nvPr/>
        </p:nvSpPr>
        <p:spPr>
          <a:xfrm>
            <a:off x="3655907" y="1399962"/>
            <a:ext cx="8536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show only: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FL@annotation_std_front_plan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T@annotation_std_front_plan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B0609-1815-103A-AC38-26DD690BFB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4433" y="1498074"/>
            <a:ext cx="3478851" cy="428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2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C650-6AF3-56A0-9FC6-0E923484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5F943C-D517-DC64-4A24-1FA144B2FDC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Drawing – Front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0C8699-0E73-9D6D-70A5-0A86F11131C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9020F1-D766-F280-0D9A-28CCE2EE6E1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7FCB0-8B4E-77DE-0530-960E748758C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5A2E-8F87-590A-755C-2C4B2BC8A40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FG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(FG)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0BF857D-AA88-2E51-66F1-D5EF3D01DDC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378D2-0E38-FFF5-C397-3D92200D860F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show only: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BA@annotation_std_front_plan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VBL@annotation_std_front_plan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only with the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BA_SLB@annotation_std_front_plan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only with the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9E59BA-259F-55A3-49FD-8E124BCBB99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50025"/>
            <a:ext cx="1356013" cy="487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CF35-EABE-29E3-B253-5C12DAD9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DDA985-ECD0-4093-50D6-64AF0FDEE652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Drawing – Top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0189745-9A60-5BAD-FDC8-1BD3915CD9D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E853FC-CF59-EE3D-1507-7AD1B938D5E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A6B69D-8CD5-54C3-953F-FBFAB04114C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37965-A36F-06F6-DB18-850B35FC625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FG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(FG)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9A32888-CEC5-77E0-FE63-EB84242F7C4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92A6-6EE4-B452-CBA5-B1EC7AA32A74}"/>
              </a:ext>
            </a:extLst>
          </p:cNvPr>
          <p:cNvSpPr txBox="1"/>
          <p:nvPr/>
        </p:nvSpPr>
        <p:spPr>
          <a:xfrm>
            <a:off x="3076787" y="1434729"/>
            <a:ext cx="8536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TDF_STD@annotation_top_plan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RD1@Drawing View3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hole annotation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1485D-6765-2EF4-BD7B-8BDE081AA5A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6411" y="3255309"/>
            <a:ext cx="7144747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47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83DA-DA0F-9136-BED8-1A52C478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6D8E68-167C-125B-09AF-A76473E6AEEB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Drawing – Right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4EB16FD-42B3-1268-6D28-DB569F711CF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E2E517-89D8-6C8D-3880-0E77FFCC070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71EA589-3B32-7E82-63F2-AD088AF4B323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FC930-CD1C-06D3-EC88-46E8AD382096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FG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(FG)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85E129A-B63E-38AA-7B5D-3189125F7AD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122F8-85E8-903C-7B95-D8B6F6A4E704}"/>
              </a:ext>
            </a:extLst>
          </p:cNvPr>
          <p:cNvSpPr txBox="1"/>
          <p:nvPr/>
        </p:nvSpPr>
        <p:spPr>
          <a:xfrm>
            <a:off x="3076787" y="1434729"/>
            <a:ext cx="85360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7355C2-DFA4-77F6-4067-DE5975DA374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863811"/>
            <a:ext cx="1784257" cy="545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17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A3AC-F8A1-7801-6F46-8A67710B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6D0AE2-23EC-D749-4062-CF3CCA94AA3F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Drawing – Detail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7D8DAC-5036-60C1-5040-75C92042726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0992FE-DC9D-8497-E8FE-EE22804B38F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A6B295-7042-BDCF-787D-442DDDE61034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52116-2A31-603E-5298-BEC6CF864E0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FG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(FG)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85FA02D-7C3A-A980-E04B-E5F4FFB5514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53FF-D1BC-98C1-D9DF-5AD79520EF35}"/>
              </a:ext>
            </a:extLst>
          </p:cNvPr>
          <p:cNvSpPr txBox="1"/>
          <p:nvPr/>
        </p:nvSpPr>
        <p:spPr>
          <a:xfrm>
            <a:off x="3076787" y="1434729"/>
            <a:ext cx="853609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annotations in this view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W2@annotation_right_plan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W2 option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VR option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VR option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VG groove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VG groove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VG groove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GD_G@annotation_right_plan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G groove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G groove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 groove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CD@annotation_right_plan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 groove only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2237E-59B3-3FAF-85C4-AEF5E20B3F2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399962"/>
            <a:ext cx="1901903" cy="486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9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259C-47B4-7527-8A5A-552B162D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0206A-A8F3-F5D7-C62F-E79A8F05717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Drawing – Section View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0DA6DD-3991-51C7-1C11-659F2B760AAD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A2D9A-D2CB-1716-A674-BD5D8A2F8B1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22EF6E-26EC-624A-838C-F8A281EE455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A1ABC-4612-39CF-AA6C-A0505671FB5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FG Customer / Production drawings: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(FG, standard shank)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C289352-66B9-38B6-E704-F51C5A37B13B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AEBBD-E07B-3BD5-F4EB-CAB4046234A3}"/>
              </a:ext>
            </a:extLst>
          </p:cNvPr>
          <p:cNvSpPr txBox="1"/>
          <p:nvPr/>
        </p:nvSpPr>
        <p:spPr>
          <a:xfrm>
            <a:off x="4514591" y="1021492"/>
            <a:ext cx="853609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Annotations come from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annotation_std_front_plan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except the production-only ones.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show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(@annotation_std_front_plan):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FL, T, RA, C, NA, FTA, ND, NR, FNA, HA, FRO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 only when it applies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(@annotation_std_front_plan):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RA2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RA2 option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standard hole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oval hole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slot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hide when FRO = FR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hide when CBR is present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Production drawing only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(@annotation_front_plan):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BF, F, Y, CBRL, CBRA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placed wherever you prefer.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DEB790-A55C-7CF8-2E31-79219CBBBA5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8743" y="1923181"/>
            <a:ext cx="3355552" cy="41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25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DABD-3818-C01C-66E8-78E3FBA6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4EC2B-358D-B648-D302-C71CC8E840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1444" t="1294" r="2449" b="2275"/>
          <a:stretch>
            <a:fillRect/>
          </a:stretch>
        </p:blipFill>
        <p:spPr>
          <a:xfrm>
            <a:off x="6187440" y="1125067"/>
            <a:ext cx="5776986" cy="440561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9D41389-B6A7-185F-2F2F-4B0DB107D4F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Overlays – Layout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AB65D4-D76F-00F6-C22F-4ADBC2FCD36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C01F48-D73A-9D0D-AA5E-7C7D7F83922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0FE2CC-0C22-2515-C409-D78F7293B10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4B6D-68EB-9BFF-0C8D-518ECED76FA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Overlays: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an overlay is built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E831DA-143B-A236-D60E-58296072AE6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E1D01-57ED-17CF-D53D-F9DB1BBC607D}"/>
              </a:ext>
            </a:extLst>
          </p:cNvPr>
          <p:cNvSpPr txBox="1"/>
          <p:nvPr/>
        </p:nvSpPr>
        <p:spPr>
          <a:xfrm>
            <a:off x="563880" y="1340510"/>
            <a:ext cx="5532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 overlay follows this layout: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and left views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Auxiliary view (optional)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metadata – set in the Properties Manager (below)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B5A4E-BCE4-DA38-A391-F8FF7F788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921"/>
          <a:stretch>
            <a:fillRect/>
          </a:stretch>
        </p:blipFill>
        <p:spPr>
          <a:xfrm>
            <a:off x="618744" y="2578534"/>
            <a:ext cx="4921609" cy="1700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A375BF-A491-A98C-420B-EB01B295D33E}"/>
              </a:ext>
            </a:extLst>
          </p:cNvPr>
          <p:cNvSpPr/>
          <p:nvPr/>
        </p:nvSpPr>
        <p:spPr>
          <a:xfrm>
            <a:off x="7301997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A306-CB9D-D9CF-68D3-71E00D721320}"/>
              </a:ext>
            </a:extLst>
          </p:cNvPr>
          <p:cNvSpPr/>
          <p:nvPr/>
        </p:nvSpPr>
        <p:spPr>
          <a:xfrm>
            <a:off x="10089663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83440-3977-3BCB-2B01-0CCC3CC77FAA}"/>
              </a:ext>
            </a:extLst>
          </p:cNvPr>
          <p:cNvSpPr txBox="1"/>
          <p:nvPr/>
        </p:nvSpPr>
        <p:spPr>
          <a:xfrm>
            <a:off x="10419609" y="5884147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964B6-410B-F907-8764-BCDCDCAFF93F}"/>
              </a:ext>
            </a:extLst>
          </p:cNvPr>
          <p:cNvSpPr/>
          <p:nvPr/>
        </p:nvSpPr>
        <p:spPr>
          <a:xfrm>
            <a:off x="9474200" y="4781384"/>
            <a:ext cx="2102104" cy="52213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E2D6D-2E0C-D60B-F562-30BA6CC32BE8}"/>
              </a:ext>
            </a:extLst>
          </p:cNvPr>
          <p:cNvSpPr/>
          <p:nvPr/>
        </p:nvSpPr>
        <p:spPr>
          <a:xfrm>
            <a:off x="6419087" y="1327318"/>
            <a:ext cx="791469" cy="3752682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FFF57-6B3C-D83A-1F0E-3BF728108034}"/>
              </a:ext>
            </a:extLst>
          </p:cNvPr>
          <p:cNvSpPr txBox="1"/>
          <p:nvPr/>
        </p:nvSpPr>
        <p:spPr>
          <a:xfrm>
            <a:off x="7301997" y="584384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2EC1F-163D-34E6-EFF2-C7648B04C08F}"/>
              </a:ext>
            </a:extLst>
          </p:cNvPr>
          <p:cNvSpPr txBox="1"/>
          <p:nvPr/>
        </p:nvSpPr>
        <p:spPr>
          <a:xfrm>
            <a:off x="8687179" y="5895868"/>
            <a:ext cx="121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Auxiliary view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367D8-A97E-82D3-0444-161B6C3518EE}"/>
              </a:ext>
            </a:extLst>
          </p:cNvPr>
          <p:cNvSpPr txBox="1"/>
          <p:nvPr/>
        </p:nvSpPr>
        <p:spPr>
          <a:xfrm>
            <a:off x="4383531" y="4557351"/>
            <a:ext cx="147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9C21D2-34AF-E69C-836F-5A7C8A82CFB1}"/>
              </a:ext>
            </a:extLst>
          </p:cNvPr>
          <p:cNvCxnSpPr>
            <a:stCxn id="23" idx="3"/>
          </p:cNvCxnSpPr>
          <p:nvPr/>
        </p:nvCxnSpPr>
        <p:spPr>
          <a:xfrm flipV="1">
            <a:off x="5863897" y="4114800"/>
            <a:ext cx="555191" cy="596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D544A4-6904-B5ED-9762-227FC6964A57}"/>
              </a:ext>
            </a:extLst>
          </p:cNvPr>
          <p:cNvCxnSpPr>
            <a:cxnSpLocks/>
          </p:cNvCxnSpPr>
          <p:nvPr/>
        </p:nvCxnSpPr>
        <p:spPr>
          <a:xfrm flipV="1">
            <a:off x="7709680" y="4781384"/>
            <a:ext cx="538132" cy="1142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3A756A-EF65-8D39-3518-67D940B0C96F}"/>
              </a:ext>
            </a:extLst>
          </p:cNvPr>
          <p:cNvCxnSpPr>
            <a:cxnSpLocks/>
          </p:cNvCxnSpPr>
          <p:nvPr/>
        </p:nvCxnSpPr>
        <p:spPr>
          <a:xfrm flipV="1">
            <a:off x="9391913" y="5362891"/>
            <a:ext cx="1027696" cy="632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EC35B2-6379-C26B-1FB4-463E988BB7D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1515365" y="4781384"/>
            <a:ext cx="216387" cy="1256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36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B61C-CAE3-C0CD-B0BF-C4BC965F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4EE22A-80D0-982B-CEA2-E43397B56EA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Overlays – Reference Points (Std Shank)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D0900BD-7C41-175C-2072-945501702E6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CF37D4-D5D2-8AED-7403-FEF8D84A9CD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3E24FC-F11C-7784-6CE6-69B435C48A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EDFD1-C34F-76A8-B7B6-D644E7B0359D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Overlays: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construction,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case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09B2E30-5AB7-1B7C-0D91-600709FA737D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EA42-C17F-CF39-4779-BA0E54888277}"/>
              </a:ext>
            </a:extLst>
          </p:cNvPr>
          <p:cNvSpPr txBox="1"/>
          <p:nvPr/>
        </p:nvSpPr>
        <p:spPr>
          <a:xfrm>
            <a:off x="563880" y="134051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Views are positioned using reference points: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E83CBC-ECE6-3E41-1D60-3B8F46E5BE7A}"/>
              </a:ext>
            </a:extLst>
          </p:cNvPr>
          <p:cNvSpPr txBox="1"/>
          <p:nvPr/>
        </p:nvSpPr>
        <p:spPr>
          <a:xfrm>
            <a:off x="548640" y="3424557"/>
            <a:ext cx="525949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controls where the right view is cut in the overlay (the right view uses the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right_view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configuration).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programmer sets the cut for each case by changing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std_ref_point_right@std_ref_point_right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Previous rule, based on the view scale: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std_ref_point_right@std_ref_point_right = 2.01175 in / scale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standard cases, but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VR cases – the programmer must set the correct value.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B70E4-0EEC-8C1C-0FDE-4D69AD69FA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313" y="1648287"/>
            <a:ext cx="2495287" cy="16073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9F857F-C1D3-4266-95FC-AD480DA991D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5853" y="1863730"/>
            <a:ext cx="3291893" cy="106273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5EB4CA-5265-681B-F337-C86EDCF18BD8}"/>
              </a:ext>
            </a:extLst>
          </p:cNvPr>
          <p:cNvSpPr/>
          <p:nvPr/>
        </p:nvSpPr>
        <p:spPr>
          <a:xfrm>
            <a:off x="1126067" y="1639849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F73AB1-9660-BFEB-6B41-F3B8C148A186}"/>
              </a:ext>
            </a:extLst>
          </p:cNvPr>
          <p:cNvSpPr/>
          <p:nvPr/>
        </p:nvSpPr>
        <p:spPr>
          <a:xfrm>
            <a:off x="1126067" y="2484497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269E7F-3377-14A4-64CE-3F472F845D66}"/>
              </a:ext>
            </a:extLst>
          </p:cNvPr>
          <p:cNvCxnSpPr>
            <a:stCxn id="20" idx="3"/>
          </p:cNvCxnSpPr>
          <p:nvPr/>
        </p:nvCxnSpPr>
        <p:spPr>
          <a:xfrm>
            <a:off x="2988733" y="2047591"/>
            <a:ext cx="1016000" cy="6617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5F0850-2680-A94C-9B54-4B359060AE04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 flipV="1">
            <a:off x="2988733" y="2395099"/>
            <a:ext cx="877120" cy="497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53668DB-2099-DC19-98A5-6CD177B1549C}"/>
              </a:ext>
            </a:extLst>
          </p:cNvPr>
          <p:cNvSpPr txBox="1"/>
          <p:nvPr/>
        </p:nvSpPr>
        <p:spPr>
          <a:xfrm>
            <a:off x="6353386" y="3424556"/>
            <a:ext cx="52594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controls where the left view is cut in the overlay (the left view uses the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left_view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configuration).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programmer sets the cut for each case by changing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std_ref_point_left@std_ref_point_left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Previous rule, based on the view scale: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std_ref_point_left@std_ref_point_left = 2.01175 in / scale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standard cases.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75167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BCF4-8B30-4D77-35F5-66210389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9308C8-BFAE-8243-E3AB-93A01D179F0D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Overlays – Reference Points (Rev Shank)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AE77C21-C6D4-CDB0-76E4-12B8F4713A0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A32444B-EDE3-A36D-14EF-8D90755C5FD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65341D3-7691-32E2-1A36-0A051920C68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EDB8E-44B0-309C-ECF5-7E62052DF3F2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Overlays: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construction,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rev_shank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case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399650D-7F71-93BC-DEE7-3755B7A3944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8A995-4022-ED88-B4D1-531040321566}"/>
              </a:ext>
            </a:extLst>
          </p:cNvPr>
          <p:cNvSpPr txBox="1"/>
          <p:nvPr/>
        </p:nvSpPr>
        <p:spPr>
          <a:xfrm>
            <a:off x="563880" y="134051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Views are positioned using reference points: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299D37-2288-40DA-4488-F195D36BDD7C}"/>
              </a:ext>
            </a:extLst>
          </p:cNvPr>
          <p:cNvSpPr txBox="1"/>
          <p:nvPr/>
        </p:nvSpPr>
        <p:spPr>
          <a:xfrm>
            <a:off x="548640" y="3424557"/>
            <a:ext cx="525949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rev_ref_point_right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controls where the right view is cut in the overlay (the right view uses the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right_view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configuration).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programmer sets the cut for each case by changing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rev_ref_point_right@rev_ref_point_right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Previous rule, based on the view scale: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rev_ref_point_right@rev_ref_point_right = 2.01175 in / scale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standard cases, but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VR cases – the programmer must set the correct value.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11A632-D4FF-5085-65D1-E09CB9DC891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5853" y="1863730"/>
            <a:ext cx="3291893" cy="106273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08B2BFE-8F91-DCD0-37D0-96978BEAD89B}"/>
              </a:ext>
            </a:extLst>
          </p:cNvPr>
          <p:cNvSpPr/>
          <p:nvPr/>
        </p:nvSpPr>
        <p:spPr>
          <a:xfrm>
            <a:off x="1126067" y="1639849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4E4C0C-1444-4064-4FF2-916FD401A730}"/>
              </a:ext>
            </a:extLst>
          </p:cNvPr>
          <p:cNvSpPr/>
          <p:nvPr/>
        </p:nvSpPr>
        <p:spPr>
          <a:xfrm>
            <a:off x="1126067" y="2484497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92FCA1-1184-7A9C-6517-3EFD69898D7C}"/>
              </a:ext>
            </a:extLst>
          </p:cNvPr>
          <p:cNvCxnSpPr>
            <a:stCxn id="20" idx="3"/>
          </p:cNvCxnSpPr>
          <p:nvPr/>
        </p:nvCxnSpPr>
        <p:spPr>
          <a:xfrm>
            <a:off x="2988733" y="2047591"/>
            <a:ext cx="1016000" cy="6617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B983F73-5E97-ECF5-7EED-498B33CD1A4B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 flipV="1">
            <a:off x="2988733" y="2395099"/>
            <a:ext cx="877120" cy="497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7AE9B9-CC06-CCFE-39FF-8680D31EAC20}"/>
              </a:ext>
            </a:extLst>
          </p:cNvPr>
          <p:cNvSpPr txBox="1"/>
          <p:nvPr/>
        </p:nvSpPr>
        <p:spPr>
          <a:xfrm>
            <a:off x="6353386" y="3424556"/>
            <a:ext cx="52594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rev_ref_point_left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controls where the left view is cut in the overlay (the left view uses the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left_view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configuration).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programmer sets the cut for each case by changing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rev_ref_point_left@rev_ref_point_left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Previous rule, based on the view scale: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rev_ref_point_left@rev_ref_point_left = 2.01175 in / scale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standard cases.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B9856-3784-EE39-5208-F802B3761ED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6067" y="1677191"/>
            <a:ext cx="1782003" cy="155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79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4087-4690-502E-BC46-48535B17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2C8BFB-388B-48D8-0EFC-5422AF0FE79C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Overlays – Scale Selection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503462-8FA0-4050-DEFF-BCEAAA8C41C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E59613-0D78-F494-7021-B231A3C83D8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C46997-BDBF-6F47-2F4C-9D6F93F5D1D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099B5-9CAC-7E3D-3977-F8501C22F8C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Overlays: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Scale selection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8EFFED-4DBE-85C9-CA2D-C8CE9C18FAAC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A6CD1-8A8F-4F90-FF4B-60D3625D324A}"/>
              </a:ext>
            </a:extLst>
          </p:cNvPr>
          <p:cNvSpPr txBox="1"/>
          <p:nvPr/>
        </p:nvSpPr>
        <p:spPr>
          <a:xfrm>
            <a:off x="563879" y="1340510"/>
            <a:ext cx="58460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and left views use the same scale, chosen from the FL value.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Limits per scale: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x400: T ≤ 0.0134 in (0.3403 mm)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x300: T ≤ 0.0180 in (0.4572 mm)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x200: T ≤ 0.0272 in (0.6908 mm)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x100: T ≤ 0.0542 in (1.3766 mm)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Scale values: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S100 = 1:60.8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S200 = 1:121.1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S300 = 1:183.0</a:t>
            </a:r>
            <a:endParaRPr lang="en-US" sz="1400" dirty="0"/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S400 = 1:246.0</a:t>
            </a:r>
            <a:endParaRPr lang="en-US" sz="1400" dirty="0"/>
          </a:p>
        </p:txBody>
      </p:sp>
      <p:pic>
        <p:nvPicPr>
          <p:cNvPr id="8" name="Image 9" descr="Une image contenant texte, capture d’écran, Bleu électrique, Police&#10;&#10;Le contenu généré par l’IA peut être incorrect.">
            <a:extLst>
              <a:ext uri="{FF2B5EF4-FFF2-40B4-BE49-F238E27FC236}">
                <a16:creationId xmlns:a16="http://schemas.microsoft.com/office/drawing/2014/main" id="{BA6E3393-0515-EE99-0A3E-BCE4DA58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923182"/>
            <a:ext cx="5202936" cy="390220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42CE5B-FBC4-06B4-B609-436111065EA8}"/>
              </a:ext>
            </a:extLst>
          </p:cNvPr>
          <p:cNvSpPr/>
          <p:nvPr/>
        </p:nvSpPr>
        <p:spPr>
          <a:xfrm>
            <a:off x="7562088" y="3429000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2E5A7-BC5C-463E-8E9E-783525873E4A}"/>
              </a:ext>
            </a:extLst>
          </p:cNvPr>
          <p:cNvSpPr/>
          <p:nvPr/>
        </p:nvSpPr>
        <p:spPr>
          <a:xfrm>
            <a:off x="10177272" y="3439943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0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DF54-F98E-7309-AC35-D7E2DB54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EDFDAD-C8AE-5F13-EF5F-A4911DBA351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PGB Overlay – Sketch Settings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A9DC07-C542-02A8-BF1A-07303E6EE67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0994B-C206-C25F-7526-91F373782BA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93B083-DF37-AA0B-9153-4B0BAFA9011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8EC04-5B42-9EA7-058B-36D8B17D62A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Overlays: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sketches,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E1D7AE7-9841-9111-573C-6F25602CFAC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22014-A589-9CD7-1BCE-CAFF4F6A80FA}"/>
              </a:ext>
            </a:extLst>
          </p:cNvPr>
          <p:cNvSpPr txBox="1"/>
          <p:nvPr/>
        </p:nvSpPr>
        <p:spPr>
          <a:xfrm>
            <a:off x="970070" y="5999943"/>
            <a:ext cx="988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Note: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programmer must apply these values both in the equations and inside the sketches.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D726AA-D465-AAD6-9894-FEBE3A3E4C7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" y="1347009"/>
            <a:ext cx="3573535" cy="32331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242302-F277-00E1-233F-51F8F4D47AA4}"/>
              </a:ext>
            </a:extLst>
          </p:cNvPr>
          <p:cNvSpPr txBox="1"/>
          <p:nvPr/>
        </p:nvSpPr>
        <p:spPr>
          <a:xfrm>
            <a:off x="3424268" y="1663812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→ MAX. Sketch: W_MIN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96239-2765-1CAC-0C32-025D410E648C}"/>
              </a:ext>
            </a:extLst>
          </p:cNvPr>
          <p:cNvSpPr txBox="1"/>
          <p:nvPr/>
        </p:nvSpPr>
        <p:spPr>
          <a:xfrm>
            <a:off x="3249446" y="1946107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1B6677-8338-5DC2-DB6B-100E16095B2E}"/>
              </a:ext>
            </a:extLst>
          </p:cNvPr>
          <p:cNvSpPr txBox="1"/>
          <p:nvPr/>
        </p:nvSpPr>
        <p:spPr>
          <a:xfrm>
            <a:off x="3621882" y="2184653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W: VW, VRA → MAX; VR → MIN. Sketch: VW_MIN, VRA_MIN, VRA_MAX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CF6ED-97E7-D8E4-3DB9-3ED21396ADF2}"/>
              </a:ext>
            </a:extLst>
          </p:cNvPr>
          <p:cNvSpPr txBox="1"/>
          <p:nvPr/>
        </p:nvSpPr>
        <p:spPr>
          <a:xfrm>
            <a:off x="3621882" y="2468497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≠ W: VW, VRA, W, ISA → MAX; VR → MIN. Sketch: VW_MIN, VRA_MIN, VRA_MAX, W_MIN, ISA_MIN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AF770F-AC0D-DB4C-1B67-B9AD2D5D84D9}"/>
              </a:ext>
            </a:extLst>
          </p:cNvPr>
          <p:cNvSpPr txBox="1"/>
          <p:nvPr/>
        </p:nvSpPr>
        <p:spPr>
          <a:xfrm>
            <a:off x="3538833" y="2700471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case: T, FL → MAX; ND, C → MIN. Sketch: T_MIN, FL_MIN, C_MAX, ND_MAX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F49E66-F13E-945A-E2EF-1D49C16762C2}"/>
              </a:ext>
            </a:extLst>
          </p:cNvPr>
          <p:cNvSpPr txBox="1"/>
          <p:nvPr/>
        </p:nvSpPr>
        <p:spPr>
          <a:xfrm>
            <a:off x="3540602" y="2982766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SLB: T, FL → MAX; ND, C → MIN. Sketch: T_MIN, FL_MIN, C_MAX, ND_MAX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5DF490-FD3F-F9ED-B7B0-47343BEFE2AF}"/>
              </a:ext>
            </a:extLst>
          </p:cNvPr>
          <p:cNvSpPr txBox="1"/>
          <p:nvPr/>
        </p:nvSpPr>
        <p:spPr>
          <a:xfrm>
            <a:off x="3538833" y="3276758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RA2: T, FL → MAX; ND, RA2H → MIN. Sketch: T_MIN, FL_MIN, RA2H_MAX, ND_MAX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1DC066-798F-23A7-CFEC-8A769517435E}"/>
              </a:ext>
            </a:extLst>
          </p:cNvPr>
          <p:cNvSpPr txBox="1"/>
          <p:nvPr/>
        </p:nvSpPr>
        <p:spPr>
          <a:xfrm>
            <a:off x="3540602" y="3570751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 + SLB: T, FL → MAX; ND, RA2H → MIN. Sketch: T_MIN, FL_MIN, RA2H_MAX, ND_MAX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9B07C8-BC48-5EC8-C889-7C1F3ACA99A9}"/>
              </a:ext>
            </a:extLst>
          </p:cNvPr>
          <p:cNvSpPr txBox="1"/>
          <p:nvPr/>
        </p:nvSpPr>
        <p:spPr>
          <a:xfrm>
            <a:off x="3011958" y="3820618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87B9C6-4B0E-4286-206D-C3D966393CA1}"/>
              </a:ext>
            </a:extLst>
          </p:cNvPr>
          <p:cNvSpPr txBox="1"/>
          <p:nvPr/>
        </p:nvSpPr>
        <p:spPr>
          <a:xfrm>
            <a:off x="3097486" y="4072875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9E7663-D103-850E-00D5-42FD7A3EB203}"/>
              </a:ext>
            </a:extLst>
          </p:cNvPr>
          <p:cNvSpPr txBox="1"/>
          <p:nvPr/>
        </p:nvSpPr>
        <p:spPr>
          <a:xfrm>
            <a:off x="3097486" y="4343008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0779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0CA4-6D48-CF1B-014C-B8B9DFE9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8919C-8A59-46C1-1117-C79D1CA1356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 Overlay – Sketch Settings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DE9076-D111-60E3-3A65-601EC580278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257414-5D3E-EB54-C4D9-7708B5FF93C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9CFB52A-83B1-CA0E-9C73-C54DCF0C0B5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7C9B1-5A2B-B932-212E-FBAAAD2E7B35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 Series – Overlays: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overlay sketches,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endParaRPr lang="en-US" sz="14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8D756C5-FEBA-3D97-4CD8-B7A57535D66D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16050-9564-F28E-66B9-EE7A2E83B319}"/>
              </a:ext>
            </a:extLst>
          </p:cNvPr>
          <p:cNvSpPr txBox="1"/>
          <p:nvPr/>
        </p:nvSpPr>
        <p:spPr>
          <a:xfrm>
            <a:off x="970070" y="5999943"/>
            <a:ext cx="988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Note: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programmer must apply these values both in the equations and inside the sketches.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53CE3A-1642-649D-3B78-AE103F8736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" y="1347009"/>
            <a:ext cx="3573535" cy="32331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FFB0E65-F6E2-83E4-D662-DC60EF5EAEEB}"/>
              </a:ext>
            </a:extLst>
          </p:cNvPr>
          <p:cNvSpPr txBox="1"/>
          <p:nvPr/>
        </p:nvSpPr>
        <p:spPr>
          <a:xfrm>
            <a:off x="3326732" y="1896510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→ NOM. Sketch: W_MIN, W_MAX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C2AC20-E835-8312-7875-2BBA1FEBAA77}"/>
              </a:ext>
            </a:extLst>
          </p:cNvPr>
          <p:cNvSpPr txBox="1"/>
          <p:nvPr/>
        </p:nvSpPr>
        <p:spPr>
          <a:xfrm>
            <a:off x="3538833" y="1637521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342A6-BFD4-B2A8-702E-45886B49D2AA}"/>
              </a:ext>
            </a:extLst>
          </p:cNvPr>
          <p:cNvSpPr txBox="1"/>
          <p:nvPr/>
        </p:nvSpPr>
        <p:spPr>
          <a:xfrm>
            <a:off x="3621882" y="2184653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W: VW, VRA → MAX; VR → MIN. Sketch: VW_MIN, VRA_MIN, VRA_MAX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C47281-ECE4-50B1-12E4-9C281F59E1AB}"/>
              </a:ext>
            </a:extLst>
          </p:cNvPr>
          <p:cNvSpPr txBox="1"/>
          <p:nvPr/>
        </p:nvSpPr>
        <p:spPr>
          <a:xfrm>
            <a:off x="3621882" y="2468497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≠ W: VW, VRA, W, ISA → MAX; VR → MIN. Sketch: VW_MIN, VRA_MIN, VRA_MAX, W_MIN, ISA_MIN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CB5A9C-BFB8-D5F7-0EDD-A08815D15974}"/>
              </a:ext>
            </a:extLst>
          </p:cNvPr>
          <p:cNvSpPr txBox="1"/>
          <p:nvPr/>
        </p:nvSpPr>
        <p:spPr>
          <a:xfrm>
            <a:off x="3538833" y="2700471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case: T, FL → MAX; ND, C → MIN. Sketch: T_MIN, FL_MIN, C_MAX, ND_MAX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C05C9C-E909-30A7-D565-E6FD97C3AFA5}"/>
              </a:ext>
            </a:extLst>
          </p:cNvPr>
          <p:cNvSpPr txBox="1"/>
          <p:nvPr/>
        </p:nvSpPr>
        <p:spPr>
          <a:xfrm>
            <a:off x="3540602" y="2982766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SLB: T, FL → MAX; ND, C → MIN. Sketch: T_MIN, FL_MIN, C_MAX, ND_MAX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CA94FD-93E7-23C4-58F5-B694ADF04B6F}"/>
              </a:ext>
            </a:extLst>
          </p:cNvPr>
          <p:cNvSpPr txBox="1"/>
          <p:nvPr/>
        </p:nvSpPr>
        <p:spPr>
          <a:xfrm>
            <a:off x="3538833" y="3276758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RA2: T, FL → MAX; ND, RA2H → MIN. Sketch: T_MIN, FL_MIN, RA2H_MAX, ND_MAX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391EF0-9981-CC06-3987-E36902B6CD80}"/>
              </a:ext>
            </a:extLst>
          </p:cNvPr>
          <p:cNvSpPr txBox="1"/>
          <p:nvPr/>
        </p:nvSpPr>
        <p:spPr>
          <a:xfrm>
            <a:off x="3540602" y="3570751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 + SLB: T, FL → MAX; ND, RA2H → MIN. Sketch: T_MIN, FL_MIN, RA2H_MAX, ND_MAX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BF913B-6B42-5145-B92F-0B4419468A7C}"/>
              </a:ext>
            </a:extLst>
          </p:cNvPr>
          <p:cNvSpPr txBox="1"/>
          <p:nvPr/>
        </p:nvSpPr>
        <p:spPr>
          <a:xfrm>
            <a:off x="3011958" y="3820618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C groove: CL, CD → MIN. Sketch: CL_MAX, CD_MAX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25A936-2DC3-3C92-652C-6D44C17D28E3}"/>
              </a:ext>
            </a:extLst>
          </p:cNvPr>
          <p:cNvSpPr txBox="1"/>
          <p:nvPr/>
        </p:nvSpPr>
        <p:spPr>
          <a:xfrm>
            <a:off x="3097486" y="4072875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VG groove: GA, GD, B → MIN. Sketch: GA_MAX, GD_MAX, B_MAX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B092C8-A52B-4C07-8950-5C2831EF5FB0}"/>
              </a:ext>
            </a:extLst>
          </p:cNvPr>
          <p:cNvSpPr txBox="1"/>
          <p:nvPr/>
        </p:nvSpPr>
        <p:spPr>
          <a:xfrm>
            <a:off x="3097486" y="4343008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G groove: GO, GD → MIN. Sketch: GO_MAX, GD_MAX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260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3235</Words>
  <Application>Microsoft Office PowerPoint</Application>
  <PresentationFormat>Widescreen</PresentationFormat>
  <Paragraphs>235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Agnaou</dc:creator>
  <cp:lastModifiedBy>Youssef Agnaou</cp:lastModifiedBy>
  <cp:revision>152</cp:revision>
  <dcterms:created xsi:type="dcterms:W3CDTF">2026-07-26T18:29:11Z</dcterms:created>
  <dcterms:modified xsi:type="dcterms:W3CDTF">2026-09-27T17:29:41Z</dcterms:modified>
</cp:coreProperties>
</file>